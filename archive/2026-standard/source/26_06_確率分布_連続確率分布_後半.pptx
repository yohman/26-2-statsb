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</p:sldIdLst>
  <p:sldSz cx="9144000" cy="6858000" type="screen4x3"/>
  <p:notesSz cx="6858000" cy="9144000"/>
  <p:embeddedFontLst>
    <p:embeddedFont>
      <p:font typeface="Gill Sans" panose="020B0600070205080204" charset="0"/>
      <p:regular r:id="rId24"/>
      <p:bold r:id="rId25"/>
    </p:embeddedFont>
    <p:embeddedFont>
      <p:font typeface="Impact" panose="020B0806030902050204" pitchFamily="3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G6+0Yz9Vk0AgsMeOrAJsj9E+T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DF88A-5C83-4083-A369-80C43B15D049}" v="3" dt="2026-08-31T10:26:51.082"/>
  </p1510:revLst>
</p1510:revInfo>
</file>

<file path=ppt/tableStyles.xml><?xml version="1.0" encoding="utf-8"?>
<a:tblStyleLst xmlns:a="http://schemas.openxmlformats.org/drawingml/2006/main" def="{B3BA7C6B-2C5A-4B46-9B24-1202DAD5BCDC}">
  <a:tblStyle styleId="{B3BA7C6B-2C5A-4B46-9B24-1202DAD5BCDC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AF2"/>
          </a:solidFill>
        </a:fill>
      </a:tcStyle>
    </a:wholeTbl>
    <a:band1H>
      <a:tcTxStyle/>
      <a:tcStyle>
        <a:tcBdr/>
        <a:fill>
          <a:solidFill>
            <a:srgbClr val="CAD2E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2E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16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customschemas.google.com/relationships/presentationmetadata" Target="metadata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undo custSel modSld">
      <pc:chgData name="須永大介" userId="afee7028-08f7-45fb-b56f-efe6c4357b09" providerId="ADAL" clId="{3322EB53-9E6C-499E-B527-F2AD79E593A6}" dt="2026-08-31T10:30:21.162" v="9" actId="20577"/>
      <pc:docMkLst>
        <pc:docMk/>
      </pc:docMkLst>
      <pc:sldChg chg="modSp mod">
        <pc:chgData name="須永大介" userId="afee7028-08f7-45fb-b56f-efe6c4357b09" providerId="ADAL" clId="{3322EB53-9E6C-499E-B527-F2AD79E593A6}" dt="2026-08-31T10:30:21.162" v="9" actId="20577"/>
        <pc:sldMkLst>
          <pc:docMk/>
          <pc:sldMk cId="0" sldId="256"/>
        </pc:sldMkLst>
        <pc:spChg chg="mod">
          <ac:chgData name="須永大介" userId="afee7028-08f7-45fb-b56f-efe6c4357b09" providerId="ADAL" clId="{3322EB53-9E6C-499E-B527-F2AD79E593A6}" dt="2026-08-31T10:30:21.162" v="9" actId="20577"/>
          <ac:spMkLst>
            <pc:docMk/>
            <pc:sldMk cId="0" sldId="256"/>
            <ac:spMk id="67" creationId="{00000000-0000-0000-0000-000000000000}"/>
          </ac:spMkLst>
        </pc:spChg>
      </pc:sldChg>
      <pc:sldChg chg="addSp modSp">
        <pc:chgData name="須永大介" userId="afee7028-08f7-45fb-b56f-efe6c4357b09" providerId="ADAL" clId="{3322EB53-9E6C-499E-B527-F2AD79E593A6}" dt="2026-08-31T10:26:51.082" v="2"/>
        <pc:sldMkLst>
          <pc:docMk/>
          <pc:sldMk cId="0" sldId="303"/>
        </pc:sldMkLst>
        <pc:spChg chg="add mod">
          <ac:chgData name="須永大介" userId="afee7028-08f7-45fb-b56f-efe6c4357b09" providerId="ADAL" clId="{3322EB53-9E6C-499E-B527-F2AD79E593A6}" dt="2026-08-31T10:22:19.894" v="0"/>
          <ac:spMkLst>
            <pc:docMk/>
            <pc:sldMk cId="0" sldId="303"/>
            <ac:spMk id="4" creationId="{00000000-0000-0000-0000-000000000000}"/>
          </ac:spMkLst>
        </pc:spChg>
        <pc:spChg chg="add mod">
          <ac:chgData name="須永大介" userId="afee7028-08f7-45fb-b56f-efe6c4357b09" providerId="ADAL" clId="{3322EB53-9E6C-499E-B527-F2AD79E593A6}" dt="2026-08-31T10:23:28.591" v="1"/>
          <ac:spMkLst>
            <pc:docMk/>
            <pc:sldMk cId="0" sldId="303"/>
            <ac:spMk id="5" creationId="{B681A043-561F-6618-4713-88B472C29F70}"/>
          </ac:spMkLst>
        </pc:spChg>
        <pc:spChg chg="add mod">
          <ac:chgData name="須永大介" userId="afee7028-08f7-45fb-b56f-efe6c4357b09" providerId="ADAL" clId="{3322EB53-9E6C-499E-B527-F2AD79E593A6}" dt="2026-08-31T10:26:51.082" v="2"/>
          <ac:spMkLst>
            <pc:docMk/>
            <pc:sldMk cId="0" sldId="303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※非常にコンテンツが多いので，様子を見ながら適宜2コマに分けてください．</a:t>
            </a:r>
            <a:endParaRPr/>
          </a:p>
        </p:txBody>
      </p:sp>
      <p:sp>
        <p:nvSpPr>
          <p:cNvPr id="65" name="Google Shape;6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>
  <p:cSld name="タイトル スライド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今日の目標">
  <p:cSld name="今日の目標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Font typeface="Noto Sans Symbols"/>
              <a:buChar char="◆"/>
              <a:defRPr/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Font typeface="Noto Sans Symbols"/>
              <a:buChar char="✔"/>
              <a:defRPr/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>
  <p:cSld name="セクション見出し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660"/>
              <a:buNone/>
              <a:defRPr sz="2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1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body" idx="2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比較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1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2"/>
          </p:nvPr>
        </p:nvSpPr>
        <p:spPr>
          <a:xfrm>
            <a:off x="4663281" y="953677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body" idx="4"/>
          </p:nvPr>
        </p:nvSpPr>
        <p:spPr>
          <a:xfrm>
            <a:off x="131975" y="953676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図表の比較">
  <p:cSld name="図表の比較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1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2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3"/>
          </p:nvPr>
        </p:nvSpPr>
        <p:spPr>
          <a:xfrm>
            <a:off x="131182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4"/>
          </p:nvPr>
        </p:nvSpPr>
        <p:spPr>
          <a:xfrm>
            <a:off x="4663283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>
  <p:cSld name="タイトル付きの図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>
            <a:spLocks noGrp="1"/>
          </p:cNvSpPr>
          <p:nvPr>
            <p:ph type="pic" idx="2"/>
          </p:nvPr>
        </p:nvSpPr>
        <p:spPr>
          <a:xfrm>
            <a:off x="235670" y="810704"/>
            <a:ext cx="8672660" cy="4798244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0"/>
          <p:cNvSpPr txBox="1">
            <a:spLocks noGrp="1"/>
          </p:cNvSpPr>
          <p:nvPr>
            <p:ph type="body" idx="1"/>
          </p:nvPr>
        </p:nvSpPr>
        <p:spPr>
          <a:xfrm>
            <a:off x="235669" y="5670223"/>
            <a:ext cx="8672660" cy="10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751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6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338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80"/>
              <a:buFont typeface="Noto Sans Symbols"/>
              <a:buChar char="✔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⮚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ja-JP" dirty="0"/>
              <a:t>統計学　#0</a:t>
            </a:r>
            <a:r>
              <a:rPr lang="en-US" altLang="ja-JP" dirty="0"/>
              <a:t>6</a:t>
            </a:r>
            <a:endParaRPr dirty="0"/>
          </a:p>
        </p:txBody>
      </p:sp>
      <p:sp>
        <p:nvSpPr>
          <p:cNvPr id="68" name="Google Shape;68;p1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dirty="0"/>
              <a:t>確率分布：連続確率分布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今日の目標</a:t>
            </a: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 dirty="0"/>
              <a:t>第2章　第2節　確率分布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t分布とその特徴について理解する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カイ二乗分布とその特徴について理解する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確率分布の期待値と分散について学ぶ</a:t>
            </a:r>
            <a:endParaRPr dirty="0"/>
          </a:p>
        </p:txBody>
      </p:sp>
      <p:sp>
        <p:nvSpPr>
          <p:cNvPr id="75" name="Google Shape;75;p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１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T分布</a:t>
            </a:r>
            <a:endParaRPr dirty="0"/>
          </a:p>
        </p:txBody>
      </p:sp>
      <p:sp>
        <p:nvSpPr>
          <p:cNvPr id="360" name="Google Shape;360;p3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T分布</a:t>
            </a:r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</a:t>
            </a:fld>
            <a:endParaRPr/>
          </a:p>
        </p:txBody>
      </p:sp>
      <p:sp>
        <p:nvSpPr>
          <p:cNvPr id="367" name="Google Shape;367;p3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84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368" name="Google Shape;368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65861" y="3689499"/>
            <a:ext cx="5279664" cy="3168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5861" y="3689499"/>
            <a:ext cx="5281200" cy="31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65861" y="3674436"/>
            <a:ext cx="5281200" cy="31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62800" y="3689038"/>
            <a:ext cx="5281200" cy="31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62800" y="3689038"/>
            <a:ext cx="5281200" cy="316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T分布</a:t>
            </a:r>
            <a:endParaRPr/>
          </a:p>
        </p:txBody>
      </p:sp>
      <p:sp>
        <p:nvSpPr>
          <p:cNvPr id="378" name="Google Shape;378;p3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5</a:t>
            </a:fld>
            <a:endParaRPr/>
          </a:p>
        </p:txBody>
      </p:sp>
      <p:sp>
        <p:nvSpPr>
          <p:cNvPr id="379" name="Google Shape;379;p3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60" t="-1052" b="-9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380" name="Google Shape;380;p32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自由度</a:t>
            </a:r>
            <a:endParaRPr/>
          </a:p>
        </p:txBody>
      </p:sp>
      <p:sp>
        <p:nvSpPr>
          <p:cNvPr id="386" name="Google Shape;386;p3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6</a:t>
            </a:fld>
            <a:endParaRPr/>
          </a:p>
        </p:txBody>
      </p:sp>
      <p:sp>
        <p:nvSpPr>
          <p:cNvPr id="387" name="Google Shape;387;p33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標本不偏分散</a:t>
            </a:r>
            <a:endParaRPr/>
          </a:p>
        </p:txBody>
      </p:sp>
      <p:sp>
        <p:nvSpPr>
          <p:cNvPr id="393" name="Google Shape;393;p34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7</a:t>
            </a:fld>
            <a:endParaRPr/>
          </a:p>
        </p:txBody>
      </p:sp>
      <p:sp>
        <p:nvSpPr>
          <p:cNvPr id="394" name="Google Shape;394;p34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395" name="Google Shape;395;p34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T分布の形状</a:t>
            </a:r>
            <a:endParaRPr/>
          </a:p>
        </p:txBody>
      </p:sp>
      <p:sp>
        <p:nvSpPr>
          <p:cNvPr id="401" name="Google Shape;401;p3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8</a:t>
            </a:fld>
            <a:endParaRPr/>
          </a:p>
        </p:txBody>
      </p:sp>
      <p:sp>
        <p:nvSpPr>
          <p:cNvPr id="402" name="Google Shape;402;p35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84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3000" y="2958332"/>
            <a:ext cx="6498000" cy="3899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23000" y="2958334"/>
            <a:ext cx="6498000" cy="3899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23000" y="2958334"/>
            <a:ext cx="6498000" cy="3899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23000" y="2958333"/>
            <a:ext cx="6498000" cy="3899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23754" y="2959700"/>
            <a:ext cx="6496493" cy="3898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6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8782493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２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T分布表の読み方</a:t>
            </a:r>
            <a:endParaRPr dirty="0"/>
          </a:p>
        </p:txBody>
      </p:sp>
      <p:sp>
        <p:nvSpPr>
          <p:cNvPr id="413" name="Google Shape;413;p3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T分布表</a:t>
            </a:r>
            <a:endParaRPr/>
          </a:p>
        </p:txBody>
      </p:sp>
      <p:sp>
        <p:nvSpPr>
          <p:cNvPr id="419" name="Google Shape;419;p3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10</a:t>
            </a:fld>
            <a:endParaRPr/>
          </a:p>
        </p:txBody>
      </p:sp>
      <p:sp>
        <p:nvSpPr>
          <p:cNvPr id="420" name="Google Shape;420;p37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421" name="Google Shape;42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8335" y="2397679"/>
            <a:ext cx="5961600" cy="357775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7"/>
          <p:cNvSpPr txBox="1"/>
          <p:nvPr/>
        </p:nvSpPr>
        <p:spPr>
          <a:xfrm>
            <a:off x="8431880" y="5598835"/>
            <a:ext cx="459100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423" name="Google Shape;423;p37"/>
          <p:cNvSpPr txBox="1"/>
          <p:nvPr/>
        </p:nvSpPr>
        <p:spPr>
          <a:xfrm>
            <a:off x="6151090" y="6179936"/>
            <a:ext cx="1988237" cy="64633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2453" t="-7545" b="-1509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424" name="Google Shape;424;p37"/>
          <p:cNvSpPr txBox="1"/>
          <p:nvPr/>
        </p:nvSpPr>
        <p:spPr>
          <a:xfrm>
            <a:off x="7713061" y="3965642"/>
            <a:ext cx="1241878" cy="64633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3920" t="-7545" b="-1509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cxnSp>
        <p:nvCxnSpPr>
          <p:cNvPr id="425" name="Google Shape;425;p37"/>
          <p:cNvCxnSpPr/>
          <p:nvPr/>
        </p:nvCxnSpPr>
        <p:spPr>
          <a:xfrm flipH="1">
            <a:off x="7357731" y="4625272"/>
            <a:ext cx="781596" cy="887880"/>
          </a:xfrm>
          <a:prstGeom prst="straightConnector1">
            <a:avLst/>
          </a:prstGeom>
          <a:noFill/>
          <a:ln w="12700" cap="rnd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6" name="Google Shape;426;p37"/>
          <p:cNvCxnSpPr/>
          <p:nvPr/>
        </p:nvCxnSpPr>
        <p:spPr>
          <a:xfrm rot="10800000">
            <a:off x="7219638" y="5588202"/>
            <a:ext cx="0" cy="581101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27" name="Google Shape;427;p37"/>
          <p:cNvGrpSpPr/>
          <p:nvPr/>
        </p:nvGrpSpPr>
        <p:grpSpPr>
          <a:xfrm>
            <a:off x="2171904" y="3827282"/>
            <a:ext cx="2697996" cy="923330"/>
            <a:chOff x="2171904" y="3827282"/>
            <a:chExt cx="2697996" cy="923330"/>
          </a:xfrm>
        </p:grpSpPr>
        <p:sp>
          <p:nvSpPr>
            <p:cNvPr id="428" name="Google Shape;428;p37"/>
            <p:cNvSpPr txBox="1"/>
            <p:nvPr/>
          </p:nvSpPr>
          <p:spPr>
            <a:xfrm>
              <a:off x="2171904" y="3827282"/>
              <a:ext cx="1879361" cy="92333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l="-2588" t="-5297" r="-2587" b="-1059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29" name="Google Shape;429;p37"/>
            <p:cNvCxnSpPr/>
            <p:nvPr/>
          </p:nvCxnSpPr>
          <p:spPr>
            <a:xfrm>
              <a:off x="3842445" y="4354697"/>
              <a:ext cx="1027455" cy="155024"/>
            </a:xfrm>
            <a:prstGeom prst="straightConnector1">
              <a:avLst/>
            </a:prstGeom>
            <a:noFill/>
            <a:ln w="12700" cap="rnd" cmpd="sng">
              <a:solidFill>
                <a:srgbClr val="F083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標準正規分布表との違い</a:t>
            </a:r>
            <a:endParaRPr/>
          </a:p>
        </p:txBody>
      </p:sp>
      <p:sp>
        <p:nvSpPr>
          <p:cNvPr id="435" name="Google Shape;435;p3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11</a:t>
            </a:fld>
            <a:endParaRPr/>
          </a:p>
        </p:txBody>
      </p:sp>
      <p:graphicFrame>
        <p:nvGraphicFramePr>
          <p:cNvPr id="436" name="Google Shape;436;p38"/>
          <p:cNvGraphicFramePr/>
          <p:nvPr/>
        </p:nvGraphicFramePr>
        <p:xfrm>
          <a:off x="490305" y="2349000"/>
          <a:ext cx="8163400" cy="2160000"/>
        </p:xfrm>
        <a:graphic>
          <a:graphicData uri="http://schemas.openxmlformats.org/drawingml/2006/table">
            <a:tbl>
              <a:tblPr firstRow="1" bandRow="1">
                <a:noFill/>
                <a:tableStyleId>{B3BA7C6B-2C5A-4B46-9B24-1202DAD5BCDC}</a:tableStyleId>
              </a:tblPr>
              <a:tblGrid>
                <a:gridCol w="96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標準正規分布表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t分布表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表側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表頭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表中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T分布表の読み方①</a:t>
            </a:r>
            <a:endParaRPr/>
          </a:p>
        </p:txBody>
      </p:sp>
      <p:sp>
        <p:nvSpPr>
          <p:cNvPr id="442" name="Google Shape;442;p3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12</a:t>
            </a:fld>
            <a:endParaRPr/>
          </a:p>
        </p:txBody>
      </p:sp>
      <p:sp>
        <p:nvSpPr>
          <p:cNvPr id="443" name="Google Shape;443;p3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3" t="-946" r="-47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444" name="Google Shape;444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60697" y="3119890"/>
            <a:ext cx="5422606" cy="32542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p39"/>
          <p:cNvGrpSpPr/>
          <p:nvPr/>
        </p:nvGrpSpPr>
        <p:grpSpPr>
          <a:xfrm>
            <a:off x="5986132" y="4519602"/>
            <a:ext cx="2750131" cy="1405144"/>
            <a:chOff x="5986132" y="4519602"/>
            <a:chExt cx="2750131" cy="1405144"/>
          </a:xfrm>
        </p:grpSpPr>
        <p:sp>
          <p:nvSpPr>
            <p:cNvPr id="446" name="Google Shape;446;p39"/>
            <p:cNvSpPr txBox="1"/>
            <p:nvPr/>
          </p:nvSpPr>
          <p:spPr>
            <a:xfrm>
              <a:off x="6631969" y="4519602"/>
              <a:ext cx="2104294" cy="64633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l="-2608" t="-6601" b="-1509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47" name="Google Shape;447;p39"/>
            <p:cNvCxnSpPr/>
            <p:nvPr/>
          </p:nvCxnSpPr>
          <p:spPr>
            <a:xfrm flipH="1">
              <a:off x="5986132" y="5036866"/>
              <a:ext cx="781596" cy="887880"/>
            </a:xfrm>
            <a:prstGeom prst="straightConnector1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48" name="Google Shape;448;p39"/>
          <p:cNvGrpSpPr/>
          <p:nvPr/>
        </p:nvGrpSpPr>
        <p:grpSpPr>
          <a:xfrm>
            <a:off x="5890369" y="5996210"/>
            <a:ext cx="3179063" cy="768965"/>
            <a:chOff x="5890369" y="5996210"/>
            <a:chExt cx="3179063" cy="768965"/>
          </a:xfrm>
        </p:grpSpPr>
        <p:sp>
          <p:nvSpPr>
            <p:cNvPr id="449" name="Google Shape;449;p39"/>
            <p:cNvSpPr txBox="1"/>
            <p:nvPr/>
          </p:nvSpPr>
          <p:spPr>
            <a:xfrm>
              <a:off x="6631969" y="6118844"/>
              <a:ext cx="2437463" cy="64633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2249" t="-7545" b="-1509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50" name="Google Shape;450;p39"/>
            <p:cNvCxnSpPr>
              <a:stCxn id="449" idx="1"/>
            </p:cNvCxnSpPr>
            <p:nvPr/>
          </p:nvCxnSpPr>
          <p:spPr>
            <a:xfrm rot="10800000">
              <a:off x="5890369" y="5996210"/>
              <a:ext cx="741600" cy="44580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51" name="Google Shape;451;p39"/>
          <p:cNvGrpSpPr/>
          <p:nvPr/>
        </p:nvGrpSpPr>
        <p:grpSpPr>
          <a:xfrm>
            <a:off x="1293299" y="3773951"/>
            <a:ext cx="2768527" cy="767503"/>
            <a:chOff x="1293299" y="3773951"/>
            <a:chExt cx="2768527" cy="767503"/>
          </a:xfrm>
        </p:grpSpPr>
        <p:sp>
          <p:nvSpPr>
            <p:cNvPr id="452" name="Google Shape;452;p39"/>
            <p:cNvSpPr txBox="1"/>
            <p:nvPr/>
          </p:nvSpPr>
          <p:spPr>
            <a:xfrm>
              <a:off x="1293299" y="3773951"/>
              <a:ext cx="2020425" cy="64633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l="-2408" t="-6601" r="-2409" b="-1509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53" name="Google Shape;453;p39"/>
            <p:cNvCxnSpPr/>
            <p:nvPr/>
          </p:nvCxnSpPr>
          <p:spPr>
            <a:xfrm>
              <a:off x="3034371" y="4386430"/>
              <a:ext cx="1027455" cy="155024"/>
            </a:xfrm>
            <a:prstGeom prst="straightConnector1">
              <a:avLst/>
            </a:prstGeom>
            <a:noFill/>
            <a:ln w="12700" cap="rnd" cmpd="sng">
              <a:solidFill>
                <a:srgbClr val="F083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（補足１）T分布表の読み方①</a:t>
            </a:r>
            <a:endParaRPr/>
          </a:p>
        </p:txBody>
      </p:sp>
      <p:sp>
        <p:nvSpPr>
          <p:cNvPr id="459" name="Google Shape;459;p4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13</a:t>
            </a:fld>
            <a:endParaRPr/>
          </a:p>
        </p:txBody>
      </p:sp>
      <p:sp>
        <p:nvSpPr>
          <p:cNvPr id="460" name="Google Shape;460;p40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3" t="-946" r="-47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461" name="Google Shape;461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1284" y="3054155"/>
            <a:ext cx="4521432" cy="3803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（補足２）T分布表の読み方①</a:t>
            </a:r>
            <a:endParaRPr/>
          </a:p>
        </p:txBody>
      </p:sp>
      <p:sp>
        <p:nvSpPr>
          <p:cNvPr id="467" name="Google Shape;467;p4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14</a:t>
            </a:fld>
            <a:endParaRPr/>
          </a:p>
        </p:txBody>
      </p:sp>
      <p:sp>
        <p:nvSpPr>
          <p:cNvPr id="468" name="Google Shape;468;p4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3" t="-946" r="-47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469" name="Google Shape;469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1284" y="3054155"/>
            <a:ext cx="4521432" cy="3803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T分布表の読み方④</a:t>
            </a:r>
            <a:endParaRPr/>
          </a:p>
        </p:txBody>
      </p:sp>
      <p:sp>
        <p:nvSpPr>
          <p:cNvPr id="475" name="Google Shape;475;p4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15</a:t>
            </a:fld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48" t="-4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477" name="Google Shape;477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5238" y="3827282"/>
            <a:ext cx="4573524" cy="2744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" name="Google Shape;478;p42"/>
          <p:cNvGrpSpPr/>
          <p:nvPr/>
        </p:nvGrpSpPr>
        <p:grpSpPr>
          <a:xfrm>
            <a:off x="5497060" y="6118844"/>
            <a:ext cx="3523479" cy="646331"/>
            <a:chOff x="5497060" y="6118844"/>
            <a:chExt cx="3523479" cy="646331"/>
          </a:xfrm>
        </p:grpSpPr>
        <p:sp>
          <p:nvSpPr>
            <p:cNvPr id="479" name="Google Shape;479;p42"/>
            <p:cNvSpPr txBox="1"/>
            <p:nvPr/>
          </p:nvSpPr>
          <p:spPr>
            <a:xfrm>
              <a:off x="6680860" y="6118844"/>
              <a:ext cx="2339679" cy="64633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l="-2082" t="-7545" b="-1509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80" name="Google Shape;480;p42"/>
            <p:cNvCxnSpPr>
              <a:stCxn id="479" idx="1"/>
            </p:cNvCxnSpPr>
            <p:nvPr/>
          </p:nvCxnSpPr>
          <p:spPr>
            <a:xfrm rot="10800000">
              <a:off x="5497060" y="6262610"/>
              <a:ext cx="1183800" cy="17940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1" name="Google Shape;481;p42"/>
          <p:cNvGrpSpPr/>
          <p:nvPr/>
        </p:nvGrpSpPr>
        <p:grpSpPr>
          <a:xfrm>
            <a:off x="5654154" y="4750820"/>
            <a:ext cx="2567325" cy="1405144"/>
            <a:chOff x="5986132" y="4519602"/>
            <a:chExt cx="2567325" cy="1405144"/>
          </a:xfrm>
        </p:grpSpPr>
        <p:sp>
          <p:nvSpPr>
            <p:cNvPr id="482" name="Google Shape;482;p42"/>
            <p:cNvSpPr txBox="1"/>
            <p:nvPr/>
          </p:nvSpPr>
          <p:spPr>
            <a:xfrm>
              <a:off x="6631969" y="4519602"/>
              <a:ext cx="1921488" cy="64633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2530" t="-6601" b="-1509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83" name="Google Shape;483;p42"/>
            <p:cNvCxnSpPr/>
            <p:nvPr/>
          </p:nvCxnSpPr>
          <p:spPr>
            <a:xfrm flipH="1">
              <a:off x="5986132" y="5036866"/>
              <a:ext cx="781596" cy="887880"/>
            </a:xfrm>
            <a:prstGeom prst="straightConnector1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4" name="Google Shape;484;p42"/>
          <p:cNvGrpSpPr/>
          <p:nvPr/>
        </p:nvGrpSpPr>
        <p:grpSpPr>
          <a:xfrm>
            <a:off x="1240136" y="4421211"/>
            <a:ext cx="2768527" cy="767503"/>
            <a:chOff x="1293299" y="3773951"/>
            <a:chExt cx="2768527" cy="767503"/>
          </a:xfrm>
        </p:grpSpPr>
        <p:sp>
          <p:nvSpPr>
            <p:cNvPr id="485" name="Google Shape;485;p42"/>
            <p:cNvSpPr txBox="1"/>
            <p:nvPr/>
          </p:nvSpPr>
          <p:spPr>
            <a:xfrm>
              <a:off x="1293299" y="3773951"/>
              <a:ext cx="2020426" cy="64633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l="-2408" t="-6601" r="-2409" b="-1509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86" name="Google Shape;486;p42"/>
            <p:cNvCxnSpPr/>
            <p:nvPr/>
          </p:nvCxnSpPr>
          <p:spPr>
            <a:xfrm>
              <a:off x="3034371" y="4386430"/>
              <a:ext cx="1027455" cy="155024"/>
            </a:xfrm>
            <a:prstGeom prst="straightConnector1">
              <a:avLst/>
            </a:prstGeom>
            <a:noFill/>
            <a:ln w="12700" cap="rnd" cmpd="sng">
              <a:solidFill>
                <a:srgbClr val="F083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7" name="Google Shape;487;p42"/>
          <p:cNvGrpSpPr/>
          <p:nvPr/>
        </p:nvGrpSpPr>
        <p:grpSpPr>
          <a:xfrm>
            <a:off x="276675" y="5420684"/>
            <a:ext cx="3218260" cy="735280"/>
            <a:chOff x="5530910" y="4655987"/>
            <a:chExt cx="3218260" cy="735280"/>
          </a:xfrm>
        </p:grpSpPr>
        <p:sp>
          <p:nvSpPr>
            <p:cNvPr id="488" name="Google Shape;488;p42"/>
            <p:cNvSpPr txBox="1"/>
            <p:nvPr/>
          </p:nvSpPr>
          <p:spPr>
            <a:xfrm>
              <a:off x="5530910" y="4655987"/>
              <a:ext cx="214834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 b="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左右で同じ面積</a:t>
              </a:r>
              <a:endParaRPr sz="18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（手順②）</a:t>
              </a:r>
              <a:endParaRPr/>
            </a:p>
          </p:txBody>
        </p:sp>
        <p:cxnSp>
          <p:nvCxnSpPr>
            <p:cNvPr id="489" name="Google Shape;489;p42"/>
            <p:cNvCxnSpPr/>
            <p:nvPr/>
          </p:nvCxnSpPr>
          <p:spPr>
            <a:xfrm>
              <a:off x="7125565" y="5147050"/>
              <a:ext cx="1623605" cy="244217"/>
            </a:xfrm>
            <a:prstGeom prst="straightConnector1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490" name="Google Shape;490;p42"/>
          <p:cNvSpPr txBox="1"/>
          <p:nvPr/>
        </p:nvSpPr>
        <p:spPr>
          <a:xfrm>
            <a:off x="4181075" y="5559183"/>
            <a:ext cx="78098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3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３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カイ二乗分布</a:t>
            </a:r>
            <a:endParaRPr dirty="0"/>
          </a:p>
        </p:txBody>
      </p:sp>
      <p:sp>
        <p:nvSpPr>
          <p:cNvPr id="496" name="Google Shape;496;p4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4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カイ二乗分布</a:t>
            </a:r>
            <a:endParaRPr/>
          </a:p>
        </p:txBody>
      </p:sp>
      <p:sp>
        <p:nvSpPr>
          <p:cNvPr id="502" name="Google Shape;502;p44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17</a:t>
            </a:fld>
            <a:endParaRPr/>
          </a:p>
        </p:txBody>
      </p:sp>
      <p:sp>
        <p:nvSpPr>
          <p:cNvPr id="503" name="Google Shape;503;p44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84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504" name="Google Shape;504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62800" y="3688576"/>
            <a:ext cx="5281200" cy="316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5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４</a:t>
            </a:r>
            <a:r>
              <a:rPr lang="ja-JP" dirty="0"/>
              <a:t>：確率分布の期待値と分散</a:t>
            </a:r>
            <a:endParaRPr dirty="0"/>
          </a:p>
        </p:txBody>
      </p:sp>
      <p:sp>
        <p:nvSpPr>
          <p:cNvPr id="510" name="Google Shape;510;p4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確率分布の期待値</a:t>
            </a:r>
            <a:endParaRPr/>
          </a:p>
        </p:txBody>
      </p:sp>
      <p:sp>
        <p:nvSpPr>
          <p:cNvPr id="516" name="Google Shape;516;p4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19</a:t>
            </a:fld>
            <a:endParaRPr/>
          </a:p>
        </p:txBody>
      </p:sp>
      <p:sp>
        <p:nvSpPr>
          <p:cNvPr id="517" name="Google Shape;517;p46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78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518" name="Google Shape;518;p46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確率分布の分散</a:t>
            </a:r>
            <a:endParaRPr/>
          </a:p>
        </p:txBody>
      </p:sp>
      <p:sp>
        <p:nvSpPr>
          <p:cNvPr id="524" name="Google Shape;524;p4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20</a:t>
            </a:fld>
            <a:endParaRPr/>
          </a:p>
        </p:txBody>
      </p:sp>
      <p:sp>
        <p:nvSpPr>
          <p:cNvPr id="525" name="Google Shape;525;p47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526" name="Google Shape;526;p47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SUMMARY</a:t>
            </a:r>
            <a:endParaRPr/>
          </a:p>
        </p:txBody>
      </p:sp>
      <p:sp>
        <p:nvSpPr>
          <p:cNvPr id="533" name="Google Shape;533;p4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21</a:t>
            </a:fld>
            <a:endParaRPr/>
          </a:p>
        </p:txBody>
      </p:sp>
      <p:sp>
        <p:nvSpPr>
          <p:cNvPr id="7" name="Google Shape;532;p48">
            <a:extLst>
              <a:ext uri="{FF2B5EF4-FFF2-40B4-BE49-F238E27FC236}">
                <a16:creationId xmlns:a16="http://schemas.microsoft.com/office/drawing/2014/main" id="{8E466996-38EB-B750-079A-4537B7CD985A}"/>
              </a:ext>
            </a:extLst>
          </p:cNvPr>
          <p:cNvSpPr txBox="1">
            <a:spLocks/>
          </p:cNvSpPr>
          <p:nvPr/>
        </p:nvSpPr>
        <p:spPr>
          <a:xfrm>
            <a:off x="131976" y="1433994"/>
            <a:ext cx="8880049" cy="29296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60" t="-90087" b="-1059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51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60"/>
              <a:buFont typeface="Noto Sans Symbols"/>
              <a:buChar char="◆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33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80"/>
              <a:buFont typeface="Noto Sans Symbols"/>
              <a:buChar char="✔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⮚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1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1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en-US" dirty="0"/>
              <a:t> </a:t>
            </a:r>
          </a:p>
        </p:txBody>
      </p:sp>
      <p:sp>
        <p:nvSpPr>
          <p:cNvPr id="10" name="Google Shape;532;p48"/>
          <p:cNvSpPr txBox="1">
            <a:spLocks noGrp="1"/>
          </p:cNvSpPr>
          <p:nvPr>
            <p:ph type="body" idx="1"/>
          </p:nvPr>
        </p:nvSpPr>
        <p:spPr>
          <a:xfrm>
            <a:off x="131976" y="933255"/>
            <a:ext cx="8880049" cy="4443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60" t="-20549" b="-12025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 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rgbClr val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226</Words>
  <Application>Microsoft Office PowerPoint</Application>
  <PresentationFormat>画面に合わせる (4:3)</PresentationFormat>
  <Paragraphs>90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Gill Sans</vt:lpstr>
      <vt:lpstr>Noto Sans Symbols</vt:lpstr>
      <vt:lpstr>Arial</vt:lpstr>
      <vt:lpstr>Impact</vt:lpstr>
      <vt:lpstr>配当</vt:lpstr>
      <vt:lpstr>確率分布：連続確率分布</vt:lpstr>
      <vt:lpstr>今日の目標</vt:lpstr>
      <vt:lpstr>PowerPoint プレゼンテーション</vt:lpstr>
      <vt:lpstr>T分布</vt:lpstr>
      <vt:lpstr>T分布</vt:lpstr>
      <vt:lpstr>自由度</vt:lpstr>
      <vt:lpstr>標本不偏分散</vt:lpstr>
      <vt:lpstr>T分布の形状</vt:lpstr>
      <vt:lpstr>PowerPoint プレゼンテーション</vt:lpstr>
      <vt:lpstr>T分布表</vt:lpstr>
      <vt:lpstr>標準正規分布表との違い</vt:lpstr>
      <vt:lpstr>T分布表の読み方①</vt:lpstr>
      <vt:lpstr>（補足１）T分布表の読み方①</vt:lpstr>
      <vt:lpstr>（補足２）T分布表の読み方①</vt:lpstr>
      <vt:lpstr>T分布表の読み方④</vt:lpstr>
      <vt:lpstr>PowerPoint プレゼンテーション</vt:lpstr>
      <vt:lpstr>カイ二乗分布</vt:lpstr>
      <vt:lpstr>PowerPoint プレゼンテーション</vt:lpstr>
      <vt:lpstr>確率分布の期待値</vt:lpstr>
      <vt:lpstr>確率分布の分散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 Ikegawa</dc:creator>
  <cp:lastModifiedBy>須永大介</cp:lastModifiedBy>
  <cp:revision>1</cp:revision>
  <dcterms:created xsi:type="dcterms:W3CDTF">2025-03-03T09:28:12Z</dcterms:created>
  <dcterms:modified xsi:type="dcterms:W3CDTF">2026-08-31T10:30:25Z</dcterms:modified>
</cp:coreProperties>
</file>