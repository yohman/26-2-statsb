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591" r:id="rId8"/>
    <p:sldId id="596" r:id="rId9"/>
    <p:sldId id="597" r:id="rId10"/>
    <p:sldId id="598" r:id="rId11"/>
    <p:sldId id="300" r:id="rId12"/>
    <p:sldId id="585" r:id="rId13"/>
    <p:sldId id="629" r:id="rId14"/>
    <p:sldId id="271" r:id="rId15"/>
    <p:sldId id="564" r:id="rId16"/>
    <p:sldId id="272" r:id="rId17"/>
    <p:sldId id="600" r:id="rId18"/>
    <p:sldId id="611" r:id="rId19"/>
    <p:sldId id="631" r:id="rId20"/>
    <p:sldId id="277" r:id="rId21"/>
    <p:sldId id="602" r:id="rId22"/>
    <p:sldId id="604" r:id="rId23"/>
    <p:sldId id="605" r:id="rId24"/>
    <p:sldId id="606" r:id="rId25"/>
    <p:sldId id="607" r:id="rId26"/>
    <p:sldId id="608" r:id="rId27"/>
    <p:sldId id="609" r:id="rId28"/>
    <p:sldId id="630" r:id="rId29"/>
  </p:sldIdLst>
  <p:sldSz cx="9144000" cy="6858000" type="screen4x3"/>
  <p:notesSz cx="6858000" cy="9144000"/>
  <p:embeddedFontLst>
    <p:embeddedFont>
      <p:font typeface="BIZ UDPゴシック" panose="020B0400000000000000" pitchFamily="34" charset="-128"/>
      <p:regular r:id="rId31"/>
      <p:bold r:id="rId32"/>
    </p:embeddedFont>
    <p:embeddedFont>
      <p:font typeface="Cambria Math" panose="02040503050406030204" pitchFamily="18" charset="0"/>
      <p:regular r:id="rId33"/>
    </p:embeddedFont>
    <p:embeddedFont>
      <p:font typeface="HG丸ｺﾞｼｯｸM-PRO" panose="020F0600000000000000" pitchFamily="34" charset="-128"/>
      <p:regular r:id="rId34"/>
    </p:embeddedFont>
    <p:embeddedFont>
      <p:font typeface="Impact" panose="020B0806030902050204" pitchFamily="34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G6+0Yz9Vk0AgsMeOrAJsj9E+T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BA7C6B-2C5A-4B46-9B24-1202DAD5BCDC}">
  <a:tblStyle styleId="{B3BA7C6B-2C5A-4B46-9B24-1202DAD5BCD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AF2"/>
          </a:solidFill>
        </a:fill>
      </a:tcStyle>
    </a:wholeTbl>
    <a:band1H>
      <a:tcTxStyle/>
      <a:tcStyle>
        <a:tcBdr/>
        <a:fill>
          <a:solidFill>
            <a:srgbClr val="CAD2E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2E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60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※非常にコンテンツが多いので，様子を見ながら適宜2コマに分けてください．</a:t>
            </a:r>
            <a:endParaRPr/>
          </a:p>
        </p:txBody>
      </p:sp>
      <p:sp>
        <p:nvSpPr>
          <p:cNvPr id="65" name="Google Shape;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1921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以下，確率密度関数等については，初学者には難易度が高いため，説明は不要かと思います．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280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130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C4748-9162-D9A4-D516-73785B10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198D8E9-06F6-4098-8C9F-399FBC50E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E3A77D2-4D7B-A4E9-BE68-770775D11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3A11A3-9D54-6323-0FA7-6E0F904F7C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152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0DEC5DBD-04FB-B559-2E7B-53FEEBE2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301AA7A1-7EAE-CA7C-30F6-949C022A5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>
            <a:extLst>
              <a:ext uri="{FF2B5EF4-FFF2-40B4-BE49-F238E27FC236}">
                <a16:creationId xmlns:a16="http://schemas.microsoft.com/office/drawing/2014/main" id="{BB527170-CB89-93E1-4974-9520C1509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7345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今日の目標">
  <p:cSld name="今日の目標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◆"/>
              <a:defRPr/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Font typeface="Noto Sans Symbols"/>
              <a:buChar char="✔"/>
              <a:defRPr/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660"/>
              <a:buNone/>
              <a:defRPr sz="2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1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2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4663281" y="953677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4"/>
          </p:nvPr>
        </p:nvSpPr>
        <p:spPr>
          <a:xfrm>
            <a:off x="131975" y="953676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の比較">
  <p:cSld name="図表の比較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131182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4663283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>
  <p:cSld name="タイトル付きの図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>
            <a:spLocks noGrp="1"/>
          </p:cNvSpPr>
          <p:nvPr>
            <p:ph type="pic" idx="2"/>
          </p:nvPr>
        </p:nvSpPr>
        <p:spPr>
          <a:xfrm>
            <a:off x="235670" y="810704"/>
            <a:ext cx="8672660" cy="4798244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>
            <a:off x="235669" y="5670223"/>
            <a:ext cx="8672660" cy="10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41504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51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emf"/><Relationship Id="rId7" Type="http://schemas.openxmlformats.org/officeDocument/2006/relationships/image" Target="../media/image9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0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1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67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58.png"/><Relationship Id="rId4" Type="http://schemas.openxmlformats.org/officeDocument/2006/relationships/image" Target="../media/image2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ja-JP" dirty="0"/>
              <a:t>統計学　#0</a:t>
            </a:r>
            <a:r>
              <a:rPr lang="en-US" altLang="ja-JP" dirty="0"/>
              <a:t>5</a:t>
            </a:r>
            <a:endParaRPr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確率分布：連続確率分布</a:t>
            </a:r>
            <a:r>
              <a:rPr lang="en-US" altLang="ja-JP" dirty="0"/>
              <a:t> </a:t>
            </a:r>
            <a:r>
              <a:rPr lang="ja-JP" altLang="en-US"/>
              <a:t>前半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今日の目標</a:t>
            </a: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積分の概念を学ぶ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標準正規分布とその特徴について理解する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ja-JP" dirty="0"/>
              <a:t>確率分布の期待値と分散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en-US" dirty="0"/>
              <a:t>正規分布・標準正規分布・標準正規分布表</a:t>
            </a:r>
            <a:endParaRPr dirty="0"/>
          </a:p>
          <a:p>
            <a:pPr marL="324000" lvl="1" indent="0" algn="l" rtl="0">
              <a:spcBef>
                <a:spcPts val="1080"/>
              </a:spcBef>
              <a:spcAft>
                <a:spcPts val="0"/>
              </a:spcAft>
              <a:buSzPts val="2280"/>
              <a:buNone/>
            </a:pPr>
            <a:endParaRPr dirty="0"/>
          </a:p>
        </p:txBody>
      </p:sp>
      <p:sp>
        <p:nvSpPr>
          <p:cNvPr id="75" name="Google Shape;75;p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１</a:t>
            </a:r>
            <a:r>
              <a:rPr lang="ja-JP" dirty="0"/>
              <a:t>：連続確率分布</a:t>
            </a:r>
            <a:endParaRPr dirty="0"/>
          </a:p>
        </p:txBody>
      </p:sp>
      <p:sp>
        <p:nvSpPr>
          <p:cNvPr id="81" name="Google Shape;81;p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連続確率分布</a:t>
            </a:r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</a:t>
            </a:fld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 b="1">
                <a:solidFill>
                  <a:schemeClr val="accent5"/>
                </a:solidFill>
              </a:rPr>
              <a:t>連続確率分布</a:t>
            </a:r>
            <a:r>
              <a:rPr lang="ja-JP"/>
              <a:t>　</a:t>
            </a:r>
            <a:r>
              <a:rPr lang="ja-JP">
                <a:solidFill>
                  <a:schemeClr val="accent2"/>
                </a:solidFill>
              </a:rPr>
              <a:t>continuous probability distribution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累積確率分布関数が連続な確率分布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>
                <a:solidFill>
                  <a:schemeClr val="accent5"/>
                </a:solidFill>
              </a:rPr>
              <a:t>確率変数が連続変数</a:t>
            </a:r>
            <a:r>
              <a:rPr lang="ja-JP"/>
              <a:t>である場合</a:t>
            </a:r>
            <a:endParaRPr/>
          </a:p>
          <a:p>
            <a:pPr marL="306000" lvl="0" indent="-13709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endParaRPr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連続変数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連続的で，</a:t>
            </a:r>
            <a:br>
              <a:rPr lang="ja-JP"/>
            </a:br>
            <a:r>
              <a:rPr lang="ja-JP"/>
              <a:t>無限に中間の値が存在する変数</a:t>
            </a:r>
            <a:endParaRPr/>
          </a:p>
          <a:p>
            <a:pPr marL="900000" lvl="2" indent="-270000" algn="l" rtl="0">
              <a:spcBef>
                <a:spcPts val="1000"/>
              </a:spcBef>
              <a:spcAft>
                <a:spcPts val="0"/>
              </a:spcAft>
              <a:buSzPts val="1900"/>
              <a:buChar char="⮚"/>
            </a:pPr>
            <a:r>
              <a:rPr lang="ja-JP"/>
              <a:t>重さ，温度，距離，など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復習</a:t>
            </a:r>
            <a:endParaRPr/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8688" y="2152334"/>
            <a:ext cx="3823336" cy="2294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連続確率分布</a:t>
            </a:r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5</a:t>
            </a:fld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 t="14314"/>
          <a:stretch/>
        </p:blipFill>
        <p:spPr>
          <a:xfrm>
            <a:off x="5742133" y="5039834"/>
            <a:ext cx="3269891" cy="16814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5"/>
          <p:cNvGrpSpPr/>
          <p:nvPr/>
        </p:nvGrpSpPr>
        <p:grpSpPr>
          <a:xfrm>
            <a:off x="7549170" y="5039834"/>
            <a:ext cx="1569660" cy="616687"/>
            <a:chOff x="7549170" y="5039834"/>
            <a:chExt cx="1569660" cy="616687"/>
          </a:xfrm>
        </p:grpSpPr>
        <p:cxnSp>
          <p:nvCxnSpPr>
            <p:cNvPr id="101" name="Google Shape;101;p5"/>
            <p:cNvCxnSpPr/>
            <p:nvPr/>
          </p:nvCxnSpPr>
          <p:spPr>
            <a:xfrm flipH="1">
              <a:off x="7719237" y="5409166"/>
              <a:ext cx="233916" cy="247355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2" name="Google Shape;102;p5"/>
            <p:cNvSpPr txBox="1"/>
            <p:nvPr/>
          </p:nvSpPr>
          <p:spPr>
            <a:xfrm>
              <a:off x="7549170" y="5039834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 b="0" i="0" u="none" strike="noStrike" cap="none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確率密度関数</a:t>
              </a:r>
              <a:endParaRPr/>
            </a:p>
          </p:txBody>
        </p:sp>
      </p:grpSp>
      <p:grpSp>
        <p:nvGrpSpPr>
          <p:cNvPr id="103" name="Google Shape;103;p5"/>
          <p:cNvGrpSpPr/>
          <p:nvPr/>
        </p:nvGrpSpPr>
        <p:grpSpPr>
          <a:xfrm>
            <a:off x="4348715" y="5316279"/>
            <a:ext cx="2679406" cy="937276"/>
            <a:chOff x="4348715" y="5316279"/>
            <a:chExt cx="2679406" cy="937276"/>
          </a:xfrm>
        </p:grpSpPr>
        <p:cxnSp>
          <p:nvCxnSpPr>
            <p:cNvPr id="104" name="Google Shape;104;p5"/>
            <p:cNvCxnSpPr/>
            <p:nvPr/>
          </p:nvCxnSpPr>
          <p:spPr>
            <a:xfrm>
              <a:off x="4348716" y="5316279"/>
              <a:ext cx="2679405" cy="808074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5" name="Google Shape;105;p5"/>
            <p:cNvSpPr txBox="1"/>
            <p:nvPr/>
          </p:nvSpPr>
          <p:spPr>
            <a:xfrm>
              <a:off x="4348715" y="5915001"/>
              <a:ext cx="211468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ここの内側の面積は1</a:t>
              </a:r>
              <a:endParaRPr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連続確率分布</a:t>
            </a:r>
            <a:endParaRPr dirty="0"/>
          </a:p>
        </p:txBody>
      </p:sp>
      <p:sp>
        <p:nvSpPr>
          <p:cNvPr id="111" name="Google Shape;111;p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6</a:t>
            </a:fld>
            <a:endParaRPr/>
          </a:p>
        </p:txBody>
      </p:sp>
      <p:sp>
        <p:nvSpPr>
          <p:cNvPr id="112" name="Google Shape;112;p6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236DFB-021C-421C-131E-7E438C4B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確率密度関数の積分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280C53A-77D0-751B-E787-48F15244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1C06887-6779-CE81-E7F5-BE8B49D185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56" y="933254"/>
                <a:ext cx="9042504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確率密度関数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sz="2400" dirty="0"/>
                  <a:t>の積分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横軸</a:t>
                </a:r>
                <a:r>
                  <a:rPr lang="ja-JP" altLang="en-US" sz="1600" dirty="0"/>
                  <a:t>（確率変数のとりうる値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600" dirty="0"/>
                  <a:t>）</a:t>
                </a:r>
                <a:r>
                  <a:rPr lang="ja-JP" altLang="en-US" sz="2000" dirty="0"/>
                  <a:t>と，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横軸上の任意の点</a:t>
                </a:r>
                <a:r>
                  <a:rPr lang="ja-JP" altLang="en-US" sz="1600" dirty="0"/>
                  <a:t>（確率変数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600" dirty="0"/>
                  <a:t>の実現値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1600" dirty="0"/>
                  <a:t>）</a:t>
                </a:r>
                <a:r>
                  <a:rPr lang="ja-JP" altLang="en-US" sz="2000" dirty="0"/>
                  <a:t>，</a:t>
                </a:r>
                <a:br>
                  <a:rPr lang="en-US" altLang="ja-JP" sz="2000" dirty="0"/>
                </a:br>
                <a:r>
                  <a:rPr lang="ja-JP" altLang="en-US" sz="2000" dirty="0">
                    <a:solidFill>
                      <a:schemeClr val="accent5"/>
                    </a:solidFill>
                  </a:rPr>
                  <a:t>確率密度関数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sz="2000" dirty="0"/>
                  <a:t>で囲まれる範囲の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面積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確率変数が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000" dirty="0"/>
                  <a:t>となる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000" dirty="0"/>
                  <a:t>を表す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b="1" dirty="0"/>
                  <a:t>下側確率</a:t>
                </a:r>
                <a:r>
                  <a:rPr lang="ja-JP" altLang="en-US" sz="2000" dirty="0"/>
                  <a:t>　</a:t>
                </a:r>
                <a:r>
                  <a:rPr lang="en-US" altLang="ja-JP" sz="2000" dirty="0">
                    <a:solidFill>
                      <a:schemeClr val="accent2"/>
                    </a:solidFill>
                  </a:rPr>
                  <a:t>lower-tail probability</a:t>
                </a:r>
              </a:p>
              <a:p>
                <a:pPr lvl="1"/>
                <a:r>
                  <a:rPr lang="ja-JP" altLang="en-US" sz="2000" dirty="0"/>
                  <a:t>累積分布関数</a:t>
                </a:r>
                <a:br>
                  <a:rPr lang="en-US" altLang="ja-JP" sz="2000" dirty="0"/>
                </a:br>
                <a:r>
                  <a:rPr lang="ja-JP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1C06887-6779-CE81-E7F5-BE8B49D18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56" y="933254"/>
                <a:ext cx="9042504" cy="5788057"/>
              </a:xfrm>
              <a:blipFill>
                <a:blip r:embed="rId3"/>
                <a:stretch>
                  <a:fillRect r="-35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34EBEBF6-39D1-59CB-2625-1672C0694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057" y="3059668"/>
            <a:ext cx="5485966" cy="329231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14AC75D-D672-7E41-91E3-F2CA95F6357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474C9CF-BB6A-4BD7-75E0-FCC7188AE1AC}"/>
              </a:ext>
            </a:extLst>
          </p:cNvPr>
          <p:cNvGrpSpPr/>
          <p:nvPr/>
        </p:nvGrpSpPr>
        <p:grpSpPr>
          <a:xfrm>
            <a:off x="7293936" y="6039293"/>
            <a:ext cx="1238416" cy="732363"/>
            <a:chOff x="7293936" y="6039293"/>
            <a:chExt cx="1238416" cy="732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CC3C624-3CCF-C2B0-FD8C-683F27DE5BF4}"/>
                    </a:ext>
                  </a:extLst>
                </p:cNvPr>
                <p:cNvSpPr txBox="1"/>
                <p:nvPr/>
              </p:nvSpPr>
              <p:spPr>
                <a:xfrm>
                  <a:off x="7293936" y="6402324"/>
                  <a:ext cx="12384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80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任意の点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kumimoji="1" lang="ja-JP" altLang="en-US" sz="18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CC3C624-3CCF-C2B0-FD8C-683F27DE5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936" y="6402324"/>
                  <a:ext cx="123841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4433" t="-11475" b="-213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AEDCF17B-8ED9-C477-988B-33C224A9CBFB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V="1">
              <a:off x="7293936" y="6039293"/>
              <a:ext cx="0" cy="54769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8CFCDB8-F9B8-7836-F4E5-8E874BD66FD7}"/>
                  </a:ext>
                </a:extLst>
              </p:cNvPr>
              <p:cNvSpPr txBox="1"/>
              <p:nvPr/>
            </p:nvSpPr>
            <p:spPr>
              <a:xfrm>
                <a:off x="5641785" y="5114261"/>
                <a:ext cx="125451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>
                          <m:ctrl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8CFCDB8-F9B8-7836-F4E5-8E874BD66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785" y="5114261"/>
                <a:ext cx="12545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A0797B4-B011-8739-1FE8-DD3F66C770CE}"/>
                  </a:ext>
                </a:extLst>
              </p:cNvPr>
              <p:cNvSpPr txBox="1"/>
              <p:nvPr/>
            </p:nvSpPr>
            <p:spPr>
              <a:xfrm>
                <a:off x="1651183" y="3627227"/>
                <a:ext cx="16668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sz="20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A0797B4-B011-8739-1FE8-DD3F66C77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183" y="3627227"/>
                <a:ext cx="1666803" cy="4001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23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A52B1-37A0-61E8-C01C-9F566851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例①　すべての範囲の場合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AB92C3-C5E3-90F7-80FD-0DE3D779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B0E72122-B373-DAE9-6493-76AB66A7885E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238002" y="810704"/>
            <a:ext cx="6667200" cy="40012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641FD47-4E75-9A4E-30C2-8F3A91767B41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−∞&lt;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　←確率の公理より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641FD47-4E75-9A4E-30C2-8F3A91767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754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F58CA-B566-A079-3DCF-EA9AA200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B0A39-2F5F-A5A6-E93E-904E07E1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例②　下側確率の場合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65B18AF-A11C-5E1B-84CE-63B93D01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EB22D450-7ACE-C6AA-0812-099505F126B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238002" y="810704"/>
            <a:ext cx="6667200" cy="40012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1DD0EB2A-749E-6F00-7BD7-464C3C1C8490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　←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よりも小さい値をとる確率　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1DD0EB2A-749E-6F00-7BD7-464C3C1C8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DB1737A-F77D-902F-9B42-7AFF46CEFBD7}"/>
                  </a:ext>
                </a:extLst>
              </p:cNvPr>
              <p:cNvSpPr txBox="1"/>
              <p:nvPr/>
            </p:nvSpPr>
            <p:spPr>
              <a:xfrm>
                <a:off x="5592726" y="4350248"/>
                <a:ext cx="4424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DB1737A-F77D-902F-9B42-7AFF46CEF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726" y="4350248"/>
                <a:ext cx="44242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185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53D1-1074-D4EB-1FBC-530DAD27C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CA93020-893C-D82B-D1AF-31F206CD40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例</a:t>
                </a:r>
                <a:r>
                  <a:rPr lang="ja-JP" altLang="en-US" dirty="0"/>
                  <a:t>③</a:t>
                </a:r>
                <a:r>
                  <a:rPr kumimoji="1" lang="ja-JP" altLang="en-US" dirty="0"/>
                  <a:t>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までの範囲の場合</a:t>
                </a:r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CA93020-893C-D82B-D1AF-31F206CD4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90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9125B1C-9C80-10D9-658D-072970FB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52674661-7C67-48C7-9F24-9F249328A62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1238295" y="810704"/>
            <a:ext cx="6666614" cy="400085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F999441D-D821-8F8B-2AFB-8B5FBE9C369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　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←確率変数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の間の値をとる確率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F999441D-D821-8F8B-2AFB-8B5FBE9C3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4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F94C233-6684-534B-453D-FD632193A6D9}"/>
                  </a:ext>
                </a:extLst>
              </p:cNvPr>
              <p:cNvSpPr txBox="1"/>
              <p:nvPr/>
            </p:nvSpPr>
            <p:spPr>
              <a:xfrm>
                <a:off x="5603359" y="4349896"/>
                <a:ext cx="4430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F94C233-6684-534B-453D-FD632193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59" y="4349896"/>
                <a:ext cx="44307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225D8E4-85CB-C70B-B666-D43623D10744}"/>
                  </a:ext>
                </a:extLst>
              </p:cNvPr>
              <p:cNvSpPr txBox="1"/>
              <p:nvPr/>
            </p:nvSpPr>
            <p:spPr>
              <a:xfrm>
                <a:off x="3091994" y="4349895"/>
                <a:ext cx="4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225D8E4-85CB-C70B-B666-D43623D10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994" y="4349895"/>
                <a:ext cx="44864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ADE95F5-4CA0-2E1F-1611-FCBAE09571EF}"/>
              </a:ext>
            </a:extLst>
          </p:cNvPr>
          <p:cNvGrpSpPr/>
          <p:nvPr/>
        </p:nvGrpSpPr>
        <p:grpSpPr>
          <a:xfrm>
            <a:off x="6200514" y="834729"/>
            <a:ext cx="2942690" cy="1524570"/>
            <a:chOff x="6200514" y="834729"/>
            <a:chExt cx="2942690" cy="1524570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173E96B-3F5A-B318-78E8-CE8E65236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02819" y="834729"/>
              <a:ext cx="2540385" cy="15245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4F073AC-326F-8CAF-F07D-412C88623A08}"/>
                    </a:ext>
                  </a:extLst>
                </p:cNvPr>
                <p:cNvSpPr txBox="1"/>
                <p:nvPr/>
              </p:nvSpPr>
              <p:spPr>
                <a:xfrm>
                  <a:off x="6200514" y="1292556"/>
                  <a:ext cx="1346074" cy="7191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4F073AC-326F-8CAF-F07D-412C88623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0514" y="1292556"/>
                  <a:ext cx="1346074" cy="7191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0CC220E-B123-B32C-21B1-E3990BFE4CC1}"/>
              </a:ext>
            </a:extLst>
          </p:cNvPr>
          <p:cNvGrpSpPr/>
          <p:nvPr/>
        </p:nvGrpSpPr>
        <p:grpSpPr>
          <a:xfrm>
            <a:off x="6200514" y="2383325"/>
            <a:ext cx="2943905" cy="1525299"/>
            <a:chOff x="6200514" y="2383325"/>
            <a:chExt cx="2943905" cy="152529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1D7B2822-CC63-9D9D-36E6-655191574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02819" y="2383325"/>
              <a:ext cx="2541600" cy="152529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70FE6854-DE4A-A3F6-3B6F-33FFCC4DDCEF}"/>
                    </a:ext>
                  </a:extLst>
                </p:cNvPr>
                <p:cNvSpPr txBox="1"/>
                <p:nvPr/>
              </p:nvSpPr>
              <p:spPr>
                <a:xfrm>
                  <a:off x="6200514" y="2883033"/>
                  <a:ext cx="1346073" cy="690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70FE6854-DE4A-A3F6-3B6F-33FFCC4DD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0514" y="2883033"/>
                  <a:ext cx="1346073" cy="69083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9C21F2F-4AD5-B321-CB0D-1D2909EE2DD7}"/>
              </a:ext>
            </a:extLst>
          </p:cNvPr>
          <p:cNvSpPr txBox="1"/>
          <p:nvPr/>
        </p:nvSpPr>
        <p:spPr>
          <a:xfrm>
            <a:off x="6618369" y="23956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2BF1984-ADDB-41D4-37BD-6BB41E6F321E}"/>
              </a:ext>
            </a:extLst>
          </p:cNvPr>
          <p:cNvSpPr txBox="1"/>
          <p:nvPr/>
        </p:nvSpPr>
        <p:spPr>
          <a:xfrm>
            <a:off x="6602819" y="384202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を引く</a:t>
            </a:r>
          </a:p>
        </p:txBody>
      </p:sp>
    </p:spTree>
    <p:extLst>
      <p:ext uri="{BB962C8B-B14F-4D97-AF65-F5344CB8AC3E}">
        <p14:creationId xmlns:p14="http://schemas.microsoft.com/office/powerpoint/2010/main" val="141297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5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４</a:t>
            </a:r>
            <a:r>
              <a:rPr lang="ja-JP" dirty="0"/>
              <a:t>：確率分布の期待値と分散</a:t>
            </a:r>
            <a:endParaRPr dirty="0"/>
          </a:p>
        </p:txBody>
      </p:sp>
      <p:sp>
        <p:nvSpPr>
          <p:cNvPr id="510" name="Google Shape;510;p4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確率分布の期待値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確率分布の期待値</a:t>
                </a:r>
                <a:r>
                  <a:rPr kumimoji="1" lang="ja-JP" altLang="en-US" sz="2000" dirty="0"/>
                  <a:t>（確率変数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sz="2000" dirty="0"/>
                  <a:t>の分布 </a:t>
                </a:r>
                <a:r>
                  <a:rPr lang="ja-JP" altLang="en-US" sz="2000" dirty="0"/>
                  <a:t>の期待値</a:t>
                </a:r>
                <a:r>
                  <a:rPr kumimoji="1" lang="ja-JP" altLang="en-US" sz="2000" dirty="0"/>
                  <a:t>）</a:t>
                </a:r>
                <a:endParaRPr kumimoji="1" lang="en-US" altLang="ja-JP" sz="2000" dirty="0"/>
              </a:p>
              <a:p>
                <a:endParaRPr lang="en-US" altLang="ja-JP" dirty="0"/>
              </a:p>
              <a:p>
                <a:r>
                  <a:rPr lang="ja-JP" altLang="en-US" dirty="0"/>
                  <a:t>離散確率分布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ja-JP" dirty="0"/>
              </a:p>
              <a:p>
                <a:r>
                  <a:rPr lang="ja-JP" altLang="en-US" dirty="0"/>
                  <a:t>連続確率分布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pPr lvl="1"/>
                <a:r>
                  <a:rPr lang="ja-JP" altLang="en-US" dirty="0"/>
                  <a:t>確率分布の期待値＝母平均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離散確率分布の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ja-JP" altLang="en-US" b="0" dirty="0"/>
                  <a:t>，連続確率分布の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∫</m:t>
                    </m:r>
                  </m:oMath>
                </a14:m>
                <a:r>
                  <a:rPr lang="ja-JP" altLang="en-US" b="0" dirty="0"/>
                  <a:t>は，いずれも「合計」</a:t>
                </a:r>
                <a:endParaRPr lang="en-US" altLang="ja-JP" b="0" dirty="0"/>
              </a:p>
              <a:p>
                <a:pPr lvl="1"/>
                <a:r>
                  <a:rPr lang="ja-JP" altLang="en-US" b="0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b="0" dirty="0">
                    <a:solidFill>
                      <a:schemeClr val="accent2"/>
                    </a:solidFill>
                  </a:rPr>
                  <a:t>が取り</a:t>
                </a:r>
                <a:r>
                  <a:rPr lang="ja-JP" altLang="en-US" dirty="0">
                    <a:solidFill>
                      <a:schemeClr val="accent2"/>
                    </a:solidFill>
                  </a:rPr>
                  <a:t>う</a:t>
                </a:r>
                <a:r>
                  <a:rPr lang="ja-JP" altLang="en-US" b="0" dirty="0">
                    <a:solidFill>
                      <a:schemeClr val="accent2"/>
                    </a:solidFill>
                  </a:rPr>
                  <a:t>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と，</a:t>
                </a:r>
                <a:br>
                  <a:rPr lang="en-US" altLang="ja-JP" b="0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になるときの</a:t>
                </a:r>
                <a:r>
                  <a:rPr lang="ja-JP" altLang="en-US" b="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b="0" dirty="0"/>
                  <a:t>または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ja-JP" altLang="en-US" b="0" dirty="0"/>
                  <a:t>の</a:t>
                </a:r>
                <a:r>
                  <a:rPr lang="ja-JP" altLang="en-US" b="1" u="sng" dirty="0"/>
                  <a:t>積和</a:t>
                </a:r>
                <a:endParaRPr kumimoji="1" lang="en-US" altLang="ja-JP" b="1" u="sng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D7DFA-1325-05DF-FD1A-F8DD7DDE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01DF7-9C2B-E0FC-866C-D3A24700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確率分布の分散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D76362A-A50C-DFBB-A0FE-0AED6532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8FE5A90-9CA6-B844-EE91-7C5F9D97E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確率分布の分散</a:t>
                </a:r>
                <a:endParaRPr kumimoji="1" lang="en-US" altLang="ja-JP" sz="2000" dirty="0"/>
              </a:p>
              <a:p>
                <a:endParaRPr lang="en-US" altLang="ja-JP" dirty="0"/>
              </a:p>
              <a:p>
                <a:r>
                  <a:rPr lang="ja-JP" altLang="en-US" dirty="0"/>
                  <a:t>離散確率分布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ja-JP" dirty="0"/>
              </a:p>
              <a:p>
                <a:r>
                  <a:rPr lang="ja-JP" altLang="en-US" dirty="0"/>
                  <a:t>連続確率分布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pPr lvl="1"/>
                <a:r>
                  <a:rPr lang="ja-JP" altLang="en-US" b="0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b="0" dirty="0">
                    <a:solidFill>
                      <a:schemeClr val="tx1"/>
                    </a:solidFill>
                  </a:rPr>
                  <a:t>が取り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う</a:t>
                </a:r>
                <a:r>
                  <a:rPr lang="ja-JP" altLang="en-US" b="0" dirty="0">
                    <a:solidFill>
                      <a:schemeClr val="tx1"/>
                    </a:solidFill>
                  </a:rPr>
                  <a:t>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の</a:t>
                </a:r>
                <a:br>
                  <a:rPr lang="en-US" altLang="ja-JP" b="0" dirty="0"/>
                </a:br>
                <a:r>
                  <a:rPr lang="ja-JP" altLang="en-US" b="0" dirty="0">
                    <a:solidFill>
                      <a:schemeClr val="accent2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b="0" dirty="0">
                    <a:solidFill>
                      <a:schemeClr val="accent2"/>
                    </a:solidFill>
                  </a:rPr>
                  <a:t>からの偏差の二乗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b="0" dirty="0"/>
                  <a:t>と，</a:t>
                </a:r>
                <a:br>
                  <a:rPr lang="en-US" altLang="ja-JP" b="0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になるときの</a:t>
                </a:r>
                <a:r>
                  <a:rPr lang="ja-JP" altLang="en-US" b="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b="0" dirty="0"/>
                  <a:t>または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ja-JP" altLang="en-US" b="0" dirty="0"/>
                  <a:t>の</a:t>
                </a:r>
                <a:r>
                  <a:rPr lang="ja-JP" altLang="en-US" b="1" u="sng" dirty="0"/>
                  <a:t>積和</a:t>
                </a:r>
                <a:endParaRPr kumimoji="1" lang="en-US" altLang="ja-JP" b="1" u="sng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8FE5A90-9CA6-B844-EE91-7C5F9D97E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4219D3-A27B-7584-57B7-94C690739D3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45373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altLang="ja-JP" dirty="0"/>
              <a:t>2</a:t>
            </a:r>
            <a:r>
              <a:rPr lang="ja-JP" dirty="0"/>
              <a:t>：連続確率分布</a:t>
            </a:r>
            <a:r>
              <a:rPr lang="ja-JP" altLang="en-US" dirty="0"/>
              <a:t>の種類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正規分布</a:t>
            </a:r>
            <a:endParaRPr dirty="0"/>
          </a:p>
        </p:txBody>
      </p:sp>
      <p:sp>
        <p:nvSpPr>
          <p:cNvPr id="218" name="Google Shape;218;p1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CE7E-2364-819F-D9B6-6C58475A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2A833-BD82-6571-D990-597AA159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正規分布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BE2AF6-5911-A0A5-F11B-6A118A53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正規分布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normal distribution</a:t>
                </a:r>
              </a:p>
              <a:p>
                <a:pPr lvl="1"/>
                <a:r>
                  <a:rPr lang="ja-JP" altLang="en-US" sz="2000" dirty="0"/>
                  <a:t>データが平均付近に集積するような分布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/>
                  <a:t>平均値を中心に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左右対称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endParaRPr kumimoji="1" lang="en-US" altLang="ja-JP" sz="2400" dirty="0"/>
              </a:p>
              <a:p>
                <a:r>
                  <a:rPr kumimoji="1" lang="ja-JP" altLang="en-US" sz="2400" dirty="0"/>
                  <a:t>確率密度関数</a:t>
                </a:r>
                <a:endParaRPr kumimoji="1"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sz="2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  <a:p>
                <a:r>
                  <a:rPr kumimoji="1" lang="ja-JP" altLang="en-US" sz="2400" dirty="0"/>
                  <a:t>期待値</a:t>
                </a:r>
                <a:endParaRPr kumimoji="1"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kumimoji="1" lang="en-US" altLang="ja-JP" sz="2000" dirty="0"/>
              </a:p>
              <a:p>
                <a:r>
                  <a:rPr lang="ja-JP" altLang="en-US" sz="2400" dirty="0"/>
                  <a:t>分散</a:t>
                </a:r>
                <a:endParaRPr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CC0957D4-1401-77D3-E06B-DB71C65CF8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14"/>
          <a:stretch>
            <a:fillRect/>
          </a:stretch>
        </p:blipFill>
        <p:spPr>
          <a:xfrm>
            <a:off x="4745424" y="4667690"/>
            <a:ext cx="3993576" cy="2053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0E19B1E-882A-4F3B-BAB8-6B22696C96E0}"/>
                  </a:ext>
                </a:extLst>
              </p:cNvPr>
              <p:cNvSpPr txBox="1"/>
              <p:nvPr/>
            </p:nvSpPr>
            <p:spPr>
              <a:xfrm>
                <a:off x="4277924" y="2597939"/>
                <a:ext cx="4866076" cy="2458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累積分布関数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unc>
                            <m:func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fName>
                            <m:e>
                              <m:func>
                                <m:funcPr>
                                  <m:ctrlPr>
                                    <a:rPr kumimoji="1" lang="en-US" altLang="ja-JP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sz="1600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sSup>
                                            <m:sSupPr>
                                              <m:ctrlP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func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</m:e>
                      </m:nary>
                    </m:oMath>
                  </m:oMathPara>
                </a14:m>
                <a:br>
                  <a:rPr kumimoji="1" lang="en-US" altLang="ja-JP" sz="1600" b="0" dirty="0"/>
                </a:br>
                <a:r>
                  <a:rPr kumimoji="1" lang="en-US" altLang="ja-JP" sz="1600" b="0" dirty="0"/>
                  <a:t>          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  <m:t>erf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1"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1"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p>
                                          <m:sSupPr>
                                            <m:ctrlPr>
                                              <a:rPr kumimoji="1" lang="en-US" altLang="ja-JP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kumimoji="1" lang="en-US" altLang="ja-JP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kumimoji="1" lang="en-US" altLang="ja-JP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kumimoji="1" lang="en-US" altLang="ja-JP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600" b="0" i="0" smtClean="0">
                              <a:latin typeface="Cambria Math" panose="02040503050406030204" pitchFamily="18" charset="0"/>
                            </a:rPr>
                            <m:t>erf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</m:t>
                      </m:r>
                    </m:oMath>
                  </m:oMathPara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0E19B1E-882A-4F3B-BAB8-6B22696C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24" y="2597939"/>
                <a:ext cx="4866076" cy="2458686"/>
              </a:xfrm>
              <a:prstGeom prst="rect">
                <a:avLst/>
              </a:prstGeom>
              <a:blipFill>
                <a:blip r:embed="rId5"/>
                <a:stretch>
                  <a:fillRect l="-2005" t="-19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120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正規分布の特徴</a:t>
            </a:r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16</a:t>
            </a:fld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中心が平均値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左右対称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単峰型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横軸が漸近線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分散・標準偏差によって形状が変わる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636D1-7657-BAF1-5DF1-701A4665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正規分布の確率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84A3F93-EEDB-0318-54B6-457088F8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FF39CC-B023-6B3C-1842-BA245FEDFD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正規分布の確率変数</a:t>
                </a:r>
                <a14:m>
                  <m:oMath xmlns:m="http://schemas.openxmlformats.org/officeDocument/2006/math">
                    <m:r>
                      <a:rPr kumimoji="1"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が与えられた範囲に入る確率は？</a:t>
                </a:r>
                <a:endParaRPr kumimoji="1" lang="en-US" altLang="ja-JP" dirty="0"/>
              </a:p>
              <a:p>
                <a:r>
                  <a:rPr kumimoji="1" lang="ja-JP" altLang="en-US" dirty="0"/>
                  <a:t>正規分布の確率密度関数の積分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ja-JP" sz="2400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kumimoji="1" lang="en-US" altLang="ja-JP" sz="2400" dirty="0"/>
              </a:p>
              <a:p>
                <a:pPr lvl="1"/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や母分散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が変わるたびに積分計算が必要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なんとかならないか？　</a:t>
                </a:r>
                <a:endParaRPr kumimoji="1" lang="en-US" altLang="ja-JP" dirty="0"/>
              </a:p>
              <a:p>
                <a:pPr marL="577215" lvl="1" indent="0">
                  <a:buNone/>
                </a:pPr>
                <a:r>
                  <a:rPr kumimoji="1" lang="ja-JP" altLang="en-US" dirty="0"/>
                  <a:t>　→　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/>
                  <a:t>に変換</a:t>
                </a:r>
                <a:endParaRPr kumimoji="1" lang="en-US" altLang="ja-JP" dirty="0"/>
              </a:p>
              <a:p>
                <a:pPr marL="577215" lvl="1" indent="0">
                  <a:buNone/>
                </a:pPr>
                <a:r>
                  <a:rPr kumimoji="1" lang="ja-JP" altLang="en-US" dirty="0"/>
                  <a:t>　→　標準正規分布の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統計表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ひとつ</a:t>
                </a:r>
                <a:r>
                  <a:rPr kumimoji="1" lang="ja-JP" altLang="en-US" dirty="0"/>
                  <a:t>で済む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FF39CC-B023-6B3C-1842-BA245FEDF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143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A7B44-A820-A18C-5EDF-DC445372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9894EA-7218-9DD9-0BFA-8A1B9F53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2A6CF9-4F21-BD13-30A1-EFE076BB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1619A3-D15F-D33E-A328-1538A18AEB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standard normal distribution</a:t>
                </a: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正規分布に標準化を適用した分布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ja-JP" altLang="en-US" dirty="0"/>
                  <a:t>母平均：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母分散：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𝑥 のみの関数より，各 𝑥 について一度計算し統計表ができる．その統計表を利用する．</a:t>
                </a:r>
                <a:endParaRPr lang="en-US" altLang="ja-JP" dirty="0"/>
              </a:p>
              <a:p>
                <a:pPr lvl="2"/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標準化した確率変数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標準化した確率変数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標準正規分布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に従う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577215" lvl="1" indent="0">
                  <a:buNone/>
                </a:pPr>
                <a:r>
                  <a:rPr lang="ja-JP" altLang="en-US" b="0" dirty="0">
                    <a:solidFill>
                      <a:schemeClr val="tx1"/>
                    </a:solidFill>
                  </a:rPr>
                  <a:t>    つまり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ja-JP" altLang="en-US" b="0" dirty="0">
                    <a:solidFill>
                      <a:schemeClr val="accent5"/>
                    </a:solidFill>
                  </a:rPr>
                  <a:t>　　　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(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導出は第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8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回で示す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)</a:t>
                </a:r>
                <a:endParaRPr lang="en-US" altLang="ja-JP" b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1619A3-D15F-D33E-A328-1538A18AE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4B3A7C-C38C-0A97-2D16-AF587975FB9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810998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0A7C2-D318-7980-9651-B272E0056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586F4B-2887-D305-EED7-258AE437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440" y="1"/>
            <a:ext cx="7226560" cy="810704"/>
          </a:xfrm>
        </p:spPr>
        <p:txBody>
          <a:bodyPr>
            <a:normAutofit/>
          </a:bodyPr>
          <a:lstStyle/>
          <a:p>
            <a:r>
              <a:rPr kumimoji="1" lang="ja-JP" altLang="en-US" sz="2400" dirty="0"/>
              <a:t>標準正規分布を用いた正規分布の確率の求め方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507BAD-439E-A65B-F90A-3B346590C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CE75160-BDE0-5521-81CA-727A7AB3AC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457200" marR="0" lvl="0" indent="-337185" algn="l" defTabSz="914400" rtl="0" eaLnBrk="1" fontAlgn="auto" latinLnBrk="0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68A5DA"/>
                  </a:buClr>
                  <a:buSzPts val="1710"/>
                  <a:buFont typeface="Noto Sans Symbols"/>
                  <a:buChar char="■"/>
                  <a:tabLst/>
                  <a:defRPr/>
                </a:pPr>
                <a:r>
                  <a:rPr kumimoji="1" lang="ja-JP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正規分布の</a:t>
                </a:r>
                <a:r>
                  <a:rPr kumimoji="1" lang="ja-JP" altLang="en-US" dirty="0">
                    <a:solidFill>
                      <a:srgbClr val="000000"/>
                    </a:solidFill>
                  </a:rPr>
                  <a:t>次の確率を求めたい</a:t>
                </a:r>
                <a:endParaRPr kumimoji="1" lang="en-US" altLang="ja-JP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68A5DA"/>
                  </a:buClr>
                  <a:buSzPts val="1710"/>
                  <a:buFont typeface="Noto Sans Symbols"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𝑎</m:t>
                              </m:r>
                              <m: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Arial"/>
                                </a:rPr>
                                <m:t>≤</m:t>
                              </m:r>
                              <m: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Arial"/>
                                </a:rPr>
                                <m:t>𝑋</m:t>
                              </m:r>
                              <m: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Arial"/>
                                </a:rPr>
                                <m:t>≤</m:t>
                              </m:r>
                              <m: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Arial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𝑎</m:t>
                          </m:r>
                        </m:sub>
                        <m:sup>
                          <m:r>
                            <a:rPr kumimoji="1" lang="en-US" altLang="ja-JP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𝑏</m:t>
                          </m:r>
                        </m:sup>
                        <m:e>
                          <m:r>
                            <a:rPr kumimoji="1" lang="en-US" altLang="ja-JP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en-US" altLang="ja-JP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1" lang="en-US" altLang="ja-JP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68A5DA"/>
                  </a:buClr>
                  <a:buSzPts val="1710"/>
                  <a:buFont typeface="Noto Sans Symbols"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kumimoji="1" lang="en-US" altLang="ja-JP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</m:e>
                      </m:d>
                      <m:r>
                        <a:rPr kumimoji="1" lang="en-US" altLang="ja-JP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kumimoji="1" lang="en-US" altLang="ja-JP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  <m: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kumimoji="1" lang="en-US" altLang="ja-JP" sz="2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DC077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DC077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kumimoji="1" lang="en-US" altLang="ja-JP" sz="2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DC077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kumimoji="1" lang="en-US" altLang="ja-JP" sz="24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ja-JP" sz="2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en-US" altLang="ja-JP" sz="2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ja-JP" sz="24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  <m:t>𝑥</m:t>
                                          </m:r>
                                          <m:r>
                                            <a:rPr kumimoji="1" lang="en-US" altLang="ja-JP" sz="24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ja-JP" sz="24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DC077F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sym typeface="Arial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kumimoji="1" lang="en-US" altLang="ja-JP" sz="24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kumimoji="1" lang="en-US" altLang="ja-JP" sz="2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b="0" i="1" u="none" strike="noStrike" kern="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kumimoji="1" lang="en-US" altLang="ja-JP" b="1" dirty="0">
                  <a:solidFill>
                    <a:schemeClr val="accent5"/>
                  </a:solidFill>
                </a:endParaRPr>
              </a:p>
              <a:p>
                <a:r>
                  <a:rPr kumimoji="0" lang="ja-JP" altLang="en-US" sz="2900" b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sym typeface="Arial"/>
                  </a:rPr>
                  <a:t>ただし</a:t>
                </a:r>
                <a:r>
                  <a:rPr lang="ja-JP" altLang="en-US" sz="2900" dirty="0">
                    <a:solidFill>
                      <a:schemeClr val="tx1"/>
                    </a:solidFill>
                  </a:rPr>
                  <a:t>母平均 </a:t>
                </a:r>
                <a14:m>
                  <m:oMath xmlns:m="http://schemas.openxmlformats.org/officeDocument/2006/math">
                    <m:r>
                      <a:rPr kumimoji="0" lang="en-US" altLang="ja-JP" sz="29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</m:oMath>
                </a14:m>
                <a:r>
                  <a:rPr kumimoji="1" lang="en-US" altLang="ja-JP" b="1" dirty="0">
                    <a:solidFill>
                      <a:schemeClr val="tx1"/>
                    </a:solidFill>
                  </a:rPr>
                  <a:t>, 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+mn-lt"/>
                  </a:rPr>
                  <a:t>母分散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>
                            <a:solidFill>
                              <a:schemeClr val="accent5"/>
                            </a:solidFill>
                            <a:latin typeface="+mn-lt"/>
                          </a:rPr>
                        </m:ctrlPr>
                      </m:sSupPr>
                      <m:e>
                        <m:r>
                          <a:rPr lang="en-US" altLang="ja-JP" b="0" i="1">
                            <a:solidFill>
                              <a:schemeClr val="accent5"/>
                            </a:solidFill>
                            <a:latin typeface="+mn-lt"/>
                          </a:rPr>
                          <m:t>𝜎</m:t>
                        </m:r>
                      </m:e>
                      <m:sup>
                        <m:r>
                          <a:rPr lang="en-US" altLang="ja-JP" b="0" i="1">
                            <a:solidFill>
                              <a:schemeClr val="accent5"/>
                            </a:solidFill>
                            <a:latin typeface="+mn-lt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+mn-lt"/>
                  </a:rPr>
                  <a:t> は既知とする 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標準化した確率変数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：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68A5DA"/>
                  </a:buClr>
                  <a:buSzPts val="1710"/>
                  <a:buFont typeface="Noto Sans Symbols"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ja-JP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𝑍</m:t>
                      </m:r>
                      <m:r>
                        <a:rPr kumimoji="0" lang="en-US" altLang="ja-JP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𝑋</m:t>
                          </m:r>
                          <m:r>
                            <a:rPr kumimoji="0" lang="en-US" altLang="ja-JP" sz="2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−</m:t>
                          </m:r>
                          <m:r>
                            <a:rPr kumimoji="0" lang="en-US" altLang="ja-JP" sz="2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𝐸</m:t>
                          </m:r>
                          <m:d>
                            <m:dPr>
                              <m:ctrlPr>
                                <a:rPr kumimoji="0" lang="en-US" altLang="ja-JP" sz="26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kumimoji="0" lang="en-US" altLang="ja-JP" sz="26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altLang="ja-JP" sz="2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altLang="ja-JP" sz="2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𝑉𝑎𝑟</m:t>
                              </m:r>
                              <m:r>
                                <a:rPr kumimoji="0" lang="en-US" altLang="ja-JP" sz="2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(</m:t>
                              </m:r>
                              <m:r>
                                <a:rPr kumimoji="0" lang="en-US" altLang="ja-JP" sz="2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𝑋</m:t>
                              </m:r>
                              <m:r>
                                <a:rPr kumimoji="0" lang="en-US" altLang="ja-JP" sz="2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kumimoji="0" lang="en-US" altLang="ja-JP" sz="26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𝑋</m:t>
                          </m:r>
                          <m:r>
                            <a:rPr kumimoji="0" lang="en-US" altLang="ja-JP" sz="2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−</m:t>
                          </m:r>
                          <m:r>
                            <a:rPr kumimoji="0" lang="en-US" altLang="ja-JP" sz="2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altLang="ja-JP" sz="2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0" lang="en-US" altLang="ja-JP" sz="26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ja-JP" sz="26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kumimoji="0" lang="en-US" altLang="ja-JP" sz="2600" b="0" i="1" u="none" strike="noStrike" kern="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よって不等式条件 </a:t>
                </a:r>
                <a14:m>
                  <m:oMath xmlns:m="http://schemas.openxmlformats.org/officeDocument/2006/math">
                    <m:r>
                      <a:rPr kumimoji="1" lang="en-US" altLang="ja-JP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 は，</a:t>
                </a:r>
                <a:r>
                  <a:rPr kumimoji="1" lang="en-US" altLang="ja-JP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ja-JP" sz="2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60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ja-JP" sz="26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6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sz="26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kumimoji="1"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kumimoji="1" lang="en-US" altLang="ja-JP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ja-JP" sz="2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ja-JP" sz="26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600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ja-JP" sz="26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6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sz="26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ja-JP" altLang="en-US" dirty="0">
                    <a:solidFill>
                      <a:srgbClr val="000000"/>
                    </a:solidFill>
                  </a:rPr>
                  <a:t> に置き換わり，</a:t>
                </a:r>
                <a:r>
                  <a:rPr kumimoji="1" lang="en-US" altLang="ja-JP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kumimoji="1"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kumimoji="1" lang="en-US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ja-JP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ja-JP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  <m:r>
                              <a:rPr kumimoji="1"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f>
                              <m:fPr>
                                <m:ctrlPr>
                                  <a:rPr lang="en-US" altLang="ja-JP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ja-JP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ja-JP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ja-JP" altLang="en-US" dirty="0">
                    <a:solidFill>
                      <a:srgbClr val="000000"/>
                    </a:solidFill>
                  </a:rPr>
                  <a:t> となる</a:t>
                </a:r>
                <a:endParaRPr lang="en-US" altLang="ja-JP" dirty="0">
                  <a:solidFill>
                    <a:srgbClr val="000000"/>
                  </a:solidFill>
                </a:endParaRPr>
              </a:p>
              <a:p>
                <a:r>
                  <a:rPr lang="ja-JP" altLang="en-US" dirty="0">
                    <a:solidFill>
                      <a:srgbClr val="000000"/>
                    </a:solidFill>
                  </a:rPr>
                  <a:t>標準正規分布の統計表を用いて</a:t>
                </a:r>
                <a:endParaRPr lang="en-US" altLang="ja-JP" dirty="0">
                  <a:solidFill>
                    <a:srgbClr val="000000"/>
                  </a:solidFill>
                </a:endParaRPr>
              </a:p>
              <a:p>
                <a:pPr marL="120015" indent="0">
                  <a:buNone/>
                </a:pPr>
                <a:r>
                  <a:rPr kumimoji="1" lang="ja-JP" altLang="en-US" sz="2400" b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sym typeface="Arial"/>
                  </a:rPr>
                  <a:t>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ja-JP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ja-JP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  <m:r>
                              <a:rPr kumimoji="1"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f>
                              <m:fPr>
                                <m:ctrlPr>
                                  <a:rPr lang="en-US" altLang="ja-JP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240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ja-JP" sz="24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 dirty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ja-JP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sz="2400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の値を読み取る</a:t>
                </a:r>
                <a:endParaRPr lang="en-US" altLang="ja-JP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CE75160-BDE0-5521-81CA-727A7AB3A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73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9C79982-83FE-D601-0907-5B6E7380BCE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914062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altLang="ja-JP" dirty="0"/>
              <a:t>3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標準正規分布表の読み方</a:t>
            </a:r>
            <a:endParaRPr dirty="0"/>
          </a:p>
        </p:txBody>
      </p:sp>
      <p:sp>
        <p:nvSpPr>
          <p:cNvPr id="265" name="Google Shape;265;p2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6FCA90-8CFE-C7E4-EF32-61F38674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ED2088D-1DCA-68A6-E281-7BC5991D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74DAB2C-3715-28C6-4D64-82457D8E2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kumimoji="1" lang="ja-JP" altLang="en-US" dirty="0"/>
                  <a:t>が，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値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ja-JP" altLang="en-US" dirty="0"/>
                  <a:t>をとる（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ja-JP" altLang="en-US" dirty="0"/>
                  <a:t>）ときの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dirty="0"/>
                  <a:t>をまとめた表．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pp.202</a:t>
                </a:r>
                <a:r>
                  <a:rPr lang="ja-JP" altLang="en-US" dirty="0"/>
                  <a:t>参照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74DAB2C-3715-28C6-4D64-82457D8E2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CE982125-D577-4265-AF1B-A49E44981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507" y="2524471"/>
            <a:ext cx="5962940" cy="35785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11E014D-03F2-E7AB-19E9-8CCE041850D1}"/>
                  </a:ext>
                </a:extLst>
              </p:cNvPr>
              <p:cNvSpPr txBox="1"/>
              <p:nvPr/>
            </p:nvSpPr>
            <p:spPr>
              <a:xfrm>
                <a:off x="8334000" y="5463081"/>
                <a:ext cx="4598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11E014D-03F2-E7AB-19E9-8CCE04185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000" y="5463081"/>
                <a:ext cx="45986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4E5CC7F-A3B0-B96B-6BCE-FFBCBEE09E48}"/>
                  </a:ext>
                </a:extLst>
              </p:cNvPr>
              <p:cNvSpPr txBox="1"/>
              <p:nvPr/>
            </p:nvSpPr>
            <p:spPr>
              <a:xfrm>
                <a:off x="6531304" y="5598835"/>
                <a:ext cx="4239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4E5CC7F-A3B0-B96B-6BCE-FFBCBEE09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304" y="5598835"/>
                <a:ext cx="4239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19F5F7-EFA1-FDCE-E721-10BC6B5ED9B2}"/>
                  </a:ext>
                </a:extLst>
              </p:cNvPr>
              <p:cNvSpPr txBox="1"/>
              <p:nvPr/>
            </p:nvSpPr>
            <p:spPr>
              <a:xfrm>
                <a:off x="6853610" y="4572394"/>
                <a:ext cx="157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19F5F7-EFA1-FDCE-E721-10BC6B5ED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610" y="4572394"/>
                <a:ext cx="157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0D57A82-E2D6-EBAE-35FA-737FA3F72B59}"/>
              </a:ext>
            </a:extLst>
          </p:cNvPr>
          <p:cNvCxnSpPr/>
          <p:nvPr/>
        </p:nvCxnSpPr>
        <p:spPr>
          <a:xfrm flipH="1">
            <a:off x="6955266" y="5050465"/>
            <a:ext cx="657646" cy="548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000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3C33D-A501-E9F2-A8B5-8C4ED9FD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43C69B3-5687-32B9-7D77-249859C7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49F618-2FC5-7153-10D6-C46EF8DC3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</a:t>
                </a:r>
                <a:r>
                  <a:rPr lang="en-US" altLang="ja-JP" sz="2000" dirty="0"/>
                  <a:t>1.9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/>
                  <a:t>手順②　表頭から</a:t>
                </a:r>
                <a:r>
                  <a:rPr kumimoji="1" lang="en-US" altLang="ja-JP" sz="2000" dirty="0"/>
                  <a:t>0.06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49F618-2FC5-7153-10D6-C46EF8DC3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7399A8D2-D121-39E4-BC72-8FA07FA9F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96" y="2814937"/>
            <a:ext cx="5842007" cy="3505983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3036034-F508-A57E-D0F4-B9DA6F8873D0}"/>
              </a:ext>
            </a:extLst>
          </p:cNvPr>
          <p:cNvGrpSpPr/>
          <p:nvPr/>
        </p:nvGrpSpPr>
        <p:grpSpPr>
          <a:xfrm>
            <a:off x="5826642" y="5917910"/>
            <a:ext cx="2192964" cy="756391"/>
            <a:chOff x="5826642" y="5917910"/>
            <a:chExt cx="2192964" cy="7563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F4A78ED4-5AA1-3071-B879-37FE297FE9FE}"/>
                    </a:ext>
                  </a:extLst>
                </p:cNvPr>
                <p:cNvSpPr txBox="1"/>
                <p:nvPr/>
              </p:nvSpPr>
              <p:spPr>
                <a:xfrm>
                  <a:off x="6623198" y="6212636"/>
                  <a:ext cx="139640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=1.96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F4A78ED4-5AA1-3071-B879-37FE297FE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198" y="6212636"/>
                  <a:ext cx="139640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90C92E2F-3FCD-3547-7FFA-6703171DEA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6642" y="5917910"/>
              <a:ext cx="863364" cy="525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6F84367-CBD5-310D-10B1-088E29F04C74}"/>
              </a:ext>
            </a:extLst>
          </p:cNvPr>
          <p:cNvGrpSpPr/>
          <p:nvPr/>
        </p:nvGrpSpPr>
        <p:grpSpPr>
          <a:xfrm>
            <a:off x="5920200" y="4795662"/>
            <a:ext cx="3133102" cy="1026441"/>
            <a:chOff x="5920200" y="4795662"/>
            <a:chExt cx="3133102" cy="10264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EFF46C8-C8FA-00A3-8BFE-99A550F7688E}"/>
                    </a:ext>
                  </a:extLst>
                </p:cNvPr>
                <p:cNvSpPr txBox="1"/>
                <p:nvPr/>
              </p:nvSpPr>
              <p:spPr>
                <a:xfrm>
                  <a:off x="5920200" y="4795662"/>
                  <a:ext cx="313310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kumimoji="1" lang="en-US" altLang="ja-JP" sz="2400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&gt;1.96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=0.025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EFF46C8-C8FA-00A3-8BFE-99A550F76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200" y="4795662"/>
                  <a:ext cx="3133102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5F8A9446-9498-3AC1-2152-ABBEF54E310F}"/>
                </a:ext>
              </a:extLst>
            </p:cNvPr>
            <p:cNvCxnSpPr/>
            <p:nvPr/>
          </p:nvCxnSpPr>
          <p:spPr>
            <a:xfrm flipH="1">
              <a:off x="6021856" y="5273733"/>
              <a:ext cx="657646" cy="54837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6E54F8E9-9AF4-4EE9-1BD3-0C60AEA7E338}"/>
                </a:ext>
              </a:extLst>
            </p:cNvPr>
            <p:cNvSpPr txBox="1"/>
            <p:nvPr/>
          </p:nvSpPr>
          <p:spPr>
            <a:xfrm>
              <a:off x="6809527" y="5223152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斜線部の面積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770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EA216-ED1B-1D84-182F-C193EC57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E529D-38FA-7FBE-D230-E3A4C06D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（補足１）</a:t>
            </a:r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09FF19-1A99-3C91-91B3-940B747F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FF314D-6E6B-5E16-BE03-E8B0547DD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手順①　表側から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1.9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kumimoji="1" lang="ja-JP" altLang="en-US" sz="2000" dirty="0"/>
                  <a:t>手順②　表頭から</a:t>
                </a:r>
                <a:r>
                  <a:rPr kumimoji="1" lang="en-US" altLang="ja-JP" sz="2000" dirty="0"/>
                  <a:t>0.06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FF314D-6E6B-5E16-BE03-E8B0547DD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1F79829F-B5A9-0DA8-1E19-2AEDE7F13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84" y="2820475"/>
            <a:ext cx="54930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50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B675-C7D2-166C-FC1C-E3A86504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71F2D-1A7B-4388-4819-9E30B242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（補足２）</a:t>
            </a:r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3BF85A6-6264-F231-602E-58AA3F43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2D95986-2FA7-F7AB-74EE-08BAD5274F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</a:t>
                </a:r>
                <a:r>
                  <a:rPr lang="en-US" altLang="ja-JP" sz="2000" dirty="0"/>
                  <a:t>1.9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手順②　表頭から</a:t>
                </a:r>
                <a:r>
                  <a:rPr kumimoji="1" lang="en-US" altLang="ja-JP" sz="2000" dirty="0">
                    <a:solidFill>
                      <a:schemeClr val="accent5"/>
                    </a:solidFill>
                  </a:rPr>
                  <a:t>0.06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2D95986-2FA7-F7AB-74EE-08BAD5274F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C31AE6C1-268D-41DB-EBF5-E5FB4A685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84" y="2820475"/>
            <a:ext cx="5493032" cy="3803845"/>
          </a:xfrm>
          <a:prstGeom prst="rect">
            <a:avLst/>
          </a:prstGeom>
        </p:spPr>
      </p:pic>
      <p:sp>
        <p:nvSpPr>
          <p:cNvPr id="7" name="右中かっこ 6">
            <a:extLst>
              <a:ext uri="{FF2B5EF4-FFF2-40B4-BE49-F238E27FC236}">
                <a16:creationId xmlns:a16="http://schemas.microsoft.com/office/drawing/2014/main" id="{F2EF3E6E-9E4F-12BA-12F9-04B925A49923}"/>
              </a:ext>
            </a:extLst>
          </p:cNvPr>
          <p:cNvSpPr/>
          <p:nvPr/>
        </p:nvSpPr>
        <p:spPr>
          <a:xfrm>
            <a:off x="4322133" y="1488558"/>
            <a:ext cx="308344" cy="744279"/>
          </a:xfrm>
          <a:prstGeom prst="rightBrac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3DAC213-B3CD-D8A1-DFE9-A709A5560756}"/>
              </a:ext>
            </a:extLst>
          </p:cNvPr>
          <p:cNvSpPr txBox="1"/>
          <p:nvPr/>
        </p:nvSpPr>
        <p:spPr>
          <a:xfrm>
            <a:off x="4630477" y="1676031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合計で</a:t>
            </a:r>
            <a:r>
              <a:rPr kumimoji="1" lang="en-US" altLang="ja-JP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1.96</a:t>
            </a:r>
            <a:endParaRPr kumimoji="1" lang="ja-JP" altLang="en-US" dirty="0">
              <a:solidFill>
                <a:schemeClr val="accent5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6516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71A1-00DC-97AE-93EA-F22EA39B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371BFC-DF13-54E6-B6C8-41C58621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3D3D25C-3787-C5E6-99AA-2D0CCDF2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210ADD-F75D-7D62-C381-70AB73467D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9012024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2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=−1.96</m:t>
                    </m:r>
                  </m:oMath>
                </a14:m>
                <a:r>
                  <a:rPr kumimoji="1" lang="ja-JP" altLang="en-US" sz="2400" dirty="0"/>
                  <a:t>に対応する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下側</a:t>
                </a:r>
                <a:r>
                  <a:rPr kumimoji="1" lang="ja-JP" altLang="en-US" sz="2400" dirty="0"/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&lt;−1.96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正規分布が</a:t>
                </a:r>
                <a:r>
                  <a:rPr lang="ja-JP" altLang="en-US" sz="2000" b="1" dirty="0">
                    <a:solidFill>
                      <a:schemeClr val="accent5"/>
                    </a:solidFill>
                  </a:rPr>
                  <a:t>左右対称</a:t>
                </a:r>
                <a:r>
                  <a:rPr lang="ja-JP" altLang="en-US" sz="2000" dirty="0"/>
                  <a:t>である特徴を利用する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&lt;−1.96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210ADD-F75D-7D62-C381-70AB73467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9012024" cy="5788057"/>
              </a:xfrm>
              <a:blipFill>
                <a:blip r:embed="rId2"/>
                <a:stretch>
                  <a:fillRect r="-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B8B0A16B-5A7E-8FC5-5826-7A2FA6FD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" y="3429000"/>
            <a:ext cx="4573524" cy="274472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F87D9CD-04C8-1783-350D-526FF1717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429000"/>
            <a:ext cx="4573524" cy="2744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C4AF27-A624-AAD0-1CAE-0165E722D02C}"/>
                  </a:ext>
                </a:extLst>
              </p:cNvPr>
              <p:cNvSpPr txBox="1"/>
              <p:nvPr/>
            </p:nvSpPr>
            <p:spPr>
              <a:xfrm>
                <a:off x="3107498" y="4595504"/>
                <a:ext cx="153125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C4AF27-A624-AAD0-1CAE-0165E722D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498" y="4595504"/>
                <a:ext cx="153125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5CA99A0-4199-2379-ABFE-0BA9A041A744}"/>
              </a:ext>
            </a:extLst>
          </p:cNvPr>
          <p:cNvCxnSpPr>
            <a:cxnSpLocks/>
          </p:cNvCxnSpPr>
          <p:nvPr/>
        </p:nvCxnSpPr>
        <p:spPr>
          <a:xfrm flipH="1">
            <a:off x="3384982" y="5241444"/>
            <a:ext cx="272618" cy="548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1BBF731-1B25-4BD4-0AE7-400CEBA9AC05}"/>
              </a:ext>
            </a:extLst>
          </p:cNvPr>
          <p:cNvCxnSpPr>
            <a:cxnSpLocks/>
          </p:cNvCxnSpPr>
          <p:nvPr/>
        </p:nvCxnSpPr>
        <p:spPr>
          <a:xfrm>
            <a:off x="5287879" y="5241248"/>
            <a:ext cx="482261" cy="5489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B61EDE-B2B0-5E41-AF01-97CB772CD84F}"/>
                  </a:ext>
                </a:extLst>
              </p:cNvPr>
              <p:cNvSpPr txBox="1"/>
              <p:nvPr/>
            </p:nvSpPr>
            <p:spPr>
              <a:xfrm>
                <a:off x="4638750" y="4595504"/>
                <a:ext cx="17043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&lt;−1.96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B61EDE-B2B0-5E41-AF01-97CB772CD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750" y="4595504"/>
                <a:ext cx="170437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191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305D-6282-ADFB-A44B-28464EB5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D2EDD-2F74-CD0B-1B56-B4B83D42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A2C0901-FCEA-A900-3ACF-782D8F52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FB86A3-6208-EC1D-D50D-1CC66DB22D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3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下側</a:t>
                </a:r>
                <a:r>
                  <a:rPr kumimoji="1" lang="ja-JP" altLang="en-US" sz="2400" dirty="0"/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確率の公理を利用する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&lt;1.96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FB86A3-6208-EC1D-D50D-1CC66DB22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28337236-33F6-A01D-77EE-D42D232AF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96" y="2814937"/>
            <a:ext cx="5842007" cy="350598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3B30CE3-9D2E-5828-375E-909DB7AB8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996" y="2814937"/>
            <a:ext cx="5842800" cy="35064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41B141E-2129-EC28-6E20-230E68F23D68}"/>
                  </a:ext>
                </a:extLst>
              </p:cNvPr>
              <p:cNvSpPr txBox="1"/>
              <p:nvPr/>
            </p:nvSpPr>
            <p:spPr>
              <a:xfrm>
                <a:off x="6623198" y="6212636"/>
                <a:ext cx="13964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ja-JP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41B141E-2129-EC28-6E20-230E68F23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98" y="6212636"/>
                <a:ext cx="139640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C1B1D4DB-77F2-C3E7-DC96-F23EAD143886}"/>
              </a:ext>
            </a:extLst>
          </p:cNvPr>
          <p:cNvCxnSpPr>
            <a:cxnSpLocks/>
          </p:cNvCxnSpPr>
          <p:nvPr/>
        </p:nvCxnSpPr>
        <p:spPr>
          <a:xfrm flipH="1" flipV="1">
            <a:off x="5826642" y="5917910"/>
            <a:ext cx="863364" cy="525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4C702F6-2856-9E58-89C3-F61E0B5B1AD0}"/>
                  </a:ext>
                </a:extLst>
              </p:cNvPr>
              <p:cNvSpPr txBox="1"/>
              <p:nvPr/>
            </p:nvSpPr>
            <p:spPr>
              <a:xfrm>
                <a:off x="726525" y="3354372"/>
                <a:ext cx="28237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=1−0.025</m:t>
                      </m:r>
                    </m:oMath>
                    <m:oMath>
                      <m:r>
                        <a:rPr kumimoji="1" lang="en-US" altLang="ja-JP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=0.975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4C702F6-2856-9E58-89C3-F61E0B5B1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25" y="3354372"/>
                <a:ext cx="2823786" cy="1569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7B35A70-E358-0711-15AE-FD43DFD6DD24}"/>
              </a:ext>
            </a:extLst>
          </p:cNvPr>
          <p:cNvCxnSpPr>
            <a:cxnSpLocks/>
          </p:cNvCxnSpPr>
          <p:nvPr/>
        </p:nvCxnSpPr>
        <p:spPr>
          <a:xfrm>
            <a:off x="2138418" y="4730366"/>
            <a:ext cx="1721201" cy="733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5F3EF76-F043-A307-8B2D-8BE5F444F09E}"/>
              </a:ext>
            </a:extLst>
          </p:cNvPr>
          <p:cNvSpPr txBox="1"/>
          <p:nvPr/>
        </p:nvSpPr>
        <p:spPr>
          <a:xfrm>
            <a:off x="865373" y="500908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斜線部の面積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261DD75-37A0-6E2A-8EF9-1B2CD7E22632}"/>
                  </a:ext>
                </a:extLst>
              </p:cNvPr>
              <p:cNvSpPr txBox="1"/>
              <p:nvPr/>
            </p:nvSpPr>
            <p:spPr>
              <a:xfrm>
                <a:off x="5920200" y="4795662"/>
                <a:ext cx="31331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261DD75-37A0-6E2A-8EF9-1B2CD7E22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200" y="4795662"/>
                <a:ext cx="313310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A1E16D0-3764-6B28-E080-38568BCBCC67}"/>
              </a:ext>
            </a:extLst>
          </p:cNvPr>
          <p:cNvCxnSpPr/>
          <p:nvPr/>
        </p:nvCxnSpPr>
        <p:spPr>
          <a:xfrm flipH="1">
            <a:off x="6021856" y="5273733"/>
            <a:ext cx="657646" cy="54837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2D33F6-6227-B210-E0C8-8F0F3B5CA4D1}"/>
              </a:ext>
            </a:extLst>
          </p:cNvPr>
          <p:cNvSpPr txBox="1"/>
          <p:nvPr/>
        </p:nvSpPr>
        <p:spPr>
          <a:xfrm>
            <a:off x="6809527" y="5223152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白抜け部分の面積</a:t>
            </a:r>
          </a:p>
        </p:txBody>
      </p:sp>
    </p:spTree>
    <p:extLst>
      <p:ext uri="{BB962C8B-B14F-4D97-AF65-F5344CB8AC3E}">
        <p14:creationId xmlns:p14="http://schemas.microsoft.com/office/powerpoint/2010/main" val="1649546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CB04-B9FA-120E-5797-B3BC0902F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F9522-09AD-0506-80BB-49F4CEA6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2F09F7-DC8A-EF3B-055E-6E773DBB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AD076E7-E12A-5B48-D834-C25999A27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4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kumimoji="1" lang="ja-JP" altLang="en-US" sz="2400" dirty="0"/>
                  <a:t>に対応する確率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−1&lt;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=1.00</m:t>
                    </m:r>
                  </m:oMath>
                </a14:m>
                <a:r>
                  <a:rPr lang="ja-JP" altLang="en-US" sz="2000" dirty="0"/>
                  <a:t>のときの上側確率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&gt;1.00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2000" dirty="0"/>
                  <a:t>を求める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&gt;1.00</m:t>
                            </m:r>
                          </m:e>
                        </m:d>
                      </m:e>
                    </m:func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=0.1586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手順②　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=−1.00</m:t>
                    </m:r>
                  </m:oMath>
                </a14:m>
                <a:r>
                  <a:rPr lang="ja-JP" altLang="en-US" sz="2000" dirty="0"/>
                  <a:t>のときの下側確率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2000" dirty="0"/>
                  <a:t>を求める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1.00</m:t>
                            </m:r>
                          </m:e>
                        </m:d>
                      </m:e>
                    </m:func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=0.1586</m:t>
                    </m:r>
                  </m:oMath>
                </a14:m>
                <a:r>
                  <a:rPr lang="ja-JP" altLang="en-US" sz="1600" dirty="0"/>
                  <a:t>　→　左右対称なので，①と同じ値</a:t>
                </a:r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手順③　確率の合計</a:t>
                </a:r>
                <a:r>
                  <a:rPr lang="en-US" altLang="ja-JP" sz="2000" dirty="0"/>
                  <a:t>1</a:t>
                </a:r>
                <a:r>
                  <a:rPr lang="ja-JP" altLang="en-US" sz="2000" dirty="0"/>
                  <a:t>から，①と②を引く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−1&lt;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d>
                      </m:e>
                    </m:func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&gt;1.00</m:t>
                                </m:r>
                              </m:e>
                            </m:d>
                          </m:e>
                        </m:func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&lt;−1.00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ja-JP" sz="16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0.1586+0.1586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=0.6828</m:t>
                    </m:r>
                  </m:oMath>
                </a14:m>
                <a:endParaRPr lang="en-US" altLang="ja-JP" sz="1600" dirty="0"/>
              </a:p>
              <a:p>
                <a:pPr lvl="1"/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AD076E7-E12A-5B48-D834-C25999A27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F974A85F-6EA6-7AEE-16EB-8686A76E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500" y="3976587"/>
            <a:ext cx="4573524" cy="2744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B0AE35-CA38-64AF-5558-CC6917C3A564}"/>
                  </a:ext>
                </a:extLst>
              </p:cNvPr>
              <p:cNvSpPr txBox="1"/>
              <p:nvPr/>
            </p:nvSpPr>
            <p:spPr>
              <a:xfrm>
                <a:off x="6950193" y="3864262"/>
                <a:ext cx="182941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−1&lt;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=0.6828</m:t>
                      </m:r>
                    </m:oMath>
                  </m:oMathPara>
                </a14:m>
                <a:endParaRPr kumimoji="1" lang="ja-JP" alt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B0AE35-CA38-64AF-5558-CC6917C3A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193" y="3864262"/>
                <a:ext cx="182941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7B0F280-5FE9-AB32-A45D-899F4DE6D28C}"/>
              </a:ext>
            </a:extLst>
          </p:cNvPr>
          <p:cNvCxnSpPr>
            <a:cxnSpLocks/>
          </p:cNvCxnSpPr>
          <p:nvPr/>
        </p:nvCxnSpPr>
        <p:spPr>
          <a:xfrm flipH="1">
            <a:off x="6950193" y="4510593"/>
            <a:ext cx="386272" cy="6713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4E3318-ACFD-C1A5-B2F1-3AF902ACC5C5}"/>
                  </a:ext>
                </a:extLst>
              </p:cNvPr>
              <p:cNvSpPr txBox="1"/>
              <p:nvPr/>
            </p:nvSpPr>
            <p:spPr>
              <a:xfrm>
                <a:off x="7815137" y="5227427"/>
                <a:ext cx="8794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&gt;1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=0.1586</m:t>
                      </m:r>
                    </m:oMath>
                  </m:oMathPara>
                </a14:m>
                <a:endParaRPr kumimoji="1" lang="ja-JP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4E3318-ACFD-C1A5-B2F1-3AF902ACC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137" y="5227427"/>
                <a:ext cx="87940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80C6068-5E06-56D5-37FC-C8670C7EF56F}"/>
              </a:ext>
            </a:extLst>
          </p:cNvPr>
          <p:cNvCxnSpPr>
            <a:cxnSpLocks/>
          </p:cNvCxnSpPr>
          <p:nvPr/>
        </p:nvCxnSpPr>
        <p:spPr>
          <a:xfrm flipH="1">
            <a:off x="7497657" y="5689092"/>
            <a:ext cx="510615" cy="562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C56024-E72A-2656-46E0-862F7659A50D}"/>
                  </a:ext>
                </a:extLst>
              </p:cNvPr>
              <p:cNvSpPr txBox="1"/>
              <p:nvPr/>
            </p:nvSpPr>
            <p:spPr>
              <a:xfrm>
                <a:off x="4658638" y="5227427"/>
                <a:ext cx="994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&lt;−1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=0.1586</m:t>
                      </m:r>
                    </m:oMath>
                  </m:oMathPara>
                </a14:m>
                <a:endParaRPr kumimoji="1" lang="ja-JP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C56024-E72A-2656-46E0-862F7659A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638" y="5227427"/>
                <a:ext cx="99482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E8AE0C8-EA72-B3E3-5F0F-6A20F970FBA7}"/>
              </a:ext>
            </a:extLst>
          </p:cNvPr>
          <p:cNvCxnSpPr>
            <a:cxnSpLocks/>
          </p:cNvCxnSpPr>
          <p:nvPr/>
        </p:nvCxnSpPr>
        <p:spPr>
          <a:xfrm>
            <a:off x="5301289" y="5689092"/>
            <a:ext cx="572311" cy="562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79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29144CC2-02CA-26A2-D34D-C350DC6A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77FFCF57-807B-9CB0-1579-981CCC34F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altLang="ja-JP" dirty="0"/>
              <a:t>Summary</a:t>
            </a:r>
            <a:endParaRPr dirty="0"/>
          </a:p>
        </p:txBody>
      </p:sp>
      <p:sp>
        <p:nvSpPr>
          <p:cNvPr id="74" name="Google Shape;74;p2">
            <a:extLst>
              <a:ext uri="{FF2B5EF4-FFF2-40B4-BE49-F238E27FC236}">
                <a16:creationId xmlns:a16="http://schemas.microsoft.com/office/drawing/2014/main" id="{589958A4-CA0A-34CB-D743-3B0C3DCFE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>
              <a:spcBef>
                <a:spcPts val="1080"/>
              </a:spcBef>
            </a:pPr>
            <a:r>
              <a:rPr lang="ja-JP" dirty="0"/>
              <a:t>積分の概念を学ぶ</a:t>
            </a:r>
            <a:endParaRPr lang="en-US" altLang="ja-JP" dirty="0"/>
          </a:p>
          <a:p>
            <a:pPr marL="1087200" lvl="2" indent="-306000">
              <a:spcBef>
                <a:spcPts val="1080"/>
              </a:spcBef>
            </a:pPr>
            <a:r>
              <a:rPr lang="ja-JP" altLang="en-US" dirty="0"/>
              <a:t>積分：①横軸と②横軸上の点，③グラフで囲まれた部分の面積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標準正規分布とその特徴について理解する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ja-JP" dirty="0"/>
              <a:t>確率分布の期待値と分散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en-US" dirty="0"/>
              <a:t>正規分布・標準正規分布・標準正規分布表</a:t>
            </a:r>
            <a:endParaRPr dirty="0"/>
          </a:p>
          <a:p>
            <a:pPr marL="324000" lvl="1" indent="0" algn="l" rtl="0">
              <a:spcBef>
                <a:spcPts val="1080"/>
              </a:spcBef>
              <a:spcAft>
                <a:spcPts val="0"/>
              </a:spcAft>
              <a:buSzPts val="2280"/>
              <a:buNone/>
            </a:pPr>
            <a:endParaRPr dirty="0"/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71661E4D-B4D8-A529-4359-DED71A76DA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65924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rgbClr val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1326</Words>
  <Application>Microsoft Office PowerPoint</Application>
  <PresentationFormat>画面に合わせる (4:3)</PresentationFormat>
  <Paragraphs>226</Paragraphs>
  <Slides>28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5" baseType="lpstr">
      <vt:lpstr>Impact</vt:lpstr>
      <vt:lpstr>BIZ UDPゴシック</vt:lpstr>
      <vt:lpstr>Cambria Math</vt:lpstr>
      <vt:lpstr>Arial</vt:lpstr>
      <vt:lpstr>Noto Sans Symbols</vt:lpstr>
      <vt:lpstr>HG丸ｺﾞｼｯｸM-PRO</vt:lpstr>
      <vt:lpstr>配当</vt:lpstr>
      <vt:lpstr>確率分布：連続確率分布 前半</vt:lpstr>
      <vt:lpstr>今日の目標</vt:lpstr>
      <vt:lpstr>PowerPoint プレゼンテーション</vt:lpstr>
      <vt:lpstr>連続確率分布</vt:lpstr>
      <vt:lpstr>連続確率分布</vt:lpstr>
      <vt:lpstr>連続確率分布</vt:lpstr>
      <vt:lpstr>確率密度関数の積分</vt:lpstr>
      <vt:lpstr>例①　すべての範囲の場合</vt:lpstr>
      <vt:lpstr>例②　下側確率の場合</vt:lpstr>
      <vt:lpstr>例③　aからbまでの範囲の場合</vt:lpstr>
      <vt:lpstr>PowerPoint プレゼンテーション</vt:lpstr>
      <vt:lpstr>確率分布の期待値</vt:lpstr>
      <vt:lpstr>確率分布の分散</vt:lpstr>
      <vt:lpstr>PowerPoint プレゼンテーション</vt:lpstr>
      <vt:lpstr>正規分布</vt:lpstr>
      <vt:lpstr>正規分布の特徴</vt:lpstr>
      <vt:lpstr>正規分布の確率</vt:lpstr>
      <vt:lpstr>標準正規分布</vt:lpstr>
      <vt:lpstr>標準正規分布を用いた正規分布の確率の求め方</vt:lpstr>
      <vt:lpstr>PowerPoint プレゼンテーション</vt:lpstr>
      <vt:lpstr>標準正規分布表</vt:lpstr>
      <vt:lpstr>標準正規分布表の読み方①</vt:lpstr>
      <vt:lpstr>（補足１）標準正規分布表の読み方①</vt:lpstr>
      <vt:lpstr>（補足２）標準正規分布表の読み方①</vt:lpstr>
      <vt:lpstr>標準正規分布表の読み方②</vt:lpstr>
      <vt:lpstr>標準正規分布表の読み方③</vt:lpstr>
      <vt:lpstr>標準正規分布表の読み方④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Ikegawa</dc:creator>
  <cp:lastModifiedBy>津村 幸治</cp:lastModifiedBy>
  <cp:revision>55</cp:revision>
  <dcterms:created xsi:type="dcterms:W3CDTF">2025-03-03T09:28:12Z</dcterms:created>
  <dcterms:modified xsi:type="dcterms:W3CDTF">2026-10-27T09:50:50Z</dcterms:modified>
</cp:coreProperties>
</file>