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591" r:id="rId8"/>
    <p:sldId id="596" r:id="rId9"/>
    <p:sldId id="597" r:id="rId10"/>
    <p:sldId id="598" r:id="rId11"/>
    <p:sldId id="300" r:id="rId12"/>
    <p:sldId id="585" r:id="rId13"/>
    <p:sldId id="629" r:id="rId14"/>
    <p:sldId id="271" r:id="rId15"/>
    <p:sldId id="564" r:id="rId16"/>
    <p:sldId id="272" r:id="rId17"/>
    <p:sldId id="600" r:id="rId18"/>
    <p:sldId id="611" r:id="rId19"/>
    <p:sldId id="277" r:id="rId20"/>
    <p:sldId id="602" r:id="rId21"/>
    <p:sldId id="279" r:id="rId22"/>
    <p:sldId id="604" r:id="rId23"/>
    <p:sldId id="605" r:id="rId24"/>
    <p:sldId id="606" r:id="rId25"/>
    <p:sldId id="607" r:id="rId26"/>
    <p:sldId id="608" r:id="rId27"/>
    <p:sldId id="609" r:id="rId28"/>
    <p:sldId id="630" r:id="rId29"/>
  </p:sldIdLst>
  <p:sldSz cx="9144000" cy="6858000" type="screen4x3"/>
  <p:notesSz cx="6858000" cy="9144000"/>
  <p:embeddedFontLst>
    <p:embeddedFont>
      <p:font typeface="BIZ UDPゴシック" panose="020B0400000000000000" pitchFamily="34" charset="-128"/>
      <p:regular r:id="rId31"/>
      <p:bold r:id="rId32"/>
    </p:embeddedFont>
    <p:embeddedFont>
      <p:font typeface="Cambria Math" panose="02040503050406030204" pitchFamily="18" charset="0"/>
      <p:regular r:id="rId33"/>
    </p:embeddedFont>
    <p:embeddedFont>
      <p:font typeface="Gill Sans" panose="020B0604020202020204" charset="0"/>
      <p:regular r:id="rId34"/>
      <p:bold r:id="rId35"/>
    </p:embeddedFont>
    <p:embeddedFont>
      <p:font typeface="HG丸ｺﾞｼｯｸM-PRO" panose="020F0600000000000000" pitchFamily="34" charset="-128"/>
      <p:regular r:id="rId36"/>
    </p:embeddedFont>
    <p:embeddedFont>
      <p:font typeface="Impact" panose="020B0806030902050204" pitchFamily="34" charset="0"/>
      <p:regular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6" roundtripDataSignature="AMtx7mgG6+0Yz9Vk0AgsMeOrAJsj9E+Tf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3BA7C6B-2C5A-4B46-9B24-1202DAD5BCDC}">
  <a:tblStyle styleId="{B3BA7C6B-2C5A-4B46-9B24-1202DAD5BCDC}" styleName="Table_0">
    <a:wholeTbl>
      <a:tcTxStyle b="off" i="off">
        <a:font>
          <a:latin typeface="Gill Sans MT"/>
          <a:ea typeface="Gill Sans MT"/>
          <a:cs typeface="Gill Sans MT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AF2"/>
          </a:solidFill>
        </a:fill>
      </a:tcStyle>
    </a:wholeTbl>
    <a:band1H>
      <a:tcTxStyle/>
      <a:tcStyle>
        <a:tcBdr/>
        <a:fill>
          <a:solidFill>
            <a:srgbClr val="CAD2E4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2E4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80" y="5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56" Type="http://customschemas.google.com/relationships/presentationmetadata" Target="meta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5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/>
              <a:t>※非常にコンテンツが多いので，様子を見ながら適宜2コマに分けてください．</a:t>
            </a:r>
            <a:endParaRPr/>
          </a:p>
        </p:txBody>
      </p:sp>
      <p:sp>
        <p:nvSpPr>
          <p:cNvPr id="65" name="Google Shape;65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lang="ja-JP" alt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119210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※</a:t>
            </a:r>
            <a:r>
              <a:rPr kumimoji="1" lang="ja-JP" altLang="en-US" dirty="0"/>
              <a:t>以下，確率密度関数等については，初学者には難易度が高いため，説明は不要かと思います．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2801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lang="ja-JP" alt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81301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>
          <a:extLst>
            <a:ext uri="{FF2B5EF4-FFF2-40B4-BE49-F238E27FC236}">
              <a16:creationId xmlns:a16="http://schemas.microsoft.com/office/drawing/2014/main" id="{0DEC5DBD-04FB-B559-2E7B-53FEEBE2B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>
            <a:extLst>
              <a:ext uri="{FF2B5EF4-FFF2-40B4-BE49-F238E27FC236}">
                <a16:creationId xmlns:a16="http://schemas.microsoft.com/office/drawing/2014/main" id="{301AA7A1-7EAE-CA7C-30F6-949C022A51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2:notes">
            <a:extLst>
              <a:ext uri="{FF2B5EF4-FFF2-40B4-BE49-F238E27FC236}">
                <a16:creationId xmlns:a16="http://schemas.microsoft.com/office/drawing/2014/main" id="{BB527170-CB89-93E1-4974-9520C15096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673451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 スライド">
  <p:cSld name="タイトル スライド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50"/>
          <p:cNvSpPr txBox="1">
            <a:spLocks noGrp="1"/>
          </p:cNvSpPr>
          <p:nvPr>
            <p:ph type="subTitle" idx="1"/>
          </p:nvPr>
        </p:nvSpPr>
        <p:spPr>
          <a:xfrm>
            <a:off x="-1" y="2433327"/>
            <a:ext cx="8334000" cy="59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480"/>
              </a:spcBef>
              <a:spcAft>
                <a:spcPts val="0"/>
              </a:spcAft>
              <a:buSzPts val="2280"/>
              <a:buNone/>
              <a:defRPr sz="240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228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19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71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71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600"/>
              </a:spcBef>
              <a:spcAft>
                <a:spcPts val="600"/>
              </a:spcAft>
              <a:buSzPts val="1104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50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marL="0" lvl="1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marL="0" lvl="2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marL="0" lvl="3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marL="0" lvl="4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marL="0" lvl="5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6pPr>
            <a:lvl7pPr marL="0" lvl="6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7pPr>
            <a:lvl8pPr marL="0" lvl="7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8pPr>
            <a:lvl9pPr marL="0" lvl="8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16" name="Google Shape;16;p50"/>
          <p:cNvSpPr txBox="1">
            <a:spLocks noGrp="1"/>
          </p:cNvSpPr>
          <p:nvPr>
            <p:ph type="title"/>
          </p:nvPr>
        </p:nvSpPr>
        <p:spPr>
          <a:xfrm>
            <a:off x="0" y="3023648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今日の目標">
  <p:cSld name="今日の目標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1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1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20" name="Google Shape;20;p51"/>
          <p:cNvSpPr txBox="1"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7510" algn="l">
              <a:spcBef>
                <a:spcPts val="560"/>
              </a:spcBef>
              <a:spcAft>
                <a:spcPts val="0"/>
              </a:spcAft>
              <a:buSzPts val="2660"/>
              <a:buFont typeface="Noto Sans Symbols"/>
              <a:buChar char="◆"/>
              <a:defRPr/>
            </a:lvl1pPr>
            <a:lvl2pPr marL="914400" lvl="1" indent="-373380" algn="l">
              <a:spcBef>
                <a:spcPts val="600"/>
              </a:spcBef>
              <a:spcAft>
                <a:spcPts val="0"/>
              </a:spcAft>
              <a:buSzPts val="2280"/>
              <a:buFont typeface="Noto Sans Symbols"/>
              <a:buChar char="✔"/>
              <a:defRPr/>
            </a:lvl2pPr>
            <a:lvl3pPr marL="1371600" lvl="2" indent="-349250" algn="l">
              <a:spcBef>
                <a:spcPts val="600"/>
              </a:spcBef>
              <a:spcAft>
                <a:spcPts val="0"/>
              </a:spcAft>
              <a:buSzPts val="1900"/>
              <a:buFont typeface="Noto Sans Symbols"/>
              <a:buChar char="⮚"/>
              <a:defRPr/>
            </a:lvl3pPr>
            <a:lvl4pPr marL="1828800" lvl="3" indent="-337185" algn="l">
              <a:spcBef>
                <a:spcPts val="600"/>
              </a:spcBef>
              <a:spcAft>
                <a:spcPts val="0"/>
              </a:spcAft>
              <a:buSzPts val="1710"/>
              <a:buFont typeface="Noto Sans Symbols"/>
              <a:buChar char="⮚"/>
              <a:defRPr/>
            </a:lvl4pPr>
            <a:lvl5pPr marL="2286000" lvl="4" indent="-337185" algn="l">
              <a:spcBef>
                <a:spcPts val="600"/>
              </a:spcBef>
              <a:spcAft>
                <a:spcPts val="0"/>
              </a:spcAft>
              <a:buSzPts val="1710"/>
              <a:buFont typeface="Noto Sans Symbols"/>
              <a:buChar char="⮚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セクション見出し">
  <p:cSld name="セクション見出し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2"/>
          <p:cNvSpPr txBox="1">
            <a:spLocks noGrp="1"/>
          </p:cNvSpPr>
          <p:nvPr>
            <p:ph type="body" idx="1"/>
          </p:nvPr>
        </p:nvSpPr>
        <p:spPr>
          <a:xfrm>
            <a:off x="0" y="3128722"/>
            <a:ext cx="7989751" cy="600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560"/>
              </a:spcBef>
              <a:spcAft>
                <a:spcPts val="0"/>
              </a:spcAft>
              <a:buSzPts val="2660"/>
              <a:buNone/>
              <a:defRPr sz="2800" cap="none">
                <a:solidFill>
                  <a:schemeClr val="accent2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71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52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33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33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52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marL="0" lvl="1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marL="0" lvl="2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marL="0" lvl="3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marL="0" lvl="4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marL="0" lvl="5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6pPr>
            <a:lvl7pPr marL="0" lvl="6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7pPr>
            <a:lvl8pPr marL="0" lvl="7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8pPr>
            <a:lvl9pPr marL="0" lvl="8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とコンテンツ">
  <p:cSld name="タイトルとコンテンツ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3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3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27" name="Google Shape;27;p53"/>
          <p:cNvSpPr txBox="1"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7185" algn="l">
              <a:spcBef>
                <a:spcPts val="360"/>
              </a:spcBef>
              <a:spcAft>
                <a:spcPts val="0"/>
              </a:spcAft>
              <a:buSzPts val="1710"/>
              <a:buChar char="■"/>
              <a:defRPr/>
            </a:lvl1pPr>
            <a:lvl2pPr marL="914400" lvl="1" indent="-337185" algn="l">
              <a:spcBef>
                <a:spcPts val="600"/>
              </a:spcBef>
              <a:spcAft>
                <a:spcPts val="0"/>
              </a:spcAft>
              <a:buSzPts val="1710"/>
              <a:buChar char="✔"/>
              <a:defRPr/>
            </a:lvl2pPr>
            <a:lvl3pPr marL="1371600" lvl="2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3pPr>
            <a:lvl4pPr marL="1828800" lvl="3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4pPr>
            <a:lvl5pPr marL="2286000" lvl="4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つのコンテンツ">
  <p:cSld name="2 つのコンテンツ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5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5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36" name="Google Shape;36;p55"/>
          <p:cNvSpPr txBox="1">
            <a:spLocks noGrp="1"/>
          </p:cNvSpPr>
          <p:nvPr>
            <p:ph type="body" idx="1"/>
          </p:nvPr>
        </p:nvSpPr>
        <p:spPr>
          <a:xfrm>
            <a:off x="4663282" y="953679"/>
            <a:ext cx="4348743" cy="5788057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7185" algn="l">
              <a:spcBef>
                <a:spcPts val="360"/>
              </a:spcBef>
              <a:spcAft>
                <a:spcPts val="0"/>
              </a:spcAft>
              <a:buSzPts val="1710"/>
              <a:buChar char="■"/>
              <a:defRPr/>
            </a:lvl1pPr>
            <a:lvl2pPr marL="914400" lvl="1" indent="-337185" algn="l">
              <a:spcBef>
                <a:spcPts val="600"/>
              </a:spcBef>
              <a:spcAft>
                <a:spcPts val="0"/>
              </a:spcAft>
              <a:buSzPts val="1710"/>
              <a:buChar char="✔"/>
              <a:defRPr/>
            </a:lvl2pPr>
            <a:lvl3pPr marL="1371600" lvl="2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3pPr>
            <a:lvl4pPr marL="1828800" lvl="3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4pPr>
            <a:lvl5pPr marL="2286000" lvl="4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37" name="Google Shape;37;p55"/>
          <p:cNvSpPr txBox="1">
            <a:spLocks noGrp="1"/>
          </p:cNvSpPr>
          <p:nvPr>
            <p:ph type="body" idx="2"/>
          </p:nvPr>
        </p:nvSpPr>
        <p:spPr>
          <a:xfrm>
            <a:off x="131975" y="953678"/>
            <a:ext cx="4348743" cy="5788057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7185" algn="l">
              <a:spcBef>
                <a:spcPts val="360"/>
              </a:spcBef>
              <a:spcAft>
                <a:spcPts val="0"/>
              </a:spcAft>
              <a:buSzPts val="1710"/>
              <a:buChar char="■"/>
              <a:defRPr/>
            </a:lvl1pPr>
            <a:lvl2pPr marL="914400" lvl="1" indent="-337185" algn="l">
              <a:spcBef>
                <a:spcPts val="600"/>
              </a:spcBef>
              <a:spcAft>
                <a:spcPts val="0"/>
              </a:spcAft>
              <a:buSzPts val="1710"/>
              <a:buChar char="✔"/>
              <a:defRPr/>
            </a:lvl2pPr>
            <a:lvl3pPr marL="1371600" lvl="2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3pPr>
            <a:lvl4pPr marL="1828800" lvl="3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4pPr>
            <a:lvl5pPr marL="2286000" lvl="4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較">
  <p:cSld name="比較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6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6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41" name="Google Shape;41;p56"/>
          <p:cNvSpPr txBox="1">
            <a:spLocks noGrp="1"/>
          </p:cNvSpPr>
          <p:nvPr>
            <p:ph type="body" idx="1"/>
          </p:nvPr>
        </p:nvSpPr>
        <p:spPr>
          <a:xfrm>
            <a:off x="4663282" y="1583702"/>
            <a:ext cx="4348743" cy="5158034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7185" algn="l">
              <a:spcBef>
                <a:spcPts val="360"/>
              </a:spcBef>
              <a:spcAft>
                <a:spcPts val="0"/>
              </a:spcAft>
              <a:buSzPts val="1710"/>
              <a:buChar char="■"/>
              <a:defRPr/>
            </a:lvl1pPr>
            <a:lvl2pPr marL="914400" lvl="1" indent="-337185" algn="l">
              <a:spcBef>
                <a:spcPts val="600"/>
              </a:spcBef>
              <a:spcAft>
                <a:spcPts val="0"/>
              </a:spcAft>
              <a:buSzPts val="1710"/>
              <a:buChar char="✔"/>
              <a:defRPr/>
            </a:lvl2pPr>
            <a:lvl3pPr marL="1371600" lvl="2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3pPr>
            <a:lvl4pPr marL="1828800" lvl="3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4pPr>
            <a:lvl5pPr marL="2286000" lvl="4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2" name="Google Shape;42;p56"/>
          <p:cNvSpPr txBox="1">
            <a:spLocks noGrp="1"/>
          </p:cNvSpPr>
          <p:nvPr>
            <p:ph type="body" idx="2"/>
          </p:nvPr>
        </p:nvSpPr>
        <p:spPr>
          <a:xfrm>
            <a:off x="4663281" y="953677"/>
            <a:ext cx="4348743" cy="63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440"/>
              </a:spcBef>
              <a:spcAft>
                <a:spcPts val="0"/>
              </a:spcAft>
              <a:buSzPts val="2090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9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710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520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520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56"/>
          <p:cNvSpPr txBox="1">
            <a:spLocks noGrp="1"/>
          </p:cNvSpPr>
          <p:nvPr>
            <p:ph type="body" idx="3"/>
          </p:nvPr>
        </p:nvSpPr>
        <p:spPr>
          <a:xfrm>
            <a:off x="131976" y="1583702"/>
            <a:ext cx="4348743" cy="5158034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7185" algn="l">
              <a:spcBef>
                <a:spcPts val="360"/>
              </a:spcBef>
              <a:spcAft>
                <a:spcPts val="0"/>
              </a:spcAft>
              <a:buSzPts val="1710"/>
              <a:buChar char="■"/>
              <a:defRPr/>
            </a:lvl1pPr>
            <a:lvl2pPr marL="914400" lvl="1" indent="-337185" algn="l">
              <a:spcBef>
                <a:spcPts val="600"/>
              </a:spcBef>
              <a:spcAft>
                <a:spcPts val="0"/>
              </a:spcAft>
              <a:buSzPts val="1710"/>
              <a:buChar char="✔"/>
              <a:defRPr/>
            </a:lvl2pPr>
            <a:lvl3pPr marL="1371600" lvl="2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3pPr>
            <a:lvl4pPr marL="1828800" lvl="3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4pPr>
            <a:lvl5pPr marL="2286000" lvl="4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4" name="Google Shape;44;p56"/>
          <p:cNvSpPr txBox="1">
            <a:spLocks noGrp="1"/>
          </p:cNvSpPr>
          <p:nvPr>
            <p:ph type="body" idx="4"/>
          </p:nvPr>
        </p:nvSpPr>
        <p:spPr>
          <a:xfrm>
            <a:off x="131975" y="953676"/>
            <a:ext cx="4348743" cy="63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440"/>
              </a:spcBef>
              <a:spcAft>
                <a:spcPts val="0"/>
              </a:spcAft>
              <a:buSzPts val="2090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9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710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520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520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図表の比較">
  <p:cSld name="図表の比較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7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57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48" name="Google Shape;48;p57"/>
          <p:cNvSpPr txBox="1">
            <a:spLocks noGrp="1"/>
          </p:cNvSpPr>
          <p:nvPr>
            <p:ph type="body" idx="1"/>
          </p:nvPr>
        </p:nvSpPr>
        <p:spPr>
          <a:xfrm>
            <a:off x="4663284" y="953677"/>
            <a:ext cx="4348743" cy="3080995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7185" algn="l">
              <a:spcBef>
                <a:spcPts val="360"/>
              </a:spcBef>
              <a:spcAft>
                <a:spcPts val="0"/>
              </a:spcAft>
              <a:buSzPts val="1710"/>
              <a:buChar char="■"/>
              <a:defRPr/>
            </a:lvl1pPr>
            <a:lvl2pPr marL="914400" lvl="1" indent="-337185" algn="l">
              <a:spcBef>
                <a:spcPts val="600"/>
              </a:spcBef>
              <a:spcAft>
                <a:spcPts val="0"/>
              </a:spcAft>
              <a:buSzPts val="1710"/>
              <a:buChar char="✔"/>
              <a:defRPr/>
            </a:lvl2pPr>
            <a:lvl3pPr marL="1371600" lvl="2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3pPr>
            <a:lvl4pPr marL="1828800" lvl="3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4pPr>
            <a:lvl5pPr marL="2286000" lvl="4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9" name="Google Shape;49;p57"/>
          <p:cNvSpPr txBox="1">
            <a:spLocks noGrp="1"/>
          </p:cNvSpPr>
          <p:nvPr>
            <p:ph type="body" idx="2"/>
          </p:nvPr>
        </p:nvSpPr>
        <p:spPr>
          <a:xfrm>
            <a:off x="131975" y="953677"/>
            <a:ext cx="4348743" cy="3080995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7185" algn="l">
              <a:spcBef>
                <a:spcPts val="360"/>
              </a:spcBef>
              <a:spcAft>
                <a:spcPts val="0"/>
              </a:spcAft>
              <a:buSzPts val="1710"/>
              <a:buChar char="■"/>
              <a:defRPr/>
            </a:lvl1pPr>
            <a:lvl2pPr marL="914400" lvl="1" indent="-337185" algn="l">
              <a:spcBef>
                <a:spcPts val="600"/>
              </a:spcBef>
              <a:spcAft>
                <a:spcPts val="0"/>
              </a:spcAft>
              <a:buSzPts val="1710"/>
              <a:buChar char="✔"/>
              <a:defRPr/>
            </a:lvl2pPr>
            <a:lvl3pPr marL="1371600" lvl="2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3pPr>
            <a:lvl4pPr marL="1828800" lvl="3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4pPr>
            <a:lvl5pPr marL="2286000" lvl="4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50" name="Google Shape;50;p57"/>
          <p:cNvSpPr txBox="1">
            <a:spLocks noGrp="1"/>
          </p:cNvSpPr>
          <p:nvPr>
            <p:ph type="body" idx="3"/>
          </p:nvPr>
        </p:nvSpPr>
        <p:spPr>
          <a:xfrm>
            <a:off x="131182" y="4034672"/>
            <a:ext cx="4348743" cy="2696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7510" algn="l">
              <a:spcBef>
                <a:spcPts val="560"/>
              </a:spcBef>
              <a:spcAft>
                <a:spcPts val="0"/>
              </a:spcAft>
              <a:buSzPts val="2660"/>
              <a:buChar char="■"/>
              <a:defRPr>
                <a:solidFill>
                  <a:schemeClr val="accent1"/>
                </a:solidFill>
              </a:defRPr>
            </a:lvl1pPr>
            <a:lvl2pPr marL="914400" lvl="1" indent="-373380" algn="l">
              <a:spcBef>
                <a:spcPts val="600"/>
              </a:spcBef>
              <a:spcAft>
                <a:spcPts val="0"/>
              </a:spcAft>
              <a:buSzPts val="2280"/>
              <a:buChar char="✔"/>
              <a:defRPr>
                <a:solidFill>
                  <a:schemeClr val="accent1"/>
                </a:solidFill>
              </a:defRPr>
            </a:lvl2pPr>
            <a:lvl3pPr marL="1371600" lvl="2" indent="-349250" algn="l">
              <a:spcBef>
                <a:spcPts val="600"/>
              </a:spcBef>
              <a:spcAft>
                <a:spcPts val="0"/>
              </a:spcAft>
              <a:buSzPts val="1900"/>
              <a:buChar char="⮚"/>
              <a:defRPr>
                <a:solidFill>
                  <a:schemeClr val="accent1"/>
                </a:solidFill>
              </a:defRPr>
            </a:lvl3pPr>
            <a:lvl4pPr marL="1828800" lvl="3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>
                <a:solidFill>
                  <a:schemeClr val="accent1"/>
                </a:solidFill>
              </a:defRPr>
            </a:lvl4pPr>
            <a:lvl5pPr marL="2286000" lvl="4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>
                <a:solidFill>
                  <a:schemeClr val="accent1"/>
                </a:solidFill>
              </a:defRPr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51" name="Google Shape;51;p57"/>
          <p:cNvSpPr txBox="1">
            <a:spLocks noGrp="1"/>
          </p:cNvSpPr>
          <p:nvPr>
            <p:ph type="body" idx="4"/>
          </p:nvPr>
        </p:nvSpPr>
        <p:spPr>
          <a:xfrm>
            <a:off x="4663283" y="4034672"/>
            <a:ext cx="4348743" cy="2696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7510" algn="l">
              <a:spcBef>
                <a:spcPts val="560"/>
              </a:spcBef>
              <a:spcAft>
                <a:spcPts val="0"/>
              </a:spcAft>
              <a:buSzPts val="2660"/>
              <a:buChar char="■"/>
              <a:defRPr>
                <a:solidFill>
                  <a:schemeClr val="accent1"/>
                </a:solidFill>
              </a:defRPr>
            </a:lvl1pPr>
            <a:lvl2pPr marL="914400" lvl="1" indent="-373380" algn="l">
              <a:spcBef>
                <a:spcPts val="600"/>
              </a:spcBef>
              <a:spcAft>
                <a:spcPts val="0"/>
              </a:spcAft>
              <a:buSzPts val="2280"/>
              <a:buChar char="✔"/>
              <a:defRPr>
                <a:solidFill>
                  <a:schemeClr val="accent1"/>
                </a:solidFill>
              </a:defRPr>
            </a:lvl2pPr>
            <a:lvl3pPr marL="1371600" lvl="2" indent="-349250" algn="l">
              <a:spcBef>
                <a:spcPts val="600"/>
              </a:spcBef>
              <a:spcAft>
                <a:spcPts val="0"/>
              </a:spcAft>
              <a:buSzPts val="1900"/>
              <a:buChar char="⮚"/>
              <a:defRPr>
                <a:solidFill>
                  <a:schemeClr val="accent1"/>
                </a:solidFill>
              </a:defRPr>
            </a:lvl3pPr>
            <a:lvl4pPr marL="1828800" lvl="3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>
                <a:solidFill>
                  <a:schemeClr val="accent1"/>
                </a:solidFill>
              </a:defRPr>
            </a:lvl4pPr>
            <a:lvl5pPr marL="2286000" lvl="4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>
                <a:solidFill>
                  <a:schemeClr val="accent1"/>
                </a:solidFill>
              </a:defRPr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 type="titleOnly">
  <p:cSld name="TITLE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8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58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白紙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9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付きの図">
  <p:cSld name="タイトル付きの図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0"/>
          <p:cNvSpPr>
            <a:spLocks noGrp="1"/>
          </p:cNvSpPr>
          <p:nvPr>
            <p:ph type="pic" idx="2"/>
          </p:nvPr>
        </p:nvSpPr>
        <p:spPr>
          <a:xfrm>
            <a:off x="235670" y="810704"/>
            <a:ext cx="8672660" cy="4798244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Google Shape;59;p60"/>
          <p:cNvSpPr txBox="1">
            <a:spLocks noGrp="1"/>
          </p:cNvSpPr>
          <p:nvPr>
            <p:ph type="body" idx="1"/>
          </p:nvPr>
        </p:nvSpPr>
        <p:spPr>
          <a:xfrm>
            <a:off x="235669" y="5670223"/>
            <a:ext cx="8672660" cy="1032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280"/>
              <a:buNone/>
              <a:defRPr sz="24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14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95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855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855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60" name="Google Shape;60;p60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61" name="Google Shape;61;p60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図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181" y="953677"/>
            <a:ext cx="8880843" cy="3844566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089DA2C-C2C0-8214-9B8F-1C1FBD9A01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181" y="4941215"/>
            <a:ext cx="8880843" cy="1789523"/>
          </a:xfrm>
        </p:spPr>
        <p:txBody>
          <a:bodyPr>
            <a:no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  <a:lvl2pPr>
              <a:defRPr sz="20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  <a:lvl5pPr>
              <a:defRPr sz="1600"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415048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9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49"/>
          <p:cNvSpPr txBox="1"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97510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66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73380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280"/>
              <a:buFont typeface="Noto Sans Symbols"/>
              <a:buChar char="✔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9250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⮚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7185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710"/>
              <a:buFont typeface="Noto Sans Symbols"/>
              <a:buChar char="⮚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7185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710"/>
              <a:buFont typeface="Noto Sans Symbols"/>
              <a:buChar char="⮚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704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298704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298703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298703" algn="l" rtl="0"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2" name="Google Shape;12;p49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marL="0" marR="0" lvl="1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marL="0" marR="0" lvl="2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marL="0" marR="0" lvl="3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marL="0" marR="0" lvl="4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marL="0" marR="0" lvl="5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6pPr>
            <a:lvl7pPr marL="0" marR="0" lvl="6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7pPr>
            <a:lvl8pPr marL="0" marR="0" lvl="7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8pPr>
            <a:lvl9pPr marL="0" marR="0" lvl="8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7.png"/><Relationship Id="rId5" Type="http://schemas.openxmlformats.org/officeDocument/2006/relationships/image" Target="../media/image23.png"/><Relationship Id="rId4" Type="http://schemas.openxmlformats.org/officeDocument/2006/relationships/image" Target="../media/image5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8.emf"/><Relationship Id="rId7" Type="http://schemas.openxmlformats.org/officeDocument/2006/relationships/image" Target="../media/image9.emf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10" Type="http://schemas.openxmlformats.org/officeDocument/2006/relationships/image" Target="../media/image41.png"/><Relationship Id="rId4" Type="http://schemas.openxmlformats.org/officeDocument/2006/relationships/image" Target="../media/image34.png"/><Relationship Id="rId9" Type="http://schemas.openxmlformats.org/officeDocument/2006/relationships/image" Target="../media/image10.e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11.e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46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51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40.png"/><Relationship Id="rId4" Type="http://schemas.openxmlformats.org/officeDocument/2006/relationships/image" Target="../media/image5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550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24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7" Type="http://schemas.openxmlformats.org/officeDocument/2006/relationships/image" Target="../media/image670.png"/><Relationship Id="rId2" Type="http://schemas.openxmlformats.org/officeDocument/2006/relationships/image" Target="../media/image64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7.png"/><Relationship Id="rId5" Type="http://schemas.openxmlformats.org/officeDocument/2006/relationships/image" Target="../media/image58.png"/><Relationship Id="rId4" Type="http://schemas.openxmlformats.org/officeDocument/2006/relationships/image" Target="../media/image25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69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"/>
          <p:cNvSpPr txBox="1">
            <a:spLocks noGrp="1"/>
          </p:cNvSpPr>
          <p:nvPr>
            <p:ph type="subTitle" idx="1"/>
          </p:nvPr>
        </p:nvSpPr>
        <p:spPr>
          <a:xfrm>
            <a:off x="-1" y="2433327"/>
            <a:ext cx="8334000" cy="59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280"/>
              <a:buNone/>
            </a:pPr>
            <a:r>
              <a:rPr lang="ja-JP" dirty="0"/>
              <a:t>統計学　#0</a:t>
            </a:r>
            <a:r>
              <a:rPr lang="en-US" altLang="ja-JP" dirty="0"/>
              <a:t>5</a:t>
            </a:r>
            <a:endParaRPr dirty="0"/>
          </a:p>
        </p:txBody>
      </p:sp>
      <p:sp>
        <p:nvSpPr>
          <p:cNvPr id="68" name="Google Shape;68;p1"/>
          <p:cNvSpPr txBox="1">
            <a:spLocks noGrp="1"/>
          </p:cNvSpPr>
          <p:nvPr>
            <p:ph type="title"/>
          </p:nvPr>
        </p:nvSpPr>
        <p:spPr>
          <a:xfrm>
            <a:off x="0" y="3023648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ja-JP" dirty="0"/>
              <a:t>確率分布：連続確率分布</a:t>
            </a:r>
            <a:r>
              <a:rPr lang="en-US" altLang="ja-JP" dirty="0"/>
              <a:t> </a:t>
            </a:r>
            <a:r>
              <a:rPr lang="ja-JP" altLang="en-US"/>
              <a:t>前半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ja-JP"/>
              <a:t>今日の目標</a:t>
            </a:r>
            <a:endParaRPr/>
          </a:p>
        </p:txBody>
      </p:sp>
      <p:sp>
        <p:nvSpPr>
          <p:cNvPr id="74" name="Google Shape;74;p2"/>
          <p:cNvSpPr txBox="1"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06000" lvl="0" indent="-306000" algn="l" rtl="0">
              <a:spcBef>
                <a:spcPts val="0"/>
              </a:spcBef>
              <a:spcAft>
                <a:spcPts val="0"/>
              </a:spcAft>
              <a:buSzPts val="2660"/>
              <a:buFont typeface="Noto Sans Symbols"/>
              <a:buChar char="◆"/>
            </a:pPr>
            <a:r>
              <a:rPr lang="ja-JP" dirty="0"/>
              <a:t>第2章　第2節　確率分布</a:t>
            </a:r>
            <a:endParaRPr dirty="0"/>
          </a:p>
          <a:p>
            <a:pPr marL="630000" lvl="1" indent="-306000" algn="l" rtl="0">
              <a:spcBef>
                <a:spcPts val="1080"/>
              </a:spcBef>
              <a:spcAft>
                <a:spcPts val="0"/>
              </a:spcAft>
              <a:buSzPts val="2280"/>
              <a:buChar char="✔"/>
            </a:pPr>
            <a:r>
              <a:rPr lang="ja-JP" dirty="0"/>
              <a:t>積分の概念を学ぶ</a:t>
            </a:r>
            <a:endParaRPr dirty="0"/>
          </a:p>
          <a:p>
            <a:pPr marL="630000" lvl="1" indent="-306000" algn="l" rtl="0">
              <a:spcBef>
                <a:spcPts val="1080"/>
              </a:spcBef>
              <a:spcAft>
                <a:spcPts val="0"/>
              </a:spcAft>
              <a:buSzPts val="2280"/>
              <a:buChar char="✔"/>
            </a:pPr>
            <a:r>
              <a:rPr lang="ja-JP" dirty="0"/>
              <a:t>標準正規分布とその特徴について理解する</a:t>
            </a:r>
            <a:endParaRPr lang="en-US" altLang="ja-JP" dirty="0"/>
          </a:p>
          <a:p>
            <a:pPr marL="630000" lvl="1" indent="-306000">
              <a:spcBef>
                <a:spcPts val="1080"/>
              </a:spcBef>
            </a:pPr>
            <a:r>
              <a:rPr lang="ja-JP" altLang="ja-JP" dirty="0"/>
              <a:t>確率分布の期待値と分散</a:t>
            </a:r>
            <a:endParaRPr lang="en-US" altLang="ja-JP" dirty="0"/>
          </a:p>
          <a:p>
            <a:pPr marL="630000" lvl="1" indent="-306000">
              <a:spcBef>
                <a:spcPts val="1080"/>
              </a:spcBef>
            </a:pPr>
            <a:r>
              <a:rPr lang="ja-JP" altLang="en-US" dirty="0"/>
              <a:t>正規分布・標準正規分布・標準正規分布表</a:t>
            </a:r>
            <a:endParaRPr dirty="0"/>
          </a:p>
          <a:p>
            <a:pPr marL="324000" lvl="1" indent="0" algn="l" rtl="0">
              <a:spcBef>
                <a:spcPts val="1080"/>
              </a:spcBef>
              <a:spcAft>
                <a:spcPts val="0"/>
              </a:spcAft>
              <a:buSzPts val="2280"/>
              <a:buNone/>
            </a:pPr>
            <a:endParaRPr dirty="0"/>
          </a:p>
        </p:txBody>
      </p:sp>
      <p:sp>
        <p:nvSpPr>
          <p:cNvPr id="75" name="Google Shape;75;p2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"/>
          <p:cNvSpPr txBox="1">
            <a:spLocks noGrp="1"/>
          </p:cNvSpPr>
          <p:nvPr>
            <p:ph type="body" idx="1"/>
          </p:nvPr>
        </p:nvSpPr>
        <p:spPr>
          <a:xfrm>
            <a:off x="0" y="3128722"/>
            <a:ext cx="7989751" cy="600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660"/>
              <a:buNone/>
            </a:pPr>
            <a:r>
              <a:rPr lang="ja-JP" altLang="en-US" dirty="0"/>
              <a:t>１</a:t>
            </a:r>
            <a:r>
              <a:rPr lang="ja-JP" dirty="0"/>
              <a:t>：連続確率分布</a:t>
            </a:r>
            <a:endParaRPr dirty="0"/>
          </a:p>
        </p:txBody>
      </p:sp>
      <p:sp>
        <p:nvSpPr>
          <p:cNvPr id="81" name="Google Shape;81;p3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ja-JP"/>
              <a:t>連続確率分布</a:t>
            </a:r>
            <a:endParaRPr/>
          </a:p>
        </p:txBody>
      </p:sp>
      <p:sp>
        <p:nvSpPr>
          <p:cNvPr id="87" name="Google Shape;87;p4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4</a:t>
            </a:fld>
            <a:endParaRPr/>
          </a:p>
        </p:txBody>
      </p:sp>
      <p:sp>
        <p:nvSpPr>
          <p:cNvPr id="88" name="Google Shape;88;p4"/>
          <p:cNvSpPr txBox="1"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06000" lvl="0" indent="-306000" algn="l" rtl="0">
              <a:spcBef>
                <a:spcPts val="0"/>
              </a:spcBef>
              <a:spcAft>
                <a:spcPts val="0"/>
              </a:spcAft>
              <a:buSzPts val="2660"/>
              <a:buChar char="■"/>
            </a:pPr>
            <a:r>
              <a:rPr lang="ja-JP" b="1">
                <a:solidFill>
                  <a:schemeClr val="accent5"/>
                </a:solidFill>
              </a:rPr>
              <a:t>連続確率分布</a:t>
            </a:r>
            <a:r>
              <a:rPr lang="ja-JP"/>
              <a:t>　</a:t>
            </a:r>
            <a:r>
              <a:rPr lang="ja-JP">
                <a:solidFill>
                  <a:schemeClr val="accent2"/>
                </a:solidFill>
              </a:rPr>
              <a:t>continuous probability distribution</a:t>
            </a:r>
            <a:endParaRPr/>
          </a:p>
          <a:p>
            <a:pPr marL="630000" lvl="1" indent="-306000" algn="l" rtl="0">
              <a:spcBef>
                <a:spcPts val="1080"/>
              </a:spcBef>
              <a:spcAft>
                <a:spcPts val="0"/>
              </a:spcAft>
              <a:buSzPts val="2280"/>
              <a:buChar char="✔"/>
            </a:pPr>
            <a:r>
              <a:rPr lang="ja-JP"/>
              <a:t>累積確率分布関数が連続な確率分布</a:t>
            </a:r>
            <a:endParaRPr/>
          </a:p>
          <a:p>
            <a:pPr marL="630000" lvl="1" indent="-306000" algn="l" rtl="0">
              <a:spcBef>
                <a:spcPts val="1080"/>
              </a:spcBef>
              <a:spcAft>
                <a:spcPts val="0"/>
              </a:spcAft>
              <a:buSzPts val="2280"/>
              <a:buChar char="✔"/>
            </a:pPr>
            <a:r>
              <a:rPr lang="ja-JP">
                <a:solidFill>
                  <a:schemeClr val="accent5"/>
                </a:solidFill>
              </a:rPr>
              <a:t>確率変数が連続変数</a:t>
            </a:r>
            <a:r>
              <a:rPr lang="ja-JP"/>
              <a:t>である場合</a:t>
            </a:r>
            <a:endParaRPr/>
          </a:p>
          <a:p>
            <a:pPr marL="306000" lvl="0" indent="-137090" algn="l" rtl="0">
              <a:spcBef>
                <a:spcPts val="1160"/>
              </a:spcBef>
              <a:spcAft>
                <a:spcPts val="0"/>
              </a:spcAft>
              <a:buSzPts val="2660"/>
              <a:buNone/>
            </a:pPr>
            <a:endParaRPr/>
          </a:p>
          <a:p>
            <a:pPr marL="306000" lvl="0" indent="-306000" algn="l" rtl="0">
              <a:spcBef>
                <a:spcPts val="1160"/>
              </a:spcBef>
              <a:spcAft>
                <a:spcPts val="0"/>
              </a:spcAft>
              <a:buSzPts val="2660"/>
              <a:buChar char="■"/>
            </a:pPr>
            <a:r>
              <a:rPr lang="ja-JP"/>
              <a:t>連続変数</a:t>
            </a:r>
            <a:endParaRPr/>
          </a:p>
          <a:p>
            <a:pPr marL="630000" lvl="1" indent="-306000" algn="l" rtl="0">
              <a:spcBef>
                <a:spcPts val="1080"/>
              </a:spcBef>
              <a:spcAft>
                <a:spcPts val="0"/>
              </a:spcAft>
              <a:buSzPts val="2280"/>
              <a:buChar char="✔"/>
            </a:pPr>
            <a:r>
              <a:rPr lang="ja-JP"/>
              <a:t>連続的で，</a:t>
            </a:r>
            <a:br>
              <a:rPr lang="ja-JP"/>
            </a:br>
            <a:r>
              <a:rPr lang="ja-JP"/>
              <a:t>無限に中間の値が存在する変数</a:t>
            </a:r>
            <a:endParaRPr/>
          </a:p>
          <a:p>
            <a:pPr marL="900000" lvl="2" indent="-270000" algn="l" rtl="0">
              <a:spcBef>
                <a:spcPts val="1000"/>
              </a:spcBef>
              <a:spcAft>
                <a:spcPts val="0"/>
              </a:spcAft>
              <a:buSzPts val="1900"/>
              <a:buChar char="⮚"/>
            </a:pPr>
            <a:r>
              <a:rPr lang="ja-JP"/>
              <a:t>重さ，温度，距離，など</a:t>
            </a: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復習</a:t>
            </a:r>
            <a:endParaRPr/>
          </a:p>
        </p:txBody>
      </p:sp>
      <p:pic>
        <p:nvPicPr>
          <p:cNvPr id="90" name="Google Shape;90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88688" y="2152334"/>
            <a:ext cx="3823336" cy="22945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ja-JP"/>
              <a:t>連続確率分布</a:t>
            </a:r>
            <a:endParaRPr/>
          </a:p>
        </p:txBody>
      </p:sp>
      <p:sp>
        <p:nvSpPr>
          <p:cNvPr id="96" name="Google Shape;96;p5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5</a:t>
            </a:fld>
            <a:endParaRPr/>
          </a:p>
        </p:txBody>
      </p:sp>
      <p:sp>
        <p:nvSpPr>
          <p:cNvPr id="97" name="Google Shape;97;p5"/>
          <p:cNvSpPr txBox="1"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098" t="-1052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06000" lvl="0" indent="-306000" algn="l" rtl="0">
              <a:spcBef>
                <a:spcPts val="0"/>
              </a:spcBef>
              <a:spcAft>
                <a:spcPts val="0"/>
              </a:spcAft>
              <a:buSzPts val="2660"/>
              <a:buChar char="■"/>
            </a:pPr>
            <a:r>
              <a:rPr lang="ja-JP"/>
              <a:t> </a:t>
            </a: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重要</a:t>
            </a:r>
            <a:endParaRPr/>
          </a:p>
        </p:txBody>
      </p:sp>
      <p:pic>
        <p:nvPicPr>
          <p:cNvPr id="99" name="Google Shape;99;p5"/>
          <p:cNvPicPr preferRelativeResize="0"/>
          <p:nvPr/>
        </p:nvPicPr>
        <p:blipFill rotWithShape="1">
          <a:blip r:embed="rId4">
            <a:alphaModFix/>
          </a:blip>
          <a:srcRect t="14314"/>
          <a:stretch/>
        </p:blipFill>
        <p:spPr>
          <a:xfrm>
            <a:off x="5742133" y="5039834"/>
            <a:ext cx="3269891" cy="168147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0" name="Google Shape;100;p5"/>
          <p:cNvGrpSpPr/>
          <p:nvPr/>
        </p:nvGrpSpPr>
        <p:grpSpPr>
          <a:xfrm>
            <a:off x="7549170" y="5039834"/>
            <a:ext cx="1569660" cy="616687"/>
            <a:chOff x="7549170" y="5039834"/>
            <a:chExt cx="1569660" cy="616687"/>
          </a:xfrm>
        </p:grpSpPr>
        <p:cxnSp>
          <p:nvCxnSpPr>
            <p:cNvPr id="101" name="Google Shape;101;p5"/>
            <p:cNvCxnSpPr/>
            <p:nvPr/>
          </p:nvCxnSpPr>
          <p:spPr>
            <a:xfrm flipH="1">
              <a:off x="7719237" y="5409166"/>
              <a:ext cx="233916" cy="247355"/>
            </a:xfrm>
            <a:prstGeom prst="straightConnector1">
              <a:avLst/>
            </a:prstGeom>
            <a:noFill/>
            <a:ln w="12700" cap="rnd" cmpd="sng">
              <a:solidFill>
                <a:schemeClr val="accent5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102" name="Google Shape;102;p5"/>
            <p:cNvSpPr txBox="1"/>
            <p:nvPr/>
          </p:nvSpPr>
          <p:spPr>
            <a:xfrm>
              <a:off x="7549170" y="5039834"/>
              <a:ext cx="156966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sz="1800" b="0" i="0" u="none" strike="noStrike" cap="none">
                  <a:solidFill>
                    <a:schemeClr val="accent5"/>
                  </a:solidFill>
                  <a:latin typeface="Arial"/>
                  <a:ea typeface="Arial"/>
                  <a:cs typeface="Arial"/>
                  <a:sym typeface="Arial"/>
                </a:rPr>
                <a:t>確率密度関数</a:t>
              </a:r>
              <a:endParaRPr/>
            </a:p>
          </p:txBody>
        </p:sp>
      </p:grpSp>
      <p:grpSp>
        <p:nvGrpSpPr>
          <p:cNvPr id="103" name="Google Shape;103;p5"/>
          <p:cNvGrpSpPr/>
          <p:nvPr/>
        </p:nvGrpSpPr>
        <p:grpSpPr>
          <a:xfrm>
            <a:off x="4348715" y="5316279"/>
            <a:ext cx="2679406" cy="937276"/>
            <a:chOff x="4348715" y="5316279"/>
            <a:chExt cx="2679406" cy="937276"/>
          </a:xfrm>
        </p:grpSpPr>
        <p:cxnSp>
          <p:nvCxnSpPr>
            <p:cNvPr id="104" name="Google Shape;104;p5"/>
            <p:cNvCxnSpPr/>
            <p:nvPr/>
          </p:nvCxnSpPr>
          <p:spPr>
            <a:xfrm>
              <a:off x="4348716" y="5316279"/>
              <a:ext cx="2679405" cy="808074"/>
            </a:xfrm>
            <a:prstGeom prst="straightConnector1">
              <a:avLst/>
            </a:prstGeom>
            <a:noFill/>
            <a:ln w="12700" cap="rnd" cmpd="sng">
              <a:solidFill>
                <a:schemeClr val="accent5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105" name="Google Shape;105;p5"/>
            <p:cNvSpPr txBox="1"/>
            <p:nvPr/>
          </p:nvSpPr>
          <p:spPr>
            <a:xfrm>
              <a:off x="4348715" y="5915001"/>
              <a:ext cx="2114681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sz="1600">
                  <a:solidFill>
                    <a:schemeClr val="accent5"/>
                  </a:solidFill>
                  <a:latin typeface="Arial"/>
                  <a:ea typeface="Arial"/>
                  <a:cs typeface="Arial"/>
                  <a:sym typeface="Arial"/>
                </a:rPr>
                <a:t>ここの内側の面積は1</a:t>
              </a:r>
              <a:endParaRPr sz="16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ja-JP" dirty="0"/>
              <a:t>連続確率分布</a:t>
            </a:r>
            <a:endParaRPr dirty="0"/>
          </a:p>
        </p:txBody>
      </p:sp>
      <p:sp>
        <p:nvSpPr>
          <p:cNvPr id="111" name="Google Shape;111;p6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6</a:t>
            </a:fld>
            <a:endParaRPr/>
          </a:p>
        </p:txBody>
      </p:sp>
      <p:sp>
        <p:nvSpPr>
          <p:cNvPr id="112" name="Google Shape;112;p6"/>
          <p:cNvSpPr txBox="1"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098" t="-1052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06000" lvl="0" indent="-306000" algn="l" rtl="0">
              <a:spcBef>
                <a:spcPts val="0"/>
              </a:spcBef>
              <a:spcAft>
                <a:spcPts val="0"/>
              </a:spcAft>
              <a:buSzPts val="2660"/>
              <a:buChar char="■"/>
            </a:pPr>
            <a:r>
              <a:rPr lang="ja-JP"/>
              <a:t> 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F236DFB-021C-421C-131E-7E438C4B1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確率密度関数の積分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280C53A-77D0-751B-E787-48F152448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7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1C06887-6779-CE81-E7F5-BE8B49D185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056" y="933254"/>
                <a:ext cx="9042504" cy="5788057"/>
              </a:xfrm>
            </p:spPr>
            <p:txBody>
              <a:bodyPr>
                <a:normAutofit/>
              </a:bodyPr>
              <a:lstStyle/>
              <a:p>
                <a:r>
                  <a:rPr kumimoji="1" lang="ja-JP" altLang="en-US" sz="2400" dirty="0"/>
                  <a:t>確率密度関数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kumimoji="1" lang="ja-JP" altLang="en-US" sz="2400" dirty="0"/>
                  <a:t>の積分</a:t>
                </a:r>
                <a:endParaRPr kumimoji="1" lang="en-US" altLang="ja-JP" sz="2400" dirty="0"/>
              </a:p>
              <a:p>
                <a:pPr lvl="1"/>
                <a:r>
                  <a:rPr lang="ja-JP" altLang="en-US" sz="2000" dirty="0">
                    <a:solidFill>
                      <a:schemeClr val="accent5"/>
                    </a:solidFill>
                  </a:rPr>
                  <a:t>横軸</a:t>
                </a:r>
                <a:r>
                  <a:rPr lang="ja-JP" altLang="en-US" sz="1600" dirty="0"/>
                  <a:t>（確率変数のとりうる値</a:t>
                </a:r>
                <a14:m>
                  <m:oMath xmlns:m="http://schemas.openxmlformats.org/officeDocument/2006/math">
                    <m:r>
                      <a:rPr lang="en-US" altLang="ja-JP" sz="16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ja-JP" altLang="en-US" sz="1600" dirty="0"/>
                  <a:t>）</a:t>
                </a:r>
                <a:r>
                  <a:rPr lang="ja-JP" altLang="en-US" sz="2000" dirty="0"/>
                  <a:t>と，</a:t>
                </a:r>
                <a:r>
                  <a:rPr lang="ja-JP" altLang="en-US" sz="2000" dirty="0">
                    <a:solidFill>
                      <a:schemeClr val="accent5"/>
                    </a:solidFill>
                  </a:rPr>
                  <a:t>横軸上の任意の点</a:t>
                </a:r>
                <a:r>
                  <a:rPr lang="ja-JP" altLang="en-US" sz="1600" dirty="0"/>
                  <a:t>（確率変数</a:t>
                </a:r>
                <a14:m>
                  <m:oMath xmlns:m="http://schemas.openxmlformats.org/officeDocument/2006/math">
                    <m:r>
                      <a:rPr lang="en-US" altLang="ja-JP" sz="16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ja-JP" altLang="en-US" sz="1600" dirty="0"/>
                  <a:t>の実現値</a:t>
                </a:r>
                <a14:m>
                  <m:oMath xmlns:m="http://schemas.openxmlformats.org/officeDocument/2006/math">
                    <m:r>
                      <a:rPr lang="en-US" altLang="ja-JP" sz="16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ja-JP" altLang="en-US" sz="1600" dirty="0"/>
                  <a:t>）</a:t>
                </a:r>
                <a:r>
                  <a:rPr lang="ja-JP" altLang="en-US" sz="2000" dirty="0"/>
                  <a:t>，</a:t>
                </a:r>
                <a:br>
                  <a:rPr lang="en-US" altLang="ja-JP" sz="2000" dirty="0"/>
                </a:br>
                <a:r>
                  <a:rPr lang="ja-JP" altLang="en-US" sz="2000" dirty="0">
                    <a:solidFill>
                      <a:schemeClr val="accent5"/>
                    </a:solidFill>
                  </a:rPr>
                  <a:t>確率密度関数</a:t>
                </a: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kumimoji="1" lang="ja-JP" altLang="en-US" sz="2000" dirty="0"/>
                  <a:t>で囲まれる範囲の</a:t>
                </a:r>
                <a:r>
                  <a:rPr kumimoji="1" lang="ja-JP" altLang="en-US" sz="2000" dirty="0">
                    <a:solidFill>
                      <a:schemeClr val="accent5"/>
                    </a:solidFill>
                  </a:rPr>
                  <a:t>面積</a:t>
                </a:r>
                <a:endParaRPr kumimoji="1" lang="en-US" altLang="ja-JP" sz="2000" dirty="0">
                  <a:solidFill>
                    <a:schemeClr val="accent5"/>
                  </a:solidFill>
                </a:endParaRPr>
              </a:p>
              <a:p>
                <a:pPr lvl="1"/>
                <a:r>
                  <a:rPr lang="ja-JP" altLang="en-US" sz="2000" dirty="0"/>
                  <a:t>確率変数が</a:t>
                </a: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ja-JP" altLang="en-US" sz="2000" dirty="0"/>
                  <a:t>となる</a:t>
                </a:r>
                <a:r>
                  <a:rPr kumimoji="1" lang="ja-JP" altLang="en-US" sz="2000" dirty="0">
                    <a:solidFill>
                      <a:schemeClr val="accent5"/>
                    </a:solidFill>
                  </a:rPr>
                  <a:t>確率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sz="2000" b="0" i="0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sz="2000" b="0" i="0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sz="20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0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kumimoji="1" lang="en-US" altLang="ja-JP" sz="20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kumimoji="1" lang="en-US" altLang="ja-JP" sz="20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</m:oMath>
                </a14:m>
                <a:r>
                  <a:rPr kumimoji="1" lang="ja-JP" altLang="en-US" sz="2000" dirty="0"/>
                  <a:t>を表す</a:t>
                </a:r>
                <a:endParaRPr kumimoji="1" lang="en-US" altLang="ja-JP" sz="2000" dirty="0"/>
              </a:p>
              <a:p>
                <a:pPr lvl="1"/>
                <a:r>
                  <a:rPr lang="ja-JP" altLang="en-US" sz="2000" b="1" dirty="0"/>
                  <a:t>下側確率</a:t>
                </a:r>
                <a:r>
                  <a:rPr lang="ja-JP" altLang="en-US" sz="2000" dirty="0"/>
                  <a:t>　</a:t>
                </a:r>
                <a:r>
                  <a:rPr lang="en-US" altLang="ja-JP" sz="2000" dirty="0">
                    <a:solidFill>
                      <a:schemeClr val="accent2"/>
                    </a:solidFill>
                  </a:rPr>
                  <a:t>lower-tail probability</a:t>
                </a:r>
              </a:p>
              <a:p>
                <a:pPr lvl="1"/>
                <a:r>
                  <a:rPr lang="ja-JP" altLang="en-US" sz="2000" dirty="0"/>
                  <a:t>累積分布関数</a:t>
                </a:r>
                <a:br>
                  <a:rPr lang="en-US" altLang="ja-JP" sz="2000" dirty="0"/>
                </a:br>
                <a:r>
                  <a:rPr lang="ja-JP" alt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ja-JP" sz="20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ja-JP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sSub>
                          <m:sSub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d>
                          <m:d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nary>
                  </m:oMath>
                </a14:m>
                <a:endParaRPr lang="en-US" altLang="ja-JP" sz="2000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1C06887-6779-CE81-E7F5-BE8B49D185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056" y="933254"/>
                <a:ext cx="9042504" cy="5788057"/>
              </a:xfrm>
              <a:blipFill>
                <a:blip r:embed="rId3"/>
                <a:stretch>
                  <a:fillRect r="-350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図 4">
            <a:extLst>
              <a:ext uri="{FF2B5EF4-FFF2-40B4-BE49-F238E27FC236}">
                <a16:creationId xmlns:a16="http://schemas.microsoft.com/office/drawing/2014/main" id="{34EBEBF6-39D1-59CB-2625-1672C06943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6057" y="3059668"/>
            <a:ext cx="5485966" cy="3292311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14AC75D-D672-7E41-91E3-F2CA95F63573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C474C9CF-BB6A-4BD7-75E0-FCC7188AE1AC}"/>
              </a:ext>
            </a:extLst>
          </p:cNvPr>
          <p:cNvGrpSpPr/>
          <p:nvPr/>
        </p:nvGrpSpPr>
        <p:grpSpPr>
          <a:xfrm>
            <a:off x="7293936" y="6039293"/>
            <a:ext cx="1238416" cy="732363"/>
            <a:chOff x="7293936" y="6039293"/>
            <a:chExt cx="1238416" cy="7323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テキスト ボックス 6">
                  <a:extLst>
                    <a:ext uri="{FF2B5EF4-FFF2-40B4-BE49-F238E27FC236}">
                      <a16:creationId xmlns:a16="http://schemas.microsoft.com/office/drawing/2014/main" id="{FCC3C624-3CCF-C2B0-FD8C-683F27DE5BF4}"/>
                    </a:ext>
                  </a:extLst>
                </p:cNvPr>
                <p:cNvSpPr txBox="1"/>
                <p:nvPr/>
              </p:nvSpPr>
              <p:spPr>
                <a:xfrm>
                  <a:off x="7293936" y="6402324"/>
                  <a:ext cx="123841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ja-JP" altLang="en-US" sz="1800" dirty="0">
                      <a:solidFill>
                        <a:schemeClr val="accent5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任意の点</a:t>
                  </a:r>
                  <a14:m>
                    <m:oMath xmlns:m="http://schemas.openxmlformats.org/officeDocument/2006/math">
                      <m:r>
                        <a:rPr kumimoji="1" lang="en-US" altLang="ja-JP" sz="18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endParaRPr kumimoji="1" lang="ja-JP" altLang="en-US" sz="1800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</p:txBody>
            </p:sp>
          </mc:Choice>
          <mc:Fallback xmlns="">
            <p:sp>
              <p:nvSpPr>
                <p:cNvPr id="7" name="テキスト ボックス 6">
                  <a:extLst>
                    <a:ext uri="{FF2B5EF4-FFF2-40B4-BE49-F238E27FC236}">
                      <a16:creationId xmlns:a16="http://schemas.microsoft.com/office/drawing/2014/main" id="{FCC3C624-3CCF-C2B0-FD8C-683F27DE5B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3936" y="6402324"/>
                  <a:ext cx="1238416" cy="369332"/>
                </a:xfrm>
                <a:prstGeom prst="rect">
                  <a:avLst/>
                </a:prstGeom>
                <a:blipFill>
                  <a:blip r:embed="rId5"/>
                  <a:stretch>
                    <a:fillRect l="-4433" t="-11475" b="-21311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直線矢印コネクタ 8">
              <a:extLst>
                <a:ext uri="{FF2B5EF4-FFF2-40B4-BE49-F238E27FC236}">
                  <a16:creationId xmlns:a16="http://schemas.microsoft.com/office/drawing/2014/main" id="{AEDCF17B-8ED9-C477-988B-33C224A9CBFB}"/>
                </a:ext>
              </a:extLst>
            </p:cNvPr>
            <p:cNvCxnSpPr>
              <a:cxnSpLocks/>
              <a:stCxn id="7" idx="1"/>
            </p:cNvCxnSpPr>
            <p:nvPr/>
          </p:nvCxnSpPr>
          <p:spPr>
            <a:xfrm flipV="1">
              <a:off x="7293936" y="6039293"/>
              <a:ext cx="0" cy="547697"/>
            </a:xfrm>
            <a:prstGeom prst="straightConnector1">
              <a:avLst/>
            </a:prstGeom>
            <a:ln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C8CFCDB8-F9B8-7836-F4E5-8E874BD66FD7}"/>
                  </a:ext>
                </a:extLst>
              </p:cNvPr>
              <p:cNvSpPr txBox="1"/>
              <p:nvPr/>
            </p:nvSpPr>
            <p:spPr>
              <a:xfrm>
                <a:off x="5641785" y="5114261"/>
                <a:ext cx="1254511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func>
                        <m:funcPr>
                          <m:ctrl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C8CFCDB8-F9B8-7836-F4E5-8E874BD66F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1785" y="5114261"/>
                <a:ext cx="1254511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FA0797B4-B011-8739-1FE8-DD3F66C770CE}"/>
                  </a:ext>
                </a:extLst>
              </p:cNvPr>
              <p:cNvSpPr txBox="1"/>
              <p:nvPr/>
            </p:nvSpPr>
            <p:spPr>
              <a:xfrm>
                <a:off x="1651183" y="3627227"/>
                <a:ext cx="166680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ja-JP" sz="20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ja-JP" sz="2000" i="0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m:rPr>
                          <m:sty m:val="p"/>
                        </m:rPr>
                        <a:rPr lang="en-US" altLang="ja-JP" sz="2000" b="0" i="0" smtClean="0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US" altLang="ja-JP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ja-JP" sz="2000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ja-JP" sz="2000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ja-JP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ja-JP" sz="20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ja-JP" altLang="en-US" sz="2000" dirty="0"/>
              </a:p>
            </p:txBody>
          </p:sp>
        </mc:Choice>
        <mc:Fallback xmlns="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FA0797B4-B011-8739-1FE8-DD3F66C770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1183" y="3627227"/>
                <a:ext cx="1666803" cy="400110"/>
              </a:xfrm>
              <a:prstGeom prst="rect">
                <a:avLst/>
              </a:prstGeom>
              <a:blipFill>
                <a:blip r:embed="rId7"/>
                <a:stretch>
                  <a:fillRect b="-1818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5237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9A52B1-37A0-61E8-C01C-9F566851C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例①　すべての範囲の場合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3AB92C3-C5E3-90F7-80FD-0DE3D7791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8</a:t>
            </a:fld>
            <a:endParaRPr kumimoji="1" lang="ja-JP" altLang="en-US"/>
          </a:p>
        </p:txBody>
      </p:sp>
      <p:pic>
        <p:nvPicPr>
          <p:cNvPr id="6" name="コンテンツ プレースホルダー 5">
            <a:extLst>
              <a:ext uri="{FF2B5EF4-FFF2-40B4-BE49-F238E27FC236}">
                <a16:creationId xmlns:a16="http://schemas.microsoft.com/office/drawing/2014/main" id="{B0E72122-B373-DAE9-6493-76AB66A7885E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2"/>
          <a:stretch>
            <a:fillRect/>
          </a:stretch>
        </p:blipFill>
        <p:spPr>
          <a:xfrm>
            <a:off x="1238002" y="810704"/>
            <a:ext cx="6667200" cy="4001209"/>
          </a:xfrm>
          <a:prstGeom prst="rect">
            <a:avLst/>
          </a:prstGeom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プレースホルダー 4">
                <a:extLst>
                  <a:ext uri="{FF2B5EF4-FFF2-40B4-BE49-F238E27FC236}">
                    <a16:creationId xmlns:a16="http://schemas.microsoft.com/office/drawing/2014/main" id="{6641FD47-4E75-9A4E-30C2-8F3A91767B41}"/>
                  </a:ext>
                </a:extLst>
              </p:cNvPr>
              <p:cNvSpPr>
                <a:spLocks noGrp="1"/>
              </p:cNvSpPr>
              <p:nvPr>
                <p:ph type="body" sz="quarter" idx="15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−∞&lt;</m:t>
                    </m:r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&lt;∞</m:t>
                    </m:r>
                  </m:oMath>
                </a14:m>
                <a:endParaRPr kumimoji="1" lang="en-US" altLang="ja-JP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func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kumimoji="1" lang="ja-JP" altLang="en-US" dirty="0">
                    <a:solidFill>
                      <a:schemeClr val="tx1"/>
                    </a:solidFill>
                  </a:rPr>
                  <a:t>　←確率の公理より</a:t>
                </a:r>
                <a:endParaRPr kumimoji="1" lang="en-US" altLang="ja-JP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nary>
                      <m:naryPr>
                        <m:ctrlPr>
                          <a:rPr kumimoji="1"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kumimoji="1"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kumimoji="1"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kumimoji="1"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kumimoji="1"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kumimoji="1" lang="ja-JP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テキスト プレースホルダー 4">
                <a:extLst>
                  <a:ext uri="{FF2B5EF4-FFF2-40B4-BE49-F238E27FC236}">
                    <a16:creationId xmlns:a16="http://schemas.microsoft.com/office/drawing/2014/main" id="{6641FD47-4E75-9A4E-30C2-8F3A91767B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5"/>
              </p:nvPr>
            </p:nvSpPr>
            <p:spPr>
              <a:blipFill>
                <a:blip r:embed="rId3"/>
                <a:stretch>
                  <a:fillRect l="-48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9754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F58CA-B566-A079-3DCF-EA9AA2008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B5B0A39-2F5F-A5A6-E93E-904E07E13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例②　下側確率の場合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65B18AF-A11C-5E1B-84CE-63B93D01C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9</a:t>
            </a:fld>
            <a:endParaRPr kumimoji="1" lang="ja-JP" altLang="en-US"/>
          </a:p>
        </p:txBody>
      </p:sp>
      <p:pic>
        <p:nvPicPr>
          <p:cNvPr id="6" name="コンテンツ プレースホルダー 5">
            <a:extLst>
              <a:ext uri="{FF2B5EF4-FFF2-40B4-BE49-F238E27FC236}">
                <a16:creationId xmlns:a16="http://schemas.microsoft.com/office/drawing/2014/main" id="{EB22D450-7ACE-C6AA-0812-099505F126B9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2"/>
          <a:stretch>
            <a:fillRect/>
          </a:stretch>
        </p:blipFill>
        <p:spPr>
          <a:xfrm>
            <a:off x="1238002" y="810704"/>
            <a:ext cx="6667200" cy="4001209"/>
          </a:xfrm>
          <a:prstGeom prst="rect">
            <a:avLst/>
          </a:prstGeom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プレースホルダー 4">
                <a:extLst>
                  <a:ext uri="{FF2B5EF4-FFF2-40B4-BE49-F238E27FC236}">
                    <a16:creationId xmlns:a16="http://schemas.microsoft.com/office/drawing/2014/main" id="{1DD0EB2A-749E-6F00-7BD7-464C3C1C8490}"/>
                  </a:ext>
                </a:extLst>
              </p:cNvPr>
              <p:cNvSpPr>
                <a:spLocks noGrp="1"/>
              </p:cNvSpPr>
              <p:nvPr>
                <p:ph type="body" sz="quarter" idx="15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ja-JP" altLang="en-US" dirty="0">
                    <a:solidFill>
                      <a:schemeClr val="tx1"/>
                    </a:solidFill>
                  </a:rPr>
                  <a:t>　←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確率変数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ja-JP" altLang="en-US" dirty="0">
                    <a:solidFill>
                      <a:schemeClr val="tx1"/>
                    </a:solidFill>
                  </a:rPr>
                  <a:t>が</a:t>
                </a:r>
                <a14:m>
                  <m:oMath xmlns:m="http://schemas.openxmlformats.org/officeDocument/2006/math">
                    <m:r>
                      <a:rPr kumimoji="1" lang="en-US" altLang="ja-JP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ja-JP" altLang="en-US" dirty="0">
                    <a:solidFill>
                      <a:schemeClr val="tx1"/>
                    </a:solidFill>
                  </a:rPr>
                  <a:t>よりも小さい値をとる確率　</a:t>
                </a:r>
                <a:endParaRPr kumimoji="1" lang="en-US" altLang="ja-JP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kumimoji="1"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kumimoji="1"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kumimoji="1"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kumimoji="1"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kumimoji="1"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kumimoji="1"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kumimoji="1"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kumimoji="1" lang="ja-JP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テキスト プレースホルダー 4">
                <a:extLst>
                  <a:ext uri="{FF2B5EF4-FFF2-40B4-BE49-F238E27FC236}">
                    <a16:creationId xmlns:a16="http://schemas.microsoft.com/office/drawing/2014/main" id="{1DD0EB2A-749E-6F00-7BD7-464C3C1C84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5"/>
              </p:nvPr>
            </p:nvSpPr>
            <p:spPr>
              <a:blipFill>
                <a:blip r:embed="rId3"/>
                <a:stretch>
                  <a:fillRect l="-48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9DB1737A-F77D-902F-9B42-7AFF46CEFBD7}"/>
                  </a:ext>
                </a:extLst>
              </p:cNvPr>
              <p:cNvSpPr txBox="1"/>
              <p:nvPr/>
            </p:nvSpPr>
            <p:spPr>
              <a:xfrm>
                <a:off x="5592726" y="4350248"/>
                <a:ext cx="44242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 xmlns="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9DB1737A-F77D-902F-9B42-7AFF46CEFB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2726" y="4350248"/>
                <a:ext cx="442429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81854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253D1-1074-D4EB-1FBC-530DAD27C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タイトル 1">
                <a:extLst>
                  <a:ext uri="{FF2B5EF4-FFF2-40B4-BE49-F238E27FC236}">
                    <a16:creationId xmlns:a16="http://schemas.microsoft.com/office/drawing/2014/main" id="{6CA93020-893C-D82B-D1AF-31F206CD40D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例</a:t>
                </a:r>
                <a:r>
                  <a:rPr lang="ja-JP" altLang="en-US" dirty="0"/>
                  <a:t>③</a:t>
                </a:r>
                <a:r>
                  <a:rPr kumimoji="1" lang="ja-JP" altLang="en-US" dirty="0"/>
                  <a:t>　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kumimoji="1" lang="ja-JP" altLang="en-US" dirty="0"/>
                  <a:t>から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kumimoji="1" lang="ja-JP" altLang="en-US" dirty="0"/>
                  <a:t>までの範囲の場合</a:t>
                </a:r>
              </a:p>
            </p:txBody>
          </p:sp>
        </mc:Choice>
        <mc:Fallback xmlns="">
          <p:sp>
            <p:nvSpPr>
              <p:cNvPr id="2" name="タイトル 1">
                <a:extLst>
                  <a:ext uri="{FF2B5EF4-FFF2-40B4-BE49-F238E27FC236}">
                    <a16:creationId xmlns:a16="http://schemas.microsoft.com/office/drawing/2014/main" id="{6CA93020-893C-D82B-D1AF-31F206CD40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902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9125B1C-9C80-10D9-658D-072970FB4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10</a:t>
            </a:fld>
            <a:endParaRPr kumimoji="1" lang="ja-JP" altLang="en-US"/>
          </a:p>
        </p:txBody>
      </p:sp>
      <p:pic>
        <p:nvPicPr>
          <p:cNvPr id="7" name="コンテンツ プレースホルダー 6">
            <a:extLst>
              <a:ext uri="{FF2B5EF4-FFF2-40B4-BE49-F238E27FC236}">
                <a16:creationId xmlns:a16="http://schemas.microsoft.com/office/drawing/2014/main" id="{52674661-7C67-48C7-9F24-9F249328A62B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3"/>
          <a:stretch>
            <a:fillRect/>
          </a:stretch>
        </p:blipFill>
        <p:spPr>
          <a:xfrm>
            <a:off x="1238295" y="810704"/>
            <a:ext cx="6666614" cy="4000857"/>
          </a:xfrm>
          <a:prstGeom prst="rect">
            <a:avLst/>
          </a:prstGeom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プレースホルダー 4">
                <a:extLst>
                  <a:ext uri="{FF2B5EF4-FFF2-40B4-BE49-F238E27FC236}">
                    <a16:creationId xmlns:a16="http://schemas.microsoft.com/office/drawing/2014/main" id="{F999441D-D821-8F8B-2AFB-8B5FBE9C3697}"/>
                  </a:ext>
                </a:extLst>
              </p:cNvPr>
              <p:cNvSpPr>
                <a:spLocks noGrp="1"/>
              </p:cNvSpPr>
              <p:nvPr>
                <p:ph type="body" sz="quarter" idx="15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kumimoji="1" lang="ja-JP" altLang="en-US" dirty="0">
                    <a:solidFill>
                      <a:schemeClr val="tx1"/>
                    </a:solidFill>
                  </a:rPr>
                  <a:t>　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←確率変数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ja-JP" altLang="en-US" dirty="0">
                    <a:solidFill>
                      <a:schemeClr val="tx1"/>
                    </a:solidFill>
                  </a:rPr>
                  <a:t>が</a:t>
                </a:r>
                <a14:m>
                  <m:oMath xmlns:m="http://schemas.openxmlformats.org/officeDocument/2006/math">
                    <m:r>
                      <a:rPr kumimoji="1" lang="en-US" altLang="ja-JP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kumimoji="1" lang="ja-JP" altLang="en-US" dirty="0">
                    <a:solidFill>
                      <a:schemeClr val="tx1"/>
                    </a:solidFill>
                  </a:rPr>
                  <a:t>と</a:t>
                </a:r>
                <a14:m>
                  <m:oMath xmlns:m="http://schemas.openxmlformats.org/officeDocument/2006/math">
                    <m:r>
                      <a:rPr kumimoji="1" lang="en-US" altLang="ja-JP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kumimoji="1" lang="ja-JP" altLang="en-US" dirty="0">
                    <a:solidFill>
                      <a:schemeClr val="tx1"/>
                    </a:solidFill>
                  </a:rPr>
                  <a:t>の間の値をとる確率</a:t>
                </a:r>
                <a:endParaRPr kumimoji="1" lang="en-US" altLang="ja-JP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kumimoji="1"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kumimoji="1"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  <m:r>
                              <a:rPr kumimoji="1"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kumimoji="1"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func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kumimoji="1"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kumimoji="1"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kumimoji="1"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kumimoji="1"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kumimoji="1"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kumimoji="1"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kumimoji="1"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kumimoji="1"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kumimoji="1"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kumimoji="1"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trlPr>
                          <a:rPr kumimoji="1"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kumimoji="1"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r>
                          <a:rPr kumimoji="1"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kumimoji="1"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kumimoji="1"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kumimoji="1" lang="ja-JP" altLang="en-US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5" name="テキスト プレースホルダー 4">
                <a:extLst>
                  <a:ext uri="{FF2B5EF4-FFF2-40B4-BE49-F238E27FC236}">
                    <a16:creationId xmlns:a16="http://schemas.microsoft.com/office/drawing/2014/main" id="{F999441D-D821-8F8B-2AFB-8B5FBE9C36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5"/>
              </p:nvPr>
            </p:nvSpPr>
            <p:spPr>
              <a:blipFill>
                <a:blip r:embed="rId4"/>
                <a:stretch>
                  <a:fillRect l="-48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1F94C233-6684-534B-453D-FD632193A6D9}"/>
                  </a:ext>
                </a:extLst>
              </p:cNvPr>
              <p:cNvSpPr txBox="1"/>
              <p:nvPr/>
            </p:nvSpPr>
            <p:spPr>
              <a:xfrm>
                <a:off x="5603359" y="4349896"/>
                <a:ext cx="44307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 xmlns="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1F94C233-6684-534B-453D-FD632193A6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3359" y="4349896"/>
                <a:ext cx="443070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7225D8E4-85CB-C70B-B666-D43623D10744}"/>
                  </a:ext>
                </a:extLst>
              </p:cNvPr>
              <p:cNvSpPr txBox="1"/>
              <p:nvPr/>
            </p:nvSpPr>
            <p:spPr>
              <a:xfrm>
                <a:off x="3091994" y="4349895"/>
                <a:ext cx="44864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 xmlns="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7225D8E4-85CB-C70B-B666-D43623D107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1994" y="4349895"/>
                <a:ext cx="448648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FADE95F5-4CA0-2E1F-1611-FCBAE09571EF}"/>
              </a:ext>
            </a:extLst>
          </p:cNvPr>
          <p:cNvGrpSpPr/>
          <p:nvPr/>
        </p:nvGrpSpPr>
        <p:grpSpPr>
          <a:xfrm>
            <a:off x="6200514" y="834729"/>
            <a:ext cx="2942690" cy="1524570"/>
            <a:chOff x="6200514" y="834729"/>
            <a:chExt cx="2942690" cy="1524570"/>
          </a:xfrm>
        </p:grpSpPr>
        <p:pic>
          <p:nvPicPr>
            <p:cNvPr id="8" name="図 7">
              <a:extLst>
                <a:ext uri="{FF2B5EF4-FFF2-40B4-BE49-F238E27FC236}">
                  <a16:creationId xmlns:a16="http://schemas.microsoft.com/office/drawing/2014/main" id="{6173E96B-3F5A-B318-78E8-CE8E6523617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602819" y="834729"/>
              <a:ext cx="2540385" cy="152457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テキスト ボックス 11">
                  <a:extLst>
                    <a:ext uri="{FF2B5EF4-FFF2-40B4-BE49-F238E27FC236}">
                      <a16:creationId xmlns:a16="http://schemas.microsoft.com/office/drawing/2014/main" id="{A4F073AC-326F-8CAF-F07D-412C88623A08}"/>
                    </a:ext>
                  </a:extLst>
                </p:cNvPr>
                <p:cNvSpPr txBox="1"/>
                <p:nvPr/>
              </p:nvSpPr>
              <p:spPr>
                <a:xfrm>
                  <a:off x="6200514" y="1292556"/>
                  <a:ext cx="1346074" cy="71917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nary>
                          <m:nary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∞</m:t>
                            </m:r>
                          </m:sub>
                          <m:sup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p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e>
                        </m:nary>
                      </m:oMath>
                    </m:oMathPara>
                  </a14:m>
                  <a:endParaRPr kumimoji="1" lang="ja-JP" altLang="en-US" dirty="0"/>
                </a:p>
              </p:txBody>
            </p:sp>
          </mc:Choice>
          <mc:Fallback xmlns="">
            <p:sp>
              <p:nvSpPr>
                <p:cNvPr id="12" name="テキスト ボックス 11">
                  <a:extLst>
                    <a:ext uri="{FF2B5EF4-FFF2-40B4-BE49-F238E27FC236}">
                      <a16:creationId xmlns:a16="http://schemas.microsoft.com/office/drawing/2014/main" id="{A4F073AC-326F-8CAF-F07D-412C88623A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00514" y="1292556"/>
                  <a:ext cx="1346074" cy="71917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10CC220E-B123-B32C-21B1-E3990BFE4CC1}"/>
              </a:ext>
            </a:extLst>
          </p:cNvPr>
          <p:cNvGrpSpPr/>
          <p:nvPr/>
        </p:nvGrpSpPr>
        <p:grpSpPr>
          <a:xfrm>
            <a:off x="6200514" y="2383325"/>
            <a:ext cx="2943905" cy="1525299"/>
            <a:chOff x="6200514" y="2383325"/>
            <a:chExt cx="2943905" cy="1525299"/>
          </a:xfrm>
        </p:grpSpPr>
        <p:pic>
          <p:nvPicPr>
            <p:cNvPr id="9" name="図 8">
              <a:extLst>
                <a:ext uri="{FF2B5EF4-FFF2-40B4-BE49-F238E27FC236}">
                  <a16:creationId xmlns:a16="http://schemas.microsoft.com/office/drawing/2014/main" id="{1D7B2822-CC63-9D9D-36E6-6551915743E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602819" y="2383325"/>
              <a:ext cx="2541600" cy="1525299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テキスト ボックス 12">
                  <a:extLst>
                    <a:ext uri="{FF2B5EF4-FFF2-40B4-BE49-F238E27FC236}">
                      <a16:creationId xmlns:a16="http://schemas.microsoft.com/office/drawing/2014/main" id="{70FE6854-DE4A-A3F6-3B6F-33FFCC4DDCEF}"/>
                    </a:ext>
                  </a:extLst>
                </p:cNvPr>
                <p:cNvSpPr txBox="1"/>
                <p:nvPr/>
              </p:nvSpPr>
              <p:spPr>
                <a:xfrm>
                  <a:off x="6200514" y="2883033"/>
                  <a:ext cx="1346073" cy="69083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nary>
                          <m:nary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∞</m:t>
                            </m:r>
                          </m:sub>
                          <m:sup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p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e>
                        </m:nary>
                      </m:oMath>
                    </m:oMathPara>
                  </a14:m>
                  <a:endParaRPr kumimoji="1" lang="ja-JP" altLang="en-US" dirty="0"/>
                </a:p>
              </p:txBody>
            </p:sp>
          </mc:Choice>
          <mc:Fallback xmlns="">
            <p:sp>
              <p:nvSpPr>
                <p:cNvPr id="13" name="テキスト ボックス 12">
                  <a:extLst>
                    <a:ext uri="{FF2B5EF4-FFF2-40B4-BE49-F238E27FC236}">
                      <a16:creationId xmlns:a16="http://schemas.microsoft.com/office/drawing/2014/main" id="{70FE6854-DE4A-A3F6-3B6F-33FFCC4DDC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00514" y="2883033"/>
                  <a:ext cx="1346073" cy="69083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69C21F2F-4AD5-B321-CB0D-1D2909EE2DD7}"/>
              </a:ext>
            </a:extLst>
          </p:cNvPr>
          <p:cNvSpPr txBox="1"/>
          <p:nvPr/>
        </p:nvSpPr>
        <p:spPr>
          <a:xfrm>
            <a:off x="6618369" y="239563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から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82BF1984-ADDB-41D4-37BD-6BB41E6F321E}"/>
              </a:ext>
            </a:extLst>
          </p:cNvPr>
          <p:cNvSpPr txBox="1"/>
          <p:nvPr/>
        </p:nvSpPr>
        <p:spPr>
          <a:xfrm>
            <a:off x="6602819" y="3842025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を引く</a:t>
            </a:r>
          </a:p>
        </p:txBody>
      </p:sp>
    </p:spTree>
    <p:extLst>
      <p:ext uri="{BB962C8B-B14F-4D97-AF65-F5344CB8AC3E}">
        <p14:creationId xmlns:p14="http://schemas.microsoft.com/office/powerpoint/2010/main" val="1412975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45"/>
          <p:cNvSpPr txBox="1">
            <a:spLocks noGrp="1"/>
          </p:cNvSpPr>
          <p:nvPr>
            <p:ph type="body" idx="1"/>
          </p:nvPr>
        </p:nvSpPr>
        <p:spPr>
          <a:xfrm>
            <a:off x="0" y="3128722"/>
            <a:ext cx="7989751" cy="600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660"/>
              <a:buNone/>
            </a:pPr>
            <a:r>
              <a:rPr lang="ja-JP" altLang="en-US" dirty="0"/>
              <a:t>４</a:t>
            </a:r>
            <a:r>
              <a:rPr lang="ja-JP" dirty="0"/>
              <a:t>：確率分布の期待値と分散</a:t>
            </a:r>
            <a:endParaRPr dirty="0"/>
          </a:p>
        </p:txBody>
      </p:sp>
      <p:sp>
        <p:nvSpPr>
          <p:cNvPr id="510" name="Google Shape;510;p45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220EF-A2F3-1159-202D-2DDC7F9EB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AA28D6-E888-6925-9879-21A2DB6A0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確率分布の期待値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91D5F53-B640-7669-70B5-4B319DE77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12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56151246-74E4-24CF-16AA-5B22AD30FB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確率分布の期待値</a:t>
                </a:r>
                <a:r>
                  <a:rPr kumimoji="1" lang="ja-JP" altLang="en-US" sz="2000" dirty="0"/>
                  <a:t>（確率変数</a:t>
                </a:r>
                <a14:m>
                  <m:oMath xmlns:m="http://schemas.openxmlformats.org/officeDocument/2006/math"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ja-JP" altLang="en-US" sz="2000" dirty="0"/>
                  <a:t>の分布 </a:t>
                </a:r>
                <a:r>
                  <a:rPr lang="ja-JP" altLang="en-US" sz="2000" dirty="0"/>
                  <a:t>の期待値</a:t>
                </a:r>
                <a:r>
                  <a:rPr kumimoji="1" lang="ja-JP" altLang="en-US" sz="2000" dirty="0"/>
                  <a:t>）</a:t>
                </a:r>
                <a:endParaRPr kumimoji="1" lang="en-US" altLang="ja-JP" sz="2000" dirty="0"/>
              </a:p>
              <a:p>
                <a:endParaRPr lang="en-US" altLang="ja-JP" dirty="0"/>
              </a:p>
              <a:p>
                <a:r>
                  <a:rPr lang="ja-JP" altLang="en-US" dirty="0"/>
                  <a:t>離散確率分布</a:t>
                </a:r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/>
                      <m:e>
                        <m:r>
                          <a:rPr lang="en-US" altLang="ja-JP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func>
                          <m:funcPr>
                            <m:ctrlPr>
                              <a:rPr lang="en-US" altLang="ja-JP" b="0" i="0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ja-JP" b="0" i="0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ja-JP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func>
                      </m:e>
                    </m:nary>
                  </m:oMath>
                </a14:m>
                <a:endParaRPr lang="en-US" altLang="ja-JP" dirty="0"/>
              </a:p>
              <a:p>
                <a:r>
                  <a:rPr lang="ja-JP" altLang="en-US" dirty="0"/>
                  <a:t>連続確率分布</a:t>
                </a:r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ja-JP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ja-JP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US" altLang="ja-JP" dirty="0"/>
              </a:p>
              <a:p>
                <a:endParaRPr lang="en-US" altLang="ja-JP" dirty="0"/>
              </a:p>
              <a:p>
                <a:pPr lvl="1"/>
                <a:r>
                  <a:rPr lang="ja-JP" altLang="en-US" dirty="0"/>
                  <a:t>確率分布の期待値＝母平均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endParaRPr lang="en-US" altLang="ja-JP" dirty="0"/>
              </a:p>
              <a:p>
                <a:pPr lvl="1"/>
                <a:r>
                  <a:rPr lang="ja-JP" altLang="en-US" dirty="0"/>
                  <a:t>離散確率分布の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b="0" i="0" smtClean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ja-JP" altLang="en-US" b="0" dirty="0"/>
                  <a:t>，連続確率分布の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∫</m:t>
                    </m:r>
                  </m:oMath>
                </a14:m>
                <a:r>
                  <a:rPr lang="ja-JP" altLang="en-US" b="0" dirty="0"/>
                  <a:t>は，いずれも「合計」</a:t>
                </a:r>
                <a:endParaRPr lang="en-US" altLang="ja-JP" b="0" dirty="0"/>
              </a:p>
              <a:p>
                <a:pPr lvl="1"/>
                <a:r>
                  <a:rPr lang="ja-JP" altLang="en-US" b="0" dirty="0"/>
                  <a:t>確率変数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ja-JP" altLang="en-US" b="0" dirty="0">
                    <a:solidFill>
                      <a:schemeClr val="accent2"/>
                    </a:solidFill>
                  </a:rPr>
                  <a:t>が取り</a:t>
                </a:r>
                <a:r>
                  <a:rPr lang="ja-JP" altLang="en-US" dirty="0">
                    <a:solidFill>
                      <a:schemeClr val="accent2"/>
                    </a:solidFill>
                  </a:rPr>
                  <a:t>う</a:t>
                </a:r>
                <a:r>
                  <a:rPr lang="ja-JP" altLang="en-US" b="0" dirty="0">
                    <a:solidFill>
                      <a:schemeClr val="accent2"/>
                    </a:solidFill>
                  </a:rPr>
                  <a:t>る値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ja-JP" altLang="en-US" b="0" dirty="0"/>
                  <a:t>と，</a:t>
                </a:r>
                <a:br>
                  <a:rPr lang="en-US" altLang="ja-JP" b="0" dirty="0"/>
                </a:b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ja-JP" altLang="en-US" b="0" dirty="0"/>
                  <a:t>になるときの</a:t>
                </a:r>
                <a:r>
                  <a:rPr lang="ja-JP" altLang="en-US" b="0" dirty="0">
                    <a:solidFill>
                      <a:schemeClr val="accent5"/>
                    </a:solidFill>
                  </a:rPr>
                  <a:t>確率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</m:oMath>
                </a14:m>
                <a:r>
                  <a:rPr lang="ja-JP" altLang="en-US" b="0" dirty="0"/>
                  <a:t>または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ja-JP" altLang="en-US" b="0" dirty="0"/>
                  <a:t>の</a:t>
                </a:r>
                <a:r>
                  <a:rPr lang="ja-JP" altLang="en-US" b="1" u="sng" dirty="0"/>
                  <a:t>積和</a:t>
                </a:r>
                <a:endParaRPr kumimoji="1" lang="en-US" altLang="ja-JP" b="1" u="sng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56151246-74E4-24CF-16AA-5B22AD30FB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1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FA5BDB5-7E0C-212C-D71D-971B2D3E1777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</p:spTree>
    <p:extLst>
      <p:ext uri="{BB962C8B-B14F-4D97-AF65-F5344CB8AC3E}">
        <p14:creationId xmlns:p14="http://schemas.microsoft.com/office/powerpoint/2010/main" val="38895410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D7DFA-1325-05DF-FD1A-F8DD7DDED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401DF7-9C2B-E0FC-866C-D3A24700E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確率分布の分散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D76362A-A50C-DFBB-A0FE-0AED65329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13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A8FE5A90-9CA6-B844-EE91-7C5F9D97EB8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確率分布の分散</a:t>
                </a:r>
                <a:endParaRPr kumimoji="1" lang="en-US" altLang="ja-JP" sz="2000" dirty="0"/>
              </a:p>
              <a:p>
                <a:endParaRPr lang="en-US" altLang="ja-JP" dirty="0"/>
              </a:p>
              <a:p>
                <a:r>
                  <a:rPr lang="ja-JP" altLang="en-US" dirty="0"/>
                  <a:t>離散確率分布</a:t>
                </a:r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altLang="ja-JP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</m:d>
                          </m:e>
                          <m:sup>
                            <m:r>
                              <a:rPr lang="en-US" altLang="ja-JP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func>
                          <m:funcPr>
                            <m:ctrlPr>
                              <a:rPr lang="en-US" altLang="ja-JP" b="0" i="0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ja-JP" b="0" i="0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ja-JP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func>
                      </m:e>
                    </m:nary>
                  </m:oMath>
                </a14:m>
                <a:endParaRPr lang="en-US" altLang="ja-JP" dirty="0"/>
              </a:p>
              <a:p>
                <a:r>
                  <a:rPr lang="ja-JP" altLang="en-US" dirty="0"/>
                  <a:t>連続確率分布</a:t>
                </a:r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ja-JP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altLang="ja-JP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</m:d>
                          </m:e>
                          <m:sup>
                            <m:r>
                              <a:rPr lang="en-US" altLang="ja-JP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US" altLang="ja-JP" dirty="0"/>
              </a:p>
              <a:p>
                <a:endParaRPr lang="en-US" altLang="ja-JP" dirty="0"/>
              </a:p>
              <a:p>
                <a:pPr lvl="1"/>
                <a:r>
                  <a:rPr lang="ja-JP" altLang="en-US" b="0" dirty="0"/>
                  <a:t>確率変数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ja-JP" altLang="en-US" b="0" dirty="0">
                    <a:solidFill>
                      <a:schemeClr val="tx1"/>
                    </a:solidFill>
                  </a:rPr>
                  <a:t>が取り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う</a:t>
                </a:r>
                <a:r>
                  <a:rPr lang="ja-JP" altLang="en-US" b="0" dirty="0">
                    <a:solidFill>
                      <a:schemeClr val="tx1"/>
                    </a:solidFill>
                  </a:rPr>
                  <a:t>る値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ja-JP" altLang="en-US" b="0" dirty="0"/>
                  <a:t>の</a:t>
                </a:r>
                <a:br>
                  <a:rPr lang="en-US" altLang="ja-JP" b="0" dirty="0"/>
                </a:br>
                <a:r>
                  <a:rPr lang="ja-JP" altLang="en-US" b="0" dirty="0">
                    <a:solidFill>
                      <a:schemeClr val="accent2"/>
                    </a:solidFill>
                  </a:rPr>
                  <a:t>母平均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ja-JP" altLang="en-US" b="0" dirty="0">
                    <a:solidFill>
                      <a:schemeClr val="accent2"/>
                    </a:solidFill>
                  </a:rPr>
                  <a:t>からの偏差の二乗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ja-JP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</m:d>
                      </m:e>
                      <m:sup>
                        <m:r>
                          <a:rPr lang="en-US" altLang="ja-JP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b="0" dirty="0"/>
                  <a:t>と，</a:t>
                </a:r>
                <a:br>
                  <a:rPr lang="en-US" altLang="ja-JP" b="0" dirty="0"/>
                </a:b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ja-JP" altLang="en-US" b="0" dirty="0"/>
                  <a:t>になるときの</a:t>
                </a:r>
                <a:r>
                  <a:rPr lang="ja-JP" altLang="en-US" b="0" dirty="0">
                    <a:solidFill>
                      <a:schemeClr val="accent5"/>
                    </a:solidFill>
                  </a:rPr>
                  <a:t>確率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</m:oMath>
                </a14:m>
                <a:r>
                  <a:rPr lang="ja-JP" altLang="en-US" b="0" dirty="0"/>
                  <a:t>または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ja-JP" altLang="en-US" b="0" dirty="0"/>
                  <a:t>の</a:t>
                </a:r>
                <a:r>
                  <a:rPr lang="ja-JP" altLang="en-US" b="1" u="sng" dirty="0"/>
                  <a:t>積和</a:t>
                </a:r>
                <a:endParaRPr kumimoji="1" lang="en-US" altLang="ja-JP" b="1" u="sng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A8FE5A90-9CA6-B844-EE91-7C5F9D97EB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0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74219D3-A27B-7584-57B7-94C690739D35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</p:spTree>
    <p:extLst>
      <p:ext uri="{BB962C8B-B14F-4D97-AF65-F5344CB8AC3E}">
        <p14:creationId xmlns:p14="http://schemas.microsoft.com/office/powerpoint/2010/main" val="24537308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6"/>
          <p:cNvSpPr txBox="1">
            <a:spLocks noGrp="1"/>
          </p:cNvSpPr>
          <p:nvPr>
            <p:ph type="body" idx="1"/>
          </p:nvPr>
        </p:nvSpPr>
        <p:spPr>
          <a:xfrm>
            <a:off x="0" y="3128722"/>
            <a:ext cx="7989751" cy="1368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660"/>
              <a:buNone/>
            </a:pPr>
            <a:r>
              <a:rPr lang="en-US" altLang="ja-JP" dirty="0"/>
              <a:t>2</a:t>
            </a:r>
            <a:r>
              <a:rPr lang="ja-JP" dirty="0"/>
              <a:t>：連続確率分布</a:t>
            </a:r>
            <a:r>
              <a:rPr lang="ja-JP" altLang="en-US" dirty="0"/>
              <a:t>の種類</a:t>
            </a:r>
            <a:endParaRPr dirty="0"/>
          </a:p>
          <a:p>
            <a:pPr marL="0" lvl="0" indent="0" algn="l" rtl="0">
              <a:spcBef>
                <a:spcPts val="1160"/>
              </a:spcBef>
              <a:spcAft>
                <a:spcPts val="0"/>
              </a:spcAft>
              <a:buSzPts val="2660"/>
              <a:buNone/>
            </a:pPr>
            <a:r>
              <a:rPr lang="ja-JP" dirty="0"/>
              <a:t>　　　正規分布</a:t>
            </a:r>
            <a:endParaRPr dirty="0"/>
          </a:p>
        </p:txBody>
      </p:sp>
      <p:sp>
        <p:nvSpPr>
          <p:cNvPr id="218" name="Google Shape;218;p16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9CE7E-2364-819F-D9B6-6C58475A9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CD2A833-BD82-6571-D990-597AA1597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正規分布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3BE2AF6-5911-A0A5-F11B-6A118A53D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15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BCC560C5-83D4-7DCA-3512-6697EEB13A8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ja-JP" altLang="en-US" sz="2400" dirty="0">
                    <a:solidFill>
                      <a:schemeClr val="tx1"/>
                    </a:solidFill>
                  </a:rPr>
                  <a:t>正規分布　</a:t>
                </a:r>
                <a:r>
                  <a:rPr lang="en-US" altLang="ja-JP" sz="2400" dirty="0">
                    <a:solidFill>
                      <a:schemeClr val="accent2"/>
                    </a:solidFill>
                  </a:rPr>
                  <a:t>normal distribution</a:t>
                </a:r>
              </a:p>
              <a:p>
                <a:pPr lvl="1"/>
                <a:r>
                  <a:rPr lang="ja-JP" altLang="en-US" sz="2000" dirty="0"/>
                  <a:t>データが平均付近に集積するような分布</a:t>
                </a:r>
                <a:endParaRPr lang="en-US" altLang="ja-JP" sz="2000" dirty="0"/>
              </a:p>
              <a:p>
                <a:pPr lvl="1"/>
                <a:r>
                  <a:rPr lang="ja-JP" altLang="en-US" sz="2000" dirty="0"/>
                  <a:t>平均値を中心に</a:t>
                </a:r>
                <a:r>
                  <a:rPr lang="ja-JP" altLang="en-US" sz="2000" dirty="0">
                    <a:solidFill>
                      <a:schemeClr val="accent5"/>
                    </a:solidFill>
                  </a:rPr>
                  <a:t>左右対称</a:t>
                </a:r>
                <a:endParaRPr kumimoji="1" lang="en-US" altLang="ja-JP" sz="2000" dirty="0">
                  <a:solidFill>
                    <a:schemeClr val="accent5"/>
                  </a:solidFill>
                </a:endParaRPr>
              </a:p>
              <a:p>
                <a:endParaRPr kumimoji="1" lang="en-US" altLang="ja-JP" sz="2400" dirty="0"/>
              </a:p>
              <a:p>
                <a:r>
                  <a:rPr kumimoji="1" lang="ja-JP" altLang="en-US" sz="2400" dirty="0"/>
                  <a:t>確率密度関数</a:t>
                </a:r>
                <a:endParaRPr kumimoji="1" lang="en-US" altLang="ja-JP" sz="2400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ja-JP" sz="20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ja-JP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sSup>
                              <m:sSup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func>
                      <m:funcPr>
                        <m:ctrlPr>
                          <a:rPr lang="en-US" altLang="ja-JP" sz="200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2000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ja-JP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ja-JP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ja-JP" sz="20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altLang="ja-JP" sz="2000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altLang="ja-JP" sz="2000" i="1"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ja-JP" sz="20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p>
                                  <m:sSupPr>
                                    <m:ctrlPr>
                                      <a:rPr lang="en-US" altLang="ja-JP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ja-JP" sz="2000" i="1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altLang="ja-JP" sz="20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kumimoji="1" lang="en-US" altLang="ja-JP" sz="2000" dirty="0"/>
              </a:p>
              <a:p>
                <a:r>
                  <a:rPr kumimoji="1" lang="ja-JP" altLang="en-US" sz="2400" dirty="0"/>
                  <a:t>期待値</a:t>
                </a:r>
                <a:endParaRPr kumimoji="1" lang="en-US" altLang="ja-JP" sz="2400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endParaRPr kumimoji="1" lang="en-US" altLang="ja-JP" sz="2000" dirty="0"/>
              </a:p>
              <a:p>
                <a:r>
                  <a:rPr lang="ja-JP" altLang="en-US" sz="2400" dirty="0"/>
                  <a:t>分散</a:t>
                </a:r>
                <a:endParaRPr lang="en-US" altLang="ja-JP" sz="2400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kumimoji="1" lang="en-US" altLang="ja-JP" sz="2000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BCC560C5-83D4-7DCA-3512-6697EEB13A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図 6">
            <a:extLst>
              <a:ext uri="{FF2B5EF4-FFF2-40B4-BE49-F238E27FC236}">
                <a16:creationId xmlns:a16="http://schemas.microsoft.com/office/drawing/2014/main" id="{CC0957D4-1401-77D3-E06B-DB71C65CF8F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4314"/>
          <a:stretch>
            <a:fillRect/>
          </a:stretch>
        </p:blipFill>
        <p:spPr>
          <a:xfrm>
            <a:off x="4745424" y="4667690"/>
            <a:ext cx="3993576" cy="205361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70E19B1E-882A-4F3B-BAB8-6B22696C96E0}"/>
                  </a:ext>
                </a:extLst>
              </p:cNvPr>
              <p:cNvSpPr txBox="1"/>
              <p:nvPr/>
            </p:nvSpPr>
            <p:spPr>
              <a:xfrm>
                <a:off x="4277924" y="2597939"/>
                <a:ext cx="4866076" cy="24586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累積分布関数</a:t>
                </a:r>
                <a:endParaRPr kumimoji="1" lang="en-US" altLang="ja-JP" sz="240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ja-JP" sz="1600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kumimoji="1" lang="en-US" altLang="ja-JP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  <m:e>
                          <m: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kumimoji="1" lang="en-US" altLang="ja-JP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kumimoji="1" lang="en-US" altLang="ja-JP" sz="16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>
                      <m:r>
                        <a:rPr kumimoji="1" lang="en-US" altLang="ja-JP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  <m:e>
                          <m:func>
                            <m:funcPr>
                              <m:ctrlPr>
                                <a:rPr kumimoji="1" lang="en-US" altLang="ja-JP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f>
                                <m:fPr>
                                  <m:ctrlPr>
                                    <a:rPr kumimoji="1" lang="en-US" altLang="ja-JP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ja-JP" sz="16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kumimoji="1" lang="en-US" altLang="ja-JP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kumimoji="1" lang="en-US" altLang="ja-JP" sz="16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kumimoji="1" lang="en-US" altLang="ja-JP" sz="1600" b="0" i="1" smtClean="0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  <m:sSup>
                                        <m:sSupPr>
                                          <m:ctrlPr>
                                            <a:rPr kumimoji="1" lang="en-US" altLang="ja-JP" sz="16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kumimoji="1" lang="en-US" altLang="ja-JP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p>
                                          <m:r>
                                            <a:rPr kumimoji="1" lang="en-US" altLang="ja-JP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rad>
                                </m:den>
                              </m:f>
                            </m:fName>
                            <m:e>
                              <m:func>
                                <m:funcPr>
                                  <m:ctrlPr>
                                    <a:rPr kumimoji="1" lang="en-US" altLang="ja-JP" sz="1600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kumimoji="1" lang="en-US" altLang="ja-JP" sz="1600" b="0" i="0" smtClean="0">
                                      <a:latin typeface="Cambria Math" panose="02040503050406030204" pitchFamily="18" charset="0"/>
                                    </a:rPr>
                                    <m:t>exp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kumimoji="1" lang="en-US" altLang="ja-JP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1" lang="en-US" altLang="ja-JP" sz="16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kumimoji="1" lang="en-US" altLang="ja-JP" sz="16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p>
                                            <m:sSupPr>
                                              <m:ctrlPr>
                                                <a:rPr kumimoji="1" lang="en-US" altLang="ja-JP" sz="16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d>
                                                <m:dPr>
                                                  <m:ctrlPr>
                                                    <a:rPr kumimoji="1" lang="en-US" altLang="ja-JP" sz="16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kumimoji="1" lang="en-US" altLang="ja-JP" sz="16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  <m:r>
                                                    <a:rPr kumimoji="1" lang="en-US" altLang="ja-JP" sz="16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−</m:t>
                                                  </m:r>
                                                  <m:r>
                                                    <a:rPr kumimoji="1" lang="en-US" altLang="ja-JP" sz="16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𝜇</m:t>
                                                  </m:r>
                                                </m:e>
                                              </m:d>
                                            </m:e>
                                            <m:sup>
                                              <m:r>
                                                <a:rPr kumimoji="1" lang="en-US" altLang="ja-JP" sz="16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</m:num>
                                        <m:den>
                                          <m:r>
                                            <a:rPr kumimoji="1" lang="en-US" altLang="ja-JP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sSup>
                                            <m:sSupPr>
                                              <m:ctrlPr>
                                                <a:rPr kumimoji="1" lang="en-US" altLang="ja-JP" sz="16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kumimoji="1" lang="en-US" altLang="ja-JP" sz="16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𝜎</m:t>
                                              </m:r>
                                            </m:e>
                                            <m:sup>
                                              <m:r>
                                                <a:rPr kumimoji="1" lang="en-US" altLang="ja-JP" sz="16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</m:e>
                          </m:func>
                          <m: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  <m:t>            </m:t>
                          </m:r>
                        </m:e>
                      </m:nary>
                    </m:oMath>
                  </m:oMathPara>
                </a14:m>
                <a:br>
                  <a:rPr kumimoji="1" lang="en-US" altLang="ja-JP" sz="1600" b="0" dirty="0"/>
                </a:br>
                <a:r>
                  <a:rPr kumimoji="1" lang="en-US" altLang="ja-JP" sz="1600" b="0" dirty="0"/>
                  <a:t>          </a:t>
                </a:r>
                <a14:m>
                  <m:oMath xmlns:m="http://schemas.openxmlformats.org/officeDocument/2006/math">
                    <m:r>
                      <a:rPr kumimoji="1" lang="en-US" altLang="ja-JP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kumimoji="1" lang="en-US" altLang="ja-JP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kumimoji="1" lang="en-US" altLang="ja-JP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sz="1600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func>
                          <m:funcPr>
                            <m:ctrlPr>
                              <a:rPr kumimoji="1" lang="en-US" altLang="ja-JP" sz="1600" b="0" i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ja-JP" sz="1600" b="0" i="0" smtClean="0">
                                <a:latin typeface="Cambria Math" panose="02040503050406030204" pitchFamily="18" charset="0"/>
                              </a:rPr>
                              <m:t>erf</m:t>
                            </m:r>
                          </m:fName>
                          <m:e>
                            <m:d>
                              <m:dPr>
                                <m:ctrlPr>
                                  <a:rPr kumimoji="1" lang="en-US" altLang="ja-JP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kumimoji="1" lang="en-US" altLang="ja-JP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en-US" altLang="ja-JP" sz="16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kumimoji="1" lang="en-US" altLang="ja-JP" sz="16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kumimoji="1" lang="en-US" altLang="ja-JP" sz="1600" b="0" i="1" smtClean="0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kumimoji="1" lang="en-US" altLang="ja-JP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kumimoji="1" lang="en-US" altLang="ja-JP" sz="16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sSup>
                                          <m:sSupPr>
                                            <m:ctrlPr>
                                              <a:rPr kumimoji="1" lang="en-US" altLang="ja-JP" sz="16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kumimoji="1" lang="en-US" altLang="ja-JP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𝜎</m:t>
                                            </m:r>
                                          </m:e>
                                          <m:sup>
                                            <m:r>
                                              <a:rPr kumimoji="1" lang="en-US" altLang="ja-JP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rad>
                                  </m:den>
                                </m:f>
                              </m:e>
                            </m:d>
                          </m:e>
                        </m:func>
                      </m:e>
                    </m:d>
                  </m:oMath>
                </a14:m>
                <a:endParaRPr kumimoji="1" lang="en-US" altLang="ja-JP" sz="16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kumimoji="1" lang="en-US" altLang="ja-JP" sz="1600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ja-JP" sz="1600" b="0" i="0" smtClean="0">
                              <a:latin typeface="Cambria Math" panose="02040503050406030204" pitchFamily="18" charset="0"/>
                            </a:rPr>
                            <m:t>erf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kumimoji="1" lang="en-US" altLang="ja-JP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kumimoji="1" lang="en-US" altLang="ja-JP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en-US" altLang="ja-JP" sz="16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rad>
                        </m:den>
                      </m:f>
                      <m:nary>
                        <m:naryPr>
                          <m:ctrlP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  <m:e>
                          <m:sSup>
                            <m:sSupPr>
                              <m:ctrlPr>
                                <a:rPr kumimoji="1" lang="en-US" altLang="ja-JP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ja-JP" sz="16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kumimoji="1" lang="en-US" altLang="ja-JP" sz="16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kumimoji="1" lang="en-US" altLang="ja-JP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ja-JP" sz="16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kumimoji="1" lang="en-US" altLang="ja-JP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sup>
                          </m:sSup>
                          <m: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  <m:r>
                        <a:rPr kumimoji="1" lang="en-US" altLang="ja-JP" sz="1600" b="0" i="1" smtClean="0">
                          <a:latin typeface="Cambria Math" panose="02040503050406030204" pitchFamily="18" charset="0"/>
                        </a:rPr>
                        <m:t>                                                    </m:t>
                      </m:r>
                    </m:oMath>
                  </m:oMathPara>
                </a14:m>
                <a:endParaRPr kumimoji="1" lang="ja-JP" altLang="en-US" sz="1600" dirty="0"/>
              </a:p>
            </p:txBody>
          </p:sp>
        </mc:Choice>
        <mc:Fallback xmlns="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70E19B1E-882A-4F3B-BAB8-6B22696C96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7924" y="2597939"/>
                <a:ext cx="4866076" cy="2458686"/>
              </a:xfrm>
              <a:prstGeom prst="rect">
                <a:avLst/>
              </a:prstGeom>
              <a:blipFill>
                <a:blip r:embed="rId5"/>
                <a:stretch>
                  <a:fillRect l="-2005" t="-198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41201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7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ja-JP"/>
              <a:t>正規分布の特徴</a:t>
            </a:r>
            <a:endParaRPr/>
          </a:p>
        </p:txBody>
      </p:sp>
      <p:sp>
        <p:nvSpPr>
          <p:cNvPr id="224" name="Google Shape;224;p17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16</a:t>
            </a:fld>
            <a:endParaRPr/>
          </a:p>
        </p:txBody>
      </p:sp>
      <p:sp>
        <p:nvSpPr>
          <p:cNvPr id="225" name="Google Shape;225;p17"/>
          <p:cNvSpPr txBox="1"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06000" lvl="0" indent="-306000" algn="l" rtl="0">
              <a:spcBef>
                <a:spcPts val="0"/>
              </a:spcBef>
              <a:spcAft>
                <a:spcPts val="0"/>
              </a:spcAft>
              <a:buSzPts val="2660"/>
              <a:buChar char="■"/>
            </a:pPr>
            <a:r>
              <a:rPr lang="ja-JP" dirty="0"/>
              <a:t>中心が平均値</a:t>
            </a:r>
            <a:endParaRPr dirty="0"/>
          </a:p>
          <a:p>
            <a:pPr marL="306000" lvl="0" indent="-306000" algn="l" rtl="0">
              <a:spcBef>
                <a:spcPts val="1160"/>
              </a:spcBef>
              <a:spcAft>
                <a:spcPts val="0"/>
              </a:spcAft>
              <a:buSzPts val="2660"/>
              <a:buChar char="■"/>
            </a:pPr>
            <a:r>
              <a:rPr lang="ja-JP" dirty="0"/>
              <a:t>左右対称</a:t>
            </a:r>
            <a:endParaRPr dirty="0"/>
          </a:p>
          <a:p>
            <a:pPr marL="306000" lvl="0" indent="-306000" algn="l" rtl="0">
              <a:spcBef>
                <a:spcPts val="1160"/>
              </a:spcBef>
              <a:spcAft>
                <a:spcPts val="0"/>
              </a:spcAft>
              <a:buSzPts val="2660"/>
              <a:buChar char="■"/>
            </a:pPr>
            <a:r>
              <a:rPr lang="ja-JP" dirty="0"/>
              <a:t>単峰型</a:t>
            </a:r>
            <a:endParaRPr dirty="0"/>
          </a:p>
          <a:p>
            <a:pPr marL="306000" lvl="0" indent="-306000" algn="l" rtl="0">
              <a:spcBef>
                <a:spcPts val="1160"/>
              </a:spcBef>
              <a:spcAft>
                <a:spcPts val="0"/>
              </a:spcAft>
              <a:buSzPts val="2660"/>
              <a:buChar char="■"/>
            </a:pPr>
            <a:r>
              <a:rPr lang="ja-JP" dirty="0"/>
              <a:t>横軸が漸近線</a:t>
            </a:r>
            <a:endParaRPr dirty="0"/>
          </a:p>
          <a:p>
            <a:pPr marL="306000" lvl="0" indent="-306000" algn="l" rtl="0">
              <a:spcBef>
                <a:spcPts val="1160"/>
              </a:spcBef>
              <a:spcAft>
                <a:spcPts val="0"/>
              </a:spcAft>
              <a:buSzPts val="2660"/>
              <a:buChar char="■"/>
            </a:pPr>
            <a:r>
              <a:rPr lang="ja-JP" dirty="0"/>
              <a:t>分散・標準偏差によって形状が変わる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4D636D1-7657-BAF1-5DF1-701A46652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正規分布の確率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84A3F93-EEDB-0318-54B6-457088F87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17</a:t>
            </a:fld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7EFF39CC-B023-6B3C-1842-BA245FEDFD1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正規分布の確率変数</a:t>
                </a:r>
                <a14:m>
                  <m:oMath xmlns:m="http://schemas.openxmlformats.org/officeDocument/2006/math">
                    <m:r>
                      <a:rPr kumimoji="1" lang="en-US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ja-JP" altLang="en-US" dirty="0"/>
                  <a:t>が与えられた範囲に入る確率は？</a:t>
                </a:r>
                <a:endParaRPr kumimoji="1" lang="en-US" altLang="ja-JP" dirty="0"/>
              </a:p>
              <a:p>
                <a:r>
                  <a:rPr kumimoji="1" lang="ja-JP" altLang="en-US" dirty="0"/>
                  <a:t>正規分布の確率密度関数の積分</a:t>
                </a:r>
                <a:endParaRPr kumimoji="1"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kumimoji="1" lang="en-US" altLang="ja-JP" sz="2400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ja-JP" sz="2400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</m:func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kumimoji="1" lang="en-US" altLang="ja-JP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p>
                                <m:sSupPr>
                                  <m:ctrlPr>
                                    <a:rPr kumimoji="1" lang="en-US" altLang="ja-JP" sz="2400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ja-JP" sz="2400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kumimoji="1" lang="en-US" altLang="ja-JP" sz="2400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func>
                        <m:funcPr>
                          <m:ctrlPr>
                            <a:rPr kumimoji="1" lang="en-US" altLang="ja-JP" sz="2400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ja-JP" sz="2400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kumimoji="1" lang="en-US" altLang="ja-JP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kumimoji="1" lang="en-US" altLang="ja-JP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kumimoji="1" lang="en-US" altLang="ja-JP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kumimoji="1" lang="en-US" altLang="ja-JP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kumimoji="1" lang="en-US" altLang="ja-JP" sz="2400" b="0" i="1" smtClean="0">
                                              <a:solidFill>
                                                <a:schemeClr val="accent5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kumimoji="1" lang="en-US" altLang="ja-JP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p>
                                    <m:sSupPr>
                                      <m:ctrlPr>
                                        <a:rPr kumimoji="1" lang="en-US" altLang="ja-JP" sz="2400" b="0" i="1" smtClean="0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en-US" altLang="ja-JP" sz="2400" b="0" i="1" smtClean="0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kumimoji="1" lang="en-US" altLang="ja-JP" sz="2400" b="0" i="1" smtClean="0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kumimoji="1" lang="en-US" altLang="ja-JP" sz="2400" dirty="0"/>
              </a:p>
              <a:p>
                <a:pPr lvl="1"/>
                <a:endParaRPr lang="en-US" altLang="ja-JP" dirty="0">
                  <a:solidFill>
                    <a:schemeClr val="accent5"/>
                  </a:solidFill>
                </a:endParaRPr>
              </a:p>
              <a:p>
                <a:pPr lvl="1"/>
                <a:r>
                  <a:rPr lang="ja-JP" altLang="en-US" dirty="0"/>
                  <a:t>母平均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kumimoji="1" lang="ja-JP" altLang="en-US" dirty="0"/>
                  <a:t>や母分散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ja-JP" altLang="en-US" dirty="0"/>
                  <a:t>が変わるたびに積分計算が必要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なんとかならないか？　</a:t>
                </a:r>
                <a:endParaRPr kumimoji="1" lang="en-US" altLang="ja-JP" dirty="0"/>
              </a:p>
              <a:p>
                <a:pPr marL="577215" lvl="1" indent="0">
                  <a:buNone/>
                </a:pPr>
                <a:r>
                  <a:rPr kumimoji="1" lang="ja-JP" altLang="en-US" dirty="0"/>
                  <a:t>　→　</a:t>
                </a:r>
                <a:r>
                  <a:rPr kumimoji="1" lang="ja-JP" altLang="en-US" dirty="0">
                    <a:solidFill>
                      <a:schemeClr val="accent5"/>
                    </a:solidFill>
                  </a:rPr>
                  <a:t>標準正規分布</a:t>
                </a:r>
                <a:r>
                  <a:rPr kumimoji="1" lang="ja-JP" altLang="en-US" dirty="0"/>
                  <a:t>に変換</a:t>
                </a:r>
                <a:endParaRPr kumimoji="1" lang="en-US" altLang="ja-JP" dirty="0"/>
              </a:p>
              <a:p>
                <a:pPr marL="577215" lvl="1" indent="0">
                  <a:buNone/>
                </a:pPr>
                <a:r>
                  <a:rPr kumimoji="1" lang="ja-JP" altLang="en-US" dirty="0"/>
                  <a:t>　→　標準正規分布の</a:t>
                </a:r>
                <a:r>
                  <a:rPr kumimoji="1" lang="ja-JP" altLang="en-US" dirty="0">
                    <a:solidFill>
                      <a:schemeClr val="accent5"/>
                    </a:solidFill>
                  </a:rPr>
                  <a:t>統計表</a:t>
                </a:r>
                <a:r>
                  <a:rPr kumimoji="1" lang="ja-JP" altLang="en-US" dirty="0">
                    <a:solidFill>
                      <a:schemeClr val="tx1"/>
                    </a:solidFill>
                  </a:rPr>
                  <a:t>ひとつ</a:t>
                </a:r>
                <a:r>
                  <a:rPr kumimoji="1" lang="ja-JP" altLang="en-US" dirty="0"/>
                  <a:t>で済む</a:t>
                </a:r>
                <a:endParaRPr kumimoji="1" lang="en-US" altLang="ja-JP" dirty="0"/>
              </a:p>
            </p:txBody>
          </p:sp>
        </mc:Choice>
        <mc:Fallback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7EFF39CC-B023-6B3C-1842-BA245FEDFD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1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51437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A7B44-A820-A18C-5EDF-DC4453727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D9894EA-7218-9DD9-0BFA-8A1B9F53B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標準正規分布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22A6CF9-4F21-BD13-30A1-EFE076BBF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18</a:t>
            </a:fld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E41619A3-D15F-D33E-A328-1538A18AEB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kumimoji="1" lang="ja-JP" altLang="en-US" b="1" dirty="0">
                    <a:solidFill>
                      <a:schemeClr val="accent5"/>
                    </a:solidFill>
                  </a:rPr>
                  <a:t>標準正規分布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　</a:t>
                </a:r>
                <a:r>
                  <a:rPr kumimoji="1" lang="en-US" altLang="ja-JP" dirty="0">
                    <a:solidFill>
                      <a:schemeClr val="accent2"/>
                    </a:solidFill>
                  </a:rPr>
                  <a:t>standard normal distribution</a:t>
                </a:r>
              </a:p>
              <a:p>
                <a:pPr lvl="1"/>
                <a:r>
                  <a:rPr lang="ja-JP" altLang="en-US" dirty="0">
                    <a:solidFill>
                      <a:schemeClr val="tx1"/>
                    </a:solidFill>
                  </a:rPr>
                  <a:t>正規分布に標準化を適用した分布</a:t>
                </a:r>
                <a:endParaRPr lang="en-US" altLang="ja-JP" dirty="0">
                  <a:solidFill>
                    <a:schemeClr val="tx1"/>
                  </a:solidFill>
                </a:endParaRPr>
              </a:p>
              <a:p>
                <a:pPr lvl="2"/>
                <a:r>
                  <a:rPr lang="ja-JP" altLang="en-US" dirty="0"/>
                  <a:t>母平均：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2"/>
                <a:r>
                  <a:rPr lang="ja-JP" altLang="en-US" dirty="0"/>
                  <a:t>母分散：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ja-JP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ja-JP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  <m:sSup>
                              <m:sSupPr>
                                <m:ctrlPr>
                                  <a:rPr lang="en-US" altLang="ja-JP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ja-JP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ja-JP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func>
                      <m:funcPr>
                        <m:ctrlPr>
                          <a:rPr lang="en-US" altLang="ja-JP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ja-JP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ja-JP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ja-JP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ja-JP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altLang="ja-JP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altLang="ja-JP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ja-JP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altLang="ja-JP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p>
                                  <m:sSupPr>
                                    <m:ctrlPr>
                                      <a:rPr lang="en-US" altLang="ja-JP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ja-JP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altLang="ja-JP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func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rad>
                      </m:den>
                    </m:f>
                    <m:func>
                      <m:funcPr>
                        <m:ctrlPr>
                          <a:rPr lang="en-US" altLang="ja-JP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pPr lvl="2"/>
                <a:r>
                  <a:rPr lang="ja-JP" altLang="en-US" dirty="0"/>
                  <a:t>一度計算してしまえば，母平均や母分散が変わっても再計算の必要がない</a:t>
                </a:r>
                <a:endParaRPr lang="en-US" altLang="ja-JP" dirty="0"/>
              </a:p>
              <a:p>
                <a:pPr lvl="2"/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r>
                  <a:rPr lang="ja-JP" altLang="en-US" dirty="0">
                    <a:solidFill>
                      <a:schemeClr val="tx1"/>
                    </a:solidFill>
                  </a:rPr>
                  <a:t>標準化した確率変数</a:t>
                </a:r>
                <a:endParaRPr lang="en-US" altLang="ja-JP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ja-JP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altLang="ja-JP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ja-JP" i="1" dirty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ja-JP" i="1" dirty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altLang="ja-JP" b="0" i="1" dirty="0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b="0" i="1" dirty="0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𝑉𝑎𝑟</m:t>
                              </m:r>
                              <m:r>
                                <a:rPr lang="en-US" altLang="ja-JP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ja-JP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ja-JP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rad>
                        </m:den>
                      </m:f>
                      <m:r>
                        <a:rPr lang="en-US" altLang="ja-JP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ja-JP" i="1" dirty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ja-JP" i="1" dirty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altLang="ja-JP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ja-JP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ja-JP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tx1"/>
                    </a:solidFill>
                  </a:rPr>
                  <a:t>標準化した確率変数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ja-JP" altLang="en-US" dirty="0">
                    <a:solidFill>
                      <a:schemeClr val="tx1"/>
                    </a:solidFill>
                  </a:rPr>
                  <a:t>は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標準正規分布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に従う</a:t>
                </a:r>
                <a:endParaRPr lang="en-US" altLang="ja-JP" dirty="0">
                  <a:solidFill>
                    <a:schemeClr val="tx1"/>
                  </a:solidFill>
                </a:endParaRPr>
              </a:p>
              <a:p>
                <a:pPr marL="577215" lvl="1" indent="0">
                  <a:buNone/>
                </a:pPr>
                <a:r>
                  <a:rPr lang="ja-JP" altLang="en-US" b="0" dirty="0">
                    <a:solidFill>
                      <a:schemeClr val="tx1"/>
                    </a:solidFill>
                  </a:rPr>
                  <a:t>    つまり</a:t>
                </a:r>
                <a14:m>
                  <m:oMath xmlns:m="http://schemas.openxmlformats.org/officeDocument/2006/math">
                    <m:r>
                      <a:rPr lang="en-US" altLang="ja-JP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endParaRPr lang="en-US" altLang="ja-JP" b="0" dirty="0">
                  <a:solidFill>
                    <a:schemeClr val="accent5"/>
                  </a:solidFill>
                </a:endParaRPr>
              </a:p>
            </p:txBody>
          </p:sp>
        </mc:Choice>
        <mc:Fallback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E41619A3-D15F-D33E-A328-1538A18AEB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t="-9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264B3A7C-C38C-0A97-2D16-AF587975FB99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</p:spTree>
    <p:extLst>
      <p:ext uri="{BB962C8B-B14F-4D97-AF65-F5344CB8AC3E}">
        <p14:creationId xmlns:p14="http://schemas.microsoft.com/office/powerpoint/2010/main" val="18109984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2"/>
          <p:cNvSpPr txBox="1">
            <a:spLocks noGrp="1"/>
          </p:cNvSpPr>
          <p:nvPr>
            <p:ph type="body" idx="1"/>
          </p:nvPr>
        </p:nvSpPr>
        <p:spPr>
          <a:xfrm>
            <a:off x="0" y="3128722"/>
            <a:ext cx="7989751" cy="1368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660"/>
              <a:buNone/>
            </a:pPr>
            <a:r>
              <a:rPr lang="en-US" altLang="ja-JP" dirty="0"/>
              <a:t>3</a:t>
            </a:r>
            <a:r>
              <a:rPr lang="ja-JP" dirty="0"/>
              <a:t>：連続確率分布</a:t>
            </a:r>
            <a:endParaRPr dirty="0"/>
          </a:p>
          <a:p>
            <a:pPr marL="0" lvl="0" indent="0" algn="l" rtl="0">
              <a:spcBef>
                <a:spcPts val="1160"/>
              </a:spcBef>
              <a:spcAft>
                <a:spcPts val="0"/>
              </a:spcAft>
              <a:buSzPts val="2660"/>
              <a:buNone/>
            </a:pPr>
            <a:r>
              <a:rPr lang="ja-JP" dirty="0"/>
              <a:t>　　　標準正規分布表の読み方</a:t>
            </a:r>
            <a:endParaRPr dirty="0"/>
          </a:p>
        </p:txBody>
      </p:sp>
      <p:sp>
        <p:nvSpPr>
          <p:cNvPr id="265" name="Google Shape;265;p22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19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6FCA90-8CFE-C7E4-EF32-61F386747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標準正規分布表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ED2088D-1DCA-68A6-E281-7BC5991D1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20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E74DAB2C-3715-28C6-4D64-82457D8E22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確率変数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kumimoji="1" lang="ja-JP" altLang="en-US" dirty="0"/>
                  <a:t>が，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値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kumimoji="1" lang="ja-JP" altLang="en-US" dirty="0"/>
                  <a:t>をとる（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kumimoji="1" lang="ja-JP" altLang="en-US" dirty="0"/>
                  <a:t>）ときの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上側確率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&gt;</m:t>
                            </m:r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e>
                    </m:func>
                  </m:oMath>
                </a14:m>
                <a:r>
                  <a:rPr kumimoji="1" lang="ja-JP" altLang="en-US" dirty="0"/>
                  <a:t>をまとめた表．</a:t>
                </a:r>
                <a:endParaRPr kumimoji="1" lang="en-US" altLang="ja-JP" dirty="0"/>
              </a:p>
              <a:p>
                <a:pPr lvl="1"/>
                <a:r>
                  <a:rPr lang="en-US" altLang="ja-JP" dirty="0"/>
                  <a:t>pp.202</a:t>
                </a:r>
                <a:r>
                  <a:rPr lang="ja-JP" altLang="en-US" dirty="0"/>
                  <a:t>参照</a:t>
                </a:r>
                <a:endParaRPr kumimoji="1"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E74DAB2C-3715-28C6-4D64-82457D8E22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15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図 4">
            <a:extLst>
              <a:ext uri="{FF2B5EF4-FFF2-40B4-BE49-F238E27FC236}">
                <a16:creationId xmlns:a16="http://schemas.microsoft.com/office/drawing/2014/main" id="{CE982125-D577-4265-AF1B-A49E449818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7507" y="2524471"/>
            <a:ext cx="5962940" cy="357855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611E014D-03F2-E7AB-19E9-8CCE041850D1}"/>
                  </a:ext>
                </a:extLst>
              </p:cNvPr>
              <p:cNvSpPr txBox="1"/>
              <p:nvPr/>
            </p:nvSpPr>
            <p:spPr>
              <a:xfrm>
                <a:off x="8334000" y="5463081"/>
                <a:ext cx="45986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ja-JP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</m:oMath>
                  </m:oMathPara>
                </a14:m>
                <a:endParaRPr kumimoji="1" lang="ja-JP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611E014D-03F2-E7AB-19E9-8CCE041850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4000" y="5463081"/>
                <a:ext cx="459869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A4E5CC7F-A3B0-B96B-6BCE-FFBCBEE09E48}"/>
                  </a:ext>
                </a:extLst>
              </p:cNvPr>
              <p:cNvSpPr txBox="1"/>
              <p:nvPr/>
            </p:nvSpPr>
            <p:spPr>
              <a:xfrm>
                <a:off x="6531304" y="5598835"/>
                <a:ext cx="42396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ja-JP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kumimoji="1" lang="ja-JP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A4E5CC7F-A3B0-B96B-6BCE-FFBCBEE09E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1304" y="5598835"/>
                <a:ext cx="423962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3D19F5F7-EFA1-FDCE-E721-10BC6B5ED9B2}"/>
                  </a:ext>
                </a:extLst>
              </p:cNvPr>
              <p:cNvSpPr txBox="1"/>
              <p:nvPr/>
            </p:nvSpPr>
            <p:spPr>
              <a:xfrm>
                <a:off x="6853610" y="4572394"/>
                <a:ext cx="157280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kumimoji="1" lang="en-US" altLang="ja-JP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ja-JP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kumimoji="1" lang="ja-JP" altLang="en-US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3D19F5F7-EFA1-FDCE-E721-10BC6B5ED9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3610" y="4572394"/>
                <a:ext cx="1572803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60D57A82-E2D6-EBAE-35FA-737FA3F72B59}"/>
              </a:ext>
            </a:extLst>
          </p:cNvPr>
          <p:cNvCxnSpPr/>
          <p:nvPr/>
        </p:nvCxnSpPr>
        <p:spPr>
          <a:xfrm flipH="1">
            <a:off x="6955266" y="5050465"/>
            <a:ext cx="657646" cy="5483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10000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4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ja-JP"/>
              <a:t>標準正規分布表の読み方①</a:t>
            </a:r>
            <a:endParaRPr/>
          </a:p>
        </p:txBody>
      </p:sp>
      <p:sp>
        <p:nvSpPr>
          <p:cNvPr id="283" name="Google Shape;283;p24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21</a:t>
            </a:fld>
            <a:endParaRPr/>
          </a:p>
        </p:txBody>
      </p:sp>
      <p:sp>
        <p:nvSpPr>
          <p:cNvPr id="284" name="Google Shape;284;p24"/>
          <p:cNvSpPr txBox="1"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822" t="-946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06000" lvl="0" indent="-306000" algn="l" rtl="0">
              <a:spcBef>
                <a:spcPts val="0"/>
              </a:spcBef>
              <a:spcAft>
                <a:spcPts val="0"/>
              </a:spcAft>
              <a:buSzPts val="2660"/>
              <a:buChar char="■"/>
            </a:pPr>
            <a:r>
              <a:rPr lang="ja-JP"/>
              <a:t> </a:t>
            </a:r>
            <a:endParaRPr/>
          </a:p>
        </p:txBody>
      </p:sp>
      <p:pic>
        <p:nvPicPr>
          <p:cNvPr id="285" name="Google Shape;285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50996" y="2814937"/>
            <a:ext cx="5842007" cy="350598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6" name="Google Shape;286;p24"/>
          <p:cNvGrpSpPr/>
          <p:nvPr/>
        </p:nvGrpSpPr>
        <p:grpSpPr>
          <a:xfrm>
            <a:off x="5826642" y="5917910"/>
            <a:ext cx="2192964" cy="756391"/>
            <a:chOff x="5826642" y="5917910"/>
            <a:chExt cx="2192964" cy="756391"/>
          </a:xfrm>
        </p:grpSpPr>
        <p:sp>
          <p:nvSpPr>
            <p:cNvPr id="287" name="Google Shape;287;p24"/>
            <p:cNvSpPr txBox="1"/>
            <p:nvPr/>
          </p:nvSpPr>
          <p:spPr>
            <a:xfrm>
              <a:off x="6623198" y="6212636"/>
              <a:ext cx="1396408" cy="461665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sz="1800">
                  <a:latin typeface="Gill Sans"/>
                  <a:ea typeface="Gill Sans"/>
                  <a:cs typeface="Gill Sans"/>
                  <a:sym typeface="Gill Sans"/>
                </a:rPr>
                <a:t> </a:t>
              </a:r>
              <a:endParaRPr/>
            </a:p>
          </p:txBody>
        </p:sp>
        <p:cxnSp>
          <p:nvCxnSpPr>
            <p:cNvPr id="288" name="Google Shape;288;p24"/>
            <p:cNvCxnSpPr/>
            <p:nvPr/>
          </p:nvCxnSpPr>
          <p:spPr>
            <a:xfrm rot="10800000">
              <a:off x="5826642" y="5917910"/>
              <a:ext cx="863364" cy="525559"/>
            </a:xfrm>
            <a:prstGeom prst="straightConnector1">
              <a:avLst/>
            </a:prstGeom>
            <a:noFill/>
            <a:ln w="12700" cap="rnd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289" name="Google Shape;289;p24"/>
          <p:cNvGrpSpPr/>
          <p:nvPr/>
        </p:nvGrpSpPr>
        <p:grpSpPr>
          <a:xfrm>
            <a:off x="5920200" y="4795662"/>
            <a:ext cx="3133102" cy="1026441"/>
            <a:chOff x="5920200" y="4795662"/>
            <a:chExt cx="3133102" cy="1026441"/>
          </a:xfrm>
        </p:grpSpPr>
        <p:sp>
          <p:nvSpPr>
            <p:cNvPr id="290" name="Google Shape;290;p24"/>
            <p:cNvSpPr txBox="1"/>
            <p:nvPr/>
          </p:nvSpPr>
          <p:spPr>
            <a:xfrm>
              <a:off x="5920200" y="4795662"/>
              <a:ext cx="3133102" cy="461665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sz="1800">
                  <a:latin typeface="Gill Sans"/>
                  <a:ea typeface="Gill Sans"/>
                  <a:cs typeface="Gill Sans"/>
                  <a:sym typeface="Gill Sans"/>
                </a:rPr>
                <a:t> </a:t>
              </a:r>
              <a:endParaRPr/>
            </a:p>
          </p:txBody>
        </p:sp>
        <p:cxnSp>
          <p:nvCxnSpPr>
            <p:cNvPr id="291" name="Google Shape;291;p24"/>
            <p:cNvCxnSpPr/>
            <p:nvPr/>
          </p:nvCxnSpPr>
          <p:spPr>
            <a:xfrm flipH="1">
              <a:off x="6021856" y="5273733"/>
              <a:ext cx="657646" cy="548370"/>
            </a:xfrm>
            <a:prstGeom prst="straightConnector1">
              <a:avLst/>
            </a:prstGeom>
            <a:noFill/>
            <a:ln w="12700" cap="rnd" cmpd="sng">
              <a:solidFill>
                <a:schemeClr val="accent5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292" name="Google Shape;292;p24"/>
            <p:cNvSpPr txBox="1"/>
            <p:nvPr/>
          </p:nvSpPr>
          <p:spPr>
            <a:xfrm>
              <a:off x="6809527" y="5223152"/>
              <a:ext cx="156966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sz="1800">
                  <a:solidFill>
                    <a:schemeClr val="accent5"/>
                  </a:solidFill>
                  <a:latin typeface="Arial"/>
                  <a:ea typeface="Arial"/>
                  <a:cs typeface="Arial"/>
                  <a:sym typeface="Arial"/>
                </a:rPr>
                <a:t>斜線部の面積</a:t>
              </a: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F3C33D-A501-E9F2-A8B5-8C4ED9FD2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標準正規分布表の読み方①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43C69B3-5687-32B9-7D77-249859C7B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22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7549F618-2FC5-7153-10D6-C46EF8DC3D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sz="2400" dirty="0"/>
                  <a:t>例</a:t>
                </a:r>
                <a:r>
                  <a:rPr kumimoji="1" lang="en-US" altLang="ja-JP" sz="2400" dirty="0"/>
                  <a:t>1</a:t>
                </a:r>
                <a:r>
                  <a:rPr kumimoji="1" lang="ja-JP" altLang="en-US" sz="2400" dirty="0"/>
                  <a:t>）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=1.96</m:t>
                    </m:r>
                  </m:oMath>
                </a14:m>
                <a:r>
                  <a:rPr kumimoji="1" lang="ja-JP" altLang="en-US" sz="2400" dirty="0"/>
                  <a:t>に対応する上側確率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sz="2400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sz="24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&gt;1.96</m:t>
                            </m:r>
                          </m:e>
                        </m:d>
                      </m:e>
                    </m:func>
                  </m:oMath>
                </a14:m>
                <a:r>
                  <a:rPr kumimoji="1" lang="ja-JP" altLang="en-US" sz="2400" dirty="0"/>
                  <a:t>を求めたい</a:t>
                </a:r>
                <a:endParaRPr kumimoji="1" lang="en-US" altLang="ja-JP" sz="2400" dirty="0"/>
              </a:p>
              <a:p>
                <a:pPr lvl="1"/>
                <a:r>
                  <a:rPr lang="ja-JP" altLang="en-US" sz="2000" dirty="0"/>
                  <a:t>手順①　表側から</a:t>
                </a:r>
                <a:r>
                  <a:rPr lang="en-US" altLang="ja-JP" sz="2000" dirty="0"/>
                  <a:t>1.9</a:t>
                </a:r>
                <a:r>
                  <a:rPr lang="ja-JP" altLang="en-US" sz="2000" dirty="0"/>
                  <a:t>を探す</a:t>
                </a:r>
                <a:endParaRPr lang="en-US" altLang="ja-JP" sz="2000" dirty="0"/>
              </a:p>
              <a:p>
                <a:pPr lvl="1"/>
                <a:r>
                  <a:rPr kumimoji="1" lang="ja-JP" altLang="en-US" sz="2000" dirty="0"/>
                  <a:t>手順②　表頭から</a:t>
                </a:r>
                <a:r>
                  <a:rPr kumimoji="1" lang="en-US" altLang="ja-JP" sz="2000" dirty="0"/>
                  <a:t>0.06</a:t>
                </a:r>
                <a:r>
                  <a:rPr kumimoji="1" lang="ja-JP" altLang="en-US" sz="2000" dirty="0"/>
                  <a:t>を探す</a:t>
                </a:r>
                <a:endParaRPr kumimoji="1" lang="en-US" altLang="ja-JP" sz="2000" dirty="0"/>
              </a:p>
              <a:p>
                <a:pPr lvl="1"/>
                <a:r>
                  <a:rPr lang="ja-JP" altLang="en-US" sz="2000" dirty="0"/>
                  <a:t>手順③　表側と表頭が交差した値</a:t>
                </a: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0.02500</m:t>
                    </m:r>
                  </m:oMath>
                </a14:m>
                <a:r>
                  <a:rPr kumimoji="1" lang="ja-JP" altLang="en-US" sz="2000" dirty="0"/>
                  <a:t>が求めたい上側確率</a:t>
                </a: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7549F618-2FC5-7153-10D6-C46EF8DC3D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24" t="-9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図 4">
            <a:extLst>
              <a:ext uri="{FF2B5EF4-FFF2-40B4-BE49-F238E27FC236}">
                <a16:creationId xmlns:a16="http://schemas.microsoft.com/office/drawing/2014/main" id="{7399A8D2-D121-39E4-BC72-8FA07FA9F5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0996" y="2814937"/>
            <a:ext cx="5842007" cy="3505983"/>
          </a:xfrm>
          <a:prstGeom prst="rect">
            <a:avLst/>
          </a:prstGeom>
        </p:spPr>
      </p:pic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83036034-F508-A57E-D0F4-B9DA6F8873D0}"/>
              </a:ext>
            </a:extLst>
          </p:cNvPr>
          <p:cNvGrpSpPr/>
          <p:nvPr/>
        </p:nvGrpSpPr>
        <p:grpSpPr>
          <a:xfrm>
            <a:off x="5826642" y="5917910"/>
            <a:ext cx="2192964" cy="756391"/>
            <a:chOff x="5826642" y="5917910"/>
            <a:chExt cx="2192964" cy="7563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テキスト ボックス 5">
                  <a:extLst>
                    <a:ext uri="{FF2B5EF4-FFF2-40B4-BE49-F238E27FC236}">
                      <a16:creationId xmlns:a16="http://schemas.microsoft.com/office/drawing/2014/main" id="{F4A78ED4-5AA1-3071-B879-37FE297FE9FE}"/>
                    </a:ext>
                  </a:extLst>
                </p:cNvPr>
                <p:cNvSpPr txBox="1"/>
                <p:nvPr/>
              </p:nvSpPr>
              <p:spPr>
                <a:xfrm>
                  <a:off x="6623198" y="6212636"/>
                  <a:ext cx="1396408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kumimoji="1"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kumimoji="1" lang="en-US" altLang="ja-JP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=1.96</m:t>
                        </m:r>
                      </m:oMath>
                    </m:oMathPara>
                  </a14:m>
                  <a:endParaRPr kumimoji="1" lang="ja-JP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テキスト ボックス 5">
                  <a:extLst>
                    <a:ext uri="{FF2B5EF4-FFF2-40B4-BE49-F238E27FC236}">
                      <a16:creationId xmlns:a16="http://schemas.microsoft.com/office/drawing/2014/main" id="{F4A78ED4-5AA1-3071-B879-37FE297FE9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23198" y="6212636"/>
                  <a:ext cx="1396408" cy="46166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" name="直線矢印コネクタ 6">
              <a:extLst>
                <a:ext uri="{FF2B5EF4-FFF2-40B4-BE49-F238E27FC236}">
                  <a16:creationId xmlns:a16="http://schemas.microsoft.com/office/drawing/2014/main" id="{90C92E2F-3FCD-3547-7FFA-6703171DEAB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26642" y="5917910"/>
              <a:ext cx="863364" cy="52555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56F84367-CBD5-310D-10B1-088E29F04C74}"/>
              </a:ext>
            </a:extLst>
          </p:cNvPr>
          <p:cNvGrpSpPr/>
          <p:nvPr/>
        </p:nvGrpSpPr>
        <p:grpSpPr>
          <a:xfrm>
            <a:off x="5920200" y="4795662"/>
            <a:ext cx="3133102" cy="1026441"/>
            <a:chOff x="5920200" y="4795662"/>
            <a:chExt cx="3133102" cy="102644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7EFF46C8-C8FA-00A3-8BFE-99A550F7688E}"/>
                    </a:ext>
                  </a:extLst>
                </p:cNvPr>
                <p:cNvSpPr txBox="1"/>
                <p:nvPr/>
              </p:nvSpPr>
              <p:spPr>
                <a:xfrm>
                  <a:off x="5920200" y="4795662"/>
                  <a:ext cx="3133102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func>
                          <m:funcPr>
                            <m:ctrlPr>
                              <a:rPr kumimoji="1" lang="en-US" altLang="ja-JP" sz="2400" b="0" i="0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ja-JP" sz="2400" b="0" i="0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ctrlPr>
                                  <a:rPr kumimoji="1" lang="en-US" altLang="ja-JP" sz="2400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ja-JP" sz="2400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  <m:r>
                                  <a:rPr kumimoji="1" lang="en-US" altLang="ja-JP" sz="2400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&gt;1.96</m:t>
                                </m:r>
                              </m:e>
                            </m:d>
                          </m:e>
                        </m:func>
                        <m:r>
                          <a:rPr kumimoji="1" lang="en-US" altLang="ja-JP" sz="24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=0.025</m:t>
                        </m:r>
                      </m:oMath>
                    </m:oMathPara>
                  </a14:m>
                  <a:endParaRPr kumimoji="1" lang="ja-JP" altLang="en-US" sz="2400" dirty="0">
                    <a:solidFill>
                      <a:schemeClr val="accent5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7EFF46C8-C8FA-00A3-8BFE-99A550F768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20200" y="4795662"/>
                  <a:ext cx="3133102" cy="46166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直線矢印コネクタ 10">
              <a:extLst>
                <a:ext uri="{FF2B5EF4-FFF2-40B4-BE49-F238E27FC236}">
                  <a16:creationId xmlns:a16="http://schemas.microsoft.com/office/drawing/2014/main" id="{5F8A9446-9498-3AC1-2152-ABBEF54E310F}"/>
                </a:ext>
              </a:extLst>
            </p:cNvPr>
            <p:cNvCxnSpPr/>
            <p:nvPr/>
          </p:nvCxnSpPr>
          <p:spPr>
            <a:xfrm flipH="1">
              <a:off x="6021856" y="5273733"/>
              <a:ext cx="657646" cy="548370"/>
            </a:xfrm>
            <a:prstGeom prst="straightConnector1">
              <a:avLst/>
            </a:prstGeom>
            <a:ln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6E54F8E9-9AF4-4EE9-1BD3-0C60AEA7E338}"/>
                </a:ext>
              </a:extLst>
            </p:cNvPr>
            <p:cNvSpPr txBox="1"/>
            <p:nvPr/>
          </p:nvSpPr>
          <p:spPr>
            <a:xfrm>
              <a:off x="6809527" y="5223152"/>
              <a:ext cx="1569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>
                  <a:solidFill>
                    <a:schemeClr val="accent5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斜線部の面積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57705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EA216-ED1B-1D84-182F-C193EC572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A9E529D-38FA-7FBE-D230-E3A4C06D3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（補足１）</a:t>
            </a:r>
            <a:r>
              <a:rPr kumimoji="1" lang="ja-JP" altLang="en-US" dirty="0"/>
              <a:t>標準正規分布表の読み方①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C09FF19-1A99-3C91-91B3-940B747FB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23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4BFF314D-6E6B-5E16-BE03-E8B0547DD8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sz="2400" dirty="0"/>
                  <a:t>例</a:t>
                </a:r>
                <a:r>
                  <a:rPr kumimoji="1" lang="en-US" altLang="ja-JP" sz="2400" dirty="0"/>
                  <a:t>1</a:t>
                </a:r>
                <a:r>
                  <a:rPr kumimoji="1" lang="ja-JP" altLang="en-US" sz="2400" dirty="0"/>
                  <a:t>）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=1.96</m:t>
                    </m:r>
                  </m:oMath>
                </a14:m>
                <a:r>
                  <a:rPr kumimoji="1" lang="ja-JP" altLang="en-US" sz="2400" dirty="0"/>
                  <a:t>に対応する上側確率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sz="2400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sz="24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&gt;1.96</m:t>
                            </m:r>
                          </m:e>
                        </m:d>
                      </m:e>
                    </m:func>
                  </m:oMath>
                </a14:m>
                <a:r>
                  <a:rPr kumimoji="1" lang="ja-JP" altLang="en-US" sz="2400" dirty="0"/>
                  <a:t>を求めたい</a:t>
                </a:r>
                <a:endParaRPr kumimoji="1" lang="en-US" altLang="ja-JP" sz="2400" dirty="0"/>
              </a:p>
              <a:p>
                <a:pPr lvl="1"/>
                <a:r>
                  <a:rPr lang="ja-JP" altLang="en-US" sz="2000" dirty="0">
                    <a:solidFill>
                      <a:schemeClr val="accent5"/>
                    </a:solidFill>
                  </a:rPr>
                  <a:t>手順①　表側から</a:t>
                </a:r>
                <a:r>
                  <a:rPr lang="en-US" altLang="ja-JP" sz="2000" dirty="0">
                    <a:solidFill>
                      <a:schemeClr val="accent5"/>
                    </a:solidFill>
                  </a:rPr>
                  <a:t>1.9</a:t>
                </a:r>
                <a:r>
                  <a:rPr lang="ja-JP" altLang="en-US" sz="2000" dirty="0">
                    <a:solidFill>
                      <a:schemeClr val="accent5"/>
                    </a:solidFill>
                  </a:rPr>
                  <a:t>を探す</a:t>
                </a:r>
                <a:endParaRPr lang="en-US" altLang="ja-JP" sz="2000" dirty="0">
                  <a:solidFill>
                    <a:schemeClr val="accent5"/>
                  </a:solidFill>
                </a:endParaRPr>
              </a:p>
              <a:p>
                <a:pPr lvl="1"/>
                <a:r>
                  <a:rPr kumimoji="1" lang="ja-JP" altLang="en-US" sz="2000" dirty="0"/>
                  <a:t>手順②　表頭から</a:t>
                </a:r>
                <a:r>
                  <a:rPr kumimoji="1" lang="en-US" altLang="ja-JP" sz="2000" dirty="0"/>
                  <a:t>0.06</a:t>
                </a:r>
                <a:r>
                  <a:rPr kumimoji="1" lang="ja-JP" altLang="en-US" sz="2000" dirty="0"/>
                  <a:t>を探す</a:t>
                </a:r>
                <a:endParaRPr kumimoji="1" lang="en-US" altLang="ja-JP" sz="2000" dirty="0"/>
              </a:p>
              <a:p>
                <a:pPr lvl="1"/>
                <a:r>
                  <a:rPr lang="ja-JP" altLang="en-US" sz="2000" dirty="0"/>
                  <a:t>手順③　表側と表頭が交差した値</a:t>
                </a: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0.02500</m:t>
                    </m:r>
                  </m:oMath>
                </a14:m>
                <a:r>
                  <a:rPr kumimoji="1" lang="ja-JP" altLang="en-US" sz="2000" dirty="0"/>
                  <a:t>が求めたい上側確率</a:t>
                </a: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4BFF314D-6E6B-5E16-BE03-E8B0547DD8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24" t="-9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図 8">
            <a:extLst>
              <a:ext uri="{FF2B5EF4-FFF2-40B4-BE49-F238E27FC236}">
                <a16:creationId xmlns:a16="http://schemas.microsoft.com/office/drawing/2014/main" id="{1F79829F-B5A9-0DA8-1E19-2AEDE7F13D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5484" y="2820475"/>
            <a:ext cx="5493032" cy="3803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2501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0B675-C7D2-166C-FC1C-E3A865047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771F2D-1A7B-4388-4819-9E30B2429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（補足２）</a:t>
            </a:r>
            <a:r>
              <a:rPr kumimoji="1" lang="ja-JP" altLang="en-US" dirty="0"/>
              <a:t>標準正規分布表の読み方①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3BF85A6-6264-F231-602E-58AA3F439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24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12D95986-2FA7-F7AB-74EE-08BAD5274F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sz="2400" dirty="0"/>
                  <a:t>例</a:t>
                </a:r>
                <a:r>
                  <a:rPr kumimoji="1" lang="en-US" altLang="ja-JP" sz="2400" dirty="0"/>
                  <a:t>1</a:t>
                </a:r>
                <a:r>
                  <a:rPr kumimoji="1" lang="ja-JP" altLang="en-US" sz="2400" dirty="0"/>
                  <a:t>）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=1.96</m:t>
                    </m:r>
                  </m:oMath>
                </a14:m>
                <a:r>
                  <a:rPr kumimoji="1" lang="ja-JP" altLang="en-US" sz="2400" dirty="0"/>
                  <a:t>に対応する上側確率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sz="2400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sz="24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&gt;1.96</m:t>
                            </m:r>
                          </m:e>
                        </m:d>
                      </m:e>
                    </m:func>
                  </m:oMath>
                </a14:m>
                <a:r>
                  <a:rPr kumimoji="1" lang="ja-JP" altLang="en-US" sz="2400" dirty="0"/>
                  <a:t>を求めたい</a:t>
                </a:r>
                <a:endParaRPr kumimoji="1" lang="en-US" altLang="ja-JP" sz="2400" dirty="0"/>
              </a:p>
              <a:p>
                <a:pPr lvl="1"/>
                <a:r>
                  <a:rPr lang="ja-JP" altLang="en-US" sz="2000" dirty="0"/>
                  <a:t>手順①　表側から</a:t>
                </a:r>
                <a:r>
                  <a:rPr lang="en-US" altLang="ja-JP" sz="2000" dirty="0"/>
                  <a:t>1.9</a:t>
                </a:r>
                <a:r>
                  <a:rPr lang="ja-JP" altLang="en-US" sz="2000" dirty="0"/>
                  <a:t>を探す</a:t>
                </a:r>
                <a:endParaRPr lang="en-US" altLang="ja-JP" sz="2000" dirty="0"/>
              </a:p>
              <a:p>
                <a:pPr lvl="1"/>
                <a:r>
                  <a:rPr kumimoji="1" lang="ja-JP" altLang="en-US" sz="2000" dirty="0">
                    <a:solidFill>
                      <a:schemeClr val="accent5"/>
                    </a:solidFill>
                  </a:rPr>
                  <a:t>手順②　表頭から</a:t>
                </a:r>
                <a:r>
                  <a:rPr kumimoji="1" lang="en-US" altLang="ja-JP" sz="2000" dirty="0">
                    <a:solidFill>
                      <a:schemeClr val="accent5"/>
                    </a:solidFill>
                  </a:rPr>
                  <a:t>0.06</a:t>
                </a:r>
                <a:r>
                  <a:rPr kumimoji="1" lang="ja-JP" altLang="en-US" sz="2000" dirty="0">
                    <a:solidFill>
                      <a:schemeClr val="accent5"/>
                    </a:solidFill>
                  </a:rPr>
                  <a:t>を探す</a:t>
                </a:r>
                <a:endParaRPr kumimoji="1" lang="en-US" altLang="ja-JP" sz="2000" dirty="0">
                  <a:solidFill>
                    <a:schemeClr val="accent5"/>
                  </a:solidFill>
                </a:endParaRPr>
              </a:p>
              <a:p>
                <a:pPr lvl="1"/>
                <a:r>
                  <a:rPr lang="ja-JP" altLang="en-US" sz="2000" dirty="0"/>
                  <a:t>手順③　表側と表頭が交差した値</a:t>
                </a: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0.02500</m:t>
                    </m:r>
                  </m:oMath>
                </a14:m>
                <a:r>
                  <a:rPr kumimoji="1" lang="ja-JP" altLang="en-US" sz="2000" dirty="0"/>
                  <a:t>が求めたい上側確率</a:t>
                </a: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12D95986-2FA7-F7AB-74EE-08BAD5274F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24" t="-9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図 5">
            <a:extLst>
              <a:ext uri="{FF2B5EF4-FFF2-40B4-BE49-F238E27FC236}">
                <a16:creationId xmlns:a16="http://schemas.microsoft.com/office/drawing/2014/main" id="{C31AE6C1-268D-41DB-EBF5-E5FB4A685C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5484" y="2820475"/>
            <a:ext cx="5493032" cy="3803845"/>
          </a:xfrm>
          <a:prstGeom prst="rect">
            <a:avLst/>
          </a:prstGeom>
        </p:spPr>
      </p:pic>
      <p:sp>
        <p:nvSpPr>
          <p:cNvPr id="7" name="右中かっこ 6">
            <a:extLst>
              <a:ext uri="{FF2B5EF4-FFF2-40B4-BE49-F238E27FC236}">
                <a16:creationId xmlns:a16="http://schemas.microsoft.com/office/drawing/2014/main" id="{F2EF3E6E-9E4F-12BA-12F9-04B925A49923}"/>
              </a:ext>
            </a:extLst>
          </p:cNvPr>
          <p:cNvSpPr/>
          <p:nvPr/>
        </p:nvSpPr>
        <p:spPr>
          <a:xfrm>
            <a:off x="4322133" y="1488558"/>
            <a:ext cx="308344" cy="744279"/>
          </a:xfrm>
          <a:prstGeom prst="rightBrac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3DAC213-B3CD-D8A1-DFE9-A709A5560756}"/>
              </a:ext>
            </a:extLst>
          </p:cNvPr>
          <p:cNvSpPr txBox="1"/>
          <p:nvPr/>
        </p:nvSpPr>
        <p:spPr>
          <a:xfrm>
            <a:off x="4630477" y="1676031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chemeClr val="accent5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合計で</a:t>
            </a:r>
            <a:r>
              <a:rPr kumimoji="1" lang="en-US" altLang="ja-JP" dirty="0">
                <a:solidFill>
                  <a:schemeClr val="accent5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1.96</a:t>
            </a:r>
            <a:endParaRPr kumimoji="1" lang="ja-JP" altLang="en-US" dirty="0">
              <a:solidFill>
                <a:schemeClr val="accent5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365167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871A1-00DC-97AE-93EA-F22EA39B0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371BFC-DF13-54E6-B6C8-41C586210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標準正規分布表の読み方</a:t>
            </a:r>
            <a:r>
              <a:rPr lang="ja-JP" altLang="en-US" dirty="0"/>
              <a:t>②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3D3D25C-3787-C5E6-99AA-2D0CCDF2D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25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F210ADD-F75D-7D62-C381-70AB73467D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976" y="933254"/>
                <a:ext cx="9012024" cy="5788057"/>
              </a:xfrm>
            </p:spPr>
            <p:txBody>
              <a:bodyPr>
                <a:normAutofit/>
              </a:bodyPr>
              <a:lstStyle/>
              <a:p>
                <a:r>
                  <a:rPr kumimoji="1" lang="ja-JP" altLang="en-US" sz="2400" dirty="0"/>
                  <a:t>例</a:t>
                </a:r>
                <a:r>
                  <a:rPr kumimoji="1" lang="en-US" altLang="ja-JP" sz="2400" dirty="0"/>
                  <a:t>2</a:t>
                </a:r>
                <a:r>
                  <a:rPr kumimoji="1" lang="ja-JP" altLang="en-US" sz="2400" dirty="0"/>
                  <a:t>）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=−1.96</m:t>
                    </m:r>
                  </m:oMath>
                </a14:m>
                <a:r>
                  <a:rPr kumimoji="1" lang="ja-JP" altLang="en-US" sz="2400" dirty="0"/>
                  <a:t>に対応する</a:t>
                </a:r>
                <a:r>
                  <a:rPr kumimoji="1" lang="ja-JP" altLang="en-US" sz="2400" dirty="0">
                    <a:solidFill>
                      <a:schemeClr val="accent5"/>
                    </a:solidFill>
                  </a:rPr>
                  <a:t>下側</a:t>
                </a:r>
                <a:r>
                  <a:rPr kumimoji="1" lang="ja-JP" altLang="en-US" sz="2400" dirty="0"/>
                  <a:t>確率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sz="2400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sz="24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&lt;−1.96</m:t>
                            </m:r>
                          </m:e>
                        </m:d>
                      </m:e>
                    </m:func>
                  </m:oMath>
                </a14:m>
                <a:r>
                  <a:rPr kumimoji="1" lang="ja-JP" altLang="en-US" sz="2400" dirty="0"/>
                  <a:t>を求めたい</a:t>
                </a:r>
                <a:endParaRPr kumimoji="1" lang="en-US" altLang="ja-JP" sz="2400" dirty="0"/>
              </a:p>
              <a:p>
                <a:pPr lvl="1"/>
                <a:r>
                  <a:rPr lang="ja-JP" altLang="en-US" sz="2000" dirty="0"/>
                  <a:t>正規分布が</a:t>
                </a:r>
                <a:r>
                  <a:rPr lang="ja-JP" altLang="en-US" sz="2000" b="1" dirty="0">
                    <a:solidFill>
                      <a:schemeClr val="accent5"/>
                    </a:solidFill>
                  </a:rPr>
                  <a:t>左右対称</a:t>
                </a:r>
                <a:r>
                  <a:rPr lang="ja-JP" altLang="en-US" sz="2000" dirty="0"/>
                  <a:t>である特徴を利用する</a:t>
                </a:r>
                <a:endParaRPr lang="en-US" altLang="ja-JP" sz="2000" dirty="0"/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sz="2000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sz="20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&gt;1.96</m:t>
                            </m:r>
                          </m:e>
                        </m:d>
                      </m:e>
                    </m:func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kumimoji="1" lang="en-US" altLang="ja-JP" sz="2000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sz="20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&lt;−1.96</m:t>
                            </m:r>
                          </m:e>
                        </m:d>
                      </m:e>
                    </m:func>
                  </m:oMath>
                </a14:m>
                <a:endParaRPr kumimoji="1" lang="en-US" altLang="ja-JP" sz="2000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F210ADD-F75D-7D62-C381-70AB73467D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976" y="933254"/>
                <a:ext cx="9012024" cy="5788057"/>
              </a:xfrm>
              <a:blipFill>
                <a:blip r:embed="rId2"/>
                <a:stretch>
                  <a:fillRect r="-47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図 7">
            <a:extLst>
              <a:ext uri="{FF2B5EF4-FFF2-40B4-BE49-F238E27FC236}">
                <a16:creationId xmlns:a16="http://schemas.microsoft.com/office/drawing/2014/main" id="{B8B0A16B-5A7E-8FC5-5826-7A2FA6FD5C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24" y="3429000"/>
            <a:ext cx="4573524" cy="2744724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0F87D9CD-04C8-1783-350D-526FF17174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3429000"/>
            <a:ext cx="4573524" cy="274472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5FC4AF27-A624-AAD0-1CAE-0165E722D02C}"/>
                  </a:ext>
                </a:extLst>
              </p:cNvPr>
              <p:cNvSpPr txBox="1"/>
              <p:nvPr/>
            </p:nvSpPr>
            <p:spPr>
              <a:xfrm>
                <a:off x="3107498" y="4595504"/>
                <a:ext cx="153125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kumimoji="1" lang="en-US" altLang="ja-JP" sz="1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ja-JP" sz="1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kumimoji="1" lang="en-US" altLang="ja-JP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&gt;1.96</m:t>
                              </m:r>
                            </m:e>
                          </m:d>
                        </m:e>
                      </m:func>
                    </m:oMath>
                    <m:oMath>
                      <m:r>
                        <a:rPr kumimoji="1" lang="en-US" altLang="ja-JP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=0.025</m:t>
                      </m:r>
                    </m:oMath>
                  </m:oMathPara>
                </a14:m>
                <a:endParaRPr kumimoji="1" lang="ja-JP" altLang="en-US" sz="18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5FC4AF27-A624-AAD0-1CAE-0165E722D0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7498" y="4595504"/>
                <a:ext cx="1531253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F5CA99A0-4199-2379-ABFE-0BA9A041A744}"/>
              </a:ext>
            </a:extLst>
          </p:cNvPr>
          <p:cNvCxnSpPr>
            <a:cxnSpLocks/>
          </p:cNvCxnSpPr>
          <p:nvPr/>
        </p:nvCxnSpPr>
        <p:spPr>
          <a:xfrm flipH="1">
            <a:off x="3384982" y="5241444"/>
            <a:ext cx="272618" cy="54876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71BBF731-1B25-4BD4-0AE7-400CEBA9AC05}"/>
              </a:ext>
            </a:extLst>
          </p:cNvPr>
          <p:cNvCxnSpPr>
            <a:cxnSpLocks/>
          </p:cNvCxnSpPr>
          <p:nvPr/>
        </p:nvCxnSpPr>
        <p:spPr>
          <a:xfrm>
            <a:off x="5287879" y="5241248"/>
            <a:ext cx="482261" cy="54895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9EB61EDE-B2B0-5E41-AF01-97CB772CD84F}"/>
                  </a:ext>
                </a:extLst>
              </p:cNvPr>
              <p:cNvSpPr txBox="1"/>
              <p:nvPr/>
            </p:nvSpPr>
            <p:spPr>
              <a:xfrm>
                <a:off x="4638750" y="4595504"/>
                <a:ext cx="170437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kumimoji="1" lang="en-US" altLang="ja-JP" sz="1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ja-JP" sz="1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kumimoji="1" lang="en-US" altLang="ja-JP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&lt;−1.96</m:t>
                              </m:r>
                            </m:e>
                          </m:d>
                        </m:e>
                      </m:func>
                    </m:oMath>
                    <m:oMath>
                      <m:r>
                        <a:rPr kumimoji="1" lang="en-US" altLang="ja-JP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=0.025</m:t>
                      </m:r>
                    </m:oMath>
                  </m:oMathPara>
                </a14:m>
                <a:endParaRPr kumimoji="1" lang="ja-JP" altLang="en-US" sz="18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9EB61EDE-B2B0-5E41-AF01-97CB772CD8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8750" y="4595504"/>
                <a:ext cx="1704377" cy="6463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61915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0305D-6282-ADFB-A44B-28464EB52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AD2EDD-2F74-CD0B-1B56-B4B83D422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標準正規分布表の読み方③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A2C0901-FCEA-A900-3ACF-782D8F526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26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17FB86A3-6208-EC1D-D50D-1CC66DB22D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sz="2400" dirty="0"/>
                  <a:t>例</a:t>
                </a:r>
                <a:r>
                  <a:rPr kumimoji="1" lang="en-US" altLang="ja-JP" sz="2400" dirty="0"/>
                  <a:t>3</a:t>
                </a:r>
                <a:r>
                  <a:rPr kumimoji="1" lang="ja-JP" altLang="en-US" sz="2400" dirty="0"/>
                  <a:t>）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=1.96</m:t>
                    </m:r>
                  </m:oMath>
                </a14:m>
                <a:r>
                  <a:rPr kumimoji="1" lang="ja-JP" altLang="en-US" sz="2400" dirty="0"/>
                  <a:t>に対応する</a:t>
                </a:r>
                <a:r>
                  <a:rPr kumimoji="1" lang="ja-JP" altLang="en-US" sz="2400" dirty="0">
                    <a:solidFill>
                      <a:schemeClr val="accent5"/>
                    </a:solidFill>
                  </a:rPr>
                  <a:t>下側</a:t>
                </a:r>
                <a:r>
                  <a:rPr kumimoji="1" lang="ja-JP" altLang="en-US" sz="2400" dirty="0"/>
                  <a:t>確率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sz="2400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sz="24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&lt;1.96</m:t>
                            </m:r>
                          </m:e>
                        </m:d>
                      </m:e>
                    </m:func>
                  </m:oMath>
                </a14:m>
                <a:r>
                  <a:rPr kumimoji="1" lang="ja-JP" altLang="en-US" sz="2400" dirty="0"/>
                  <a:t>を求めたい</a:t>
                </a:r>
                <a:endParaRPr kumimoji="1" lang="en-US" altLang="ja-JP" sz="2400" dirty="0"/>
              </a:p>
              <a:p>
                <a:pPr lvl="1"/>
                <a:r>
                  <a:rPr lang="ja-JP" altLang="en-US" sz="2000" dirty="0"/>
                  <a:t>確率の公理を利用する</a:t>
                </a:r>
                <a:endParaRPr lang="en-US" altLang="ja-JP" sz="2000" dirty="0"/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sz="2000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sz="20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&lt;1.96</m:t>
                            </m:r>
                          </m:e>
                        </m:d>
                      </m:e>
                    </m:func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=1−</m:t>
                    </m:r>
                    <m:func>
                      <m:funcPr>
                        <m:ctrlPr>
                          <a:rPr kumimoji="1" lang="en-US" altLang="ja-JP" sz="2000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sz="20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&gt;1.96</m:t>
                            </m:r>
                          </m:e>
                        </m:d>
                      </m:e>
                    </m:func>
                  </m:oMath>
                </a14:m>
                <a:endParaRPr kumimoji="1" lang="en-US" altLang="ja-JP" sz="2000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17FB86A3-6208-EC1D-D50D-1CC66DB22D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24" t="-9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図 4">
            <a:extLst>
              <a:ext uri="{FF2B5EF4-FFF2-40B4-BE49-F238E27FC236}">
                <a16:creationId xmlns:a16="http://schemas.microsoft.com/office/drawing/2014/main" id="{28337236-33F6-A01D-77EE-D42D232AFB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0996" y="2814937"/>
            <a:ext cx="5842007" cy="3505983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53B30CE3-9D2E-5828-375E-909DB7AB83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0996" y="2814937"/>
            <a:ext cx="5842800" cy="350645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841B141E-2129-EC28-6E20-230E68F23D68}"/>
                  </a:ext>
                </a:extLst>
              </p:cNvPr>
              <p:cNvSpPr txBox="1"/>
              <p:nvPr/>
            </p:nvSpPr>
            <p:spPr>
              <a:xfrm>
                <a:off x="6623198" y="6212636"/>
                <a:ext cx="139640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ja-JP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kumimoji="1" lang="en-US" altLang="ja-JP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=1.96</m:t>
                      </m:r>
                    </m:oMath>
                  </m:oMathPara>
                </a14:m>
                <a:endParaRPr kumimoji="1" lang="ja-JP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841B141E-2129-EC28-6E20-230E68F23D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3198" y="6212636"/>
                <a:ext cx="1396408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C1B1D4DB-77F2-C3E7-DC96-F23EAD143886}"/>
              </a:ext>
            </a:extLst>
          </p:cNvPr>
          <p:cNvCxnSpPr>
            <a:cxnSpLocks/>
          </p:cNvCxnSpPr>
          <p:nvPr/>
        </p:nvCxnSpPr>
        <p:spPr>
          <a:xfrm flipH="1" flipV="1">
            <a:off x="5826642" y="5917910"/>
            <a:ext cx="863364" cy="5255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F4C702F6-2856-9E58-89C3-F61E0B5B1AD0}"/>
                  </a:ext>
                </a:extLst>
              </p:cNvPr>
              <p:cNvSpPr txBox="1"/>
              <p:nvPr/>
            </p:nvSpPr>
            <p:spPr>
              <a:xfrm>
                <a:off x="726525" y="3354372"/>
                <a:ext cx="2823786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kumimoji="1" lang="en-US" altLang="ja-JP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ja-JP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&lt;1.96</m:t>
                              </m:r>
                            </m:e>
                          </m:d>
                        </m:e>
                      </m:func>
                    </m:oMath>
                    <m:oMath>
                      <m:r>
                        <a:rPr kumimoji="1" lang="en-US" altLang="ja-JP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func>
                        <m:funcPr>
                          <m:ctrlPr>
                            <a:rPr kumimoji="1" lang="en-US" altLang="ja-JP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ja-JP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&gt;1.96</m:t>
                              </m:r>
                            </m:e>
                          </m:d>
                        </m:e>
                      </m:func>
                    </m:oMath>
                    <m:oMath>
                      <m:r>
                        <a:rPr kumimoji="1" lang="en-US" altLang="ja-JP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=1−0.025</m:t>
                      </m:r>
                    </m:oMath>
                    <m:oMath>
                      <m:r>
                        <a:rPr kumimoji="1" lang="en-US" altLang="ja-JP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=0.975</m:t>
                      </m:r>
                    </m:oMath>
                  </m:oMathPara>
                </a14:m>
                <a:endParaRPr kumimoji="1" lang="ja-JP" altLang="en-US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F4C702F6-2856-9E58-89C3-F61E0B5B1A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525" y="3354372"/>
                <a:ext cx="2823786" cy="156966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07B35A70-E358-0711-15AE-FD43DFD6DD24}"/>
              </a:ext>
            </a:extLst>
          </p:cNvPr>
          <p:cNvCxnSpPr>
            <a:cxnSpLocks/>
          </p:cNvCxnSpPr>
          <p:nvPr/>
        </p:nvCxnSpPr>
        <p:spPr>
          <a:xfrm>
            <a:off x="2138418" y="4730366"/>
            <a:ext cx="1721201" cy="7331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75F3EF76-F043-A307-8B2D-8BE5F444F09E}"/>
              </a:ext>
            </a:extLst>
          </p:cNvPr>
          <p:cNvSpPr txBox="1"/>
          <p:nvPr/>
        </p:nvSpPr>
        <p:spPr>
          <a:xfrm>
            <a:off x="865373" y="5009083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8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斜線部の面積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テキスト ボックス 21">
                <a:extLst>
                  <a:ext uri="{FF2B5EF4-FFF2-40B4-BE49-F238E27FC236}">
                    <a16:creationId xmlns:a16="http://schemas.microsoft.com/office/drawing/2014/main" id="{1261DD75-37A0-6E2A-8EF9-1B2CD7E22632}"/>
                  </a:ext>
                </a:extLst>
              </p:cNvPr>
              <p:cNvSpPr txBox="1"/>
              <p:nvPr/>
            </p:nvSpPr>
            <p:spPr>
              <a:xfrm>
                <a:off x="5920200" y="4795662"/>
                <a:ext cx="313310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kumimoji="1" lang="en-US" altLang="ja-JP" sz="2400" b="0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ja-JP" sz="2400" b="0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kumimoji="1" lang="en-US" altLang="ja-JP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&gt;1.96</m:t>
                              </m:r>
                            </m:e>
                          </m:d>
                        </m:e>
                      </m:func>
                      <m:r>
                        <a:rPr kumimoji="1" lang="en-US" altLang="ja-JP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=0.025</m:t>
                      </m:r>
                    </m:oMath>
                  </m:oMathPara>
                </a14:m>
                <a:endParaRPr kumimoji="1" lang="ja-JP" altLang="en-US" sz="2400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22" name="テキスト ボックス 21">
                <a:extLst>
                  <a:ext uri="{FF2B5EF4-FFF2-40B4-BE49-F238E27FC236}">
                    <a16:creationId xmlns:a16="http://schemas.microsoft.com/office/drawing/2014/main" id="{1261DD75-37A0-6E2A-8EF9-1B2CD7E226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0200" y="4795662"/>
                <a:ext cx="3133102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0A1E16D0-3764-6B28-E080-38568BCBCC67}"/>
              </a:ext>
            </a:extLst>
          </p:cNvPr>
          <p:cNvCxnSpPr/>
          <p:nvPr/>
        </p:nvCxnSpPr>
        <p:spPr>
          <a:xfrm flipH="1">
            <a:off x="6021856" y="5273733"/>
            <a:ext cx="657646" cy="54837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482D33F6-6227-B210-E0C8-8F0F3B5CA4D1}"/>
              </a:ext>
            </a:extLst>
          </p:cNvPr>
          <p:cNvSpPr txBox="1"/>
          <p:nvPr/>
        </p:nvSpPr>
        <p:spPr>
          <a:xfrm>
            <a:off x="6809527" y="5223152"/>
            <a:ext cx="2021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800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白抜け部分の面積</a:t>
            </a:r>
          </a:p>
        </p:txBody>
      </p:sp>
    </p:spTree>
    <p:extLst>
      <p:ext uri="{BB962C8B-B14F-4D97-AF65-F5344CB8AC3E}">
        <p14:creationId xmlns:p14="http://schemas.microsoft.com/office/powerpoint/2010/main" val="16495460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6CB04-B9FA-120E-5797-B3BC0902F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BF9522-09AD-0506-80BB-49F4CEA67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標準正規分布表の読み方④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72F09F7-DC8A-EF3B-055E-6E773DBB6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27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3AD076E7-E12A-5B48-D834-C25999A270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sz="2400" dirty="0"/>
                  <a:t>例</a:t>
                </a:r>
                <a:r>
                  <a:rPr kumimoji="1" lang="en-US" altLang="ja-JP" sz="2400" dirty="0"/>
                  <a:t>4</a:t>
                </a:r>
                <a:r>
                  <a:rPr kumimoji="1" lang="ja-JP" altLang="en-US" sz="2400" dirty="0"/>
                  <a:t>）</a:t>
                </a:r>
                <a14:m>
                  <m:oMath xmlns:m="http://schemas.openxmlformats.org/officeDocument/2006/math">
                    <m:r>
                      <a:rPr kumimoji="1" lang="en-US" altLang="ja-JP" sz="2400" b="0" i="0" smtClean="0">
                        <a:latin typeface="Cambria Math" panose="02040503050406030204" pitchFamily="18" charset="0"/>
                      </a:rPr>
                      <m:t>−1&lt;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kumimoji="1" lang="ja-JP" altLang="en-US" sz="2400" dirty="0"/>
                  <a:t>に対応する確率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sz="2400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sz="24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−1&lt;</m:t>
                            </m:r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&lt;1</m:t>
                            </m:r>
                          </m:e>
                        </m:d>
                      </m:e>
                    </m:func>
                  </m:oMath>
                </a14:m>
                <a:r>
                  <a:rPr kumimoji="1" lang="ja-JP" altLang="en-US" sz="2400" dirty="0"/>
                  <a:t>を求めたい</a:t>
                </a:r>
                <a:endParaRPr kumimoji="1" lang="en-US" altLang="ja-JP" sz="2400" dirty="0"/>
              </a:p>
              <a:p>
                <a:pPr lvl="1"/>
                <a:r>
                  <a:rPr lang="ja-JP" altLang="en-US" sz="2000" dirty="0"/>
                  <a:t>手順①　</a:t>
                </a: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=1.00</m:t>
                    </m:r>
                  </m:oMath>
                </a14:m>
                <a:r>
                  <a:rPr lang="ja-JP" altLang="en-US" sz="2000" dirty="0"/>
                  <a:t>のときの上側確率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sz="2000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20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&gt;1.00</m:t>
                            </m:r>
                          </m:e>
                        </m:d>
                      </m:e>
                    </m:func>
                  </m:oMath>
                </a14:m>
                <a:r>
                  <a:rPr lang="ja-JP" altLang="en-US" sz="2000" dirty="0"/>
                  <a:t>を求める</a:t>
                </a:r>
                <a:endParaRPr lang="en-US" altLang="ja-JP" sz="2000" dirty="0"/>
              </a:p>
              <a:p>
                <a:pPr lvl="2"/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sz="1600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16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1600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en-US" altLang="ja-JP" sz="1600" b="0" i="1" smtClean="0">
                                <a:latin typeface="Cambria Math" panose="02040503050406030204" pitchFamily="18" charset="0"/>
                              </a:rPr>
                              <m:t>&gt;1.00</m:t>
                            </m:r>
                          </m:e>
                        </m:d>
                      </m:e>
                    </m:func>
                    <m:r>
                      <a:rPr lang="en-US" altLang="ja-JP" sz="1600" b="0" i="1" smtClean="0">
                        <a:latin typeface="Cambria Math" panose="02040503050406030204" pitchFamily="18" charset="0"/>
                      </a:rPr>
                      <m:t>=0.1586</m:t>
                    </m:r>
                  </m:oMath>
                </a14:m>
                <a:endParaRPr lang="en-US" altLang="ja-JP" sz="1600" dirty="0"/>
              </a:p>
              <a:p>
                <a:pPr lvl="1"/>
                <a:r>
                  <a:rPr lang="ja-JP" altLang="en-US" sz="2000" dirty="0"/>
                  <a:t>手順②　</a:t>
                </a:r>
                <a14:m>
                  <m:oMath xmlns:m="http://schemas.openxmlformats.org/officeDocument/2006/math">
                    <m:r>
                      <a:rPr lang="en-US" altLang="ja-JP" sz="2000" i="1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altLang="ja-JP" sz="2000" i="1">
                        <a:latin typeface="Cambria Math" panose="02040503050406030204" pitchFamily="18" charset="0"/>
                      </a:rPr>
                      <m:t>=−1.00</m:t>
                    </m:r>
                  </m:oMath>
                </a14:m>
                <a:r>
                  <a:rPr lang="ja-JP" altLang="en-US" sz="2000" dirty="0"/>
                  <a:t>のときの下側確率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sz="200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200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&lt;−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00</m:t>
                            </m:r>
                          </m:e>
                        </m:d>
                      </m:e>
                    </m:func>
                  </m:oMath>
                </a14:m>
                <a:r>
                  <a:rPr lang="ja-JP" altLang="en-US" sz="2000" dirty="0"/>
                  <a:t>を求める</a:t>
                </a:r>
                <a:endParaRPr lang="en-US" altLang="ja-JP" sz="2000" dirty="0"/>
              </a:p>
              <a:p>
                <a:pPr lvl="2"/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sz="160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160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1600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en-US" altLang="ja-JP" sz="1600" b="0" i="1" smtClean="0">
                                <a:latin typeface="Cambria Math" panose="02040503050406030204" pitchFamily="18" charset="0"/>
                              </a:rPr>
                              <m:t>&lt;−</m:t>
                            </m:r>
                            <m:r>
                              <a:rPr lang="en-US" altLang="ja-JP" sz="1600" i="1">
                                <a:latin typeface="Cambria Math" panose="02040503050406030204" pitchFamily="18" charset="0"/>
                              </a:rPr>
                              <m:t>1.00</m:t>
                            </m:r>
                          </m:e>
                        </m:d>
                      </m:e>
                    </m:func>
                    <m:r>
                      <a:rPr lang="en-US" altLang="ja-JP" sz="1600" i="1">
                        <a:latin typeface="Cambria Math" panose="02040503050406030204" pitchFamily="18" charset="0"/>
                      </a:rPr>
                      <m:t>=0.1586</m:t>
                    </m:r>
                  </m:oMath>
                </a14:m>
                <a:r>
                  <a:rPr lang="ja-JP" altLang="en-US" sz="1600" dirty="0"/>
                  <a:t>　→　左右対称なので，①と同じ値</a:t>
                </a:r>
                <a:endParaRPr lang="en-US" altLang="ja-JP" sz="1600" dirty="0"/>
              </a:p>
              <a:p>
                <a:pPr lvl="1"/>
                <a:r>
                  <a:rPr lang="ja-JP" altLang="en-US" sz="2000" dirty="0"/>
                  <a:t>手順③　確率の合計</a:t>
                </a:r>
                <a:r>
                  <a:rPr lang="en-US" altLang="ja-JP" sz="2000" dirty="0"/>
                  <a:t>1</a:t>
                </a:r>
                <a:r>
                  <a:rPr lang="ja-JP" altLang="en-US" sz="2000" dirty="0"/>
                  <a:t>から，①と②を引く</a:t>
                </a:r>
                <a:endParaRPr lang="en-US" altLang="ja-JP" sz="2000" dirty="0"/>
              </a:p>
              <a:p>
                <a:pPr lvl="2"/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sz="1600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16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1600" b="0" i="1" smtClean="0">
                                <a:latin typeface="Cambria Math" panose="02040503050406030204" pitchFamily="18" charset="0"/>
                              </a:rPr>
                              <m:t>−1&lt;</m:t>
                            </m:r>
                            <m:r>
                              <a:rPr lang="en-US" altLang="ja-JP" sz="1600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en-US" altLang="ja-JP" sz="1600" b="0" i="1" smtClean="0">
                                <a:latin typeface="Cambria Math" panose="02040503050406030204" pitchFamily="18" charset="0"/>
                              </a:rPr>
                              <m:t>&lt;1</m:t>
                            </m:r>
                          </m:e>
                        </m:d>
                      </m:e>
                    </m:func>
                    <m:r>
                      <a:rPr lang="en-US" altLang="ja-JP" sz="1600" b="0" i="1" smtClean="0">
                        <a:latin typeface="Cambria Math" panose="02040503050406030204" pitchFamily="18" charset="0"/>
                      </a:rPr>
                      <m:t>=1−</m:t>
                    </m:r>
                    <m:d>
                      <m:dPr>
                        <m:ctrlP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altLang="ja-JP" sz="1600" b="0" i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ja-JP" sz="1600" b="0" i="0" smtClean="0"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ja-JP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1600" b="0" i="1" smtClean="0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  <m:r>
                                  <a:rPr lang="en-US" altLang="ja-JP" sz="1600" b="0" i="1" smtClean="0">
                                    <a:latin typeface="Cambria Math" panose="02040503050406030204" pitchFamily="18" charset="0"/>
                                  </a:rPr>
                                  <m:t>&gt;1.00</m:t>
                                </m:r>
                              </m:e>
                            </m:d>
                          </m:e>
                        </m:func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unc>
                          <m:funcPr>
                            <m:ctrlPr>
                              <a:rPr lang="en-US" altLang="ja-JP" sz="1600" b="0" i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ja-JP" sz="1600" b="0" i="0" smtClean="0"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ja-JP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1600" b="0" i="1" smtClean="0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  <m:r>
                                  <a:rPr lang="en-US" altLang="ja-JP" sz="1600" b="0" i="1" smtClean="0">
                                    <a:latin typeface="Cambria Math" panose="02040503050406030204" pitchFamily="18" charset="0"/>
                                  </a:rPr>
                                  <m:t>&lt;−1.00</m:t>
                                </m:r>
                              </m:e>
                            </m:d>
                          </m:e>
                        </m:func>
                      </m:e>
                    </m:d>
                  </m:oMath>
                </a14:m>
                <a:endParaRPr lang="en-US" altLang="ja-JP" sz="1600" b="0" i="1" dirty="0">
                  <a:latin typeface="Cambria Math" panose="02040503050406030204" pitchFamily="18" charset="0"/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lang="en-US" altLang="ja-JP" sz="1600" b="0" i="1" smtClean="0">
                        <a:latin typeface="Cambria Math" panose="02040503050406030204" pitchFamily="18" charset="0"/>
                      </a:rPr>
                      <m:t>=1−</m:t>
                    </m:r>
                    <m:d>
                      <m:dPr>
                        <m:ctrlP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0.1586+0.1586</m:t>
                        </m:r>
                      </m:e>
                    </m:d>
                    <m:r>
                      <a:rPr lang="en-US" altLang="ja-JP" sz="1600" b="0" i="1" smtClean="0">
                        <a:latin typeface="Cambria Math" panose="02040503050406030204" pitchFamily="18" charset="0"/>
                      </a:rPr>
                      <m:t>=0.6828</m:t>
                    </m:r>
                  </m:oMath>
                </a14:m>
                <a:endParaRPr lang="en-US" altLang="ja-JP" sz="1600" dirty="0"/>
              </a:p>
              <a:p>
                <a:pPr lvl="1"/>
                <a:endParaRPr lang="en-US" altLang="ja-JP" sz="2000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3AD076E7-E12A-5B48-D834-C25999A270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24" t="-9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図 5">
            <a:extLst>
              <a:ext uri="{FF2B5EF4-FFF2-40B4-BE49-F238E27FC236}">
                <a16:creationId xmlns:a16="http://schemas.microsoft.com/office/drawing/2014/main" id="{F974A85F-6EA6-7AEE-16EB-8686A76E43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8500" y="3976587"/>
            <a:ext cx="4573524" cy="274472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E9B0AE35-CA38-64AF-5558-CC6917C3A564}"/>
                  </a:ext>
                </a:extLst>
              </p:cNvPr>
              <p:cNvSpPr txBox="1"/>
              <p:nvPr/>
            </p:nvSpPr>
            <p:spPr>
              <a:xfrm>
                <a:off x="6950193" y="3864262"/>
                <a:ext cx="182941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kumimoji="1" lang="en-US" altLang="ja-JP" sz="1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ja-JP" sz="1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−1&lt;</m:t>
                              </m:r>
                              <m:r>
                                <a:rPr kumimoji="1" lang="en-US" altLang="ja-JP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kumimoji="1" lang="en-US" altLang="ja-JP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&lt;1</m:t>
                              </m:r>
                            </m:e>
                          </m:d>
                        </m:e>
                      </m:func>
                    </m:oMath>
                    <m:oMath>
                      <m:r>
                        <a:rPr kumimoji="1" lang="en-US" altLang="ja-JP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=0.6828</m:t>
                      </m:r>
                    </m:oMath>
                  </m:oMathPara>
                </a14:m>
                <a:endParaRPr kumimoji="1" lang="ja-JP" altLang="en-US" sz="18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E9B0AE35-CA38-64AF-5558-CC6917C3A5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0193" y="3864262"/>
                <a:ext cx="1829412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97B0F280-5FE9-AB32-A45D-899F4DE6D28C}"/>
              </a:ext>
            </a:extLst>
          </p:cNvPr>
          <p:cNvCxnSpPr>
            <a:cxnSpLocks/>
          </p:cNvCxnSpPr>
          <p:nvPr/>
        </p:nvCxnSpPr>
        <p:spPr>
          <a:xfrm flipH="1">
            <a:off x="6950193" y="4510593"/>
            <a:ext cx="386272" cy="6713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1C4E3318-ACFD-C1A5-B2F1-3AF902ACC5C5}"/>
                  </a:ext>
                </a:extLst>
              </p:cNvPr>
              <p:cNvSpPr txBox="1"/>
              <p:nvPr/>
            </p:nvSpPr>
            <p:spPr>
              <a:xfrm>
                <a:off x="7815137" y="5227427"/>
                <a:ext cx="87940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kumimoji="1" lang="en-US" altLang="ja-JP" sz="1200" b="0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ja-JP" sz="1200" b="0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1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1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kumimoji="1" lang="en-US" altLang="ja-JP" sz="1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&gt;1</m:t>
                              </m:r>
                            </m:e>
                          </m:d>
                        </m:e>
                      </m:func>
                    </m:oMath>
                    <m:oMath>
                      <m:r>
                        <a:rPr kumimoji="1" lang="en-US" altLang="ja-JP" sz="12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=0.1586</m:t>
                      </m:r>
                    </m:oMath>
                  </m:oMathPara>
                </a14:m>
                <a:endParaRPr kumimoji="1" lang="ja-JP" altLang="en-US" sz="1200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1C4E3318-ACFD-C1A5-B2F1-3AF902ACC5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5137" y="5227427"/>
                <a:ext cx="879407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A80C6068-5E06-56D5-37FC-C8670C7EF56F}"/>
              </a:ext>
            </a:extLst>
          </p:cNvPr>
          <p:cNvCxnSpPr>
            <a:cxnSpLocks/>
          </p:cNvCxnSpPr>
          <p:nvPr/>
        </p:nvCxnSpPr>
        <p:spPr>
          <a:xfrm flipH="1">
            <a:off x="7497657" y="5689092"/>
            <a:ext cx="510615" cy="562852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F5C56024-E72A-2656-46E0-862F7659A50D}"/>
                  </a:ext>
                </a:extLst>
              </p:cNvPr>
              <p:cNvSpPr txBox="1"/>
              <p:nvPr/>
            </p:nvSpPr>
            <p:spPr>
              <a:xfrm>
                <a:off x="4658638" y="5227427"/>
                <a:ext cx="99482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kumimoji="1" lang="en-US" altLang="ja-JP" sz="1200" b="0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ja-JP" sz="1200" b="0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1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1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kumimoji="1" lang="en-US" altLang="ja-JP" sz="1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&lt;−1</m:t>
                              </m:r>
                            </m:e>
                          </m:d>
                        </m:e>
                      </m:func>
                    </m:oMath>
                    <m:oMath>
                      <m:r>
                        <a:rPr kumimoji="1" lang="en-US" altLang="ja-JP" sz="12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=0.1586</m:t>
                      </m:r>
                    </m:oMath>
                  </m:oMathPara>
                </a14:m>
                <a:endParaRPr kumimoji="1" lang="ja-JP" altLang="en-US" sz="1200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F5C56024-E72A-2656-46E0-862F7659A5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8638" y="5227427"/>
                <a:ext cx="994824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0E8AE0C8-EA72-B3E3-5F0F-6A20F970FBA7}"/>
              </a:ext>
            </a:extLst>
          </p:cNvPr>
          <p:cNvCxnSpPr>
            <a:cxnSpLocks/>
          </p:cNvCxnSpPr>
          <p:nvPr/>
        </p:nvCxnSpPr>
        <p:spPr>
          <a:xfrm>
            <a:off x="5301289" y="5689092"/>
            <a:ext cx="572311" cy="562852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3797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>
          <a:extLst>
            <a:ext uri="{FF2B5EF4-FFF2-40B4-BE49-F238E27FC236}">
              <a16:creationId xmlns:a16="http://schemas.microsoft.com/office/drawing/2014/main" id="{29144CC2-02CA-26A2-D34D-C350DC6A0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">
            <a:extLst>
              <a:ext uri="{FF2B5EF4-FFF2-40B4-BE49-F238E27FC236}">
                <a16:creationId xmlns:a16="http://schemas.microsoft.com/office/drawing/2014/main" id="{77FFCF57-807B-9CB0-1579-981CCC34FB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 altLang="ja-JP" dirty="0"/>
              <a:t>Summary</a:t>
            </a:r>
            <a:endParaRPr dirty="0"/>
          </a:p>
        </p:txBody>
      </p:sp>
      <p:sp>
        <p:nvSpPr>
          <p:cNvPr id="74" name="Google Shape;74;p2">
            <a:extLst>
              <a:ext uri="{FF2B5EF4-FFF2-40B4-BE49-F238E27FC236}">
                <a16:creationId xmlns:a16="http://schemas.microsoft.com/office/drawing/2014/main" id="{589958A4-CA0A-34CB-D743-3B0C3DCFE3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06000" lvl="0" indent="-306000" algn="l" rtl="0">
              <a:spcBef>
                <a:spcPts val="0"/>
              </a:spcBef>
              <a:spcAft>
                <a:spcPts val="0"/>
              </a:spcAft>
              <a:buSzPts val="2660"/>
              <a:buFont typeface="Noto Sans Symbols"/>
              <a:buChar char="◆"/>
            </a:pPr>
            <a:r>
              <a:rPr lang="ja-JP" dirty="0"/>
              <a:t>第2章　第2節　確率分布</a:t>
            </a:r>
            <a:endParaRPr dirty="0"/>
          </a:p>
          <a:p>
            <a:pPr marL="630000" lvl="1" indent="-306000">
              <a:spcBef>
                <a:spcPts val="1080"/>
              </a:spcBef>
            </a:pPr>
            <a:r>
              <a:rPr lang="ja-JP" dirty="0"/>
              <a:t>積分の概念を学ぶ</a:t>
            </a:r>
            <a:endParaRPr lang="en-US" altLang="ja-JP" dirty="0"/>
          </a:p>
          <a:p>
            <a:pPr marL="1087200" lvl="2" indent="-306000">
              <a:spcBef>
                <a:spcPts val="1080"/>
              </a:spcBef>
            </a:pPr>
            <a:r>
              <a:rPr lang="ja-JP" altLang="en-US" dirty="0"/>
              <a:t>積分：①横軸と②横軸上の点，③グラフで囲まれた部分の面積</a:t>
            </a:r>
            <a:endParaRPr dirty="0"/>
          </a:p>
          <a:p>
            <a:pPr marL="630000" lvl="1" indent="-306000" algn="l" rtl="0">
              <a:spcBef>
                <a:spcPts val="1080"/>
              </a:spcBef>
              <a:spcAft>
                <a:spcPts val="0"/>
              </a:spcAft>
              <a:buSzPts val="2280"/>
              <a:buChar char="✔"/>
            </a:pPr>
            <a:r>
              <a:rPr lang="ja-JP" dirty="0"/>
              <a:t>標準正規分布とその特徴について理解する</a:t>
            </a:r>
            <a:endParaRPr lang="en-US" altLang="ja-JP" dirty="0"/>
          </a:p>
          <a:p>
            <a:pPr marL="630000" lvl="1" indent="-306000">
              <a:spcBef>
                <a:spcPts val="1080"/>
              </a:spcBef>
            </a:pPr>
            <a:r>
              <a:rPr lang="ja-JP" altLang="ja-JP" dirty="0"/>
              <a:t>確率分布の期待値と分散</a:t>
            </a:r>
            <a:endParaRPr lang="en-US" altLang="ja-JP" dirty="0"/>
          </a:p>
          <a:p>
            <a:pPr marL="630000" lvl="1" indent="-306000">
              <a:spcBef>
                <a:spcPts val="1080"/>
              </a:spcBef>
            </a:pPr>
            <a:r>
              <a:rPr lang="ja-JP" altLang="en-US" dirty="0"/>
              <a:t>正規分布・標準正規分布・標準正規分布表</a:t>
            </a:r>
            <a:endParaRPr dirty="0"/>
          </a:p>
          <a:p>
            <a:pPr marL="324000" lvl="1" indent="0" algn="l" rtl="0">
              <a:spcBef>
                <a:spcPts val="1080"/>
              </a:spcBef>
              <a:spcAft>
                <a:spcPts val="0"/>
              </a:spcAft>
              <a:buSzPts val="2280"/>
              <a:buNone/>
            </a:pPr>
            <a:endParaRPr dirty="0"/>
          </a:p>
        </p:txBody>
      </p:sp>
      <p:sp>
        <p:nvSpPr>
          <p:cNvPr id="75" name="Google Shape;75;p2">
            <a:extLst>
              <a:ext uri="{FF2B5EF4-FFF2-40B4-BE49-F238E27FC236}">
                <a16:creationId xmlns:a16="http://schemas.microsoft.com/office/drawing/2014/main" id="{71661E4D-B4D8-A529-4359-DED71A76DA3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765924"/>
      </p:ext>
    </p:extLst>
  </p:cSld>
  <p:clrMapOvr>
    <a:masterClrMapping/>
  </p:clrMapOvr>
</p:sld>
</file>

<file path=ppt/theme/theme1.xml><?xml version="1.0" encoding="utf-8"?>
<a:theme xmlns:a="http://schemas.openxmlformats.org/drawingml/2006/main" name="配当">
  <a:themeElements>
    <a:clrScheme name="Santorini">
      <a:dk1>
        <a:srgbClr val="000000"/>
      </a:dk1>
      <a:lt1>
        <a:srgbClr val="FEFDFC"/>
      </a:lt1>
      <a:dk2>
        <a:srgbClr val="3D3D3D"/>
      </a:dk2>
      <a:lt2>
        <a:srgbClr val="E6EAEB"/>
      </a:lt2>
      <a:accent1>
        <a:srgbClr val="0065B2"/>
      </a:accent1>
      <a:accent2>
        <a:srgbClr val="68A5DA"/>
      </a:accent2>
      <a:accent3>
        <a:srgbClr val="C19969"/>
      </a:accent3>
      <a:accent4>
        <a:srgbClr val="C8BCA1"/>
      </a:accent4>
      <a:accent5>
        <a:srgbClr val="DC077F"/>
      </a:accent5>
      <a:accent6>
        <a:srgbClr val="FCE5E2"/>
      </a:accent6>
      <a:hlink>
        <a:srgbClr val="B9C3C9"/>
      </a:hlink>
      <a:folHlink>
        <a:srgbClr val="B9C3C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404</TotalTime>
  <Words>1235</Words>
  <Application>Microsoft Office PowerPoint</Application>
  <PresentationFormat>画面に合わせる (4:3)</PresentationFormat>
  <Paragraphs>219</Paragraphs>
  <Slides>28</Slides>
  <Notes>15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28</vt:i4>
      </vt:variant>
    </vt:vector>
  </HeadingPairs>
  <TitlesOfParts>
    <vt:vector size="36" baseType="lpstr">
      <vt:lpstr>Arial</vt:lpstr>
      <vt:lpstr>Impact</vt:lpstr>
      <vt:lpstr>Gill Sans</vt:lpstr>
      <vt:lpstr>HG丸ｺﾞｼｯｸM-PRO</vt:lpstr>
      <vt:lpstr>Cambria Math</vt:lpstr>
      <vt:lpstr>Noto Sans Symbols</vt:lpstr>
      <vt:lpstr>BIZ UDPゴシック</vt:lpstr>
      <vt:lpstr>配当</vt:lpstr>
      <vt:lpstr>確率分布：連続確率分布 前半</vt:lpstr>
      <vt:lpstr>今日の目標</vt:lpstr>
      <vt:lpstr>PowerPoint プレゼンテーション</vt:lpstr>
      <vt:lpstr>連続確率分布</vt:lpstr>
      <vt:lpstr>連続確率分布</vt:lpstr>
      <vt:lpstr>連続確率分布</vt:lpstr>
      <vt:lpstr>確率密度関数の積分</vt:lpstr>
      <vt:lpstr>例①　すべての範囲の場合</vt:lpstr>
      <vt:lpstr>例②　下側確率の場合</vt:lpstr>
      <vt:lpstr>例③　aからbまでの範囲の場合</vt:lpstr>
      <vt:lpstr>PowerPoint プレゼンテーション</vt:lpstr>
      <vt:lpstr>確率分布の期待値</vt:lpstr>
      <vt:lpstr>確率分布の分散</vt:lpstr>
      <vt:lpstr>PowerPoint プレゼンテーション</vt:lpstr>
      <vt:lpstr>正規分布</vt:lpstr>
      <vt:lpstr>正規分布の特徴</vt:lpstr>
      <vt:lpstr>正規分布の確率</vt:lpstr>
      <vt:lpstr>標準正規分布</vt:lpstr>
      <vt:lpstr>PowerPoint プレゼンテーション</vt:lpstr>
      <vt:lpstr>標準正規分布表</vt:lpstr>
      <vt:lpstr>標準正規分布表の読み方①</vt:lpstr>
      <vt:lpstr>標準正規分布表の読み方①</vt:lpstr>
      <vt:lpstr>（補足１）標準正規分布表の読み方①</vt:lpstr>
      <vt:lpstr>（補足２）標準正規分布表の読み方①</vt:lpstr>
      <vt:lpstr>標準正規分布表の読み方②</vt:lpstr>
      <vt:lpstr>標準正規分布表の読み方③</vt:lpstr>
      <vt:lpstr>標準正規分布表の読み方④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Maria Ikegawa</dc:creator>
  <cp:lastModifiedBy>津村幸治</cp:lastModifiedBy>
  <cp:revision>47</cp:revision>
  <dcterms:created xsi:type="dcterms:W3CDTF">2025-03-03T09:28:12Z</dcterms:created>
  <dcterms:modified xsi:type="dcterms:W3CDTF">2026-09-13T07:10:36Z</dcterms:modified>
</cp:coreProperties>
</file>