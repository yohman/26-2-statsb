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3"/>
  </p:notesMasterIdLst>
  <p:sldIdLst>
    <p:sldId id="256" r:id="rId2"/>
    <p:sldId id="262" r:id="rId3"/>
    <p:sldId id="576" r:id="rId4"/>
    <p:sldId id="577" r:id="rId5"/>
    <p:sldId id="579" r:id="rId6"/>
    <p:sldId id="585" r:id="rId7"/>
    <p:sldId id="588" r:id="rId8"/>
    <p:sldId id="589" r:id="rId9"/>
    <p:sldId id="591" r:id="rId10"/>
    <p:sldId id="593" r:id="rId11"/>
    <p:sldId id="592" r:id="rId12"/>
    <p:sldId id="595" r:id="rId13"/>
    <p:sldId id="596" r:id="rId14"/>
    <p:sldId id="597" r:id="rId15"/>
    <p:sldId id="598" r:id="rId16"/>
    <p:sldId id="599" r:id="rId17"/>
    <p:sldId id="600" r:id="rId18"/>
    <p:sldId id="601" r:id="rId19"/>
    <p:sldId id="602" r:id="rId20"/>
    <p:sldId id="603" r:id="rId21"/>
    <p:sldId id="60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136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61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#04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[AL] </a:t>
            </a:r>
            <a:r>
              <a:rPr lang="ja-JP" altLang="en-US" dirty="0"/>
              <a:t>確率分布：離散確率分布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291E1C6-B8C3-318D-42F1-7C5FA6D8F90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回中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回起こる組み合わせ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ja-JP" altLang="en-US" dirty="0"/>
                  <a:t>　：階乗，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から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までの積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ja-JP" altLang="en-US" dirty="0"/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回あたり起こる確率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の，起こる回数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乗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回あたり起こらない確率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乗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「起こらない」＝「起こる」の余事象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100%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</a:t>
                </a:r>
                <a:r>
                  <a:rPr lang="en-US" altLang="ja-JP" sz="1600" dirty="0">
                    <a:solidFill>
                      <a:schemeClr val="tx2"/>
                    </a:solidFill>
                  </a:rPr>
                  <a:t>=1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から「起こる確率」を引けば良い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2105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FEB124-A7E8-C6B2-38B6-5FB72AE867C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91A56D-0980-77E4-093C-DA237746EBC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場合の近似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AA4E95-42CA-9C81-5D84-791EB955B38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FAF12D-807F-F3C3-AF05-E4FCA099A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練習問題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C76A74-C3B3-7F79-DFD5-59B6BA0A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913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①ヒットを打つ確率をさらに細かく考えてみよう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967FAD-6DCB-6505-7656-462158292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前回の演習例</a:t>
            </a:r>
            <a:endParaRPr lang="en-US" altLang="ja-JP" dirty="0"/>
          </a:p>
          <a:p>
            <a:pPr lvl="1"/>
            <a:r>
              <a:rPr lang="ja-JP" altLang="en-US" dirty="0"/>
              <a:t>ある野球選手の打率は </a:t>
            </a:r>
            <a:r>
              <a:rPr lang="en-US" altLang="ja-JP" dirty="0"/>
              <a:t>3</a:t>
            </a:r>
            <a:r>
              <a:rPr lang="ja-JP" altLang="en-US" dirty="0"/>
              <a:t>割</a:t>
            </a:r>
            <a:r>
              <a:rPr lang="en-US" altLang="ja-JP" dirty="0"/>
              <a:t>2</a:t>
            </a:r>
            <a:r>
              <a:rPr lang="ja-JP" altLang="en-US" dirty="0"/>
              <a:t>分</a:t>
            </a:r>
            <a:r>
              <a:rPr lang="ja-JP" altLang="en-US" sz="1800" dirty="0"/>
              <a:t>（</a:t>
            </a:r>
            <a:r>
              <a:rPr lang="en-US" altLang="ja-JP" sz="1800" dirty="0"/>
              <a:t>0.32</a:t>
            </a:r>
            <a:r>
              <a:rPr lang="ja-JP" altLang="en-US" sz="1800" dirty="0"/>
              <a:t>）</a:t>
            </a:r>
            <a:r>
              <a:rPr lang="ja-JP" altLang="en-US" dirty="0"/>
              <a:t>である．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この選手が </a:t>
            </a:r>
            <a:r>
              <a:rPr lang="en-US" altLang="ja-JP" dirty="0"/>
              <a:t>5</a:t>
            </a:r>
            <a:r>
              <a:rPr lang="ja-JP" altLang="en-US" dirty="0"/>
              <a:t>回 打席に立つとき，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3</a:t>
            </a:r>
            <a:r>
              <a:rPr lang="ja-JP" altLang="en-US" dirty="0"/>
              <a:t>回ヒットを打つ 確率を求めたい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ヒットが</a:t>
            </a:r>
            <a:r>
              <a:rPr lang="en-US" altLang="ja-JP" dirty="0"/>
              <a:t>1</a:t>
            </a:r>
            <a:r>
              <a:rPr lang="ja-JP" altLang="en-US" dirty="0"/>
              <a:t>度も打てない確率から，</a:t>
            </a:r>
            <a:br>
              <a:rPr lang="en-US" altLang="ja-JP" dirty="0"/>
            </a:br>
            <a:r>
              <a:rPr lang="en-US" altLang="ja-JP" dirty="0"/>
              <a:t>5</a:t>
            </a:r>
            <a:r>
              <a:rPr lang="ja-JP" altLang="en-US" dirty="0"/>
              <a:t>回ともヒットを打つ確率まで，</a:t>
            </a:r>
            <a:br>
              <a:rPr lang="en-US" altLang="ja-JP" dirty="0"/>
            </a:br>
            <a:r>
              <a:rPr lang="ja-JP" altLang="en-US" dirty="0"/>
              <a:t>すべてのパターンの確率を求めてみよう</a:t>
            </a:r>
            <a:endParaRPr kumimoji="1" lang="ja-JP" altLang="en-US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706843" y="899962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207535" y="222043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2976643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6612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122C-9DA9-5505-748F-6D95E131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1ACB7-D0F2-DD73-5DC2-92635ED8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AD2C12-8162-1196-8F39-A92AD394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FFFA3D1-C1D3-B1DF-4B91-11AA766F1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項から順に計算してみよう：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5×4×3×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4×3×2×1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3×2×1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×3×2×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5×4×3×2×1</m:t>
                            </m:r>
                          </m:e>
                        </m:d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FFFA3D1-C1D3-B1DF-4B91-11AA766F1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7" t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EC8314-6252-15C5-054A-A6E4C30E1AF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46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B335-8D32-2A1B-3872-50A57E17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7A904-0578-FD3E-1CBF-EE663DFD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7E2E42-6657-60D7-E7C6-95F8A4DD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DD4559-3A43-8D4F-9A60-4A9AD303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0.32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0.1024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0.032768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0.01048576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0.003355443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DD4559-3A43-8D4F-9A60-4A9AD303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FB36E6-60B1-5360-96FB-31BF5013964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38866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0E95D-CD82-A64D-5C02-59E71E7E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227D6-513A-36F2-0B59-9459BBE3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E4F42A-633D-B031-A3E7-DFDECE5C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582AA2E-B207-ACCC-1786-F3BB2850C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5−0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=0.145393357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0.21381376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0.314432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0.4624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0.68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582AA2E-B207-ACCC-1786-F3BB2850C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9573E5-8622-884D-693C-3B37B424F7D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63690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A880-C7C0-BCBE-13F2-ABAA386A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06E364-F3A5-3B65-B07F-D22067BA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538E13-3F38-CF6A-9660-55FFF938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A5F9C35-A351-3305-B5D7-9E78850BE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×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×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0.145393357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=0.1454=14.54%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0.21381376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=0.3421=34.21%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0.1024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0.314432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=0.3220=32.20%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0.032768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0.4624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=0.1515=15.15%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=4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0.01048576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×0.68=0.0357=3.57%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=5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0.003355443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×1=0.0034=0.34%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A5F9C35-A351-3305-B5D7-9E78850BE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3E405C-F309-B400-7D92-146C45B3B6D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8425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0A3B0-E95E-0250-9BFD-90257F37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A3FD96-24C3-F761-DC03-2D6FA416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13DC6B-4D38-8180-6AAF-0907C2CA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レア排出率</a:t>
            </a:r>
            <a:r>
              <a:rPr lang="en-US" altLang="ja-JP" dirty="0"/>
              <a:t>0.05%</a:t>
            </a:r>
            <a:r>
              <a:rPr lang="ja-JP" altLang="en-US" dirty="0"/>
              <a:t>のガチャを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回引いたときに，</a:t>
            </a:r>
            <a:br>
              <a:rPr kumimoji="1" lang="en-US" altLang="ja-JP" dirty="0"/>
            </a:br>
            <a:r>
              <a:rPr kumimoji="1" lang="ja-JP" altLang="en-US" dirty="0"/>
              <a:t>レアが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個以上当たる確率は？</a:t>
            </a:r>
            <a:endParaRPr kumimoji="1" lang="en-US" altLang="ja-JP" dirty="0"/>
          </a:p>
          <a:p>
            <a:pPr lvl="1"/>
            <a:r>
              <a:rPr lang="ja-JP" altLang="en-US" dirty="0"/>
              <a:t>ヒント①：「</a:t>
            </a:r>
            <a:r>
              <a:rPr lang="en-US" altLang="ja-JP" dirty="0"/>
              <a:t>1</a:t>
            </a:r>
            <a:r>
              <a:rPr lang="ja-JP" altLang="en-US" dirty="0"/>
              <a:t>個以上」なので</a:t>
            </a:r>
            <a:r>
              <a:rPr lang="en-US" altLang="ja-JP" dirty="0"/>
              <a:t>2</a:t>
            </a:r>
            <a:r>
              <a:rPr lang="ja-JP" altLang="en-US" dirty="0"/>
              <a:t>個でも</a:t>
            </a:r>
            <a:r>
              <a:rPr lang="en-US" altLang="ja-JP" dirty="0"/>
              <a:t>3</a:t>
            </a:r>
            <a:r>
              <a:rPr lang="ja-JP" altLang="en-US" dirty="0"/>
              <a:t>個でも良い</a:t>
            </a:r>
            <a:endParaRPr lang="en-US" altLang="ja-JP" dirty="0"/>
          </a:p>
          <a:p>
            <a:pPr lvl="1"/>
            <a:r>
              <a:rPr kumimoji="1" lang="ja-JP" altLang="en-US" dirty="0"/>
              <a:t>ヒント②：余事象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6696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6966-5BD9-9BA6-5BEF-A6CA7904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63694A-5003-634E-BE4D-868DB848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FA90A2-FC9D-B102-C726-70E2115B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C724AA-4D08-8D9F-DE44-C69B10895A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ヒント①：「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個以上」なので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個でも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個でも良い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ヒント②：余事象</a:t>
                </a:r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kumimoji="1" lang="ja-JP" altLang="en-US" dirty="0"/>
                  <a:t>当たる確率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：排出率</a:t>
                </a:r>
                <a:r>
                  <a:rPr kumimoji="1" lang="en-US" altLang="ja-JP" dirty="0"/>
                  <a:t>0.05%=0.0005</a:t>
                </a:r>
              </a:p>
              <a:p>
                <a:r>
                  <a:rPr lang="ja-JP" altLang="en-US" dirty="0"/>
                  <a:t>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：ガチャを回す回数＝</a:t>
                </a:r>
                <a:r>
                  <a:rPr kumimoji="1" lang="en-US" altLang="ja-JP" dirty="0"/>
                  <a:t>100</a:t>
                </a:r>
                <a:endParaRPr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個以上当たる＝「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個も当たらない」の余事象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つまり</a:t>
                </a:r>
                <a:br>
                  <a:rPr lang="en-US" altLang="ja-JP" dirty="0"/>
                </a:br>
                <a:r>
                  <a:rPr lang="ja-JP" altLang="en-US" dirty="0"/>
                  <a:t>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個も当たらない確率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」を計算して，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から引けば良い．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C724AA-4D08-8D9F-DE44-C69B10895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1D0103-8B65-94F2-D90D-54060E8CC63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71577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221DE-33E3-84E2-B826-FAF10F4B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C3791-98F9-ADD9-9E51-29506F3F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F4D221-3870-7FAD-D653-4964FDD2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37360A3-EB97-50D8-9D80-1469F8A4B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ヒント①：「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個以上」なので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個でも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個でも良い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ヒント②：余事象</a:t>
                </a:r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回も当たらない確率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0.0005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1−0.0005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×1×0.95121753=0.95121753</m:t>
                    </m:r>
                  </m:oMath>
                </a14:m>
                <a:endParaRPr kumimoji="1"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回も当たらない確率の余事象＝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つ以上当たる確率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1−0.95121753=0.048782=4.89%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回当たる確率～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回当たる確率の合計と比べてみよう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37360A3-EB97-50D8-9D80-1469F8A4B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BB1137-8B87-714B-8002-F3D69073DC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28838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5D05-BDD9-6BC2-B0F8-7070A9EB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5921E-BE9C-7D92-D4A3-43B31ADD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③ガチャが当たる確率の期待値と分散を求めよう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5A2FE7-9656-682C-386A-163D9A69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3B514D-4A1C-1D09-3DB6-93D47462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レア排出率</a:t>
            </a:r>
            <a:r>
              <a:rPr lang="en-US" altLang="ja-JP" dirty="0"/>
              <a:t>0.05%</a:t>
            </a:r>
            <a:r>
              <a:rPr lang="ja-JP" altLang="en-US" dirty="0"/>
              <a:t>のガチャを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回引いたときに，</a:t>
            </a:r>
            <a:br>
              <a:rPr kumimoji="1" lang="en-US" altLang="ja-JP" dirty="0"/>
            </a:br>
            <a:r>
              <a:rPr kumimoji="1" lang="ja-JP" altLang="en-US" dirty="0"/>
              <a:t>レアが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個以上当たる確率は？</a:t>
            </a:r>
            <a:endParaRPr kumimoji="1" lang="en-US" altLang="ja-JP" dirty="0"/>
          </a:p>
          <a:p>
            <a:r>
              <a:rPr lang="ja-JP" altLang="en-US" dirty="0"/>
              <a:t>期待値と分散を求めよう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35974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CDEA-FB6C-BC26-15A4-E7284114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A1898-60B0-CD65-6F66-59824B9D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③ガチャが当たる確率の期待値と分散を求めよう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A1FDB0-CAB5-445D-4F3B-7E2093E0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BA52DD-CD17-C9AB-A1FF-A41D25316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r>
                  <a:rPr lang="ja-JP" altLang="en-US" dirty="0"/>
                  <a:t>期待値と分散を求めよう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=100×0.0005=0.05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en-US" altLang="ja-JP" dirty="0"/>
                  <a:t>100</a:t>
                </a:r>
                <a:r>
                  <a:rPr lang="ja-JP" altLang="en-US" dirty="0"/>
                  <a:t>回引くと，平均的に</a:t>
                </a:r>
                <a:r>
                  <a:rPr lang="en-US" altLang="ja-JP" dirty="0"/>
                  <a:t>0.05</a:t>
                </a:r>
                <a:r>
                  <a:rPr lang="ja-JP" altLang="en-US" dirty="0"/>
                  <a:t>個当たる</a:t>
                </a:r>
                <a:endParaRPr lang="en-US" altLang="ja-JP" dirty="0"/>
              </a:p>
              <a:p>
                <a:pPr lvl="2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個に届かないので，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個も当たらないことも多々ある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</a:t>
                </a:r>
                <a:r>
                  <a:rPr lang="ja-JP" altLang="en-US" dirty="0"/>
                  <a:t>個も当たらない確率が</a:t>
                </a:r>
                <a:r>
                  <a:rPr lang="en-US" altLang="ja-JP" dirty="0"/>
                  <a:t>95.12%</a:t>
                </a:r>
                <a:r>
                  <a:rPr lang="ja-JP" altLang="en-US" dirty="0"/>
                  <a:t>なので妥当</a:t>
                </a:r>
                <a:endParaRPr kumimoji="1" lang="en-US" altLang="ja-JP" dirty="0"/>
              </a:p>
              <a:p>
                <a:r>
                  <a:rPr lang="ja-JP" altLang="en-US" dirty="0"/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×0.0005×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1−0.0005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=0.049975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BA52DD-CD17-C9AB-A1FF-A41D25316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12C8FF9-A258-0214-0F6A-AFCBC75916B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4789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79D2C-B78A-B93C-ACAF-3B9570B03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④不良品の個数を考えよう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15D379-10AE-67CB-3FE0-D7EEAC7A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BA9E92B-E7FE-ADDC-01F5-E2F1A78F9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ある工場で，不良品の製品は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1,000</a:t>
                </a:r>
                <a:r>
                  <a:rPr kumimoji="1" lang="ja-JP" altLang="en-US" dirty="0"/>
                  <a:t>個中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個あることがわかっている．</a:t>
                </a:r>
              </a:p>
              <a:p>
                <a:r>
                  <a:rPr kumimoji="1" lang="ja-JP" altLang="en-US" dirty="0"/>
                  <a:t>これから出荷する製品</a:t>
                </a:r>
                <a:r>
                  <a:rPr kumimoji="1" lang="en-US" altLang="ja-JP" dirty="0"/>
                  <a:t>3,500</a:t>
                </a:r>
                <a:r>
                  <a:rPr kumimoji="1" lang="ja-JP" altLang="en-US" dirty="0"/>
                  <a:t>個のうち，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不良品の数を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とすると</a:t>
                </a:r>
                <a:r>
                  <a:rPr lang="ja-JP" altLang="en-US" dirty="0"/>
                  <a:t>，</a:t>
                </a:r>
                <a:br>
                  <a:rPr lang="en-US" altLang="ja-JP" dirty="0"/>
                </a:br>
                <a:r>
                  <a:rPr kumimoji="1" lang="ja-JP" altLang="en-US" dirty="0"/>
                  <a:t>その確率分布はポアソン分布で近似できるものとする．</a:t>
                </a:r>
                <a:endParaRPr kumimoji="1" lang="en-US" altLang="ja-JP" dirty="0"/>
              </a:p>
              <a:p>
                <a:r>
                  <a:rPr lang="ja-JP" altLang="en-US" dirty="0"/>
                  <a:t>これから出荷する製品</a:t>
                </a:r>
                <a:r>
                  <a:rPr lang="en-US" altLang="ja-JP" dirty="0"/>
                  <a:t>3,500</a:t>
                </a:r>
                <a:r>
                  <a:rPr lang="ja-JP" altLang="en-US" dirty="0"/>
                  <a:t>個のうち，</a:t>
                </a:r>
                <a:br>
                  <a:rPr lang="en-US" altLang="ja-JP" dirty="0"/>
                </a:br>
                <a:r>
                  <a:rPr lang="ja-JP" altLang="en-US" dirty="0"/>
                  <a:t>予測される不良品の個数</a:t>
                </a:r>
                <a:r>
                  <a:rPr lang="ja-JP" altLang="en-US" sz="2000" dirty="0"/>
                  <a:t>（期待値）</a:t>
                </a:r>
                <a:r>
                  <a:rPr lang="ja-JP" altLang="en-US" dirty="0"/>
                  <a:t>はいくつか．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BA9E92B-E7FE-ADDC-01F5-E2F1A78F9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370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9C4E-07F6-C549-F921-8E8A8280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9CC82-6CA8-0ED3-8020-7CC356B5C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④不良品の個数を考えよう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87BF4D4-40D0-DAE1-CF19-916A9D9B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B2551D3-0357-5344-8A34-EA2E4E771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ある工場で，不良品の製品は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1,000</a:t>
                </a:r>
                <a:r>
                  <a:rPr kumimoji="1" lang="ja-JP" altLang="en-US" dirty="0"/>
                  <a:t>個中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個あることがわかっている．</a:t>
                </a:r>
              </a:p>
              <a:p>
                <a:r>
                  <a:rPr kumimoji="1" lang="ja-JP" altLang="en-US" dirty="0"/>
                  <a:t>これから出荷する製品</a:t>
                </a:r>
                <a:r>
                  <a:rPr kumimoji="1" lang="en-US" altLang="ja-JP" dirty="0"/>
                  <a:t>3,500</a:t>
                </a:r>
                <a:r>
                  <a:rPr kumimoji="1" lang="ja-JP" altLang="en-US" dirty="0"/>
                  <a:t>個のうち，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不良品の数を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とすると</a:t>
                </a:r>
                <a:r>
                  <a:rPr lang="ja-JP" altLang="en-US" dirty="0"/>
                  <a:t>，</a:t>
                </a:r>
                <a:br>
                  <a:rPr lang="en-US" altLang="ja-JP" dirty="0"/>
                </a:br>
                <a:r>
                  <a:rPr kumimoji="1" lang="ja-JP" altLang="en-US" dirty="0"/>
                  <a:t>その確率分布はポアソン分布で近似できるものとする．</a:t>
                </a:r>
                <a:endParaRPr kumimoji="1" lang="en-US" altLang="ja-JP" dirty="0"/>
              </a:p>
              <a:p>
                <a:r>
                  <a:rPr lang="ja-JP" altLang="en-US" dirty="0"/>
                  <a:t>これから出荷する製品</a:t>
                </a:r>
                <a:r>
                  <a:rPr lang="en-US" altLang="ja-JP" dirty="0"/>
                  <a:t>3,500</a:t>
                </a:r>
                <a:r>
                  <a:rPr lang="ja-JP" altLang="en-US" dirty="0"/>
                  <a:t>個のうち，</a:t>
                </a:r>
                <a:br>
                  <a:rPr lang="en-US" altLang="ja-JP" dirty="0"/>
                </a:br>
                <a:r>
                  <a:rPr lang="ja-JP" altLang="en-US" dirty="0"/>
                  <a:t>予測される不良品の個数</a:t>
                </a:r>
                <a:r>
                  <a:rPr lang="ja-JP" altLang="en-US" sz="2000" dirty="0"/>
                  <a:t>（期待値）</a:t>
                </a:r>
                <a:r>
                  <a:rPr lang="ja-JP" altLang="en-US" dirty="0"/>
                  <a:t>はいくつか．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=3500×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1000</m:t>
                            </m:r>
                          </m:den>
                        </m:f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ja-JP" dirty="0"/>
              </a:p>
              <a:p>
                <a:r>
                  <a:rPr lang="ja-JP" altLang="en-US" dirty="0"/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B2551D3-0357-5344-8A34-EA2E4E771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30DCB85-4C8A-4181-2E62-E1F5DC1C3C5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99966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91CF-116E-EDFB-1852-B5687691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06AAA-F659-EB7D-9D92-D48CFFD4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0FF853D-439A-A3D1-96AB-57C2D5611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0FF853D-439A-A3D1-96AB-57C2D5611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0728AE-CFEC-0C7C-BC3A-9E60784D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146886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1287</TotalTime>
  <Words>1538</Words>
  <Application>Microsoft Office PowerPoint</Application>
  <PresentationFormat>画面に合わせる (4:3)</PresentationFormat>
  <Paragraphs>219</Paragraphs>
  <Slides>21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0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[AL] 確率分布：離散確率分布</vt:lpstr>
      <vt:lpstr>Summary</vt:lpstr>
      <vt:lpstr>二項分布</vt:lpstr>
      <vt:lpstr>二項分布の確率</vt:lpstr>
      <vt:lpstr>二項分布の確率</vt:lpstr>
      <vt:lpstr>二項分布の期待値と分散</vt:lpstr>
      <vt:lpstr>ポアソン分布の期待値と分散</vt:lpstr>
      <vt:lpstr>PowerPoint プレゼンテーション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②ガチャが当たる確率</vt:lpstr>
      <vt:lpstr>②ガチャが当たる確率</vt:lpstr>
      <vt:lpstr>②ガチャが当たる確率</vt:lpstr>
      <vt:lpstr>③ガチャが当たる確率の期待値と分散を求めよう</vt:lpstr>
      <vt:lpstr>③ガチャが当たる確率の期待値と分散を求めよう</vt:lpstr>
      <vt:lpstr>④不良品の個数を考えよう</vt:lpstr>
      <vt:lpstr>④不良品の個数を考えよう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147</cp:revision>
  <dcterms:created xsi:type="dcterms:W3CDTF">2025-03-03T09:28:12Z</dcterms:created>
  <dcterms:modified xsi:type="dcterms:W3CDTF">2026-09-13T17:53:40Z</dcterms:modified>
</cp:coreProperties>
</file>