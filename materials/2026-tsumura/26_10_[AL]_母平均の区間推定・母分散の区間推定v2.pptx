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0" r:id="rId1"/>
  </p:sldMasterIdLst>
  <p:notesMasterIdLst>
    <p:notesMasterId r:id="rId24"/>
  </p:notesMasterIdLst>
  <p:sldIdLst>
    <p:sldId id="256" r:id="rId2"/>
    <p:sldId id="660" r:id="rId3"/>
    <p:sldId id="617" r:id="rId4"/>
    <p:sldId id="649" r:id="rId5"/>
    <p:sldId id="657" r:id="rId6"/>
    <p:sldId id="661" r:id="rId7"/>
    <p:sldId id="668" r:id="rId8"/>
    <p:sldId id="669" r:id="rId9"/>
    <p:sldId id="670" r:id="rId10"/>
    <p:sldId id="667" r:id="rId11"/>
    <p:sldId id="662" r:id="rId12"/>
    <p:sldId id="663" r:id="rId13"/>
    <p:sldId id="664" r:id="rId14"/>
    <p:sldId id="665" r:id="rId15"/>
    <p:sldId id="666" r:id="rId16"/>
    <p:sldId id="671" r:id="rId17"/>
    <p:sldId id="672" r:id="rId18"/>
    <p:sldId id="673" r:id="rId19"/>
    <p:sldId id="674" r:id="rId20"/>
    <p:sldId id="675" r:id="rId21"/>
    <p:sldId id="676" r:id="rId22"/>
    <p:sldId id="26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946" autoAdjust="0"/>
  </p:normalViewPr>
  <p:slideViewPr>
    <p:cSldViewPr snapToGrid="0">
      <p:cViewPr varScale="1">
        <p:scale>
          <a:sx n="94" d="100"/>
          <a:sy n="94" d="100"/>
        </p:scale>
        <p:origin x="80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須永大介" userId="afee7028-08f7-45fb-b56f-efe6c4357b09" providerId="ADAL" clId="{3322EB53-9E6C-499E-B527-F2AD79E593A6}"/>
    <pc:docChg chg="modSld">
      <pc:chgData name="須永大介" userId="afee7028-08f7-45fb-b56f-efe6c4357b09" providerId="ADAL" clId="{3322EB53-9E6C-499E-B527-F2AD79E593A6}" dt="2026-08-31T10:41:20.891" v="0" actId="120"/>
      <pc:docMkLst>
        <pc:docMk/>
      </pc:docMkLst>
      <pc:sldChg chg="modSp mod">
        <pc:chgData name="須永大介" userId="afee7028-08f7-45fb-b56f-efe6c4357b09" providerId="ADAL" clId="{3322EB53-9E6C-499E-B527-F2AD79E593A6}" dt="2026-08-31T10:41:20.891" v="0" actId="120"/>
        <pc:sldMkLst>
          <pc:docMk/>
          <pc:sldMk cId="218988248" sldId="256"/>
        </pc:sldMkLst>
        <pc:spChg chg="mod">
          <ac:chgData name="須永大介" userId="afee7028-08f7-45fb-b56f-efe6c4357b09" providerId="ADAL" clId="{3322EB53-9E6C-499E-B527-F2AD79E593A6}" dt="2026-08-31T10:41:20.891" v="0" actId="120"/>
          <ac:spMkLst>
            <pc:docMk/>
            <pc:sldMk cId="218988248" sldId="256"/>
            <ac:spMk id="3" creationId="{48E8BC8D-F503-6C63-21CA-5EDB859CD49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16469C-FEAD-4C5E-BA2E-E52844FEB7B7}" type="datetimeFigureOut">
              <a:rPr kumimoji="1" lang="ja-JP" altLang="en-US" smtClean="0"/>
              <a:t>2026/9/14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3683A-688A-4D33-8DCE-739EA7585F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9790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※</a:t>
            </a:r>
            <a:r>
              <a:rPr kumimoji="1" lang="ja-JP" altLang="en-US" dirty="0"/>
              <a:t>手計算ができる程度の問題は，試験に備えて電卓を使った練習もしてみてください．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16066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2433327"/>
            <a:ext cx="8334000" cy="590321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 cap="all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3E1437F2-D6CA-45FF-8DAA-99CA93A9F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23648"/>
            <a:ext cx="8334000" cy="810704"/>
          </a:xfrm>
        </p:spPr>
        <p:txBody>
          <a:bodyPr/>
          <a:lstStyle/>
          <a:p>
            <a:r>
              <a:rPr kumimoji="1" lang="ja-JP" altLang="en-US" dirty="0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97919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の目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ja-JP" altLang="en-US" dirty="0"/>
              <a:t>今日の目標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7017840-59E2-D4E8-707A-9929D1883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6000" indent="-306000">
              <a:buFont typeface="Wingdings" panose="05000000000000000000" pitchFamily="2" charset="2"/>
              <a:buChar char="u"/>
              <a:defRPr/>
            </a:lvl1pPr>
            <a:lvl2pPr marL="630000" indent="-306000">
              <a:buFont typeface="Wingdings" panose="05000000000000000000" pitchFamily="2" charset="2"/>
              <a:buChar char="ü"/>
              <a:defRPr/>
            </a:lvl2pPr>
            <a:lvl3pPr marL="900000" indent="-270000">
              <a:buFont typeface="Wingdings" panose="05000000000000000000" pitchFamily="2" charset="2"/>
              <a:buChar char="Ø"/>
              <a:defRPr/>
            </a:lvl3pPr>
            <a:lvl4pPr marL="1242000" indent="-234000">
              <a:buFont typeface="Wingdings" panose="05000000000000000000" pitchFamily="2" charset="2"/>
              <a:buChar char="Ø"/>
              <a:defRPr/>
            </a:lvl4pPr>
            <a:lvl5pPr marL="1602000" indent="-234000">
              <a:buFont typeface="Wingdings" panose="05000000000000000000" pitchFamily="2" charset="2"/>
              <a:buChar char="Ø"/>
              <a:defRPr/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948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3128722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6722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00474C3-AA0B-4FE8-59A5-59C737C3C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895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953679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8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859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281" y="953677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6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AF0919C9-51B3-2D74-45D7-B85C57516E7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975" y="953676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041689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の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4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2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8B8C6B5F-5F35-CD0D-73A3-108E527DAC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63283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941933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181" y="953677"/>
            <a:ext cx="8880843" cy="3844566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1" y="4941215"/>
            <a:ext cx="8880843" cy="1789523"/>
          </a:xfrm>
        </p:spPr>
        <p:txBody>
          <a:bodyPr>
            <a:no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  <a:lvl2pPr>
              <a:defRPr sz="20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097472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1416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791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5670" y="810704"/>
            <a:ext cx="8672660" cy="479824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5669" y="5670223"/>
            <a:ext cx="8672660" cy="103223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5E52FEF1-33FB-A31C-3BA8-FE7978A35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833730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lIns="91440" tIns="45720" rIns="91440" bIns="45720" rtlCol="0" anchor="ctr"/>
          <a:lstStyle>
            <a:lvl1pPr algn="ctr">
              <a:defRPr sz="2800">
                <a:solidFill>
                  <a:schemeClr val="bg1"/>
                </a:solidFill>
                <a:latin typeface="Impact" panose="020B0806030902050204" pitchFamily="34" charset="0"/>
                <a:ea typeface="Meiryo UI" panose="020B0604030504040204" pitchFamily="50" charset="-128"/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61920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32" r:id="rId4"/>
    <p:sldLayoutId id="2147483725" r:id="rId5"/>
    <p:sldLayoutId id="2147483733" r:id="rId6"/>
    <p:sldLayoutId id="2147483734" r:id="rId7"/>
    <p:sldLayoutId id="2147483735" r:id="rId8"/>
    <p:sldLayoutId id="2147483726" r:id="rId9"/>
    <p:sldLayoutId id="2147483727" r:id="rId10"/>
    <p:sldLayoutId id="214748372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kumimoji="1" sz="3200" b="0" kern="1200" cap="all">
          <a:solidFill>
            <a:schemeClr val="bg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n"/>
        <a:defRPr kumimoji="1" sz="2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ü"/>
        <a:defRPr kumimoji="1" sz="24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20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字幕 1">
            <a:extLst>
              <a:ext uri="{FF2B5EF4-FFF2-40B4-BE49-F238E27FC236}">
                <a16:creationId xmlns:a16="http://schemas.microsoft.com/office/drawing/2014/main" id="{34E62EDF-23B0-0FF7-CCAE-3A62D57648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統計学　</a:t>
            </a:r>
            <a:r>
              <a:rPr kumimoji="1" lang="en-US" altLang="ja-JP" dirty="0"/>
              <a:t>#10</a:t>
            </a:r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48E8BC8D-F503-6C63-21CA-5EDB859CD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ja-JP" dirty="0"/>
              <a:t>[AL] </a:t>
            </a:r>
            <a:r>
              <a:rPr lang="ja-JP" altLang="en-US" dirty="0"/>
              <a:t>母平均の区間推定・母分散の区間推定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8988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1EEF4-A11E-1515-2E17-D2FBB5D4C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6558F4-E0F1-153D-6F34-36AFD040E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Summary</a:t>
            </a:r>
            <a:endParaRPr kumimoji="1" lang="ja-JP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4A6AD420-9A41-B502-4430-C860989C7F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ja-JP" altLang="en-US" dirty="0"/>
                  <a:t>第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章　第</a:t>
                </a:r>
                <a:r>
                  <a:rPr lang="en-US" altLang="ja-JP" dirty="0"/>
                  <a:t>3</a:t>
                </a:r>
                <a:r>
                  <a:rPr lang="ja-JP" altLang="en-US" dirty="0"/>
                  <a:t>節　母平均の区間推定・母分散の区間推定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母平均の区間推定について理解する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信頼係数・信頼区間・棄却域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ja-JP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d>
                          <m:dPr>
                            <m:ctrlP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ad>
                          <m:radPr>
                            <m:degHide m:val="on"/>
                            <m:ctrlP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en-US" altLang="ja-JP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ja-JP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ja-JP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ja-JP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  <m:sup>
                                    <m:r>
                                      <a:rPr lang="en-US" altLang="ja-JP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num>
                              <m:den>
                                <m:r>
                                  <a:rPr lang="en-US" altLang="ja-JP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  <m:r>
                          <a:rPr lang="en-US" altLang="ja-JP" b="0" i="1" dirty="0" smtClean="0">
                            <a:latin typeface="Cambria Math" panose="02040503050406030204" pitchFamily="18" charset="0"/>
                          </a:rPr>
                          <m:t>,  </m:t>
                        </m:r>
                        <m:acc>
                          <m:accPr>
                            <m:chr m:val="̅"/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ja-JP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ja-JP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d>
                          <m:dPr>
                            <m:ctrlPr>
                              <a:rPr lang="en-US" altLang="ja-JP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i="1" dirty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ad>
                          <m:radPr>
                            <m:degHide m:val="on"/>
                            <m:ctrlPr>
                              <a:rPr lang="en-US" altLang="ja-JP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en-US" altLang="ja-JP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ja-JP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ja-JP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ja-JP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  <m:sup>
                                    <m:r>
                                      <a:rPr lang="en-US" altLang="ja-JP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num>
                              <m:den>
                                <m:r>
                                  <a:rPr lang="en-US" altLang="ja-JP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</m:e>
                    </m:d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母分散の区間推定について理解する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p>
                                  <m:sSup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sSubSup>
                              <m:sSubSup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𝜒</m:t>
                                </m:r>
                              </m:e>
                              <m:sub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0.025</m:t>
                                </m:r>
                              </m:sub>
                              <m:sup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den>
                        </m:f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p>
                                  <m:sSup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sSubSup>
                              <m:sSubSup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𝜒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97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  <m:sup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den>
                        </m:f>
                      </m:e>
                    </m:d>
                  </m:oMath>
                </a14:m>
                <a:endParaRPr lang="en-US" altLang="ja-JP" dirty="0"/>
              </a:p>
            </p:txBody>
          </p:sp>
        </mc:Choice>
        <mc:Fallback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4A6AD420-9A41-B502-4430-C860989C7F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E2CC85E-7997-294D-C625-3C02BF8C0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8848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6EDEA-300D-EADF-390C-313025750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5915DE-2E96-2A2A-0AEF-E25B2B49E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標本不偏分散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B3EF744-DA7F-BA53-555F-88B6B9722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261A7E8B-7B3A-7588-690F-8D469F11E9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>
                    <a:solidFill>
                      <a:schemeClr val="accent5"/>
                    </a:solidFill>
                  </a:rPr>
                  <a:t>標本不偏分散</a:t>
                </a:r>
                <a:r>
                  <a:rPr kumimoji="1" lang="ja-JP" altLang="en-US" dirty="0"/>
                  <a:t>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unbiased variance</a:t>
                </a:r>
              </a:p>
              <a:p>
                <a:pPr lvl="1"/>
                <a:r>
                  <a:rPr lang="ja-JP" altLang="en-US" dirty="0"/>
                  <a:t>標本平均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ja-JP" altLang="en-US" dirty="0"/>
                  <a:t>からの偏差二乗和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ja-JP" alt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</m:e>
                        </m:d>
                      </m:e>
                    </m:nary>
                  </m:oMath>
                </a14:m>
                <a:r>
                  <a:rPr lang="ja-JP" altLang="en-US" dirty="0"/>
                  <a:t>を，</a:t>
                </a:r>
                <a:br>
                  <a:rPr lang="en-US" altLang="ja-JP" dirty="0"/>
                </a:br>
                <a:r>
                  <a:rPr lang="ja-JP" altLang="en-US" dirty="0"/>
                  <a:t>自由度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ja-JP" altLang="en-US" dirty="0"/>
                  <a:t>で割ったもの</a:t>
                </a:r>
                <a:endParaRPr lang="en-US" altLang="ja-JP" dirty="0"/>
              </a:p>
              <a:p>
                <a:pPr lvl="1"/>
                <a:endParaRPr kumimoji="1" lang="en-US" altLang="ja-JP" dirty="0"/>
              </a:p>
              <a:p>
                <a:pPr marL="324000" lvl="1" indent="0">
                  <a:buNone/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altLang="ja-JP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altLang="ja-JP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altLang="ja-JP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kumimoji="1" lang="en-US" altLang="ja-JP" b="0" i="1" dirty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b="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b="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ja-JP" b="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ja-JP" b="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kumimoji="1" lang="en-US" altLang="ja-JP" b="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kumimoji="1" lang="en-US" altLang="ja-JP" b="0" i="1" dirty="0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ja-JP" b="0" i="1" dirty="0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b="0" i="1" dirty="0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kumimoji="1" lang="en-US" altLang="ja-JP" b="0" i="1" dirty="0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1" lang="en-US" altLang="ja-JP" b="0" i="1" dirty="0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kumimoji="1" lang="en-US" altLang="ja-JP" b="0" i="1" dirty="0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kumimoji="1" lang="en-US" altLang="ja-JP" b="0" i="1" dirty="0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</m:d>
                        </m:e>
                      </m:nary>
                    </m:oMath>
                    <m:oMath>
                      <m:r>
                        <a:rPr kumimoji="1" lang="en-US" altLang="ja-JP" b="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ja-JP" altLang="en-US" i="1" dirty="0" smtClean="0">
                              <a:latin typeface="Cambria Math" panose="02040503050406030204" pitchFamily="18" charset="0"/>
                            </a:rPr>
                            <m:t>自由度</m:t>
                          </m:r>
                        </m:den>
                      </m:f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ja-JP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ja-JP" alt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ja-JP" altLang="en-US" i="1" dirty="0" smtClean="0">
                                  <a:latin typeface="Cambria Math" panose="02040503050406030204" pitchFamily="18" charset="0"/>
                                </a:rPr>
                                <m:t>元のデータ</m:t>
                              </m:r>
                              <m:r>
                                <a:rPr lang="en-US" altLang="ja-JP" i="1" dirty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ja-JP" altLang="en-US" i="1" dirty="0" smtClean="0">
                                  <a:latin typeface="Cambria Math" panose="02040503050406030204" pitchFamily="18" charset="0"/>
                                </a:rPr>
                                <m:t>標本平均</m:t>
                              </m:r>
                            </m:e>
                          </m:d>
                        </m:e>
                      </m:nary>
                      <m:r>
                        <a:rPr lang="en-US" altLang="ja-JP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ja-JP" altLang="en-US" i="1" dirty="0" smtClean="0">
                              <a:latin typeface="Cambria Math" panose="02040503050406030204" pitchFamily="18" charset="0"/>
                            </a:rPr>
                            <m:t>自由度</m:t>
                          </m:r>
                        </m:den>
                      </m:f>
                      <m:r>
                        <a:rPr lang="en-US" altLang="ja-JP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ja-JP" alt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i="1" dirty="0">
                              <a:latin typeface="Cambria Math" panose="02040503050406030204" pitchFamily="18" charset="0"/>
                            </a:rPr>
                            <m:t>標本平均</m:t>
                          </m:r>
                          <m:r>
                            <a:rPr lang="ja-JP" altLang="en-US" i="1" dirty="0" smtClean="0">
                              <a:latin typeface="Cambria Math" panose="02040503050406030204" pitchFamily="18" charset="0"/>
                            </a:rPr>
                            <m:t>からの</m:t>
                          </m:r>
                          <m:r>
                            <a:rPr lang="ja-JP" altLang="en-US" i="1" dirty="0">
                              <a:latin typeface="Cambria Math" panose="02040503050406030204" pitchFamily="18" charset="0"/>
                            </a:rPr>
                            <m:t>偏差二乗和</m:t>
                          </m:r>
                        </m:e>
                      </m:d>
                    </m:oMath>
                  </m:oMathPara>
                </a14:m>
                <a:endParaRPr lang="en-US" altLang="ja-JP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261A7E8B-7B3A-7588-690F-8D469F11E9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5A610BE-9103-E6B3-F6F2-ECB69AF25A05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復習</a:t>
            </a:r>
          </a:p>
        </p:txBody>
      </p:sp>
    </p:spTree>
    <p:extLst>
      <p:ext uri="{BB962C8B-B14F-4D97-AF65-F5344CB8AC3E}">
        <p14:creationId xmlns:p14="http://schemas.microsoft.com/office/powerpoint/2010/main" val="3296396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3633E-2AD6-BB9C-2294-775C265D5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2652A2-A050-B9D7-73EE-4421B55A7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母平均の</a:t>
            </a:r>
            <a:r>
              <a:rPr kumimoji="1" lang="en-US" altLang="ja-JP" dirty="0"/>
              <a:t>95%</a:t>
            </a:r>
            <a:r>
              <a:rPr kumimoji="1" lang="ja-JP" altLang="en-US" dirty="0"/>
              <a:t>信頼区間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90F1186-52A5-1D11-3BC4-88873E0EA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4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7514ABA-D2F4-60AE-63E6-08D29A2997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母平均の信頼区間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kumimoji="1"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kumimoji="1" lang="en-US" altLang="ja-JP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ja-JP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kumimoji="1" lang="en-US" altLang="ja-JP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1" lang="en-US" altLang="ja-JP" b="0" i="1" dirty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dirty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kumimoji="1" lang="en-US" altLang="ja-JP" b="0" i="1" dirty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d>
                            <m:dPr>
                              <m:ctrlPr>
                                <a:rPr kumimoji="1" lang="en-US" altLang="ja-JP" b="0" i="1" dirty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b="0" i="1" dirty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kumimoji="1" lang="en-US" altLang="ja-JP" b="0" i="1" dirty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ad>
                            <m:radPr>
                              <m:degHide m:val="on"/>
                              <m:ctrlP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altLang="ja-JP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altLang="ja-JP" i="1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ja-JP" i="1">
                                              <a:solidFill>
                                                <a:schemeClr val="accent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ja-JP" i="1">
                                              <a:solidFill>
                                                <a:schemeClr val="accent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ja-JP" i="1" dirty="0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  <m:sup>
                                      <m:r>
                                        <a:rPr lang="en-US" altLang="ja-JP" i="1" dirty="0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kumimoji="1" lang="en-US" altLang="ja-JP" b="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rad>
                          <m:r>
                            <a:rPr kumimoji="1" lang="en-US" altLang="ja-JP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̅"/>
                              <m:ctrlP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ja-JP" i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ja-JP" i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ja-JP" i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i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ja-JP" i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ad>
                            <m:radPr>
                              <m:degHide m:val="on"/>
                              <m:ctrlPr>
                                <a:rPr lang="en-US" altLang="ja-JP" i="1" dirty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altLang="ja-JP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altLang="ja-JP" i="1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ja-JP" i="1">
                                              <a:solidFill>
                                                <a:schemeClr val="accent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ja-JP" i="1">
                                              <a:solidFill>
                                                <a:schemeClr val="accent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ja-JP" i="1" dirty="0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  <m:sup>
                                      <m:r>
                                        <a:rPr lang="en-US" altLang="ja-JP" i="1" dirty="0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altLang="ja-JP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rad>
                        </m:e>
                      </m:d>
                    </m:oMath>
                  </m:oMathPara>
                </a14:m>
                <a:endParaRPr kumimoji="1" lang="en-US" altLang="ja-JP" dirty="0"/>
              </a:p>
              <a:p>
                <a:pPr lvl="1"/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 lvl="1"/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ja-JP" altLang="en-US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標本平均</m:t>
                        </m:r>
                        <m:r>
                          <a:rPr lang="en-US" altLang="ja-JP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  <m:r>
                          <a:rPr lang="en-US" altLang="ja-JP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ja-JP" altLang="en-US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パーセント</m:t>
                        </m:r>
                        <m:r>
                          <a:rPr lang="ja-JP" altLang="en-US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点</m:t>
                        </m:r>
                        <m:rad>
                          <m:radPr>
                            <m:degHide m:val="on"/>
                            <m:ctrlPr>
                              <a:rPr lang="en-US" altLang="ja-JP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ja-JP" altLang="en-US" i="1" dirty="0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ja-JP" altLang="en-US" i="1" dirty="0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標本不偏分散</m:t>
                                </m:r>
                              </m:num>
                              <m:den>
                                <m:r>
                                  <a:rPr lang="ja-JP" altLang="en-US" i="1" dirty="0" smtClean="0">
                                    <a:latin typeface="Cambria Math" panose="02040503050406030204" pitchFamily="18" charset="0"/>
                                  </a:rPr>
                                  <m:t>標本数</m:t>
                                </m:r>
                              </m:den>
                            </m:f>
                          </m:e>
                        </m:rad>
                      </m:e>
                    </m:d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d>
                      <m:dPr>
                        <m:ctrlP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ja-JP" altLang="en-US" sz="2000" dirty="0"/>
                  <a:t>　：自由度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𝜈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ja-JP" altLang="en-US" sz="2000" dirty="0"/>
                  <a:t>，上側確率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ja-JP" altLang="en-US" sz="2000" dirty="0"/>
                  <a:t>の</a:t>
                </a:r>
                <a14:m>
                  <m:oMath xmlns:m="http://schemas.openxmlformats.org/officeDocument/2006/math">
                    <m:r>
                      <a:rPr lang="en-US" altLang="ja-JP" sz="2000" b="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ja-JP" altLang="en-US" sz="2000" dirty="0"/>
                  <a:t>分布パーセント点</a:t>
                </a:r>
                <a:endParaRPr lang="en-US" altLang="ja-JP" sz="2000" dirty="0"/>
              </a:p>
              <a:p>
                <a:pPr lvl="2"/>
                <a:r>
                  <a:rPr lang="en-US" altLang="ja-JP" sz="1600" dirty="0"/>
                  <a:t>t</a:t>
                </a:r>
                <a:r>
                  <a:rPr lang="ja-JP" altLang="en-US" sz="1600" dirty="0"/>
                  <a:t>分布表から読み取る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7514ABA-D2F4-60AE-63E6-08D29A2997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FD1B2240-C1C4-D427-C6A1-6B27239A05C9}"/>
              </a:ext>
            </a:extLst>
          </p:cNvPr>
          <p:cNvGrpSpPr/>
          <p:nvPr/>
        </p:nvGrpSpPr>
        <p:grpSpPr>
          <a:xfrm>
            <a:off x="1541722" y="2920168"/>
            <a:ext cx="3009013" cy="598878"/>
            <a:chOff x="4572001" y="6014242"/>
            <a:chExt cx="3009013" cy="598878"/>
          </a:xfrm>
        </p:grpSpPr>
        <p:sp>
          <p:nvSpPr>
            <p:cNvPr id="6" name="左中かっこ 5">
              <a:extLst>
                <a:ext uri="{FF2B5EF4-FFF2-40B4-BE49-F238E27FC236}">
                  <a16:creationId xmlns:a16="http://schemas.microsoft.com/office/drawing/2014/main" id="{39604EF9-816C-5D7F-B0BF-FA354746ABA9}"/>
                </a:ext>
              </a:extLst>
            </p:cNvPr>
            <p:cNvSpPr/>
            <p:nvPr/>
          </p:nvSpPr>
          <p:spPr>
            <a:xfrm rot="16200000">
              <a:off x="6015134" y="4571109"/>
              <a:ext cx="122748" cy="3009013"/>
            </a:xfrm>
            <a:prstGeom prst="leftBrac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377A21A9-EF29-B186-18D6-A743D56EBDF4}"/>
                </a:ext>
              </a:extLst>
            </p:cNvPr>
            <p:cNvSpPr txBox="1"/>
            <p:nvPr/>
          </p:nvSpPr>
          <p:spPr>
            <a:xfrm>
              <a:off x="5524561" y="6151455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dirty="0">
                  <a:solidFill>
                    <a:srgbClr val="00B050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下限値</a:t>
              </a:r>
            </a:p>
          </p:txBody>
        </p:sp>
      </p:grp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22499D4F-63C3-867C-4103-0D32FE37BF09}"/>
              </a:ext>
            </a:extLst>
          </p:cNvPr>
          <p:cNvGrpSpPr/>
          <p:nvPr/>
        </p:nvGrpSpPr>
        <p:grpSpPr>
          <a:xfrm>
            <a:off x="4649974" y="2912950"/>
            <a:ext cx="3009013" cy="598878"/>
            <a:chOff x="4572001" y="6014242"/>
            <a:chExt cx="3009013" cy="598878"/>
          </a:xfrm>
        </p:grpSpPr>
        <p:sp>
          <p:nvSpPr>
            <p:cNvPr id="9" name="左中かっこ 8">
              <a:extLst>
                <a:ext uri="{FF2B5EF4-FFF2-40B4-BE49-F238E27FC236}">
                  <a16:creationId xmlns:a16="http://schemas.microsoft.com/office/drawing/2014/main" id="{FF97C053-2E71-4C47-0207-DBEC1B337CE0}"/>
                </a:ext>
              </a:extLst>
            </p:cNvPr>
            <p:cNvSpPr/>
            <p:nvPr/>
          </p:nvSpPr>
          <p:spPr>
            <a:xfrm rot="16200000">
              <a:off x="6015134" y="4571109"/>
              <a:ext cx="122748" cy="3009013"/>
            </a:xfrm>
            <a:prstGeom prst="leftBrac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F4942338-78FB-B184-C3FA-832342277D86}"/>
                </a:ext>
              </a:extLst>
            </p:cNvPr>
            <p:cNvSpPr txBox="1"/>
            <p:nvPr/>
          </p:nvSpPr>
          <p:spPr>
            <a:xfrm>
              <a:off x="5524561" y="6151455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dirty="0">
                  <a:solidFill>
                    <a:srgbClr val="00B050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上限値</a:t>
              </a:r>
            </a:p>
          </p:txBody>
        </p:sp>
      </p:grp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B9780DB-301F-5CE0-4122-5983CDD00A3D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復習</a:t>
            </a:r>
          </a:p>
        </p:txBody>
      </p:sp>
    </p:spTree>
    <p:extLst>
      <p:ext uri="{BB962C8B-B14F-4D97-AF65-F5344CB8AC3E}">
        <p14:creationId xmlns:p14="http://schemas.microsoft.com/office/powerpoint/2010/main" val="1434510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BC636-6DD1-DD2A-07FE-F1B16C0A9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4ADBA2-6DC4-3702-80E9-BD12191C2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母分散の</a:t>
            </a:r>
            <a:r>
              <a:rPr kumimoji="1" lang="en-US" altLang="ja-JP" dirty="0"/>
              <a:t>95%</a:t>
            </a:r>
            <a:r>
              <a:rPr kumimoji="1" lang="ja-JP" altLang="en-US" dirty="0"/>
              <a:t>信頼区間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222CBE5-D787-C545-D2E3-B3B72BB9F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8BE6F92-9DAC-33F0-A242-F3812FB878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母平均の信頼区間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kumimoji="1" lang="en-US" altLang="ja-JP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en-US" altLang="ja-JP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kumimoji="1" lang="en-US" altLang="ja-JP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altLang="ja-JP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ja-JP" i="1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ja-JP" i="1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ja-JP" i="1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ja-JP" i="1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ja-JP" i="1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altLang="ja-JP" i="1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altLang="ja-JP" i="1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kumimoji="1" lang="en-US" altLang="ja-JP" b="0" i="1" smtClean="0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num>
                            <m:den>
                              <m:sSubSup>
                                <m:sSubSupPr>
                                  <m:ctrlPr>
                                    <a:rPr kumimoji="1" lang="en-US" altLang="ja-JP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ja-JP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kumimoji="1" lang="en-US" altLang="ja-JP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0.025</m:t>
                                  </m:r>
                                </m:sub>
                                <m:sup>
                                  <m:r>
                                    <a:rPr kumimoji="1" lang="en-US" altLang="ja-JP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kumimoji="1" lang="en-US" altLang="ja-JP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ja-JP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kumimoji="1" lang="en-US" altLang="ja-JP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den>
                          </m:f>
                          <m:r>
                            <a:rPr kumimoji="1" lang="en-US" altLang="ja-JP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altLang="ja-JP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altLang="ja-JP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ja-JP" i="1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ja-JP" i="1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ja-JP" i="1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ja-JP" i="1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ja-JP" i="1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altLang="ja-JP" i="1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altLang="ja-JP" i="1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ja-JP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num>
                            <m:den>
                              <m:sSubSup>
                                <m:sSubSupPr>
                                  <m:ctrlPr>
                                    <a:rPr lang="en-US" altLang="ja-JP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ja-JP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0.</m:t>
                                  </m:r>
                                  <m:r>
                                    <a:rPr lang="en-US" altLang="ja-JP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97</m:t>
                                  </m:r>
                                  <m:r>
                                    <a:rPr lang="en-US" altLang="ja-JP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  <m:sup>
                                  <m:r>
                                    <a:rPr lang="en-US" altLang="ja-JP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ja-JP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ja-JP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den>
                          </m:f>
                        </m:e>
                      </m:d>
                    </m:oMath>
                  </m:oMathPara>
                </a14:m>
                <a:endParaRPr kumimoji="1" lang="en-US" altLang="ja-JP" dirty="0"/>
              </a:p>
              <a:p>
                <a:pPr lvl="1"/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 lvl="1"/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ja-JP" alt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  <m:t>標本平均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からの</m:t>
                            </m:r>
                            <m: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  <m:t>偏差二乗和</m:t>
                            </m:r>
                          </m:num>
                          <m:den>
                            <m: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  <m:t>カイ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二乗分布</m:t>
                            </m:r>
                            <m: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  <m:t>の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2.5%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点</m:t>
                            </m:r>
                          </m:den>
                        </m:f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標本平均からの偏差二乗和</m:t>
                            </m:r>
                          </m:num>
                          <m:den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カイ二乗分布の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97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.5%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点</m:t>
                            </m:r>
                          </m:den>
                        </m:f>
                      </m:e>
                    </m:d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ja-JP" altLang="en-US" sz="2000" dirty="0"/>
                  <a:t>　：自由度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𝜈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ja-JP" altLang="en-US" sz="2000" dirty="0"/>
                  <a:t>，上側確率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ja-JP" altLang="en-US" sz="2000" dirty="0"/>
                  <a:t>のカイ二乗分布パーセント点</a:t>
                </a:r>
                <a:endParaRPr lang="en-US" altLang="ja-JP" sz="2000" dirty="0"/>
              </a:p>
              <a:p>
                <a:pPr lvl="2"/>
                <a:r>
                  <a:rPr lang="ja-JP" altLang="en-US" sz="1600" dirty="0"/>
                  <a:t>カイ二乗分布表から読み取る</a:t>
                </a:r>
                <a:endParaRPr lang="en-US" altLang="ja-JP" sz="1600" dirty="0"/>
              </a:p>
              <a:p>
                <a:pPr lvl="2"/>
                <a:r>
                  <a:rPr lang="ja-JP" altLang="en-US" sz="1600" dirty="0"/>
                  <a:t>教科書に記載がないので，配布の</a:t>
                </a:r>
                <a:r>
                  <a:rPr lang="en-US" altLang="ja-JP" sz="1600" dirty="0"/>
                  <a:t>Excel</a:t>
                </a:r>
                <a:r>
                  <a:rPr lang="ja-JP" altLang="en-US" sz="1600" dirty="0"/>
                  <a:t>を利用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8BE6F92-9DAC-33F0-A242-F3812FB878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10DEBB01-C9DA-ABAB-BB30-AECA0DCEF877}"/>
              </a:ext>
            </a:extLst>
          </p:cNvPr>
          <p:cNvGrpSpPr/>
          <p:nvPr/>
        </p:nvGrpSpPr>
        <p:grpSpPr>
          <a:xfrm>
            <a:off x="2305947" y="2537396"/>
            <a:ext cx="2223521" cy="584413"/>
            <a:chOff x="4572001" y="6014242"/>
            <a:chExt cx="3009013" cy="584413"/>
          </a:xfrm>
        </p:grpSpPr>
        <p:sp>
          <p:nvSpPr>
            <p:cNvPr id="6" name="左中かっこ 5">
              <a:extLst>
                <a:ext uri="{FF2B5EF4-FFF2-40B4-BE49-F238E27FC236}">
                  <a16:creationId xmlns:a16="http://schemas.microsoft.com/office/drawing/2014/main" id="{A26C853B-5CD8-07B7-8AD5-0508490841F2}"/>
                </a:ext>
              </a:extLst>
            </p:cNvPr>
            <p:cNvSpPr/>
            <p:nvPr/>
          </p:nvSpPr>
          <p:spPr>
            <a:xfrm rot="16200000">
              <a:off x="6015134" y="4571109"/>
              <a:ext cx="122748" cy="3009013"/>
            </a:xfrm>
            <a:prstGeom prst="leftBrac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D8B04375-AB51-A0F1-C0B6-5F5BACDF3492}"/>
                </a:ext>
              </a:extLst>
            </p:cNvPr>
            <p:cNvSpPr txBox="1"/>
            <p:nvPr/>
          </p:nvSpPr>
          <p:spPr>
            <a:xfrm>
              <a:off x="5326802" y="6136990"/>
              <a:ext cx="14994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2400" dirty="0">
                  <a:solidFill>
                    <a:srgbClr val="00B050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下限値</a:t>
              </a:r>
            </a:p>
          </p:txBody>
        </p:sp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269E8E4E-7328-8D93-E23B-82B22D9C6BCF}"/>
              </a:ext>
            </a:extLst>
          </p:cNvPr>
          <p:cNvGrpSpPr/>
          <p:nvPr/>
        </p:nvGrpSpPr>
        <p:grpSpPr>
          <a:xfrm>
            <a:off x="4614532" y="2537395"/>
            <a:ext cx="2223521" cy="584413"/>
            <a:chOff x="4572001" y="6014242"/>
            <a:chExt cx="3009013" cy="584413"/>
          </a:xfrm>
        </p:grpSpPr>
        <p:sp>
          <p:nvSpPr>
            <p:cNvPr id="13" name="左中かっこ 12">
              <a:extLst>
                <a:ext uri="{FF2B5EF4-FFF2-40B4-BE49-F238E27FC236}">
                  <a16:creationId xmlns:a16="http://schemas.microsoft.com/office/drawing/2014/main" id="{A55C07FA-B5D4-6CEA-3677-43EC8D4420C0}"/>
                </a:ext>
              </a:extLst>
            </p:cNvPr>
            <p:cNvSpPr/>
            <p:nvPr/>
          </p:nvSpPr>
          <p:spPr>
            <a:xfrm rot="16200000">
              <a:off x="6015134" y="4571109"/>
              <a:ext cx="122748" cy="3009013"/>
            </a:xfrm>
            <a:prstGeom prst="leftBrac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48932B95-2287-0925-389B-09D66D3AA65A}"/>
                </a:ext>
              </a:extLst>
            </p:cNvPr>
            <p:cNvSpPr txBox="1"/>
            <p:nvPr/>
          </p:nvSpPr>
          <p:spPr>
            <a:xfrm>
              <a:off x="5326802" y="6136990"/>
              <a:ext cx="14994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2400" dirty="0">
                  <a:solidFill>
                    <a:srgbClr val="00B050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上限値</a:t>
              </a:r>
            </a:p>
          </p:txBody>
        </p:sp>
      </p:grp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2EF996A7-A67D-06BF-D526-75226A57C144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復習</a:t>
            </a:r>
          </a:p>
        </p:txBody>
      </p:sp>
    </p:spTree>
    <p:extLst>
      <p:ext uri="{BB962C8B-B14F-4D97-AF65-F5344CB8AC3E}">
        <p14:creationId xmlns:p14="http://schemas.microsoft.com/office/powerpoint/2010/main" val="2044389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F20537-1C4B-3E75-7BD8-B5088FDE3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①テストの得点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26D0826-46B1-38F9-BB31-9A97C2139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6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72D1B8E-DCBC-D61E-6B4D-4839C518BE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ある学級の生徒</a:t>
            </a:r>
            <a:r>
              <a:rPr lang="en-US" altLang="ja-JP" dirty="0"/>
              <a:t>12</a:t>
            </a:r>
            <a:r>
              <a:rPr lang="ja-JP" altLang="en-US" dirty="0"/>
              <a:t>人のテスト得点は表の通りであった．</a:t>
            </a:r>
            <a:endParaRPr lang="en-US" altLang="ja-JP" dirty="0"/>
          </a:p>
          <a:p>
            <a:r>
              <a:rPr kumimoji="1" lang="ja-JP" altLang="en-US" dirty="0"/>
              <a:t>母平均の</a:t>
            </a:r>
            <a:r>
              <a:rPr kumimoji="1" lang="en-US" altLang="ja-JP" dirty="0"/>
              <a:t>95%</a:t>
            </a:r>
            <a:r>
              <a:rPr kumimoji="1" lang="ja-JP" altLang="en-US" dirty="0"/>
              <a:t>信頼区間を求めよ．</a:t>
            </a:r>
            <a:endParaRPr kumimoji="1" lang="en-US" altLang="ja-JP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E9CCF20-3C63-CA7E-771F-A565BF536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1674" y="1468619"/>
            <a:ext cx="2260350" cy="5231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809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B9255-E42E-A086-726B-AA871FD3C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172689-D2B5-4B90-4370-C79A04FF3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①テストの得点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F0E8470-833B-0DC4-FAF0-24E517307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7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04FD14E-63B1-DEFB-0597-6F10DF56EE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ja-JP" altLang="en-US" dirty="0"/>
                  <a:t>ある学級の生徒</a:t>
                </a:r>
                <a:r>
                  <a:rPr lang="en-US" altLang="ja-JP" dirty="0"/>
                  <a:t>12</a:t>
                </a:r>
                <a:r>
                  <a:rPr lang="ja-JP" altLang="en-US" dirty="0"/>
                  <a:t>人のテスト得点は表の通りであった．</a:t>
                </a:r>
                <a:endParaRPr lang="en-US" altLang="ja-JP" dirty="0"/>
              </a:p>
              <a:p>
                <a:r>
                  <a:rPr kumimoji="1" lang="ja-JP" altLang="en-US" dirty="0"/>
                  <a:t>母平均の</a:t>
                </a:r>
                <a:r>
                  <a:rPr kumimoji="1" lang="en-US" altLang="ja-JP" dirty="0"/>
                  <a:t>95%</a:t>
                </a:r>
                <a:r>
                  <a:rPr kumimoji="1" lang="ja-JP" altLang="en-US" dirty="0"/>
                  <a:t>信頼区間を求めよ．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手順①　問題文からわかっている統計量を整理する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標本数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ja-JP" dirty="0"/>
                  <a:t>		</a:t>
                </a:r>
                <a:r>
                  <a:rPr lang="ja-JP" altLang="en-US" dirty="0"/>
                  <a:t>：</a:t>
                </a:r>
                <a:r>
                  <a:rPr lang="en-US" altLang="ja-JP" dirty="0"/>
                  <a:t>12</a:t>
                </a:r>
              </a:p>
              <a:p>
                <a:pPr lvl="1"/>
                <a:r>
                  <a:rPr lang="ja-JP" altLang="en-US" dirty="0"/>
                  <a:t>手順②　必要な統計量を計算する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標本平均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 altLang="ja-JP" dirty="0"/>
                  <a:t>				</a:t>
                </a:r>
                <a:r>
                  <a:rPr lang="ja-JP" altLang="en-US" dirty="0"/>
                  <a:t>：</a:t>
                </a:r>
                <a:r>
                  <a:rPr lang="en-US" altLang="ja-JP" dirty="0"/>
                  <a:t>68.1667</a:t>
                </a:r>
              </a:p>
              <a:p>
                <a:pPr lvl="2"/>
                <a:r>
                  <a:rPr lang="ja-JP" altLang="en-US" dirty="0"/>
                  <a:t>偏差二乗和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ja-JP" alt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altLang="ja-JP" dirty="0"/>
                  <a:t>	</a:t>
                </a:r>
                <a:r>
                  <a:rPr lang="ja-JP" altLang="en-US" dirty="0"/>
                  <a:t>：</a:t>
                </a:r>
                <a:r>
                  <a:rPr lang="en-US" altLang="ja-JP" dirty="0"/>
                  <a:t>301.6667</a:t>
                </a:r>
              </a:p>
              <a:p>
                <a:pPr lvl="2"/>
                <a:r>
                  <a:rPr lang="ja-JP" altLang="en-US" dirty="0"/>
                  <a:t>自由度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𝜈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ja-JP" dirty="0"/>
                  <a:t>			</a:t>
                </a:r>
                <a:r>
                  <a:rPr lang="ja-JP" altLang="en-US" dirty="0"/>
                  <a:t>：</a:t>
                </a:r>
                <a:r>
                  <a:rPr lang="en-US" altLang="ja-JP" dirty="0"/>
                  <a:t>11</a:t>
                </a:r>
              </a:p>
              <a:p>
                <a:pPr lvl="2"/>
                <a:r>
                  <a:rPr lang="ja-JP" altLang="en-US" dirty="0"/>
                  <a:t>標本不偏分散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altLang="ja-JP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altLang="ja-JP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ja-JP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ja-JP" dirty="0"/>
                  <a:t>		</a:t>
                </a:r>
                <a:r>
                  <a:rPr lang="ja-JP" altLang="en-US" dirty="0"/>
                  <a:t>：</a:t>
                </a:r>
                <a:r>
                  <a:rPr lang="en-US" altLang="ja-JP" dirty="0"/>
                  <a:t>27.4242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04FD14E-63B1-DEFB-0597-6F10DF56EE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065B8AD-337E-40A2-7439-FADC909A619E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</p:spTree>
    <p:extLst>
      <p:ext uri="{BB962C8B-B14F-4D97-AF65-F5344CB8AC3E}">
        <p14:creationId xmlns:p14="http://schemas.microsoft.com/office/powerpoint/2010/main" val="2068951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3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56C1F-5679-BD79-8AE8-A0CA33C41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AC3A89-8E21-4CAF-C201-E54B06056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①テストの得点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8CBF672-F6DE-3D53-B350-EC2FEE169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8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90A66898-DD7E-2427-126E-919B9F1A9B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ja-JP" altLang="en-US" dirty="0"/>
                  <a:t>ある学級の生徒</a:t>
                </a:r>
                <a:r>
                  <a:rPr lang="en-US" altLang="ja-JP" dirty="0"/>
                  <a:t>12</a:t>
                </a:r>
                <a:r>
                  <a:rPr lang="ja-JP" altLang="en-US" dirty="0"/>
                  <a:t>人のテスト得点は表の通りであった．</a:t>
                </a:r>
                <a:endParaRPr lang="en-US" altLang="ja-JP" dirty="0"/>
              </a:p>
              <a:p>
                <a:r>
                  <a:rPr kumimoji="1" lang="ja-JP" altLang="en-US" dirty="0"/>
                  <a:t>母平均の</a:t>
                </a:r>
                <a:r>
                  <a:rPr kumimoji="1" lang="en-US" altLang="ja-JP" dirty="0"/>
                  <a:t>95%</a:t>
                </a:r>
                <a:r>
                  <a:rPr kumimoji="1" lang="ja-JP" altLang="en-US" dirty="0"/>
                  <a:t>信頼区間を求めよ．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手順③　</a:t>
                </a:r>
                <a:r>
                  <a:rPr lang="en-US" altLang="ja-JP" dirty="0"/>
                  <a:t>t</a:t>
                </a:r>
                <a:r>
                  <a:rPr lang="ja-JP" altLang="en-US" dirty="0"/>
                  <a:t>分布表からパーセント点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d>
                  </m:oMath>
                </a14:m>
                <a:r>
                  <a:rPr lang="ja-JP" altLang="en-US" dirty="0"/>
                  <a:t>を求める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パーセント点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d>
                  </m:oMath>
                </a14:m>
                <a:r>
                  <a:rPr lang="en-US" altLang="ja-JP" dirty="0"/>
                  <a:t>	</a:t>
                </a:r>
                <a:r>
                  <a:rPr lang="ja-JP" altLang="en-US" dirty="0"/>
                  <a:t>：</a:t>
                </a:r>
                <a:r>
                  <a:rPr lang="en-US" altLang="ja-JP" dirty="0"/>
                  <a:t>2.20099</a:t>
                </a:r>
              </a:p>
              <a:p>
                <a:pPr lvl="1"/>
                <a:r>
                  <a:rPr lang="ja-JP" altLang="en-US" dirty="0"/>
                  <a:t>手順④　</a:t>
                </a:r>
                <a:r>
                  <a:rPr lang="en-US" altLang="ja-JP" dirty="0"/>
                  <a:t>±</a:t>
                </a:r>
                <a:r>
                  <a:rPr lang="ja-JP" altLang="en-US" dirty="0"/>
                  <a:t>の後の部分を計算する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d>
                    <m:rad>
                      <m:radPr>
                        <m:degHide m:val="on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ja-JP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ja-JP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  <m:sup>
                                <m:r>
                                  <a:rPr lang="en-US" altLang="ja-JP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ra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=2.20099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ad>
                      <m:radPr>
                        <m:degHide m:val="on"/>
                        <m:ctrlP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ja-JP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 dirty="0">
                                <a:latin typeface="Cambria Math" panose="02040503050406030204" pitchFamily="18" charset="0"/>
                              </a:rPr>
                              <m:t>27.4242</m:t>
                            </m:r>
                          </m:num>
                          <m:den>
                            <m: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e>
                    </m:rad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=3.3273</m:t>
                    </m:r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90A66898-DD7E-2427-126E-919B9F1A9B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28C44D8-E32D-360D-BBFA-DD1BA9A95A29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</p:spTree>
    <p:extLst>
      <p:ext uri="{BB962C8B-B14F-4D97-AF65-F5344CB8AC3E}">
        <p14:creationId xmlns:p14="http://schemas.microsoft.com/office/powerpoint/2010/main" val="3624264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3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F1969-BC6F-1962-C3A3-7C1B331D0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4DA8FB-38B1-EFCB-9AA8-9910B0D86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①テストの得点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814C041-D3AE-843F-94D1-81EC67EC9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9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742DA59-6310-B8DF-65A5-9386FEA263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ja-JP" altLang="en-US" dirty="0"/>
                  <a:t>ある学級の生徒</a:t>
                </a:r>
                <a:r>
                  <a:rPr lang="en-US" altLang="ja-JP" dirty="0"/>
                  <a:t>12</a:t>
                </a:r>
                <a:r>
                  <a:rPr lang="ja-JP" altLang="en-US" dirty="0"/>
                  <a:t>人のテスト得点は表の通りであった．</a:t>
                </a:r>
                <a:endParaRPr lang="en-US" altLang="ja-JP" dirty="0"/>
              </a:p>
              <a:p>
                <a:r>
                  <a:rPr kumimoji="1" lang="ja-JP" altLang="en-US" dirty="0"/>
                  <a:t>母平均の</a:t>
                </a:r>
                <a:r>
                  <a:rPr kumimoji="1" lang="en-US" altLang="ja-JP" dirty="0"/>
                  <a:t>95%</a:t>
                </a:r>
                <a:r>
                  <a:rPr kumimoji="1" lang="ja-JP" altLang="en-US" dirty="0"/>
                  <a:t>信頼区間を求めよ．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手順⑤　標本平均から</a:t>
                </a:r>
                <a:r>
                  <a:rPr lang="en-US" altLang="ja-JP" dirty="0"/>
                  <a:t>±</a:t>
                </a:r>
                <a:r>
                  <a:rPr lang="ja-JP" altLang="en-US" dirty="0"/>
                  <a:t>して，下限値と上限値を求める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下限値：　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ja-JP" i="1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d>
                    <m:rad>
                      <m:radPr>
                        <m:degHide m:val="on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ja-JP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ja-JP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  <m:sup>
                                <m:r>
                                  <a:rPr lang="en-US" altLang="ja-JP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rad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68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.1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667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3.3273=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</m:t>
                    </m:r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4.8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39</m:t>
                    </m:r>
                  </m:oMath>
                </a14:m>
                <a:endParaRPr lang="en-US" altLang="ja-JP" dirty="0"/>
              </a:p>
              <a:p>
                <a:pPr lvl="2"/>
                <a:r>
                  <a:rPr lang="ja-JP" altLang="en-US" dirty="0"/>
                  <a:t>上限値：　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ja-JP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d>
                    <m:rad>
                      <m:radPr>
                        <m:degHide m:val="on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ja-JP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ja-JP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  <m:sup>
                                <m:r>
                                  <a:rPr lang="en-US" altLang="ja-JP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rad>
                    <m:r>
                      <a:rPr lang="en-US" altLang="ja-JP" i="1">
                        <a:latin typeface="Cambria Math" panose="02040503050406030204" pitchFamily="18" charset="0"/>
                      </a:rPr>
                      <m:t>=68.1667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3.3273=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71.494</m:t>
                    </m:r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742DA59-6310-B8DF-65A5-9386FEA263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609E8A8-6AA4-476F-355F-013B8E278280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</p:spTree>
    <p:extLst>
      <p:ext uri="{BB962C8B-B14F-4D97-AF65-F5344CB8AC3E}">
        <p14:creationId xmlns:p14="http://schemas.microsoft.com/office/powerpoint/2010/main" val="577467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3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8F174-EEBD-154F-D24B-C029F1682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177635-C690-A0BF-EDA3-BB5D676EA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②</a:t>
            </a:r>
            <a:r>
              <a:rPr kumimoji="1" lang="ja-JP" altLang="en-US" dirty="0"/>
              <a:t>ネジの長さ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359EA9F-0E9F-9075-8EDA-4DD860E1F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10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A88BDCA-34E2-6539-2D51-332C332353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ある工場で製造されるネジの長さは正規分布に従い，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母分散は既知で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=0.25</m:t>
                    </m:r>
                  </m:oMath>
                </a14:m>
                <a:r>
                  <a:rPr kumimoji="1" lang="ja-JP" altLang="en-US" dirty="0"/>
                  <a:t>である</a:t>
                </a:r>
                <a:r>
                  <a:rPr lang="ja-JP" altLang="en-US" dirty="0"/>
                  <a:t>．</a:t>
                </a:r>
                <a:endParaRPr lang="en-US" altLang="ja-JP" dirty="0"/>
              </a:p>
              <a:p>
                <a:r>
                  <a:rPr kumimoji="1" lang="en-US" altLang="ja-JP" dirty="0"/>
                  <a:t>10</a:t>
                </a:r>
                <a:r>
                  <a:rPr kumimoji="1" lang="ja-JP" altLang="en-US" dirty="0"/>
                  <a:t>本を無作為抽出したところ，平均は</a:t>
                </a:r>
                <a:r>
                  <a:rPr kumimoji="1" lang="en-US" altLang="ja-JP" dirty="0"/>
                  <a:t>5.12cm</a:t>
                </a:r>
                <a:r>
                  <a:rPr kumimoji="1" lang="ja-JP" altLang="en-US" dirty="0"/>
                  <a:t>であった．</a:t>
                </a:r>
                <a:endParaRPr kumimoji="1" lang="en-US" altLang="ja-JP" dirty="0"/>
              </a:p>
              <a:p>
                <a:r>
                  <a:rPr kumimoji="1" lang="en-US" altLang="ja-JP" dirty="0"/>
                  <a:t>95%</a:t>
                </a:r>
                <a:r>
                  <a:rPr kumimoji="1" lang="ja-JP" altLang="en-US" dirty="0"/>
                  <a:t>信頼区間における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母平均の下限値と上限値を求めよ．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A88BDCA-34E2-6539-2D51-332C332353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9249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87CEE-7964-23F8-3022-C3A3E516C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01476C-A7C8-7EAB-873E-C8FC7A8D5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②</a:t>
            </a:r>
            <a:r>
              <a:rPr kumimoji="1" lang="ja-JP" altLang="en-US" dirty="0"/>
              <a:t>ネジの長さ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12046A0-56DB-BCEA-5DDC-0EE558076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11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3F02B092-1D7C-9FA6-3FEB-2D744B1870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>
                    <a:solidFill>
                      <a:schemeClr val="tx2"/>
                    </a:solidFill>
                  </a:rPr>
                  <a:t>ある工場で製造されるネジの長さは正規分布に従い，</a:t>
                </a:r>
                <a:br>
                  <a:rPr kumimoji="1" lang="en-US" altLang="ja-JP" dirty="0">
                    <a:solidFill>
                      <a:schemeClr val="tx2"/>
                    </a:solidFill>
                  </a:rPr>
                </a:br>
                <a:r>
                  <a:rPr kumimoji="1" lang="ja-JP" altLang="en-US" dirty="0">
                    <a:solidFill>
                      <a:schemeClr val="tx2"/>
                    </a:solidFill>
                  </a:rPr>
                  <a:t>母分散は既知で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=0.25</m:t>
                    </m:r>
                  </m:oMath>
                </a14:m>
                <a:r>
                  <a:rPr kumimoji="1" lang="ja-JP" altLang="en-US" dirty="0">
                    <a:solidFill>
                      <a:schemeClr val="tx2"/>
                    </a:solidFill>
                  </a:rPr>
                  <a:t>である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．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r>
                  <a:rPr kumimoji="1" lang="en-US" altLang="ja-JP" dirty="0">
                    <a:solidFill>
                      <a:schemeClr val="tx2"/>
                    </a:solidFill>
                  </a:rPr>
                  <a:t>10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本を無作為抽出したところ，平均は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5.12cm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であった．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r>
                  <a:rPr kumimoji="1" lang="en-US" altLang="ja-JP" dirty="0">
                    <a:solidFill>
                      <a:schemeClr val="tx2"/>
                    </a:solidFill>
                  </a:rPr>
                  <a:t>95%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信頼区間における</a:t>
                </a:r>
                <a:br>
                  <a:rPr kumimoji="1" lang="en-US" altLang="ja-JP" dirty="0">
                    <a:solidFill>
                      <a:schemeClr val="tx2"/>
                    </a:solidFill>
                  </a:rPr>
                </a:br>
                <a:r>
                  <a:rPr kumimoji="1" lang="ja-JP" altLang="en-US" dirty="0">
                    <a:solidFill>
                      <a:schemeClr val="tx2"/>
                    </a:solidFill>
                  </a:rPr>
                  <a:t>母平均の下限値と上限値を求めよ．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手順①　問題文からわかっている統計量を整理する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2"/>
                <a:r>
                  <a:rPr lang="ja-JP" altLang="en-US" dirty="0">
                    <a:solidFill>
                      <a:schemeClr val="tx2"/>
                    </a:solidFill>
                  </a:rPr>
                  <a:t>母分散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en-US" altLang="ja-JP" dirty="0">
                    <a:solidFill>
                      <a:schemeClr val="tx2"/>
                    </a:solidFill>
                  </a:rPr>
                  <a:t>	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：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0.25</a:t>
                </a:r>
              </a:p>
              <a:p>
                <a:pPr lvl="2"/>
                <a:r>
                  <a:rPr lang="ja-JP" altLang="en-US" dirty="0">
                    <a:solidFill>
                      <a:schemeClr val="tx2"/>
                    </a:solidFill>
                  </a:rPr>
                  <a:t>標本数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en-US" altLang="ja-JP" dirty="0">
                    <a:solidFill>
                      <a:schemeClr val="tx2"/>
                    </a:solidFill>
                  </a:rPr>
                  <a:t>		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：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10</a:t>
                </a:r>
              </a:p>
              <a:p>
                <a:pPr lvl="2"/>
                <a:r>
                  <a:rPr lang="ja-JP" altLang="en-US" dirty="0">
                    <a:solidFill>
                      <a:schemeClr val="tx2"/>
                    </a:solidFill>
                  </a:rPr>
                  <a:t>標本平均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kumimoji="1" lang="en-US" altLang="ja-JP" dirty="0">
                    <a:solidFill>
                      <a:schemeClr val="tx2"/>
                    </a:solidFill>
                  </a:rPr>
                  <a:t>	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：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5.12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3F02B092-1D7C-9FA6-3FEB-2D744B1870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FB6CE0B-F736-D3A1-4B1A-74B93991671E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</p:spTree>
    <p:extLst>
      <p:ext uri="{BB962C8B-B14F-4D97-AF65-F5344CB8AC3E}">
        <p14:creationId xmlns:p14="http://schemas.microsoft.com/office/powerpoint/2010/main" val="2094729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3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DF8F2-1A1B-2755-C967-521AB2B63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55F52C-3D38-4055-CB6B-5333189EC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②</a:t>
            </a:r>
            <a:r>
              <a:rPr kumimoji="1" lang="ja-JP" altLang="en-US" dirty="0"/>
              <a:t>ネジの長さ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DB07DA3-893A-25EB-706A-647779DBF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12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7E258C3-1258-94AA-34A0-7DB86FED85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>
                    <a:solidFill>
                      <a:schemeClr val="tx2"/>
                    </a:solidFill>
                  </a:rPr>
                  <a:t>ある工場で製造されるネジの長さは正規分布に従い，</a:t>
                </a:r>
                <a:br>
                  <a:rPr kumimoji="1" lang="en-US" altLang="ja-JP" dirty="0">
                    <a:solidFill>
                      <a:schemeClr val="tx2"/>
                    </a:solidFill>
                  </a:rPr>
                </a:br>
                <a:r>
                  <a:rPr kumimoji="1" lang="ja-JP" altLang="en-US" dirty="0">
                    <a:solidFill>
                      <a:schemeClr val="tx2"/>
                    </a:solidFill>
                  </a:rPr>
                  <a:t>母分散は既知で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=0.25</m:t>
                    </m:r>
                  </m:oMath>
                </a14:m>
                <a:r>
                  <a:rPr kumimoji="1" lang="ja-JP" altLang="en-US" dirty="0">
                    <a:solidFill>
                      <a:schemeClr val="tx2"/>
                    </a:solidFill>
                  </a:rPr>
                  <a:t>である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．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r>
                  <a:rPr kumimoji="1" lang="en-US" altLang="ja-JP" dirty="0">
                    <a:solidFill>
                      <a:schemeClr val="tx2"/>
                    </a:solidFill>
                  </a:rPr>
                  <a:t>10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本を無作為抽出したところ，平均は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5.12cm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であった．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r>
                  <a:rPr kumimoji="1" lang="en-US" altLang="ja-JP" dirty="0">
                    <a:solidFill>
                      <a:schemeClr val="tx2"/>
                    </a:solidFill>
                  </a:rPr>
                  <a:t>95%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信頼区間における</a:t>
                </a:r>
                <a:br>
                  <a:rPr kumimoji="1" lang="en-US" altLang="ja-JP" dirty="0">
                    <a:solidFill>
                      <a:schemeClr val="tx2"/>
                    </a:solidFill>
                  </a:rPr>
                </a:br>
                <a:r>
                  <a:rPr kumimoji="1" lang="ja-JP" altLang="en-US" dirty="0">
                    <a:solidFill>
                      <a:schemeClr val="tx2"/>
                    </a:solidFill>
                  </a:rPr>
                  <a:t>母平均の下限値と上限値を求めよ．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手順②　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母分散が既知</a:t>
                </a:r>
                <a:endParaRPr lang="en-US" altLang="ja-JP" dirty="0">
                  <a:solidFill>
                    <a:schemeClr val="accent5"/>
                  </a:solidFill>
                </a:endParaRPr>
              </a:p>
              <a:p>
                <a:pPr lvl="2"/>
                <a:r>
                  <a:rPr kumimoji="1" lang="ja-JP" altLang="en-US" dirty="0">
                    <a:solidFill>
                      <a:schemeClr val="tx2"/>
                    </a:solidFill>
                  </a:rPr>
                  <a:t>標本不偏分散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altLang="ja-JP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altLang="ja-JP" i="1" dirty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altLang="ja-JP" i="1" dirty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kumimoji="1" lang="ja-JP" altLang="en-US" dirty="0">
                    <a:solidFill>
                      <a:schemeClr val="tx2"/>
                    </a:solidFill>
                  </a:rPr>
                  <a:t> を使う必要がない！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ja-JP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altLang="ja-JP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n-US" altLang="ja-JP" i="1" dirty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i="1" dirty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𝑉𝑎𝑟</m:t>
                            </m:r>
                            <m:d>
                              <m:dPr>
                                <m:ctrlP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ja-JP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</m:rad>
                      </m:den>
                    </m:f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ja-JP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ja-JP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ja-JP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</m:den>
                    </m:f>
                  </m:oMath>
                </a14:m>
                <a:r>
                  <a:rPr kumimoji="1" lang="ja-JP" altLang="en-US" dirty="0">
                    <a:solidFill>
                      <a:schemeClr val="tx2"/>
                    </a:solidFill>
                  </a:rPr>
                  <a:t>　→　</a:t>
                </a:r>
                <a:r>
                  <a:rPr kumimoji="1" lang="ja-JP" altLang="en-US" dirty="0">
                    <a:solidFill>
                      <a:schemeClr val="accent5"/>
                    </a:solidFill>
                  </a:rPr>
                  <a:t>標準正規分布</a:t>
                </a:r>
                <a:endParaRPr kumimoji="1" lang="en-US" altLang="ja-JP" dirty="0">
                  <a:solidFill>
                    <a:schemeClr val="accent5"/>
                  </a:solidFill>
                </a:endParaRPr>
              </a:p>
              <a:p>
                <a:pPr lvl="2"/>
                <a:r>
                  <a:rPr lang="ja-JP" altLang="en-US" dirty="0"/>
                  <a:t>よって，上限値と下限値は　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ja-JP" altLang="en-US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標本平均</m:t>
                        </m:r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  <m:r>
                          <a:rPr lang="en-US" altLang="ja-JP" b="0" i="1" dirty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ja-JP" altLang="en-US" i="1" dirty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パーセント点</m:t>
                        </m:r>
                        <m:rad>
                          <m:radPr>
                            <m:degHide m:val="on"/>
                            <m:ctrlPr>
                              <a:rPr lang="en-US" altLang="ja-JP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ja-JP" altLang="en-US" i="1" dirty="0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ja-JP" altLang="en-US" i="1" dirty="0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標本分散</m:t>
                                </m:r>
                              </m:num>
                              <m:den>
                                <m:r>
                                  <a:rPr lang="ja-JP" altLang="en-US" i="1" dirty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標本数</m:t>
                                </m:r>
                              </m:den>
                            </m:f>
                          </m:e>
                        </m:rad>
                      </m:e>
                    </m:d>
                  </m:oMath>
                </a14:m>
                <a:endParaRPr kumimoji="1" lang="ja-JP" altLang="en-US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7E258C3-1258-94AA-34A0-7DB86FED85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26DF40E-98B2-FB0D-6A2A-3F3E6ABE20CF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</p:spTree>
    <p:extLst>
      <p:ext uri="{BB962C8B-B14F-4D97-AF65-F5344CB8AC3E}">
        <p14:creationId xmlns:p14="http://schemas.microsoft.com/office/powerpoint/2010/main" val="1616446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3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3F7B2-640C-6334-5ADE-064F1FC53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9C9A11-DFB2-FA67-40EB-9A54FCF8B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②</a:t>
            </a:r>
            <a:r>
              <a:rPr kumimoji="1" lang="ja-JP" altLang="en-US" dirty="0"/>
              <a:t>ネジの長さ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3651A87-6C68-B1C9-34EF-2F5C99663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13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0E796DD4-CE24-8361-3D2B-F1B6C148D8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>
                    <a:solidFill>
                      <a:schemeClr val="tx2"/>
                    </a:solidFill>
                  </a:rPr>
                  <a:t>ある工場で製造されるネジの長さは正規分布に従い，</a:t>
                </a:r>
                <a:br>
                  <a:rPr kumimoji="1" lang="en-US" altLang="ja-JP" dirty="0">
                    <a:solidFill>
                      <a:schemeClr val="tx2"/>
                    </a:solidFill>
                  </a:rPr>
                </a:br>
                <a:r>
                  <a:rPr kumimoji="1" lang="ja-JP" altLang="en-US" dirty="0">
                    <a:solidFill>
                      <a:schemeClr val="tx2"/>
                    </a:solidFill>
                  </a:rPr>
                  <a:t>母分散は既知で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=0.25</m:t>
                    </m:r>
                  </m:oMath>
                </a14:m>
                <a:r>
                  <a:rPr kumimoji="1" lang="ja-JP" altLang="en-US" dirty="0">
                    <a:solidFill>
                      <a:schemeClr val="tx2"/>
                    </a:solidFill>
                  </a:rPr>
                  <a:t>である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．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r>
                  <a:rPr kumimoji="1" lang="en-US" altLang="ja-JP" dirty="0">
                    <a:solidFill>
                      <a:schemeClr val="tx2"/>
                    </a:solidFill>
                  </a:rPr>
                  <a:t>10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本を無作為抽出したところ，平均は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5.12cm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であった．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r>
                  <a:rPr kumimoji="1" lang="en-US" altLang="ja-JP" dirty="0">
                    <a:solidFill>
                      <a:schemeClr val="tx2"/>
                    </a:solidFill>
                  </a:rPr>
                  <a:t>95%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信頼区間における</a:t>
                </a:r>
                <a:br>
                  <a:rPr kumimoji="1" lang="en-US" altLang="ja-JP" dirty="0">
                    <a:solidFill>
                      <a:schemeClr val="tx2"/>
                    </a:solidFill>
                  </a:rPr>
                </a:br>
                <a:r>
                  <a:rPr kumimoji="1" lang="ja-JP" altLang="en-US" dirty="0">
                    <a:solidFill>
                      <a:schemeClr val="tx2"/>
                    </a:solidFill>
                  </a:rPr>
                  <a:t>母平均の下限値と上限値を求めよ．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手順③　標準正規分布表から逆算して，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z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パーセント点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ja-JP" altLang="en-US" dirty="0">
                    <a:solidFill>
                      <a:schemeClr val="tx2"/>
                    </a:solidFill>
                  </a:rPr>
                  <a:t>を求める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=1.96</m:t>
                    </m:r>
                  </m:oMath>
                </a14:m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2"/>
                <a:r>
                  <a:rPr kumimoji="1" lang="ja-JP" altLang="en-US" dirty="0">
                    <a:solidFill>
                      <a:schemeClr val="tx2"/>
                    </a:solidFill>
                  </a:rPr>
                  <a:t>標準正規分布表から，</a:t>
                </a:r>
                <a:br>
                  <a:rPr kumimoji="1" lang="en-US" altLang="ja-JP" dirty="0">
                    <a:solidFill>
                      <a:schemeClr val="tx2"/>
                    </a:solidFill>
                  </a:rPr>
                </a:br>
                <a:r>
                  <a:rPr kumimoji="1" lang="ja-JP" altLang="en-US" dirty="0">
                    <a:solidFill>
                      <a:schemeClr val="tx2"/>
                    </a:solidFill>
                  </a:rPr>
                  <a:t>表中の数値が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0.025(=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片側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2.5%)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になるときの</a:t>
                </a:r>
                <a:br>
                  <a:rPr kumimoji="1" lang="en-US" altLang="ja-JP" dirty="0">
                    <a:solidFill>
                      <a:schemeClr val="tx2"/>
                    </a:solidFill>
                  </a:rPr>
                </a:br>
                <a:r>
                  <a:rPr kumimoji="1" lang="ja-JP" altLang="en-US" dirty="0">
                    <a:solidFill>
                      <a:schemeClr val="tx2"/>
                    </a:solidFill>
                  </a:rPr>
                  <a:t>表側＋表頭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0E796DD4-CE24-8361-3D2B-F1B6C148D8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EB8A85A-37FE-4BC7-B0D6-44FC6CB5AA0C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</p:spTree>
    <p:extLst>
      <p:ext uri="{BB962C8B-B14F-4D97-AF65-F5344CB8AC3E}">
        <p14:creationId xmlns:p14="http://schemas.microsoft.com/office/powerpoint/2010/main" val="3968428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3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2596C-8340-9D81-1C51-581D345C9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A774E2-7107-8BCB-8DDD-D8FE0CC3A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②</a:t>
            </a:r>
            <a:r>
              <a:rPr kumimoji="1" lang="ja-JP" altLang="en-US" dirty="0"/>
              <a:t>ネジの長さ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85AB231-41DC-7F13-153D-D2D3AE4B2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14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2644C30D-94E7-68D5-944A-FFF7FC161A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>
                    <a:solidFill>
                      <a:schemeClr val="tx2"/>
                    </a:solidFill>
                  </a:rPr>
                  <a:t>ある工場で製造されるネジの長さは正規分布に従い，</a:t>
                </a:r>
                <a:br>
                  <a:rPr kumimoji="1" lang="en-US" altLang="ja-JP" dirty="0">
                    <a:solidFill>
                      <a:schemeClr val="tx2"/>
                    </a:solidFill>
                  </a:rPr>
                </a:br>
                <a:r>
                  <a:rPr kumimoji="1" lang="ja-JP" altLang="en-US" dirty="0">
                    <a:solidFill>
                      <a:schemeClr val="tx2"/>
                    </a:solidFill>
                  </a:rPr>
                  <a:t>母分散は既知で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=0.25</m:t>
                    </m:r>
                  </m:oMath>
                </a14:m>
                <a:r>
                  <a:rPr kumimoji="1" lang="ja-JP" altLang="en-US" dirty="0">
                    <a:solidFill>
                      <a:schemeClr val="tx2"/>
                    </a:solidFill>
                  </a:rPr>
                  <a:t>である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．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r>
                  <a:rPr kumimoji="1" lang="en-US" altLang="ja-JP" dirty="0">
                    <a:solidFill>
                      <a:schemeClr val="tx2"/>
                    </a:solidFill>
                  </a:rPr>
                  <a:t>10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本を無作為抽出したところ，平均は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5.12cm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であった．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r>
                  <a:rPr kumimoji="1" lang="en-US" altLang="ja-JP" dirty="0">
                    <a:solidFill>
                      <a:schemeClr val="tx2"/>
                    </a:solidFill>
                  </a:rPr>
                  <a:t>95%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信頼区間における</a:t>
                </a:r>
                <a:br>
                  <a:rPr kumimoji="1" lang="en-US" altLang="ja-JP" dirty="0">
                    <a:solidFill>
                      <a:schemeClr val="tx2"/>
                    </a:solidFill>
                  </a:rPr>
                </a:br>
                <a:r>
                  <a:rPr kumimoji="1" lang="ja-JP" altLang="en-US" dirty="0">
                    <a:solidFill>
                      <a:schemeClr val="tx2"/>
                    </a:solidFill>
                  </a:rPr>
                  <a:t>母平均の下限値と上限値を求めよ．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手順④　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±</a:t>
                </a:r>
                <a:r>
                  <a:rPr lang="ja-JP" altLang="en-US" dirty="0"/>
                  <a:t>の後の部分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ad>
                      <m:radPr>
                        <m:degHide m:val="on"/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ja-JP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ja-JP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ja-JP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rad>
                  </m:oMath>
                </a14:m>
                <a:r>
                  <a:rPr lang="ja-JP" altLang="en-US" dirty="0">
                    <a:solidFill>
                      <a:schemeClr val="tx2"/>
                    </a:solidFill>
                  </a:rPr>
                  <a:t>を求める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ad>
                      <m:radPr>
                        <m:degHide m:val="on"/>
                        <m:ctrl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kumimoji="1" lang="en-US" altLang="ja-JP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ja-JP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kumimoji="1" lang="en-US" altLang="ja-JP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rad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=1.96</m:t>
                    </m:r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ad>
                      <m:radPr>
                        <m:degHide m:val="on"/>
                        <m:ctrl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0.25</m:t>
                            </m:r>
                          </m:num>
                          <m:den>
                            <m: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</m:e>
                    </m:rad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=0.309903</m:t>
                    </m:r>
                  </m:oMath>
                </a14:m>
                <a:endParaRPr kumimoji="1" lang="en-US" altLang="ja-JP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2644C30D-94E7-68D5-944A-FFF7FC161A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8ADD70E-2851-992A-34EE-00B54AB93450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</p:spTree>
    <p:extLst>
      <p:ext uri="{BB962C8B-B14F-4D97-AF65-F5344CB8AC3E}">
        <p14:creationId xmlns:p14="http://schemas.microsoft.com/office/powerpoint/2010/main" val="3665606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3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347AC-5601-E6FE-509B-6B35CABF7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2E31F2-48F1-A047-D981-C23CCFF6B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②</a:t>
            </a:r>
            <a:r>
              <a:rPr kumimoji="1" lang="ja-JP" altLang="en-US" dirty="0"/>
              <a:t>ネジの長さ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2C0276F-9ABC-38D7-387B-58244AD25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DA93AE3-F5D1-11F8-6EF6-ED28CF0FAD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>
                    <a:solidFill>
                      <a:schemeClr val="tx2"/>
                    </a:solidFill>
                  </a:rPr>
                  <a:t>ある工場で製造されるネジの長さは正規分布に従い，</a:t>
                </a:r>
                <a:br>
                  <a:rPr kumimoji="1" lang="en-US" altLang="ja-JP" dirty="0">
                    <a:solidFill>
                      <a:schemeClr val="tx2"/>
                    </a:solidFill>
                  </a:rPr>
                </a:br>
                <a:r>
                  <a:rPr kumimoji="1" lang="ja-JP" altLang="en-US" dirty="0">
                    <a:solidFill>
                      <a:schemeClr val="tx2"/>
                    </a:solidFill>
                  </a:rPr>
                  <a:t>母分散は既知で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=0.25</m:t>
                    </m:r>
                  </m:oMath>
                </a14:m>
                <a:r>
                  <a:rPr kumimoji="1" lang="ja-JP" altLang="en-US" dirty="0">
                    <a:solidFill>
                      <a:schemeClr val="tx2"/>
                    </a:solidFill>
                  </a:rPr>
                  <a:t>である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．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r>
                  <a:rPr kumimoji="1" lang="en-US" altLang="ja-JP" dirty="0">
                    <a:solidFill>
                      <a:schemeClr val="tx2"/>
                    </a:solidFill>
                  </a:rPr>
                  <a:t>10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本を無作為抽出したところ，平均は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5.12cm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であった．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r>
                  <a:rPr kumimoji="1" lang="en-US" altLang="ja-JP" dirty="0">
                    <a:solidFill>
                      <a:schemeClr val="tx2"/>
                    </a:solidFill>
                  </a:rPr>
                  <a:t>95%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信頼区間における</a:t>
                </a:r>
                <a:br>
                  <a:rPr kumimoji="1" lang="en-US" altLang="ja-JP" dirty="0">
                    <a:solidFill>
                      <a:schemeClr val="tx2"/>
                    </a:solidFill>
                  </a:rPr>
                </a:br>
                <a:r>
                  <a:rPr kumimoji="1" lang="ja-JP" altLang="en-US" dirty="0">
                    <a:solidFill>
                      <a:schemeClr val="tx2"/>
                    </a:solidFill>
                  </a:rPr>
                  <a:t>母平均の下限値と上限値を求めよ．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手順⑤　標本平均から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±</a:t>
                </a:r>
                <a:r>
                  <a:rPr lang="ja-JP" altLang="en-US" dirty="0"/>
                  <a:t>して，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下限値と上限値を求める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2"/>
                <a:r>
                  <a:rPr lang="ja-JP" altLang="en-US" dirty="0"/>
                  <a:t>下限値：　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kumimoji="1" lang="en-US" altLang="ja-JP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ad>
                      <m:radPr>
                        <m:degHide m:val="on"/>
                        <m:ctrl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kumimoji="1" lang="en-US" altLang="ja-JP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ja-JP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kumimoji="1" lang="en-US" altLang="ja-JP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rad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=5.12−</m:t>
                    </m:r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1.96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ad>
                          <m:radPr>
                            <m:degHide m:val="on"/>
                            <m:ctrlP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0.25</m:t>
                                </m:r>
                              </m:num>
                              <m:den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</m:t>
                                </m:r>
                              </m:den>
                            </m:f>
                          </m:e>
                        </m:rad>
                      </m:e>
                    </m:d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=4.81</m:t>
                    </m:r>
                  </m:oMath>
                </a14:m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2"/>
                <a:r>
                  <a:rPr lang="ja-JP" altLang="en-US" dirty="0"/>
                  <a:t>上限値：　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ja-JP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𝑧</m:t>
                    </m:r>
                    <m:rad>
                      <m:radPr>
                        <m:degHide m:val="on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rad>
                    <m:r>
                      <a:rPr lang="en-US" altLang="ja-JP" i="1">
                        <a:latin typeface="Cambria Math" panose="02040503050406030204" pitchFamily="18" charset="0"/>
                      </a:rPr>
                      <m:t>=5.12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1.96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ad>
                          <m:radPr>
                            <m:degHide m:val="on"/>
                            <m:ctrlP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0.25</m:t>
                                </m:r>
                              </m:num>
                              <m:den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</m:t>
                                </m:r>
                              </m:den>
                            </m:f>
                          </m:e>
                        </m:rad>
                      </m:e>
                    </m:d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5.43</m:t>
                    </m:r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DA93AE3-F5D1-11F8-6EF6-ED28CF0FAD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5C26135-CED1-2713-B88B-364552E2F9E2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</p:spTree>
    <p:extLst>
      <p:ext uri="{BB962C8B-B14F-4D97-AF65-F5344CB8AC3E}">
        <p14:creationId xmlns:p14="http://schemas.microsoft.com/office/powerpoint/2010/main" val="15650259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6CB43-0E93-9DF6-C1ED-9C27E869C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E414B-1447-43E2-227F-EB5873EB2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③バッテリーの寿命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F2F184D-DB8F-1B21-4CAE-C641B4DD7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16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EA3EEB9-BA6E-8176-D2C2-D4B2A4A47E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ja-JP" altLang="en-US" dirty="0"/>
                  <a:t>あるバッテリーの寿命について，標本</a:t>
                </a:r>
                <a:r>
                  <a:rPr lang="en-US" altLang="ja-JP" dirty="0"/>
                  <a:t>20</a:t>
                </a:r>
                <a:r>
                  <a:rPr lang="ja-JP" altLang="en-US" dirty="0"/>
                  <a:t>個を測定したところ</a:t>
                </a:r>
                <a:br>
                  <a:rPr lang="en-US" altLang="ja-JP" dirty="0"/>
                </a:br>
                <a:r>
                  <a:rPr lang="ja-JP" altLang="en-US" dirty="0"/>
                  <a:t>標本不偏分散は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ja-JP" b="0" i="1" dirty="0" smtClean="0">
                        <a:latin typeface="Cambria Math" panose="02040503050406030204" pitchFamily="18" charset="0"/>
                      </a:rPr>
                      <m:t>=36</m:t>
                    </m:r>
                  </m:oMath>
                </a14:m>
                <a:r>
                  <a:rPr lang="ja-JP" altLang="en-US" dirty="0"/>
                  <a:t>であった．</a:t>
                </a:r>
                <a:endParaRPr lang="en-US" altLang="ja-JP" dirty="0"/>
              </a:p>
              <a:p>
                <a:r>
                  <a:rPr lang="ja-JP" altLang="en-US" dirty="0"/>
                  <a:t>母分散の</a:t>
                </a:r>
                <a:r>
                  <a:rPr lang="en-US" altLang="ja-JP" dirty="0"/>
                  <a:t>95%</a:t>
                </a:r>
                <a:r>
                  <a:rPr lang="ja-JP" altLang="en-US" dirty="0"/>
                  <a:t>信頼区間を求めよ</a:t>
                </a:r>
                <a:r>
                  <a:rPr kumimoji="1" lang="ja-JP" altLang="en-US" dirty="0"/>
                  <a:t>．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EA3EEB9-BA6E-8176-D2C2-D4B2A4A47E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6552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FAB3F-53B3-79B2-677F-18798261F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2725FE-9DCB-264E-5477-B8F31FFB6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③バッテリーの寿命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F482111-50E9-B9E6-D12F-3CDEDF2E8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17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1872F2D-A975-7D72-3161-D6DBCB7C65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ja-JP" altLang="en-US" dirty="0"/>
                  <a:t>あるバッテリーの寿命について，標本</a:t>
                </a:r>
                <a:r>
                  <a:rPr lang="en-US" altLang="ja-JP" dirty="0"/>
                  <a:t>20</a:t>
                </a:r>
                <a:r>
                  <a:rPr lang="ja-JP" altLang="en-US" dirty="0"/>
                  <a:t>個を測定したところ</a:t>
                </a:r>
                <a:br>
                  <a:rPr lang="en-US" altLang="ja-JP" dirty="0"/>
                </a:br>
                <a:r>
                  <a:rPr lang="ja-JP" altLang="en-US" dirty="0"/>
                  <a:t>標本不偏分散は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ja-JP" b="0" i="1" dirty="0" smtClean="0">
                        <a:latin typeface="Cambria Math" panose="02040503050406030204" pitchFamily="18" charset="0"/>
                      </a:rPr>
                      <m:t>=36</m:t>
                    </m:r>
                  </m:oMath>
                </a14:m>
                <a:r>
                  <a:rPr lang="ja-JP" altLang="en-US" dirty="0"/>
                  <a:t>であった．</a:t>
                </a:r>
                <a:endParaRPr lang="en-US" altLang="ja-JP" dirty="0"/>
              </a:p>
              <a:p>
                <a:r>
                  <a:rPr lang="ja-JP" altLang="en-US" dirty="0"/>
                  <a:t>母分散の</a:t>
                </a:r>
                <a:r>
                  <a:rPr lang="en-US" altLang="ja-JP" dirty="0"/>
                  <a:t>95%</a:t>
                </a:r>
                <a:r>
                  <a:rPr lang="ja-JP" altLang="en-US" dirty="0"/>
                  <a:t>信頼区間を求めよ</a:t>
                </a:r>
                <a:r>
                  <a:rPr kumimoji="1" lang="ja-JP" altLang="en-US" dirty="0"/>
                  <a:t>．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手順①　問題文からわかっている統計量を整理する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標本不偏分散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altLang="ja-JP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altLang="ja-JP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altLang="ja-JP" dirty="0"/>
                  <a:t>	</a:t>
                </a:r>
                <a:r>
                  <a:rPr lang="ja-JP" altLang="en-US" dirty="0"/>
                  <a:t>：</a:t>
                </a:r>
                <a:r>
                  <a:rPr lang="en-US" altLang="ja-JP" dirty="0"/>
                  <a:t>36</a:t>
                </a:r>
              </a:p>
              <a:p>
                <a:pPr lvl="2"/>
                <a:r>
                  <a:rPr lang="ja-JP" altLang="en-US" dirty="0"/>
                  <a:t>標本数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ja-JP" dirty="0"/>
                  <a:t>			</a:t>
                </a:r>
                <a:r>
                  <a:rPr lang="ja-JP" altLang="en-US" dirty="0"/>
                  <a:t>：</a:t>
                </a:r>
                <a:r>
                  <a:rPr lang="en-US" altLang="ja-JP" dirty="0"/>
                  <a:t>20</a:t>
                </a:r>
              </a:p>
              <a:p>
                <a:pPr lvl="1"/>
                <a:r>
                  <a:rPr lang="ja-JP" altLang="en-US" dirty="0"/>
                  <a:t>手順②　必要な統計量を計算する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自由度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𝜈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ja-JP" dirty="0"/>
                  <a:t>			</a:t>
                </a:r>
                <a:r>
                  <a:rPr lang="ja-JP" altLang="en-US" dirty="0"/>
                  <a:t>：</a:t>
                </a:r>
                <a:r>
                  <a:rPr lang="en-US" altLang="ja-JP" dirty="0"/>
                  <a:t>19</a:t>
                </a:r>
              </a:p>
              <a:p>
                <a:pPr lvl="2"/>
                <a:r>
                  <a:rPr lang="ja-JP" altLang="en-US" dirty="0"/>
                  <a:t>偏差二乗和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altLang="ja-JP" dirty="0"/>
                  <a:t>	</a:t>
                </a:r>
                <a:r>
                  <a:rPr lang="ja-JP" altLang="en-US" dirty="0"/>
                  <a:t>：</a:t>
                </a:r>
                <a:r>
                  <a:rPr lang="en-US" altLang="ja-JP" dirty="0"/>
                  <a:t>684</a:t>
                </a:r>
              </a:p>
              <a:p>
                <a:pPr lvl="3"/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ja-JP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1872F2D-A975-7D72-3161-D6DBCB7C65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85A69B2-8CA9-E2DD-7C8C-AE6C026D5B83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</p:spTree>
    <p:extLst>
      <p:ext uri="{BB962C8B-B14F-4D97-AF65-F5344CB8AC3E}">
        <p14:creationId xmlns:p14="http://schemas.microsoft.com/office/powerpoint/2010/main" val="2126547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3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78717-6B1A-8FA1-3B60-C6A8DDAF8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CBE3DC-41C9-874D-3E73-9F79F7B07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③バッテリーの寿命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BA3A216-348C-C3BD-949C-473E22614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18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07376C1-8E99-4BF0-504B-22D8689B7D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ja-JP" altLang="en-US" dirty="0"/>
                  <a:t>あるバッテリーの寿命について，標本</a:t>
                </a:r>
                <a:r>
                  <a:rPr lang="en-US" altLang="ja-JP" dirty="0"/>
                  <a:t>20</a:t>
                </a:r>
                <a:r>
                  <a:rPr lang="ja-JP" altLang="en-US" dirty="0"/>
                  <a:t>個を測定したところ</a:t>
                </a:r>
                <a:br>
                  <a:rPr lang="en-US" altLang="ja-JP" dirty="0"/>
                </a:br>
                <a:r>
                  <a:rPr lang="ja-JP" altLang="en-US" dirty="0"/>
                  <a:t>標本不偏分散は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ja-JP" b="0" i="1" dirty="0" smtClean="0">
                        <a:latin typeface="Cambria Math" panose="02040503050406030204" pitchFamily="18" charset="0"/>
                      </a:rPr>
                      <m:t>=36</m:t>
                    </m:r>
                  </m:oMath>
                </a14:m>
                <a:r>
                  <a:rPr lang="ja-JP" altLang="en-US" dirty="0"/>
                  <a:t>であった．</a:t>
                </a:r>
                <a:endParaRPr lang="en-US" altLang="ja-JP" dirty="0"/>
              </a:p>
              <a:p>
                <a:r>
                  <a:rPr lang="ja-JP" altLang="en-US" dirty="0"/>
                  <a:t>母分散の</a:t>
                </a:r>
                <a:r>
                  <a:rPr lang="en-US" altLang="ja-JP" dirty="0"/>
                  <a:t>95%</a:t>
                </a:r>
                <a:r>
                  <a:rPr lang="ja-JP" altLang="en-US" dirty="0"/>
                  <a:t>信頼区間を求めよ</a:t>
                </a:r>
                <a:r>
                  <a:rPr kumimoji="1" lang="ja-JP" altLang="en-US" dirty="0"/>
                  <a:t>．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手順③　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dirty="0"/>
                  <a:t>分布表から</a:t>
                </a:r>
                <a:br>
                  <a:rPr lang="en-US" altLang="ja-JP" dirty="0"/>
                </a:br>
                <a:r>
                  <a:rPr lang="ja-JP" altLang="en-US" dirty="0"/>
                  <a:t>パーセント点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ja-JP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d>
                  </m:oMath>
                </a14:m>
                <a:r>
                  <a:rPr lang="en-US" altLang="ja-JP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ja-JP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0.975</m:t>
                        </m:r>
                      </m:sub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19</m:t>
                        </m:r>
                      </m:e>
                    </m:d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を求める</a:t>
                </a:r>
                <a:endParaRPr lang="en-US" altLang="ja-JP" dirty="0"/>
              </a:p>
              <a:p>
                <a:pPr lvl="2"/>
                <a:r>
                  <a:rPr lang="en-US" altLang="ja-JP" dirty="0"/>
                  <a:t>2.5</a:t>
                </a:r>
                <a:r>
                  <a:rPr lang="ja-JP" altLang="en-US" dirty="0"/>
                  <a:t>パーセント点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d>
                  </m:oMath>
                </a14:m>
                <a:r>
                  <a:rPr lang="en-US" altLang="ja-JP" dirty="0"/>
                  <a:t>	</a:t>
                </a:r>
                <a:r>
                  <a:rPr lang="ja-JP" altLang="en-US" dirty="0"/>
                  <a:t>：</a:t>
                </a:r>
                <a:r>
                  <a:rPr lang="en-US" altLang="ja-JP" dirty="0"/>
                  <a:t>32.85233</a:t>
                </a:r>
              </a:p>
              <a:p>
                <a:pPr lvl="2"/>
                <a:r>
                  <a:rPr lang="en-US" altLang="ja-JP" dirty="0"/>
                  <a:t>97.5</a:t>
                </a:r>
                <a:r>
                  <a:rPr lang="ja-JP" altLang="en-US" dirty="0"/>
                  <a:t>パーセント点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97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19</m:t>
                        </m:r>
                      </m:e>
                    </m:d>
                  </m:oMath>
                </a14:m>
                <a:r>
                  <a:rPr lang="en-US" altLang="ja-JP" dirty="0"/>
                  <a:t>	</a:t>
                </a:r>
                <a:r>
                  <a:rPr lang="ja-JP" altLang="en-US" dirty="0"/>
                  <a:t>：</a:t>
                </a:r>
                <a:r>
                  <a:rPr lang="en-US" altLang="ja-JP" dirty="0"/>
                  <a:t>8.90652</a:t>
                </a:r>
              </a:p>
              <a:p>
                <a:pPr lvl="1"/>
                <a:r>
                  <a:rPr lang="ja-JP" altLang="en-US" dirty="0"/>
                  <a:t>手順④　代入して，下限値と上限値を求める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下限値：　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sSubSup>
                          <m:sSubSup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𝜒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0.025</m:t>
                            </m:r>
                          </m:sub>
                          <m:sup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den>
                    </m:f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684</m:t>
                        </m:r>
                      </m:num>
                      <m:den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32.85233</m:t>
                        </m:r>
                      </m:den>
                    </m:f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=20.82</m:t>
                    </m:r>
                  </m:oMath>
                </a14:m>
                <a:endParaRPr lang="en-US" altLang="ja-JP" dirty="0"/>
              </a:p>
              <a:p>
                <a:pPr lvl="2"/>
                <a:r>
                  <a:rPr lang="ja-JP" altLang="en-US" dirty="0"/>
                  <a:t>上限値：　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sSubSup>
                          <m:sSubSup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𝜒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0.975</m:t>
                            </m:r>
                          </m:sub>
                          <m:sup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den>
                    </m:f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684</m:t>
                        </m:r>
                      </m:num>
                      <m:den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8.90652</m:t>
                        </m:r>
                      </m:den>
                    </m:f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=76.80</m:t>
                    </m:r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07376C1-8E99-4BF0-504B-22D8689B7D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A40DEE5-8A44-0429-F4DF-58745A8B5052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</p:spTree>
    <p:extLst>
      <p:ext uri="{BB962C8B-B14F-4D97-AF65-F5344CB8AC3E}">
        <p14:creationId xmlns:p14="http://schemas.microsoft.com/office/powerpoint/2010/main" val="42035326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70F5CE-7DFA-9C99-978D-22ADE7688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④トマトの重量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D351129-084D-1721-4AD2-8BB1CFF7D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19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4303FBB-50E4-033C-8DB3-C6771B9923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ある農家のトマト</a:t>
            </a:r>
            <a:r>
              <a:rPr kumimoji="1" lang="en-US" altLang="ja-JP" dirty="0"/>
              <a:t>1</a:t>
            </a:r>
            <a:r>
              <a:rPr kumimoji="1" lang="ja-JP" altLang="en-US" dirty="0"/>
              <a:t>箱の重量を</a:t>
            </a:r>
            <a:r>
              <a:rPr kumimoji="1" lang="en-US" altLang="ja-JP" dirty="0"/>
              <a:t>8</a:t>
            </a:r>
            <a:r>
              <a:rPr kumimoji="1" lang="ja-JP" altLang="en-US" dirty="0"/>
              <a:t>箱測定したところ，</a:t>
            </a:r>
            <a:br>
              <a:rPr kumimoji="1" lang="en-US" altLang="ja-JP" dirty="0"/>
            </a:br>
            <a:r>
              <a:rPr kumimoji="1" lang="ja-JP" altLang="en-US" dirty="0"/>
              <a:t>表の結果を得た．</a:t>
            </a:r>
            <a:endParaRPr kumimoji="1" lang="en-US" altLang="ja-JP" dirty="0"/>
          </a:p>
          <a:p>
            <a:r>
              <a:rPr lang="ja-JP" altLang="en-US" dirty="0"/>
              <a:t>母平均の</a:t>
            </a:r>
            <a:r>
              <a:rPr lang="en-US" altLang="ja-JP" dirty="0"/>
              <a:t>99%</a:t>
            </a:r>
            <a:r>
              <a:rPr lang="ja-JP" altLang="en-US" dirty="0"/>
              <a:t>信頼区間を求めよ．</a:t>
            </a:r>
            <a:endParaRPr lang="en-US" altLang="ja-JP" dirty="0"/>
          </a:p>
          <a:p>
            <a:r>
              <a:rPr kumimoji="1" lang="ja-JP" altLang="en-US" dirty="0"/>
              <a:t>母分散の</a:t>
            </a:r>
            <a:r>
              <a:rPr kumimoji="1" lang="en-US" altLang="ja-JP" dirty="0"/>
              <a:t>95%</a:t>
            </a:r>
            <a:r>
              <a:rPr kumimoji="1" lang="ja-JP" altLang="en-US" dirty="0"/>
              <a:t>信頼区間を求めよ．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9CCE9DA-A848-1D03-102F-8BFFE8562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6623" y="1626523"/>
            <a:ext cx="3165401" cy="5094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4259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200D0-D9FD-B65B-23FB-12BC2288C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599D9B-A20F-2680-9F83-6E4CF6CB2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④トマトの重量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5901C35-F2F8-ABE3-5143-920CD66DA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20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A55DC85-3AD3-EA9D-C658-3DCC2B5DAC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976" y="797785"/>
                <a:ext cx="8880049" cy="5788057"/>
              </a:xfrm>
            </p:spPr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ある農家のトマト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箱の重量を</a:t>
                </a:r>
                <a:r>
                  <a:rPr kumimoji="1" lang="en-US" altLang="ja-JP" dirty="0"/>
                  <a:t>8</a:t>
                </a:r>
                <a:r>
                  <a:rPr kumimoji="1" lang="ja-JP" altLang="en-US" dirty="0"/>
                  <a:t>箱測定したところ，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表の結果を得た．</a:t>
                </a:r>
                <a:endParaRPr kumimoji="1" lang="en-US" altLang="ja-JP" dirty="0"/>
              </a:p>
              <a:p>
                <a:r>
                  <a:rPr lang="ja-JP" altLang="en-US" dirty="0"/>
                  <a:t>母平均の</a:t>
                </a:r>
                <a:r>
                  <a:rPr lang="en-US" altLang="ja-JP" dirty="0"/>
                  <a:t>99%</a:t>
                </a:r>
                <a:r>
                  <a:rPr lang="ja-JP" altLang="en-US" dirty="0"/>
                  <a:t>信頼区間を求めよ．</a:t>
                </a:r>
                <a:endParaRPr lang="en-US" altLang="ja-JP" dirty="0"/>
              </a:p>
              <a:p>
                <a:r>
                  <a:rPr kumimoji="1" lang="ja-JP" altLang="en-US" dirty="0"/>
                  <a:t>母分散の</a:t>
                </a:r>
                <a:r>
                  <a:rPr kumimoji="1" lang="en-US" altLang="ja-JP" dirty="0"/>
                  <a:t>95%</a:t>
                </a:r>
                <a:r>
                  <a:rPr kumimoji="1" lang="ja-JP" altLang="en-US" dirty="0"/>
                  <a:t>信頼区間を求めよ．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必要な統計量を計算する</a:t>
                </a:r>
                <a:endParaRPr lang="en-US" altLang="ja-JP" dirty="0"/>
              </a:p>
              <a:p>
                <a:pPr lvl="2"/>
                <a:r>
                  <a:rPr kumimoji="1" lang="ja-JP" altLang="en-US" b="0" dirty="0"/>
                  <a:t>標本数：　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endParaRPr kumimoji="1" lang="en-US" altLang="ja-JP" dirty="0"/>
              </a:p>
              <a:p>
                <a:pPr lvl="2"/>
                <a:r>
                  <a:rPr lang="ja-JP" altLang="en-US" dirty="0"/>
                  <a:t>標本平均：　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kumimoji="1" lang="en-US" altLang="ja-JP" b="0" i="1" dirty="0" smtClean="0">
                        <a:latin typeface="Cambria Math" panose="02040503050406030204" pitchFamily="18" charset="0"/>
                      </a:rPr>
                      <m:t>=20.35</m:t>
                    </m:r>
                  </m:oMath>
                </a14:m>
                <a:endParaRPr kumimoji="1" lang="en-US" altLang="ja-JP" dirty="0"/>
              </a:p>
              <a:p>
                <a:pPr lvl="2"/>
                <a:r>
                  <a:rPr lang="ja-JP" altLang="en-US" dirty="0"/>
                  <a:t>偏差二乗和：　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kumimoji="1" lang="ja-JP" alt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=2.66</m:t>
                    </m:r>
                  </m:oMath>
                </a14:m>
                <a:endParaRPr kumimoji="1" lang="en-US" altLang="ja-JP" dirty="0"/>
              </a:p>
              <a:p>
                <a:pPr lvl="2"/>
                <a:r>
                  <a:rPr lang="ja-JP" altLang="en-US" dirty="0"/>
                  <a:t>自由度：　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𝜈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endParaRPr kumimoji="1"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ja-JP" dirty="0"/>
                  <a:t>0.5%</a:t>
                </a:r>
                <a:r>
                  <a:rPr lang="ja-JP" altLang="en-US" dirty="0"/>
                  <a:t>点</a:t>
                </a:r>
                <a:r>
                  <a:rPr lang="en-US" altLang="ja-JP" dirty="0"/>
                  <a:t>	</a:t>
                </a:r>
                <a:r>
                  <a:rPr lang="ja-JP" altLang="en-US" dirty="0"/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0.005</m:t>
                        </m:r>
                      </m:sub>
                    </m:sSub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=3.49948</m:t>
                    </m:r>
                  </m:oMath>
                </a14:m>
                <a:endParaRPr kumimoji="1" lang="en-US" altLang="ja-JP" dirty="0"/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ja-JP" dirty="0"/>
                  <a:t>2.5%</a:t>
                </a:r>
                <a:r>
                  <a:rPr lang="ja-JP" altLang="en-US" dirty="0"/>
                  <a:t>点</a:t>
                </a:r>
                <a:r>
                  <a:rPr lang="en-US" altLang="ja-JP" dirty="0"/>
                  <a:t>	</a:t>
                </a:r>
                <a:r>
                  <a:rPr lang="ja-JP" altLang="en-US" dirty="0"/>
                  <a:t>：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d>
                    <m:r>
                      <a:rPr lang="en-US" altLang="ja-JP" i="1">
                        <a:latin typeface="Cambria Math" panose="02040503050406030204" pitchFamily="18" charset="0"/>
                      </a:rPr>
                      <m:t>=16.01276</m:t>
                    </m:r>
                  </m:oMath>
                </a14:m>
                <a:endParaRPr kumimoji="1" lang="en-US" altLang="ja-JP" dirty="0"/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97.5%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点</m:t>
                    </m:r>
                  </m:oMath>
                </a14:m>
                <a:r>
                  <a:rPr lang="en-US" altLang="ja-JP" dirty="0"/>
                  <a:t>	</a:t>
                </a:r>
                <a:r>
                  <a:rPr lang="ja-JP" altLang="en-US" dirty="0"/>
                  <a:t>：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97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d>
                    <m:r>
                      <a:rPr lang="en-US" altLang="ja-JP" i="1">
                        <a:latin typeface="Cambria Math" panose="02040503050406030204" pitchFamily="18" charset="0"/>
                      </a:rPr>
                      <m:t>=1.68987</m:t>
                    </m:r>
                  </m:oMath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A55DC85-3AD3-EA9D-C658-3DCC2B5DAC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976" y="797785"/>
                <a:ext cx="8880049" cy="5788057"/>
              </a:xfrm>
              <a:blipFill>
                <a:blip r:embed="rId2"/>
                <a:stretch>
                  <a:fillRect l="-1099" t="-1159" b="-115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6BFBAF7-96B7-3F44-B22B-E1A40F388F2B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</p:spTree>
    <p:extLst>
      <p:ext uri="{BB962C8B-B14F-4D97-AF65-F5344CB8AC3E}">
        <p14:creationId xmlns:p14="http://schemas.microsoft.com/office/powerpoint/2010/main" val="3304175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3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33B0C-6037-9F86-4D68-6EC06B87F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D5E45C-07AB-3515-93E5-9373F2883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④トマトの重量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356443F-D066-4D4A-31E7-5BEBAB85E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21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3B4F80D-FFB0-239D-EAF9-23F5870CB7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>
                    <a:solidFill>
                      <a:schemeClr val="tx2"/>
                    </a:solidFill>
                  </a:rPr>
                  <a:t>ある農家のトマト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1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箱の重量を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8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箱測定したところ，</a:t>
                </a:r>
                <a:br>
                  <a:rPr kumimoji="1" lang="en-US" altLang="ja-JP" dirty="0">
                    <a:solidFill>
                      <a:schemeClr val="tx2"/>
                    </a:solidFill>
                  </a:rPr>
                </a:br>
                <a:r>
                  <a:rPr kumimoji="1" lang="ja-JP" altLang="en-US" dirty="0">
                    <a:solidFill>
                      <a:schemeClr val="tx2"/>
                    </a:solidFill>
                  </a:rPr>
                  <a:t>表の結果を得た．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r>
                  <a:rPr lang="ja-JP" altLang="en-US" dirty="0">
                    <a:solidFill>
                      <a:schemeClr val="tx2"/>
                    </a:solidFill>
                  </a:rPr>
                  <a:t>母平均の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99%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信頼区間を求めよ．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r>
                  <a:rPr kumimoji="1" lang="ja-JP" altLang="en-US" dirty="0">
                    <a:solidFill>
                      <a:schemeClr val="tx2"/>
                    </a:solidFill>
                  </a:rPr>
                  <a:t>母分散の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95%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信頼区間を求めよ．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1"/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母平均の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99%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信頼区間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ja-JP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ja-JP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d>
                          <m:dPr>
                            <m:ctrlPr>
                              <a:rPr lang="en-US" altLang="ja-JP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ad>
                          <m:radPr>
                            <m:degHide m:val="on"/>
                            <m:ctrlPr>
                              <a:rPr lang="en-US" altLang="ja-JP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ja-JP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  <m:sup>
                                    <m:r>
                                      <a:rPr lang="en-US" altLang="ja-JP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num>
                              <m:den>
                                <m:r>
                                  <a:rPr lang="en-US" altLang="ja-JP" i="1" dirty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  <m:r>
                          <a:rPr lang="en-US" altLang="ja-JP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acc>
                          <m:accPr>
                            <m:chr m:val="̅"/>
                            <m:ctrlP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ja-JP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ja-JP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ja-JP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d>
                          <m:dPr>
                            <m:ctrlPr>
                              <a:rPr lang="en-US" altLang="ja-JP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ad>
                          <m:radPr>
                            <m:degHide m:val="on"/>
                            <m:ctrlPr>
                              <a:rPr lang="en-US" altLang="ja-JP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ja-JP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  <m:sup>
                                    <m:r>
                                      <a:rPr lang="en-US" altLang="ja-JP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num>
                              <m:den>
                                <m:r>
                                  <a:rPr lang="en-US" altLang="ja-JP" i="1" dirty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</m:e>
                    </m:d>
                    <m:r>
                      <a:rPr lang="en-US" altLang="ja-JP" b="0" i="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19.59, 21.11</m:t>
                        </m:r>
                      </m:e>
                    </m:d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母分散の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95%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信頼区間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p>
                                  <m:sSupPr>
                                    <m:ctrlPr>
                                      <a:rPr lang="en-US" altLang="ja-JP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ja-JP" i="1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ja-JP" i="1">
                                                <a:solidFill>
                                                  <a:schemeClr val="tx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ja-JP" i="1">
                                                <a:solidFill>
                                                  <a:schemeClr val="tx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ja-JP" i="1">
                                                <a:solidFill>
                                                  <a:schemeClr val="tx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altLang="ja-JP" i="1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altLang="ja-JP" i="1">
                                                <a:solidFill>
                                                  <a:schemeClr val="tx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ja-JP" i="1">
                                                <a:solidFill>
                                                  <a:schemeClr val="tx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ja-JP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sSubSup>
                              <m:sSubSupPr>
                                <m:ctrlP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𝜒</m:t>
                                </m:r>
                              </m:e>
                              <m:sub>
                                <m: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0.025</m:t>
                                </m:r>
                              </m:sub>
                              <m:sup>
                                <m: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den>
                        </m:f>
                        <m:r>
                          <a:rPr lang="en-US" altLang="ja-JP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f>
                          <m:fPr>
                            <m:ctrlP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p>
                                  <m:sSupPr>
                                    <m:ctrlPr>
                                      <a:rPr lang="en-US" altLang="ja-JP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ja-JP" i="1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ja-JP" i="1">
                                                <a:solidFill>
                                                  <a:schemeClr val="tx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ja-JP" i="1">
                                                <a:solidFill>
                                                  <a:schemeClr val="tx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ja-JP" i="1">
                                                <a:solidFill>
                                                  <a:schemeClr val="tx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altLang="ja-JP" i="1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altLang="ja-JP" i="1">
                                                <a:solidFill>
                                                  <a:schemeClr val="tx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ja-JP" i="1">
                                                <a:solidFill>
                                                  <a:schemeClr val="tx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ja-JP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sSubSup>
                              <m:sSubSupPr>
                                <m:ctrlP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𝜒</m:t>
                                </m:r>
                              </m:e>
                              <m:sub>
                                <m: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0.975</m:t>
                                </m:r>
                              </m:sub>
                              <m:sup>
                                <m: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den>
                        </m:f>
                      </m:e>
                    </m:d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0.17, 1.57</m:t>
                        </m:r>
                      </m:e>
                    </m:d>
                  </m:oMath>
                </a14:m>
                <a:endParaRPr lang="ja-JP" altLang="en-US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3B4F80D-FFB0-239D-EAF9-23F5870CB7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2F58C94-4F92-F970-4176-E7323209C875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</p:spTree>
    <p:extLst>
      <p:ext uri="{BB962C8B-B14F-4D97-AF65-F5344CB8AC3E}">
        <p14:creationId xmlns:p14="http://schemas.microsoft.com/office/powerpoint/2010/main" val="16271999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2D5D5-4C19-9890-2B23-22CB15CED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20C158-ACB3-E1EF-488B-61EE848A6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Summary</a:t>
            </a:r>
            <a:endParaRPr kumimoji="1" lang="ja-JP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500A9993-40CE-C98B-497A-776470BC86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ja-JP" altLang="en-US" dirty="0"/>
                  <a:t>第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章　第</a:t>
                </a:r>
                <a:r>
                  <a:rPr lang="en-US" altLang="ja-JP" dirty="0"/>
                  <a:t>3</a:t>
                </a:r>
                <a:r>
                  <a:rPr lang="ja-JP" altLang="en-US" dirty="0"/>
                  <a:t>節　母平均の区間推定・母分散の区間推定</a:t>
                </a:r>
                <a:endParaRPr lang="en-US" altLang="ja-JP" dirty="0"/>
              </a:p>
              <a:p>
                <a:pPr lvl="1"/>
                <a:r>
                  <a:rPr lang="ja-JP" altLang="en-US"/>
                  <a:t>母平均</a:t>
                </a:r>
                <a:r>
                  <a:rPr lang="ja-JP" altLang="en-US" dirty="0"/>
                  <a:t>の区間推定について理解する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信頼係数・信頼区間・棄却域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ja-JP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d>
                          <m:dPr>
                            <m:ctrlP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ad>
                          <m:radPr>
                            <m:degHide m:val="on"/>
                            <m:ctrlP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ja-JP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  <m:sup>
                                    <m:r>
                                      <a:rPr lang="en-US" altLang="ja-JP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num>
                              <m:den>
                                <m:r>
                                  <a:rPr lang="en-US" altLang="ja-JP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  <m:r>
                          <a:rPr lang="en-US" altLang="ja-JP" b="0" i="1" dirty="0" smtClean="0">
                            <a:latin typeface="Cambria Math" panose="02040503050406030204" pitchFamily="18" charset="0"/>
                          </a:rPr>
                          <m:t>,  </m:t>
                        </m:r>
                        <m:acc>
                          <m:accPr>
                            <m:chr m:val="̅"/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ja-JP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ja-JP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d>
                          <m:dPr>
                            <m:ctrlPr>
                              <a:rPr lang="en-US" altLang="ja-JP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i="1" dirty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ad>
                          <m:radPr>
                            <m:degHide m:val="on"/>
                            <m:ctrlPr>
                              <a:rPr lang="en-US" altLang="ja-JP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ja-JP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  <m:sup>
                                    <m:r>
                                      <a:rPr lang="en-US" altLang="ja-JP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num>
                              <m:den>
                                <m:r>
                                  <a:rPr lang="en-US" altLang="ja-JP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</m:e>
                    </m:d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母分散の区間推定について理解する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p>
                                  <m:sSup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sSubSup>
                              <m:sSubSup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𝜒</m:t>
                                </m:r>
                              </m:e>
                              <m:sub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0.025</m:t>
                                </m:r>
                              </m:sub>
                              <m:sup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den>
                        </m:f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,  </m:t>
                        </m:r>
                        <m:f>
                          <m:f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p>
                                  <m:sSup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sSubSup>
                              <m:sSubSup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𝜒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97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  <m:sup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den>
                        </m:f>
                      </m:e>
                    </m:d>
                  </m:oMath>
                </a14:m>
                <a:endParaRPr lang="en-US" altLang="ja-JP" dirty="0"/>
              </a:p>
            </p:txBody>
          </p:sp>
        </mc:Choice>
        <mc:Fallback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500A9993-40CE-C98B-497A-776470BC86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1CFF788-67FF-DD1C-CFC5-355679042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0194553"/>
      </p:ext>
    </p:extLst>
  </p:cSld>
  <p:clrMapOvr>
    <a:masterClrMapping/>
  </p:clrMapOvr>
</p:sld>
</file>

<file path=ppt/theme/theme1.xml><?xml version="1.0" encoding="utf-8"?>
<a:theme xmlns:a="http://schemas.openxmlformats.org/drawingml/2006/main" name="配当">
  <a:themeElements>
    <a:clrScheme name="Santorini">
      <a:dk1>
        <a:sysClr val="windowText" lastClr="000000"/>
      </a:dk1>
      <a:lt1>
        <a:srgbClr val="FEFDFC"/>
      </a:lt1>
      <a:dk2>
        <a:srgbClr val="3D3D3D"/>
      </a:dk2>
      <a:lt2>
        <a:srgbClr val="E6EAEB"/>
      </a:lt2>
      <a:accent1>
        <a:srgbClr val="0065B2"/>
      </a:accent1>
      <a:accent2>
        <a:srgbClr val="68A5DA"/>
      </a:accent2>
      <a:accent3>
        <a:srgbClr val="C19969"/>
      </a:accent3>
      <a:accent4>
        <a:srgbClr val="C8BCA1"/>
      </a:accent4>
      <a:accent5>
        <a:srgbClr val="DC077F"/>
      </a:accent5>
      <a:accent6>
        <a:srgbClr val="FCE5E2"/>
      </a:accent6>
      <a:hlink>
        <a:srgbClr val="B9C3C9"/>
      </a:hlink>
      <a:folHlink>
        <a:srgbClr val="B9C3C9"/>
      </a:folHlink>
    </a:clrScheme>
    <a:fontScheme name="配当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配当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TM03457464[[fn=配当]]</Template>
  <TotalTime>2226</TotalTime>
  <Words>1461</Words>
  <Application>Microsoft Office PowerPoint</Application>
  <PresentationFormat>画面に合わせる (4:3)</PresentationFormat>
  <Paragraphs>193</Paragraphs>
  <Slides>22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22</vt:i4>
      </vt:variant>
    </vt:vector>
  </HeadingPairs>
  <TitlesOfParts>
    <vt:vector size="31" baseType="lpstr">
      <vt:lpstr>BIZ UDPゴシック</vt:lpstr>
      <vt:lpstr>HG丸ｺﾞｼｯｸM-PRO</vt:lpstr>
      <vt:lpstr>Meiryo UI</vt:lpstr>
      <vt:lpstr>游ゴシック</vt:lpstr>
      <vt:lpstr>Cambria Math</vt:lpstr>
      <vt:lpstr>Impact</vt:lpstr>
      <vt:lpstr>Wingdings</vt:lpstr>
      <vt:lpstr>Wingdings 2</vt:lpstr>
      <vt:lpstr>配当</vt:lpstr>
      <vt:lpstr>[AL] 母平均の区間推定・母分散の区間推定</vt:lpstr>
      <vt:lpstr>Summary</vt:lpstr>
      <vt:lpstr>標本不偏分散</vt:lpstr>
      <vt:lpstr>母平均の95%信頼区間</vt:lpstr>
      <vt:lpstr>母分散の95%信頼区間</vt:lpstr>
      <vt:lpstr>①テストの得点</vt:lpstr>
      <vt:lpstr>①テストの得点</vt:lpstr>
      <vt:lpstr>①テストの得点</vt:lpstr>
      <vt:lpstr>①テストの得点</vt:lpstr>
      <vt:lpstr>②ネジの長さ</vt:lpstr>
      <vt:lpstr>②ネジの長さ</vt:lpstr>
      <vt:lpstr>②ネジの長さ</vt:lpstr>
      <vt:lpstr>②ネジの長さ</vt:lpstr>
      <vt:lpstr>②ネジの長さ</vt:lpstr>
      <vt:lpstr>②ネジの長さ</vt:lpstr>
      <vt:lpstr>③バッテリーの寿命</vt:lpstr>
      <vt:lpstr>③バッテリーの寿命</vt:lpstr>
      <vt:lpstr>③バッテリーの寿命</vt:lpstr>
      <vt:lpstr>④トマトの重量</vt:lpstr>
      <vt:lpstr>④トマトの重量</vt:lpstr>
      <vt:lpstr>④トマトの重量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Ikegawa</dc:creator>
  <cp:lastModifiedBy>津村幸治</cp:lastModifiedBy>
  <cp:revision>269</cp:revision>
  <dcterms:created xsi:type="dcterms:W3CDTF">2025-03-03T09:28:12Z</dcterms:created>
  <dcterms:modified xsi:type="dcterms:W3CDTF">2026-09-13T18:14:49Z</dcterms:modified>
</cp:coreProperties>
</file>