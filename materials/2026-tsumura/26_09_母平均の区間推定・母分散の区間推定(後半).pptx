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27"/>
  </p:notesMasterIdLst>
  <p:sldIdLst>
    <p:sldId id="256" r:id="rId2"/>
    <p:sldId id="257" r:id="rId3"/>
    <p:sldId id="634" r:id="rId4"/>
    <p:sldId id="646" r:id="rId5"/>
    <p:sldId id="647" r:id="rId6"/>
    <p:sldId id="648" r:id="rId7"/>
    <p:sldId id="649" r:id="rId8"/>
    <p:sldId id="650" r:id="rId9"/>
    <p:sldId id="651" r:id="rId10"/>
    <p:sldId id="652" r:id="rId11"/>
    <p:sldId id="653" r:id="rId12"/>
    <p:sldId id="654" r:id="rId13"/>
    <p:sldId id="655" r:id="rId14"/>
    <p:sldId id="635" r:id="rId15"/>
    <p:sldId id="656" r:id="rId16"/>
    <p:sldId id="658" r:id="rId17"/>
    <p:sldId id="657" r:id="rId18"/>
    <p:sldId id="659" r:id="rId19"/>
    <p:sldId id="262" r:id="rId20"/>
    <p:sldId id="660" r:id="rId21"/>
    <p:sldId id="661" r:id="rId22"/>
    <p:sldId id="662" r:id="rId23"/>
    <p:sldId id="663" r:id="rId24"/>
    <p:sldId id="664" r:id="rId25"/>
    <p:sldId id="66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A4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946" autoAdjust="0"/>
  </p:normalViewPr>
  <p:slideViewPr>
    <p:cSldViewPr snapToGrid="0">
      <p:cViewPr>
        <p:scale>
          <a:sx n="100" d="100"/>
          <a:sy n="100" d="100"/>
        </p:scale>
        <p:origin x="552" y="68"/>
      </p:cViewPr>
      <p:guideLst/>
    </p:cSldViewPr>
  </p:slideViewPr>
  <p:notesTextViewPr>
    <p:cViewPr>
      <p:scale>
        <a:sx n="66" d="100"/>
        <a:sy n="66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須永大介" userId="afee7028-08f7-45fb-b56f-efe6c4357b09" providerId="ADAL" clId="{3322EB53-9E6C-499E-B527-F2AD79E593A6}"/>
    <pc:docChg chg="custSel modSld">
      <pc:chgData name="須永大介" userId="afee7028-08f7-45fb-b56f-efe6c4357b09" providerId="ADAL" clId="{3322EB53-9E6C-499E-B527-F2AD79E593A6}" dt="2026-08-31T10:40:42.855" v="4" actId="6549"/>
      <pc:docMkLst>
        <pc:docMk/>
      </pc:docMkLst>
      <pc:sldChg chg="modSp mod">
        <pc:chgData name="須永大介" userId="afee7028-08f7-45fb-b56f-efe6c4357b09" providerId="ADAL" clId="{3322EB53-9E6C-499E-B527-F2AD79E593A6}" dt="2026-08-31T10:40:42.855" v="4" actId="6549"/>
        <pc:sldMkLst>
          <pc:docMk/>
          <pc:sldMk cId="218988248" sldId="256"/>
        </pc:sldMkLst>
        <pc:spChg chg="mod">
          <ac:chgData name="須永大介" userId="afee7028-08f7-45fb-b56f-efe6c4357b09" providerId="ADAL" clId="{3322EB53-9E6C-499E-B527-F2AD79E593A6}" dt="2026-08-31T10:40:42.855" v="4" actId="6549"/>
          <ac:spMkLst>
            <pc:docMk/>
            <pc:sldMk cId="218988248" sldId="256"/>
            <ac:spMk id="2" creationId="{34E62EDF-23B0-0FF7-CCAE-3A62D57648C2}"/>
          </ac:spMkLst>
        </pc:spChg>
      </pc:sldChg>
      <pc:sldChg chg="modSp mod">
        <pc:chgData name="須永大介" userId="afee7028-08f7-45fb-b56f-efe6c4357b09" providerId="ADAL" clId="{3322EB53-9E6C-499E-B527-F2AD79E593A6}" dt="2026-08-31T10:39:36.096" v="2" actId="6549"/>
        <pc:sldMkLst>
          <pc:docMk/>
          <pc:sldMk cId="520194553" sldId="262"/>
        </pc:sldMkLst>
        <pc:spChg chg="mod">
          <ac:chgData name="須永大介" userId="afee7028-08f7-45fb-b56f-efe6c4357b09" providerId="ADAL" clId="{3322EB53-9E6C-499E-B527-F2AD79E593A6}" dt="2026-08-31T10:39:36.096" v="2" actId="6549"/>
          <ac:spMkLst>
            <pc:docMk/>
            <pc:sldMk cId="520194553" sldId="262"/>
            <ac:spMk id="3" creationId="{500A9993-40CE-C98B-497A-776470BC86E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016066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80649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0114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48891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6A6664-5F03-5F71-4574-830C75A8C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1E22BA6-F5C3-283A-66C1-E63925DDE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78E018D-B77F-58E0-9A9E-950834D1F4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C25D81F-C5A8-FED8-A815-BC2BB4A790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66990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ACD0ED-83D4-EE90-5A48-34E1EA1CF0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88C4FF44-AAF2-FF0A-F1EE-D458A62919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459F476-D625-39B6-2FA9-0BB6DA5964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E4224C6-5772-5579-6621-9941485114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28205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092A3E-5296-ED50-783C-7053F1330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0E4B310-9265-C11F-E302-80CF5D087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AC13420-7B79-38C9-D2A3-F5D2253EF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C843029-4A18-7B4F-5EF6-7A794CAD4C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474643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47E62-3163-C5C8-C08A-B2A6FE98C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6A28B03-DBDF-5921-2D0E-01F15A5DA0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2931A03-6DF1-7784-11EF-F698637FD2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5B2E44B-A672-A403-1DF5-07298CCBB3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14906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18403-913E-2C83-F8A6-BD5392223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CEA8E2E-27B0-FD0D-7D2F-A8808BBCBD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12973AB-3370-C8F4-1A26-BD9C730832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2FC4666-7768-B4A1-9AB5-55A731C266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643599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B2131-2338-CB81-0143-8DE33C420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7BAC849-988F-649D-4892-E81F518FC5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4FCFB09-08D1-40DB-D8E1-BF3BCE5F54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ja-JP" altLang="en-US" dirty="0"/>
              <a:t>不要です．時間が余ったとき用に．</a:t>
            </a:r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A17BA93-FD55-7BC7-A768-03AF1190B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4496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18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2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5" Type="http://schemas.openxmlformats.org/officeDocument/2006/relationships/image" Target="../media/image27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22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/>
              <a:t>統計学　</a:t>
            </a:r>
            <a:r>
              <a:rPr kumimoji="1" lang="en-US" altLang="ja-JP"/>
              <a:t>#09</a:t>
            </a:r>
            <a:endParaRPr kumimoji="1" lang="ja-JP" altLang="en-US" dirty="0"/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dirty="0"/>
              <a:t>母平均の区間推定・母分散の区間推定 後半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3</a:t>
            </a:r>
            <a:r>
              <a:rPr kumimoji="1" lang="ja-JP" altLang="en-US" dirty="0"/>
              <a:t>節　母平均の区間推定・母分散の区間推定</a:t>
            </a:r>
            <a:endParaRPr kumimoji="1" lang="en-US" altLang="ja-JP" dirty="0"/>
          </a:p>
          <a:p>
            <a:pPr lvl="1"/>
            <a:r>
              <a:rPr lang="ja-JP" altLang="en-US" dirty="0"/>
              <a:t>母平均の区間推定について理解する</a:t>
            </a:r>
            <a:endParaRPr lang="en-US" altLang="ja-JP" dirty="0"/>
          </a:p>
          <a:p>
            <a:pPr lvl="1"/>
            <a:r>
              <a:rPr kumimoji="1" lang="ja-JP" altLang="en-US" dirty="0"/>
              <a:t>母分散の区間推定について理解する</a:t>
            </a:r>
            <a:endParaRPr kumimoji="1"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531ED-B726-DC4C-E0FB-DEF643323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FF33AA35-D5F3-F791-881A-02407BA20D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１：母平均の区間推定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D38F931-0E07-B30A-DDBC-F627EA92A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4448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B7616F-2858-E5D3-2C89-55D80A2333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区間推定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A0DDC06-8373-B426-ED73-0BEDFAEAA7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3AA369-479E-5EB8-0A5B-0291BF9B49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区間推定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上限値</a:t>
                </a:r>
                <a:r>
                  <a:rPr lang="ja-JP" altLang="en-US" dirty="0"/>
                  <a:t>と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下限値</a:t>
                </a:r>
                <a:r>
                  <a:rPr lang="ja-JP" altLang="en-US" dirty="0"/>
                  <a:t>を推定し，</a:t>
                </a:r>
                <a:br>
                  <a:rPr lang="en-US" altLang="ja-JP" dirty="0"/>
                </a:br>
                <a:r>
                  <a:rPr lang="ja-JP" altLang="en-US" dirty="0"/>
                  <a:t>上限値と下限値の間の区間に</a:t>
                </a:r>
                <a:br>
                  <a:rPr lang="en-US" altLang="ja-JP" dirty="0"/>
                </a:br>
                <a:r>
                  <a:rPr lang="ja-JP" altLang="en-US" dirty="0"/>
                  <a:t>母数が含まれる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信頼度</a:t>
                </a:r>
                <a:r>
                  <a:rPr lang="ja-JP" altLang="en-US" dirty="0"/>
                  <a:t>を示す方法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下限値</m:t>
                        </m:r>
                      </m:e>
                    </m:d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acc>
                      <m:accPr>
                        <m:chr m:val="̂"/>
                        <m:ctrlP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𝜃</m:t>
                        </m:r>
                      </m:e>
                    </m:acc>
                    <m:r>
                      <a:rPr lang="en-US" altLang="ja-JP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上限値</m:t>
                        </m:r>
                      </m:e>
                    </m:d>
                  </m:oMath>
                </a14:m>
                <a:r>
                  <a:rPr lang="ja-JP" altLang="en-US" dirty="0"/>
                  <a:t>　</a:t>
                </a:r>
                <a:r>
                  <a:rPr lang="ja-JP" altLang="en-US" sz="1800" dirty="0"/>
                  <a:t>信頼係数：</a:t>
                </a:r>
                <a:r>
                  <a:rPr lang="en-US" altLang="ja-JP" sz="1800" dirty="0"/>
                  <a:t>95%</a:t>
                </a:r>
                <a:endParaRPr lang="en-US" altLang="ja-JP" dirty="0"/>
              </a:p>
              <a:p>
                <a:endParaRPr lang="en-US" altLang="ja-JP" dirty="0"/>
              </a:p>
              <a:p>
                <a:r>
                  <a:rPr lang="ja-JP" altLang="en-US" dirty="0"/>
                  <a:t>信頼係数　</a:t>
                </a:r>
                <a:r>
                  <a:rPr lang="en-US" altLang="ja-JP" dirty="0">
                    <a:solidFill>
                      <a:schemeClr val="accent2"/>
                    </a:solidFill>
                  </a:rPr>
                  <a:t>confidence coefficient</a:t>
                </a:r>
              </a:p>
              <a:p>
                <a:pPr lvl="1"/>
                <a:r>
                  <a:rPr lang="ja-JP" altLang="en-US" dirty="0"/>
                  <a:t>信頼度を表す指標</a:t>
                </a:r>
                <a:endParaRPr lang="en-US" altLang="ja-JP" dirty="0"/>
              </a:p>
              <a:p>
                <a:r>
                  <a:rPr kumimoji="1" lang="ja-JP" altLang="en-US" b="1" dirty="0">
                    <a:solidFill>
                      <a:schemeClr val="accent5"/>
                    </a:solidFill>
                  </a:rPr>
                  <a:t>信頼区間</a:t>
                </a:r>
                <a:r>
                  <a:rPr kumimoji="1" lang="ja-JP" altLang="en-US" dirty="0"/>
                  <a:t>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confidence interval</a:t>
                </a:r>
              </a:p>
              <a:p>
                <a:pPr lvl="1"/>
                <a:r>
                  <a:rPr lang="ja-JP" altLang="en-US" dirty="0"/>
                  <a:t>信頼係数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kumimoji="1" lang="ja-JP" altLang="en-US" dirty="0"/>
                  <a:t>％となる区間</a:t>
                </a:r>
                <a:endParaRPr kumimoji="1" lang="en-US" altLang="ja-JP" dirty="0"/>
              </a:p>
              <a:p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3AA369-479E-5EB8-0A5B-0291BF9B49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1353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3BC6E9D-2C27-DF9B-EB4D-A1A367DF6C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棄却域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07EFF68-27CF-EB13-ABCB-A9DB41CB5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A06B39E-C6C3-451C-B3A8-023A982E4B9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>
                    <a:solidFill>
                      <a:schemeClr val="accent5"/>
                    </a:solidFill>
                  </a:rPr>
                  <a:t>棄却域</a:t>
                </a:r>
                <a:endParaRPr kumimoji="1" lang="en-US" altLang="ja-JP" dirty="0">
                  <a:solidFill>
                    <a:schemeClr val="accent5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信頼区間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100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の</a:t>
                </a:r>
                <a14:m>
                  <m:oMath xmlns:m="http://schemas.openxmlformats.org/officeDocument/2006/math">
                    <m:r>
                      <a:rPr kumimoji="1" lang="en-US" altLang="ja-JP" b="0" i="1" dirty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の区間</a:t>
                </a:r>
                <a:r>
                  <a:rPr kumimoji="1" lang="ja-JP" altLang="en-US" dirty="0"/>
                  <a:t>のこと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例：</a:t>
                </a:r>
                <a:r>
                  <a:rPr kumimoji="1" lang="ja-JP" altLang="en-US" dirty="0"/>
                  <a:t>母平均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/>
                  <a:t>に関する信頼係数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の信頼区間</a:t>
                </a:r>
                <a:endParaRPr kumimoji="1" lang="en-US" altLang="ja-JP" dirty="0"/>
              </a:p>
              <a:p>
                <a:pPr lvl="2"/>
                <a:r>
                  <a:rPr lang="ja-JP" altLang="en-US" dirty="0"/>
                  <a:t>＝母平均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/>
                  <a:t>の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信頼区間</a:t>
                </a:r>
                <a:endParaRPr kumimoji="1" lang="en-US" altLang="ja-JP" dirty="0"/>
              </a:p>
              <a:p>
                <a:pPr lvl="2"/>
                <a:r>
                  <a:rPr kumimoji="1" lang="ja-JP" altLang="en-US" dirty="0"/>
                  <a:t>棄却域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kumimoji="1" lang="en-US" altLang="ja-JP" dirty="0"/>
                  <a:t>%</a:t>
                </a:r>
              </a:p>
              <a:p>
                <a:pPr lvl="1"/>
                <a:r>
                  <a:rPr lang="ja-JP" altLang="en-US" dirty="0"/>
                  <a:t>棄却域は，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両端の合計が</a:t>
                </a:r>
                <a:r>
                  <a:rPr lang="en-US" altLang="ja-JP" dirty="0">
                    <a:solidFill>
                      <a:schemeClr val="accent5"/>
                    </a:solidFill>
                  </a:rPr>
                  <a:t>5%(=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altLang="ja-JP" dirty="0">
                    <a:solidFill>
                      <a:schemeClr val="accent5"/>
                    </a:solidFill>
                  </a:rPr>
                  <a:t>)</a:t>
                </a:r>
                <a:r>
                  <a:rPr lang="ja-JP" altLang="en-US" dirty="0"/>
                  <a:t>となるように，</a:t>
                </a:r>
                <a:br>
                  <a:rPr lang="en-US" altLang="ja-JP" dirty="0"/>
                </a:br>
                <a:r>
                  <a:rPr lang="ja-JP" altLang="en-US" dirty="0"/>
                  <a:t>片側</a:t>
                </a:r>
                <a:r>
                  <a:rPr lang="en-US" altLang="ja-JP" dirty="0"/>
                  <a:t>2.5%</a:t>
                </a:r>
                <a:r>
                  <a:rPr lang="ja-JP" altLang="en-US" dirty="0"/>
                  <a:t>ずつ設定する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両側検定の場合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A06B39E-C6C3-451C-B3A8-023A982E4B9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F701B267-2954-6A83-F522-52275C0B74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6269"/>
          <a:stretch>
            <a:fillRect/>
          </a:stretch>
        </p:blipFill>
        <p:spPr>
          <a:xfrm>
            <a:off x="4438500" y="3997835"/>
            <a:ext cx="4573524" cy="2298167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295F704-24A2-8DF5-E149-1EF62D992376}"/>
              </a:ext>
            </a:extLst>
          </p:cNvPr>
          <p:cNvSpPr txBox="1"/>
          <p:nvPr/>
        </p:nvSpPr>
        <p:spPr>
          <a:xfrm>
            <a:off x="6342785" y="5314772"/>
            <a:ext cx="76495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95%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1CF761C6-B87B-25B2-E02B-70AA3428816C}"/>
              </a:ext>
            </a:extLst>
          </p:cNvPr>
          <p:cNvGrpSpPr/>
          <p:nvPr/>
        </p:nvGrpSpPr>
        <p:grpSpPr>
          <a:xfrm>
            <a:off x="4706579" y="5166676"/>
            <a:ext cx="837088" cy="758070"/>
            <a:chOff x="4706579" y="5166676"/>
            <a:chExt cx="837088" cy="758070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2889EC11-541C-2551-F48D-1DAA1720E199}"/>
                </a:ext>
              </a:extLst>
            </p:cNvPr>
            <p:cNvSpPr txBox="1"/>
            <p:nvPr/>
          </p:nvSpPr>
          <p:spPr>
            <a:xfrm>
              <a:off x="4706579" y="5166676"/>
              <a:ext cx="837088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2.5%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0" name="直線矢印コネクタ 9">
              <a:extLst>
                <a:ext uri="{FF2B5EF4-FFF2-40B4-BE49-F238E27FC236}">
                  <a16:creationId xmlns:a16="http://schemas.microsoft.com/office/drawing/2014/main" id="{1090FE12-793E-2072-B454-7787A9C40EB1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5125123" y="5536008"/>
              <a:ext cx="385050" cy="388738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9AE81629-2732-5B50-1C0D-D303E5D86F9C}"/>
              </a:ext>
            </a:extLst>
          </p:cNvPr>
          <p:cNvGrpSpPr/>
          <p:nvPr/>
        </p:nvGrpSpPr>
        <p:grpSpPr>
          <a:xfrm>
            <a:off x="7901912" y="5166676"/>
            <a:ext cx="837088" cy="776355"/>
            <a:chOff x="7901912" y="5166676"/>
            <a:chExt cx="837088" cy="776355"/>
          </a:xfrm>
        </p:grpSpPr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58CCEB25-6906-EF21-38BA-1E61CEB6ED98}"/>
                </a:ext>
              </a:extLst>
            </p:cNvPr>
            <p:cNvSpPr txBox="1"/>
            <p:nvPr/>
          </p:nvSpPr>
          <p:spPr>
            <a:xfrm>
              <a:off x="7901912" y="5166676"/>
              <a:ext cx="837088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2.5%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CC9F0D8E-6CFD-C82F-1363-25C7D7F6A82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1458" y="5554293"/>
              <a:ext cx="385050" cy="388738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28263163-2C61-A02D-26D2-992AC2027E8C}"/>
              </a:ext>
            </a:extLst>
          </p:cNvPr>
          <p:cNvGrpSpPr/>
          <p:nvPr/>
        </p:nvGrpSpPr>
        <p:grpSpPr>
          <a:xfrm>
            <a:off x="4525102" y="6014242"/>
            <a:ext cx="1107996" cy="706962"/>
            <a:chOff x="4503836" y="6014242"/>
            <a:chExt cx="1107996" cy="706962"/>
          </a:xfrm>
        </p:grpSpPr>
        <p:sp>
          <p:nvSpPr>
            <p:cNvPr id="15" name="左中かっこ 14">
              <a:extLst>
                <a:ext uri="{FF2B5EF4-FFF2-40B4-BE49-F238E27FC236}">
                  <a16:creationId xmlns:a16="http://schemas.microsoft.com/office/drawing/2014/main" id="{250FD678-7A40-7AC6-AEA0-B9ACF90D7672}"/>
                </a:ext>
              </a:extLst>
            </p:cNvPr>
            <p:cNvSpPr/>
            <p:nvPr/>
          </p:nvSpPr>
          <p:spPr>
            <a:xfrm rot="16200000">
              <a:off x="4917917" y="5668327"/>
              <a:ext cx="279835" cy="971666"/>
            </a:xfrm>
            <a:prstGeom prst="leftBrac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EB83DF9E-0221-6B76-F027-C98A8FAFD519}"/>
                </a:ext>
              </a:extLst>
            </p:cNvPr>
            <p:cNvSpPr txBox="1"/>
            <p:nvPr/>
          </p:nvSpPr>
          <p:spPr>
            <a:xfrm>
              <a:off x="4503836" y="625953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棄却域</a:t>
              </a:r>
            </a:p>
          </p:txBody>
        </p:sp>
      </p:grpSp>
      <p:grpSp>
        <p:nvGrpSpPr>
          <p:cNvPr id="18" name="グループ化 17">
            <a:extLst>
              <a:ext uri="{FF2B5EF4-FFF2-40B4-BE49-F238E27FC236}">
                <a16:creationId xmlns:a16="http://schemas.microsoft.com/office/drawing/2014/main" id="{ABEF4613-407C-70EB-7753-5AE55CA13D50}"/>
              </a:ext>
            </a:extLst>
          </p:cNvPr>
          <p:cNvGrpSpPr/>
          <p:nvPr/>
        </p:nvGrpSpPr>
        <p:grpSpPr>
          <a:xfrm>
            <a:off x="7827481" y="6014242"/>
            <a:ext cx="1107996" cy="706962"/>
            <a:chOff x="4503836" y="6014242"/>
            <a:chExt cx="1107996" cy="706962"/>
          </a:xfrm>
        </p:grpSpPr>
        <p:sp>
          <p:nvSpPr>
            <p:cNvPr id="19" name="左中かっこ 18">
              <a:extLst>
                <a:ext uri="{FF2B5EF4-FFF2-40B4-BE49-F238E27FC236}">
                  <a16:creationId xmlns:a16="http://schemas.microsoft.com/office/drawing/2014/main" id="{4E108A50-0520-AAE3-9436-BC172240887E}"/>
                </a:ext>
              </a:extLst>
            </p:cNvPr>
            <p:cNvSpPr/>
            <p:nvPr/>
          </p:nvSpPr>
          <p:spPr>
            <a:xfrm rot="16200000">
              <a:off x="4917917" y="5668327"/>
              <a:ext cx="279835" cy="971666"/>
            </a:xfrm>
            <a:prstGeom prst="leftBrace">
              <a:avLst/>
            </a:prstGeom>
            <a:ln w="381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71D8B1FB-518E-6A3F-B2DA-72502A528647}"/>
                </a:ext>
              </a:extLst>
            </p:cNvPr>
            <p:cNvSpPr txBox="1"/>
            <p:nvPr/>
          </p:nvSpPr>
          <p:spPr>
            <a:xfrm>
              <a:off x="4503836" y="6259539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棄却域</a:t>
              </a:r>
            </a:p>
          </p:txBody>
        </p:sp>
      </p:grp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EBB7C760-00BE-AB34-F8FC-73E2511BBFBD}"/>
              </a:ext>
            </a:extLst>
          </p:cNvPr>
          <p:cNvGrpSpPr/>
          <p:nvPr/>
        </p:nvGrpSpPr>
        <p:grpSpPr>
          <a:xfrm>
            <a:off x="5564936" y="6014241"/>
            <a:ext cx="2330709" cy="616511"/>
            <a:chOff x="3892481" y="6014241"/>
            <a:chExt cx="2330709" cy="616511"/>
          </a:xfrm>
        </p:grpSpPr>
        <p:sp>
          <p:nvSpPr>
            <p:cNvPr id="22" name="左中かっこ 21">
              <a:extLst>
                <a:ext uri="{FF2B5EF4-FFF2-40B4-BE49-F238E27FC236}">
                  <a16:creationId xmlns:a16="http://schemas.microsoft.com/office/drawing/2014/main" id="{6E910109-483D-2374-C94B-6A063A3E58A2}"/>
                </a:ext>
              </a:extLst>
            </p:cNvPr>
            <p:cNvSpPr/>
            <p:nvPr/>
          </p:nvSpPr>
          <p:spPr>
            <a:xfrm rot="16200000">
              <a:off x="4917918" y="4988804"/>
              <a:ext cx="279835" cy="2330709"/>
            </a:xfrm>
            <a:prstGeom prst="leftBrace">
              <a:avLst/>
            </a:prstGeom>
            <a:ln w="28575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543433E5-D79F-D2B1-9189-0F8D17FD730D}"/>
                </a:ext>
              </a:extLst>
            </p:cNvPr>
            <p:cNvSpPr txBox="1"/>
            <p:nvPr/>
          </p:nvSpPr>
          <p:spPr>
            <a:xfrm>
              <a:off x="4452540" y="6230642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 dirty="0">
                  <a:solidFill>
                    <a:schemeClr val="accent2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信頼区間</a:t>
              </a:r>
            </a:p>
          </p:txBody>
        </p:sp>
      </p:grp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1C1CFB8-148F-EB48-0377-A2D5010F63DB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591589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A3F28A-92AE-09EB-4F34-274DCA804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母平均の</a:t>
            </a:r>
            <a:r>
              <a:rPr kumimoji="1" lang="en-US" altLang="ja-JP" dirty="0"/>
              <a:t>95%</a:t>
            </a:r>
            <a:r>
              <a:rPr kumimoji="1" lang="ja-JP" altLang="en-US" dirty="0"/>
              <a:t>信頼区間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B7A795B-7491-3B9C-1C9B-AD7FF7416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5953538-6043-938C-77BA-6D97EA3ABD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母平均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/>
                  <a:t>の</a:t>
                </a:r>
                <a:r>
                  <a:rPr kumimoji="1" lang="en-US" altLang="ja-JP" dirty="0"/>
                  <a:t>95%</a:t>
                </a:r>
                <a:r>
                  <a:rPr kumimoji="1" lang="ja-JP" altLang="en-US" dirty="0"/>
                  <a:t>信頼区間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ランダムな標本抽出を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回行って，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信頼区間をその都度計算したとき，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区間内に母平均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kumimoji="1" lang="ja-JP" altLang="en-US" dirty="0"/>
                  <a:t>を含むものは，</a:t>
                </a:r>
                <a:br>
                  <a:rPr kumimoji="1" lang="en-US" altLang="ja-JP" dirty="0"/>
                </a:br>
                <a:r>
                  <a:rPr kumimoji="1" lang="ja-JP" altLang="en-US" dirty="0"/>
                  <a:t>平均的に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回中</a:t>
                </a:r>
                <a:r>
                  <a:rPr kumimoji="1" lang="en-US" altLang="ja-JP" dirty="0"/>
                  <a:t>95</a:t>
                </a:r>
                <a:r>
                  <a:rPr kumimoji="1" lang="ja-JP" altLang="en-US" dirty="0"/>
                  <a:t>回になるような信頼区間</a:t>
                </a:r>
                <a:endParaRPr kumimoji="1" lang="en-US" altLang="ja-JP" dirty="0"/>
              </a:p>
              <a:p>
                <a:pPr lvl="2"/>
                <a:r>
                  <a:rPr kumimoji="1" lang="en-US" altLang="ja-JP" dirty="0"/>
                  <a:t>95</a:t>
                </a:r>
                <a:r>
                  <a:rPr kumimoji="1" lang="ja-JP" altLang="en-US" dirty="0"/>
                  <a:t>回は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必ず母平均を含む，という意味ではない</a:t>
                </a:r>
                <a:r>
                  <a:rPr kumimoji="1" lang="ja-JP" altLang="en-US" dirty="0"/>
                  <a:t>！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15953538-6043-938C-77BA-6D97EA3ABD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09599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3633E-2AD6-BB9C-2294-775C265D5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B2652A2-A050-B9D7-73EE-4421B55A7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母平均の</a:t>
            </a:r>
            <a:r>
              <a:rPr kumimoji="1" lang="en-US" altLang="ja-JP" dirty="0"/>
              <a:t>95%</a:t>
            </a:r>
            <a:r>
              <a:rPr kumimoji="1" lang="ja-JP" altLang="en-US" dirty="0"/>
              <a:t>信頼区間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90F1186-52A5-1D11-3BC4-88873E0EA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7514ABA-D2F4-60AE-63E6-08D29A2997E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母平均の信頼区間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kumimoji="1"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̅"/>
                              <m:ctrlP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kumimoji="1" lang="en-US" altLang="ja-JP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kumimoji="1" lang="en-US" altLang="ja-JP" b="0" i="1" dirty="0" smtClean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ad>
                            <m:radPr>
                              <m:degHide m:val="on"/>
                              <m:ctrlPr>
                                <a:rPr kumimoji="1" lang="en-US" altLang="ja-JP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ja-JP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ja-JP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ja-JP" i="1" dirty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altLang="ja-JP" i="1" dirty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kumimoji="1" lang="en-US" altLang="ja-JP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  <m:r>
                            <a:rPr kumimoji="1" lang="en-US" altLang="ja-JP" b="0" i="1" dirty="0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̅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b="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  <m:d>
                            <m:dPr>
                              <m:ctrlP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i="1" dirty="0">
                                  <a:solidFill>
                                    <a:schemeClr val="accent6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  <m:rad>
                            <m:radPr>
                              <m:degHide m:val="on"/>
                              <m:ctrlPr>
                                <a:rPr lang="en-US" altLang="ja-JP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i="1">
                                      <a:solidFill>
                                        <a:schemeClr val="accent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Sup>
                                    <m:sSubSupPr>
                                      <m:ctrlPr>
                                        <a:rPr lang="en-US" altLang="ja-JP" i="1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ja-JP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accent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𝜎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altLang="ja-JP" i="1" dirty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sub>
                                    <m:sup>
                                      <m:r>
                                        <a:rPr lang="en-US" altLang="ja-JP" i="1" dirty="0">
                                          <a:solidFill>
                                            <a:schemeClr val="accent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bSup>
                                </m:num>
                                <m:den>
                                  <m:r>
                                    <a:rPr lang="en-US" altLang="ja-JP" i="1" dirty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e>
                      </m:d>
                    </m:oMath>
                  </m:oMathPara>
                </a14:m>
                <a:endParaRPr kumimoji="1" lang="en-US" altLang="ja-JP" dirty="0"/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ja-JP" alt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標本平均</m:t>
                        </m:r>
                        <m:r>
                          <a:rPr lang="en-US" altLang="ja-JP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r>
                          <a:rPr lang="en-US" altLang="ja-JP" b="0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ja-JP" altLang="en-US" i="1" dirty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パーセント</m:t>
                        </m:r>
                        <m:r>
                          <a:rPr lang="ja-JP" altLang="en-US" i="1" dirty="0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点</m:t>
                        </m:r>
                        <m:rad>
                          <m:radPr>
                            <m:degHide m:val="on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ja-JP" altLang="en-US" i="1" dirty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ja-JP" altLang="en-US" i="1" dirty="0" smtClean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標本不偏分散</m:t>
                                </m:r>
                              </m:num>
                              <m:den>
                                <m:r>
                                  <a:rPr lang="ja-JP" altLang="en-US" i="1" dirty="0" smtClean="0">
                                    <a:latin typeface="Cambria Math" panose="02040503050406030204" pitchFamily="18" charset="0"/>
                                  </a:rPr>
                                  <m:t>標本数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</m:sSub>
                    <m:d>
                      <m:d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sz="2000" dirty="0"/>
                  <a:t>　：自由度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000" dirty="0"/>
                  <a:t>，上側確率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sz="2000" dirty="0"/>
                  <a:t>の</a:t>
                </a:r>
                <a14:m>
                  <m:oMath xmlns:m="http://schemas.openxmlformats.org/officeDocument/2006/math">
                    <m:r>
                      <a:rPr lang="en-US" altLang="ja-JP" sz="2000" b="0" i="1" dirty="0" smtClean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000" dirty="0"/>
                  <a:t>分布パーセント点</a:t>
                </a:r>
                <a:endParaRPr lang="en-US" altLang="ja-JP" sz="2000" dirty="0"/>
              </a:p>
              <a:p>
                <a:pPr lvl="2"/>
                <a:r>
                  <a:rPr lang="en-US" altLang="ja-JP" sz="1600" dirty="0"/>
                  <a:t>t</a:t>
                </a:r>
                <a:r>
                  <a:rPr lang="ja-JP" altLang="en-US" sz="1600" dirty="0"/>
                  <a:t>分布表から読み取る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7514ABA-D2F4-60AE-63E6-08D29A2997E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FD1B2240-C1C4-D427-C6A1-6B27239A05C9}"/>
              </a:ext>
            </a:extLst>
          </p:cNvPr>
          <p:cNvGrpSpPr/>
          <p:nvPr/>
        </p:nvGrpSpPr>
        <p:grpSpPr>
          <a:xfrm>
            <a:off x="1541722" y="2920168"/>
            <a:ext cx="3009013" cy="598878"/>
            <a:chOff x="4572001" y="6014242"/>
            <a:chExt cx="3009013" cy="598878"/>
          </a:xfrm>
        </p:grpSpPr>
        <p:sp>
          <p:nvSpPr>
            <p:cNvPr id="6" name="左中かっこ 5">
              <a:extLst>
                <a:ext uri="{FF2B5EF4-FFF2-40B4-BE49-F238E27FC236}">
                  <a16:creationId xmlns:a16="http://schemas.microsoft.com/office/drawing/2014/main" id="{39604EF9-816C-5D7F-B0BF-FA354746ABA9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377A21A9-EF29-B186-18D6-A743D56EBDF4}"/>
                </a:ext>
              </a:extLst>
            </p:cNvPr>
            <p:cNvSpPr txBox="1"/>
            <p:nvPr/>
          </p:nvSpPr>
          <p:spPr>
            <a:xfrm>
              <a:off x="5524561" y="6151455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下限値</a:t>
              </a:r>
            </a:p>
          </p:txBody>
        </p:sp>
      </p:grpSp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22499D4F-63C3-867C-4103-0D32FE37BF09}"/>
              </a:ext>
            </a:extLst>
          </p:cNvPr>
          <p:cNvGrpSpPr/>
          <p:nvPr/>
        </p:nvGrpSpPr>
        <p:grpSpPr>
          <a:xfrm>
            <a:off x="4649974" y="2912950"/>
            <a:ext cx="3009013" cy="598878"/>
            <a:chOff x="4572001" y="6014242"/>
            <a:chExt cx="3009013" cy="598878"/>
          </a:xfrm>
        </p:grpSpPr>
        <p:sp>
          <p:nvSpPr>
            <p:cNvPr id="9" name="左中かっこ 8">
              <a:extLst>
                <a:ext uri="{FF2B5EF4-FFF2-40B4-BE49-F238E27FC236}">
                  <a16:creationId xmlns:a16="http://schemas.microsoft.com/office/drawing/2014/main" id="{FF97C053-2E71-4C47-0207-DBEC1B337CE0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F4942338-78FB-B184-C3FA-832342277D86}"/>
                </a:ext>
              </a:extLst>
            </p:cNvPr>
            <p:cNvSpPr txBox="1"/>
            <p:nvPr/>
          </p:nvSpPr>
          <p:spPr>
            <a:xfrm>
              <a:off x="5524561" y="6151455"/>
              <a:ext cx="110799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上限値</a:t>
              </a:r>
            </a:p>
          </p:txBody>
        </p:sp>
      </p:grp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400CF5B-790C-213A-2834-8BA06647912B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1434510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365FF8-BE45-6EB2-88A6-46B2DCD62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母平均の区間推定量の導出①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F5022E5-7F27-E202-8E63-D1702345D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A287EB-6541-3318-C557-C3CB9DB0367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62500" lnSpcReduction="20000"/>
              </a:bodyPr>
              <a:lstStyle/>
              <a:p>
                <a:r>
                  <a:rPr lang="en-US" altLang="ja-JP" dirty="0"/>
                  <a:t>95%</a:t>
                </a:r>
                <a:r>
                  <a:rPr lang="ja-JP" altLang="ja-JP" dirty="0"/>
                  <a:t>信頼区間の例</a:t>
                </a:r>
                <a:endParaRPr lang="en-US" altLang="ja-JP" dirty="0"/>
              </a:p>
              <a:p>
                <a:pPr lvl="1"/>
                <a:r>
                  <a:rPr lang="ja-JP" altLang="ja-JP" dirty="0"/>
                  <a:t>母平均の</a:t>
                </a:r>
                <a:r>
                  <a:rPr lang="en-US" altLang="ja-JP" dirty="0"/>
                  <a:t>95%</a:t>
                </a:r>
                <a:r>
                  <a:rPr lang="ja-JP" altLang="ja-JP" dirty="0"/>
                  <a:t>信頼区間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=0.95</m:t>
                    </m:r>
                  </m:oMath>
                </a14:m>
                <a:endParaRPr lang="ja-JP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ja-JP" dirty="0"/>
                  <a:t>を</a:t>
                </a:r>
                <a:r>
                  <a:rPr lang="ja-JP" altLang="en-US" dirty="0"/>
                  <a:t>，</a:t>
                </a:r>
                <a:r>
                  <a:rPr lang="ja-JP" altLang="ja-JP" dirty="0"/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ja-JP" dirty="0"/>
                  <a:t>の</a:t>
                </a:r>
                <a:r>
                  <a:rPr lang="en-US" altLang="ja-JP" dirty="0"/>
                  <a:t>T</a:t>
                </a:r>
                <a:r>
                  <a:rPr lang="ja-JP" altLang="ja-JP" dirty="0"/>
                  <a:t>統計量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acc>
                          <m:accPr>
                            <m:chr m:val="̅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𝜇</m:t>
                            </m:r>
                          </m:e>
                          <m: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ja-JP" altLang="ja-JP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den>
                    </m:f>
                    <m:r>
                      <a:rPr lang="en-US" altLang="ja-JP" i="1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𝑡</m:t>
                    </m:r>
                    <m:d>
                      <m:d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で置き換える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f>
                              <m:f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ja-JP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Sup>
                                          <m:sSubSup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ja-JP" i="1" dirty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ja-JP" i="1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den>
                            </m:f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ja-JP" altLang="ja-JP" dirty="0"/>
              </a:p>
              <a:p>
                <a:pPr lvl="1"/>
                <a:r>
                  <a:rPr lang="ja-JP" altLang="ja-JP" dirty="0"/>
                  <a:t>分母を移項する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f>
                              <m:f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𝜇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ja-JP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Sup>
                                          <m:sSubSupPr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ja-JP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ja-JP" b="0" i="1" dirty="0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den>
                            </m:f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br>
                  <a:rPr lang="en-US" altLang="ja-JP" i="1" dirty="0"/>
                </a:b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ja-JP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Sup>
                                          <m:sSubSup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ja-JP" i="1" dirty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ja-JP" i="1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e>
                            </m: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ja-JP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Sup>
                                          <m:sSubSup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ja-JP" i="1" dirty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ja-JP" i="1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ja-JP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A287EB-6541-3318-C557-C3CB9DB0367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412" t="-13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525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8916AB7-BFC2-3912-53CB-E007D36EB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(Advanced) </a:t>
            </a:r>
            <a:r>
              <a:rPr lang="ja-JP" altLang="en-US" dirty="0"/>
              <a:t>母平均の区間推定量の導出②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7017EDA-9E57-4594-72E3-FAE087F89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A830972-9B02-0213-A828-6E31FAC22F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-25504" y="933254"/>
                <a:ext cx="9332064" cy="5788057"/>
              </a:xfrm>
            </p:spPr>
            <p:txBody>
              <a:bodyPr>
                <a:normAutofit fontScale="85000" lnSpcReduction="10000"/>
              </a:bodyPr>
              <a:lstStyle/>
              <a:p>
                <a:pPr lvl="1"/>
                <a:r>
                  <a:rPr lang="ja-JP" altLang="ja-JP" dirty="0"/>
                  <a:t>標本平均</a:t>
                </a:r>
                <a:r>
                  <a:rPr lang="en-US" altLang="ja-JP" dirty="0"/>
                  <a:t> 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en-US" altLang="ja-JP" dirty="0"/>
                  <a:t> </a:t>
                </a:r>
                <a:r>
                  <a:rPr lang="ja-JP" altLang="ja-JP" dirty="0"/>
                  <a:t>を移項する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begChr m:val="["/>
                            <m:endChr m:val="]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ja-JP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Sup>
                                          <m:sSubSup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ja-JP" i="1" dirty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ja-JP" i="1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e>
                            </m: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×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ja-JP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sSubSup>
                                          <m:sSubSup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Sup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i="1">
                                                    <a:latin typeface="Cambria Math" panose="02040503050406030204" pitchFamily="18" charset="0"/>
                                                  </a:rPr>
                                                  <m:t>𝜎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US" altLang="ja-JP" i="1" dirty="0">
                                                <a:latin typeface="Cambria Math" panose="02040503050406030204" pitchFamily="18" charset="0"/>
                                              </a:rPr>
                                              <m:t>𝑥</m:t>
                                            </m:r>
                                          </m:sub>
                                          <m:sup>
                                            <m:r>
                                              <a:rPr lang="en-US" altLang="ja-JP" i="1" dirty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bSup>
                                      </m:num>
                                      <m:den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</m:e>
                                </m:rad>
                              </m:e>
                            </m:d>
                          </m:e>
                        </m:d>
                      </m:e>
                    </m:func>
                  </m:oMath>
                </a14:m>
                <a:br>
                  <a:rPr lang="en-US" altLang="ja-JP" i="1" dirty="0"/>
                </a:b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ad>
                              <m:radPr>
                                <m:degHide m:val="on"/>
                                <m:ctrlPr>
                                  <a:rPr lang="ja-JP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&lt;−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ad>
                              <m:radPr>
                                <m:degHide m:val="on"/>
                                <m:ctrlPr>
                                  <a:rPr lang="ja-JP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</m:e>
                        </m:d>
                      </m:e>
                    </m:func>
                  </m:oMath>
                </a14:m>
                <a:endParaRPr lang="ja-JP" altLang="ja-JP" dirty="0"/>
              </a:p>
              <a:p>
                <a:pPr lvl="1"/>
                <a:r>
                  <a:rPr lang="ja-JP" altLang="ja-JP" dirty="0"/>
                  <a:t>すべての項に</a:t>
                </a:r>
                <a:r>
                  <a:rPr lang="en-US" altLang="ja-JP" dirty="0"/>
                  <a:t>-1</a:t>
                </a:r>
                <a:r>
                  <a:rPr lang="ja-JP" altLang="ja-JP" dirty="0"/>
                  <a:t>を</a:t>
                </a:r>
                <a:r>
                  <a:rPr lang="ja-JP" altLang="en-US" dirty="0"/>
                  <a:t>かけて，</a:t>
                </a:r>
                <a:r>
                  <a:rPr lang="ja-JP" altLang="ja-JP" dirty="0"/>
                  <a:t>左から小さい順に並ぶように位置を入れ替える</a:t>
                </a:r>
                <a:endParaRPr lang="en-US" altLang="ja-JP" dirty="0"/>
              </a:p>
              <a:p>
                <a:pPr lvl="2"/>
                <a:r>
                  <a:rPr lang="ja-JP" altLang="ja-JP" dirty="0"/>
                  <a:t>不等号の向きが変わることに注意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ad>
                              <m:radPr>
                                <m:degHide m:val="on"/>
                                <m:ctrlPr>
                                  <a:rPr lang="ja-JP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ad>
                              <m:radPr>
                                <m:degHide m:val="on"/>
                                <m:ctrlPr>
                                  <a:rPr lang="ja-JP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</m:e>
                        </m:d>
                      </m:e>
                    </m:func>
                  </m:oMath>
                </a14:m>
                <a:br>
                  <a:rPr lang="en-US" altLang="ja-JP" i="1" dirty="0"/>
                </a:b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ad>
                              <m:radPr>
                                <m:degHide m:val="on"/>
                                <m:ctrlPr>
                                  <a:rPr lang="ja-JP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</m:sSub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acc>
                              <m:accPr>
                                <m:chr m:val="̅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ad>
                              <m:radPr>
                                <m:degHide m:val="on"/>
                                <m:ctrlPr>
                                  <a:rPr lang="ja-JP" altLang="ja-JP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bSup>
                                      <m:sSubSupPr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sub>
                                      <m:sup>
                                        <m:r>
                                          <a:rPr lang="en-US" altLang="ja-JP" i="1" dirty="0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num>
                                  <m:den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=0.95</m:t>
                    </m:r>
                  </m:oMath>
                </a14:m>
                <a:endParaRPr lang="ja-JP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0A830972-9B02-0213-A828-6E31FAC22F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-25504" y="933254"/>
                <a:ext cx="9332064" cy="5788057"/>
              </a:xfrm>
              <a:blipFill>
                <a:blip r:embed="rId3"/>
                <a:stretch>
                  <a:fillRect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0889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0A6CA3-02D0-BBC6-08EC-797E4B30A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母平均の区間推定①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0796BD1-45ED-4F7E-8D55-7156483A5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EA205F8-4AAB-E710-A027-5A58362DE6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例</a:t>
                </a:r>
                <a:endParaRPr kumimoji="1" lang="en-US" altLang="ja-JP" dirty="0"/>
              </a:p>
              <a:p>
                <a:pPr lvl="1"/>
                <a:r>
                  <a:rPr lang="en-US" altLang="ja-JP" dirty="0"/>
                  <a:t>A</a:t>
                </a:r>
                <a:r>
                  <a:rPr lang="ja-JP" altLang="en-US" dirty="0"/>
                  <a:t>クラス</a:t>
                </a:r>
                <a:r>
                  <a:rPr lang="en-US" altLang="ja-JP" dirty="0"/>
                  <a:t>30</a:t>
                </a:r>
                <a:r>
                  <a:rPr lang="ja-JP" altLang="en-US" dirty="0"/>
                  <a:t>名の得点から，</a:t>
                </a:r>
                <a:br>
                  <a:rPr lang="en-US" altLang="ja-JP" dirty="0"/>
                </a:br>
                <a:r>
                  <a:rPr lang="ja-JP" altLang="en-US" dirty="0"/>
                  <a:t>学年全体の平均得点の</a:t>
                </a:r>
                <a:r>
                  <a:rPr lang="en-US" altLang="ja-JP" dirty="0"/>
                  <a:t>95%</a:t>
                </a:r>
                <a:r>
                  <a:rPr lang="ja-JP" altLang="en-US" dirty="0"/>
                  <a:t>信頼区間を推定したい</a:t>
                </a:r>
                <a:endParaRPr lang="en-US" altLang="ja-JP" dirty="0"/>
              </a:p>
              <a:p>
                <a:pPr lvl="1"/>
                <a:r>
                  <a:rPr kumimoji="1" lang="en-US" altLang="ja-JP" dirty="0"/>
                  <a:t>A</a:t>
                </a:r>
                <a:r>
                  <a:rPr kumimoji="1" lang="ja-JP" altLang="en-US" dirty="0"/>
                  <a:t>クラスの平均点は</a:t>
                </a:r>
                <a:r>
                  <a:rPr kumimoji="1" lang="en-US" altLang="ja-JP" dirty="0"/>
                  <a:t>72</a:t>
                </a:r>
                <a:r>
                  <a:rPr kumimoji="1" lang="ja-JP" altLang="en-US" dirty="0"/>
                  <a:t>点，分散は</a:t>
                </a:r>
                <a:r>
                  <a:rPr kumimoji="1" lang="en-US" altLang="ja-JP" dirty="0"/>
                  <a:t>58</a:t>
                </a:r>
                <a:endParaRPr lang="en-US" altLang="ja-JP" dirty="0"/>
              </a:p>
              <a:p>
                <a:endParaRPr kumimoji="1" lang="en-US" altLang="ja-JP" dirty="0"/>
              </a:p>
              <a:p>
                <a:r>
                  <a:rPr kumimoji="1" lang="ja-JP" altLang="en-US" dirty="0"/>
                  <a:t>手順①　文中からわかる統計量を整理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rgbClr val="FF0000"/>
                    </a:solidFill>
                  </a:rPr>
                  <a:t>母集団</a:t>
                </a:r>
                <a:r>
                  <a:rPr lang="ja-JP" altLang="en-US" sz="1800" dirty="0"/>
                  <a:t>（未知）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：学年全体</a:t>
                </a:r>
                <a:endParaRPr lang="en-US" altLang="ja-JP" dirty="0"/>
              </a:p>
              <a:p>
                <a:pPr lvl="1"/>
                <a:r>
                  <a:rPr kumimoji="1" lang="ja-JP" altLang="en-US" dirty="0">
                    <a:solidFill>
                      <a:schemeClr val="accent1"/>
                    </a:solidFill>
                  </a:rPr>
                  <a:t>標本</a:t>
                </a:r>
                <a:r>
                  <a:rPr kumimoji="1" lang="ja-JP" altLang="en-US" sz="1800" dirty="0"/>
                  <a:t>（既知）</a:t>
                </a:r>
                <a:r>
                  <a:rPr kumimoji="1" lang="en-US" altLang="ja-JP" dirty="0"/>
                  <a:t>		</a:t>
                </a:r>
                <a:r>
                  <a:rPr kumimoji="1" lang="ja-JP" altLang="en-US" dirty="0"/>
                  <a:t>：</a:t>
                </a:r>
                <a:r>
                  <a:rPr kumimoji="1" lang="en-US" altLang="ja-JP" dirty="0"/>
                  <a:t>A</a:t>
                </a:r>
                <a:r>
                  <a:rPr kumimoji="1" lang="ja-JP" altLang="en-US" dirty="0"/>
                  <a:t>クラス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1"/>
                    </a:solidFill>
                  </a:rPr>
                  <a:t>標本数</a:t>
                </a:r>
                <a:r>
                  <a:rPr lang="en-US" altLang="ja-JP" dirty="0"/>
                  <a:t>	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=30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標本平均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kumimoji="1" lang="en-US" altLang="ja-JP" b="0" i="1" dirty="0" smtClean="0">
                        <a:latin typeface="Cambria Math" panose="02040503050406030204" pitchFamily="18" charset="0"/>
                      </a:rPr>
                      <m:t>=72</m:t>
                    </m:r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2"/>
                    </a:solidFill>
                  </a:rPr>
                  <a:t>標本分散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=58</m:t>
                    </m:r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EA205F8-4AAB-E710-A027-5A58362DE6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 b="-21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1658C3A3-973F-A053-510E-C23A9ACD7E5C}"/>
              </a:ext>
            </a:extLst>
          </p:cNvPr>
          <p:cNvSpPr/>
          <p:nvPr/>
        </p:nvSpPr>
        <p:spPr>
          <a:xfrm>
            <a:off x="1945758" y="2425324"/>
            <a:ext cx="1871330" cy="369332"/>
          </a:xfrm>
          <a:prstGeom prst="rect">
            <a:avLst/>
          </a:prstGeom>
          <a:noFill/>
          <a:ln w="28575"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EB0CE84-5711-C76F-5B9D-683060C40D05}"/>
              </a:ext>
            </a:extLst>
          </p:cNvPr>
          <p:cNvSpPr/>
          <p:nvPr/>
        </p:nvSpPr>
        <p:spPr>
          <a:xfrm>
            <a:off x="4086447" y="2425324"/>
            <a:ext cx="1346790" cy="369332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D45419BC-E9DC-E843-6106-2A69137D96EC}"/>
              </a:ext>
            </a:extLst>
          </p:cNvPr>
          <p:cNvGrpSpPr/>
          <p:nvPr/>
        </p:nvGrpSpPr>
        <p:grpSpPr>
          <a:xfrm>
            <a:off x="0" y="1904910"/>
            <a:ext cx="7315200" cy="562948"/>
            <a:chOff x="0" y="1904910"/>
            <a:chExt cx="7315200" cy="562948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6D4247D2-B49B-6320-3CC8-6356309D13BD}"/>
                </a:ext>
              </a:extLst>
            </p:cNvPr>
            <p:cNvGrpSpPr/>
            <p:nvPr/>
          </p:nvGrpSpPr>
          <p:grpSpPr>
            <a:xfrm>
              <a:off x="0" y="1913860"/>
              <a:ext cx="3530008" cy="553998"/>
              <a:chOff x="0" y="1913860"/>
              <a:chExt cx="3530008" cy="553998"/>
            </a:xfrm>
          </p:grpSpPr>
          <p:sp>
            <p:nvSpPr>
              <p:cNvPr id="5" name="正方形/長方形 4">
                <a:extLst>
                  <a:ext uri="{FF2B5EF4-FFF2-40B4-BE49-F238E27FC236}">
                    <a16:creationId xmlns:a16="http://schemas.microsoft.com/office/drawing/2014/main" id="{F59CCF5D-B5E2-78AB-3EE0-F39EF1948168}"/>
                  </a:ext>
                </a:extLst>
              </p:cNvPr>
              <p:cNvSpPr/>
              <p:nvPr/>
            </p:nvSpPr>
            <p:spPr>
              <a:xfrm>
                <a:off x="797442" y="1913860"/>
                <a:ext cx="2732566" cy="369332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169A8B63-91C6-0892-3B36-F909AB1BC7DC}"/>
                  </a:ext>
                </a:extLst>
              </p:cNvPr>
              <p:cNvSpPr txBox="1"/>
              <p:nvPr/>
            </p:nvSpPr>
            <p:spPr>
              <a:xfrm>
                <a:off x="0" y="2098526"/>
                <a:ext cx="87716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>
                    <a:solidFill>
                      <a:srgbClr val="FF0000"/>
                    </a:solidFill>
                  </a:rPr>
                  <a:t>母平均</a:t>
                </a:r>
              </a:p>
            </p:txBody>
          </p:sp>
        </p:grpSp>
        <p:sp>
          <p:nvSpPr>
            <p:cNvPr id="15" name="正方形/長方形 14">
              <a:extLst>
                <a:ext uri="{FF2B5EF4-FFF2-40B4-BE49-F238E27FC236}">
                  <a16:creationId xmlns:a16="http://schemas.microsoft.com/office/drawing/2014/main" id="{6801820C-6506-1DB2-C117-52BA369CBC18}"/>
                </a:ext>
              </a:extLst>
            </p:cNvPr>
            <p:cNvSpPr/>
            <p:nvPr/>
          </p:nvSpPr>
          <p:spPr>
            <a:xfrm>
              <a:off x="5904615" y="1904910"/>
              <a:ext cx="1410585" cy="36933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0" name="グループ化 19">
            <a:extLst>
              <a:ext uri="{FF2B5EF4-FFF2-40B4-BE49-F238E27FC236}">
                <a16:creationId xmlns:a16="http://schemas.microsoft.com/office/drawing/2014/main" id="{8ACB1159-BE2D-6B1C-BF00-98BD5489EDAB}"/>
              </a:ext>
            </a:extLst>
          </p:cNvPr>
          <p:cNvGrpSpPr/>
          <p:nvPr/>
        </p:nvGrpSpPr>
        <p:grpSpPr>
          <a:xfrm>
            <a:off x="797442" y="1228363"/>
            <a:ext cx="3019646" cy="685497"/>
            <a:chOff x="797442" y="1228363"/>
            <a:chExt cx="3019646" cy="685497"/>
          </a:xfrm>
        </p:grpSpPr>
        <p:grpSp>
          <p:nvGrpSpPr>
            <p:cNvPr id="8" name="グループ化 7">
              <a:extLst>
                <a:ext uri="{FF2B5EF4-FFF2-40B4-BE49-F238E27FC236}">
                  <a16:creationId xmlns:a16="http://schemas.microsoft.com/office/drawing/2014/main" id="{3F05DBD7-DABA-6C71-24B7-C6DF0F8ED23D}"/>
                </a:ext>
              </a:extLst>
            </p:cNvPr>
            <p:cNvGrpSpPr/>
            <p:nvPr/>
          </p:nvGrpSpPr>
          <p:grpSpPr>
            <a:xfrm>
              <a:off x="797442" y="1228363"/>
              <a:ext cx="1928681" cy="676547"/>
              <a:chOff x="797442" y="1627911"/>
              <a:chExt cx="1928681" cy="676547"/>
            </a:xfrm>
          </p:grpSpPr>
          <p:sp>
            <p:nvSpPr>
              <p:cNvPr id="9" name="正方形/長方形 8">
                <a:extLst>
                  <a:ext uri="{FF2B5EF4-FFF2-40B4-BE49-F238E27FC236}">
                    <a16:creationId xmlns:a16="http://schemas.microsoft.com/office/drawing/2014/main" id="{2B389BFB-E1A8-758F-E84E-3C2C50B9023E}"/>
                  </a:ext>
                </a:extLst>
              </p:cNvPr>
              <p:cNvSpPr/>
              <p:nvPr/>
            </p:nvSpPr>
            <p:spPr>
              <a:xfrm>
                <a:off x="797442" y="1935126"/>
                <a:ext cx="1605516" cy="369332"/>
              </a:xfrm>
              <a:prstGeom prst="rect">
                <a:avLst/>
              </a:prstGeom>
              <a:noFill/>
              <a:ln w="28575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9ECCA1A9-6BA4-E592-53D1-55918CAF2478}"/>
                  </a:ext>
                </a:extLst>
              </p:cNvPr>
              <p:cNvSpPr txBox="1"/>
              <p:nvPr/>
            </p:nvSpPr>
            <p:spPr>
              <a:xfrm>
                <a:off x="2079792" y="1627911"/>
                <a:ext cx="6463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dirty="0">
                    <a:solidFill>
                      <a:schemeClr val="accent1"/>
                    </a:solidFill>
                  </a:rPr>
                  <a:t>標本</a:t>
                </a:r>
              </a:p>
            </p:txBody>
          </p:sp>
        </p:grp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FD8A98F8-79B8-CC83-DACB-740EAF1CDED0}"/>
                </a:ext>
              </a:extLst>
            </p:cNvPr>
            <p:cNvSpPr/>
            <p:nvPr/>
          </p:nvSpPr>
          <p:spPr>
            <a:xfrm>
              <a:off x="3239386" y="1535578"/>
              <a:ext cx="577702" cy="378282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E69E1386-F469-4670-97C3-51560A87728F}"/>
                  </a:ext>
                </a:extLst>
              </p:cNvPr>
              <p:cNvSpPr txBox="1"/>
              <p:nvPr/>
            </p:nvSpPr>
            <p:spPr>
              <a:xfrm>
                <a:off x="5514848" y="5173964"/>
                <a:ext cx="3497176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kumimoji="1" lang="en-US" altLang="ja-JP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num>
                            <m:den>
                              <m: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E69E1386-F469-4670-97C3-51560A8772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48" y="5173964"/>
                <a:ext cx="3497176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6A4A82BD-AFDE-7F70-6B26-5FC8D062BB53}"/>
                  </a:ext>
                </a:extLst>
              </p:cNvPr>
              <p:cNvSpPr txBox="1"/>
              <p:nvPr/>
            </p:nvSpPr>
            <p:spPr>
              <a:xfrm>
                <a:off x="5514848" y="5173964"/>
                <a:ext cx="3497176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kumimoji="1" lang="en-US" altLang="ja-JP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6A4A82BD-AFDE-7F70-6B26-5FC8D062B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48" y="5173964"/>
                <a:ext cx="3497176" cy="15473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0B6784EE-A7D5-F359-7DFC-D728588047B7}"/>
                  </a:ext>
                </a:extLst>
              </p:cNvPr>
              <p:cNvSpPr txBox="1"/>
              <p:nvPr/>
            </p:nvSpPr>
            <p:spPr>
              <a:xfrm>
                <a:off x="5514847" y="5173964"/>
                <a:ext cx="3497176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ja-JP" sz="32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Sup>
                                <m:sSubSupPr>
                                  <m:ctrlPr>
                                    <a:rPr lang="en-US" altLang="ja-JP" sz="3200" i="1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US" altLang="ja-JP" sz="32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sz="3200" i="1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ja-JP" sz="3200" i="1" dirty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b>
                                <m:sup>
                                  <m:r>
                                    <a:rPr lang="en-US" altLang="ja-JP" sz="3200" i="1" dirty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0B6784EE-A7D5-F359-7DFC-D728588047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47" y="5173964"/>
                <a:ext cx="3497176" cy="15473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1366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  <p:bldP spid="12" grpId="0" animBg="1"/>
      <p:bldP spid="14" grpId="0" animBg="1"/>
      <p:bldP spid="24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31067-E9B6-7DE1-72D8-E03E49E9C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F857D3-23CC-7671-9FD4-8F4F78C26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母平均の区間推定②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5C2E58D-FED4-0FB7-1795-058787067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6A2A18-9441-0489-2254-72354AB9DD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手順②　標本不偏分散を求める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標本分散から，偏差二乗和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en-US" dirty="0"/>
                  <a:t>を逆算する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58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30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=1740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kumimoji="1" lang="ja-JP" altLang="en-US" dirty="0"/>
                  <a:t>求めた偏差二乗和を用いて，標本不偏分散を求める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acc>
                          <m:accPr>
                            <m:chr m:val="̂"/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</m:acc>
                      </m:e>
                      <m:sub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  <m:sup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kumimoji="1" lang="en-US" altLang="ja-JP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subHide m:val="on"/>
                        <m:supHide m:val="on"/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sSup>
                          <m:sSup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×1740=</m:t>
                    </m:r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60</m:t>
                    </m:r>
                  </m:oMath>
                </a14:m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E86A2A18-9441-0489-2254-72354AB9DD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28BA2A1A-EAED-7EDA-2A8E-C538A96F4BE4}"/>
                  </a:ext>
                </a:extLst>
              </p:cNvPr>
              <p:cNvSpPr txBox="1"/>
              <p:nvPr/>
            </p:nvSpPr>
            <p:spPr>
              <a:xfrm>
                <a:off x="5514847" y="5173964"/>
                <a:ext cx="3497176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acc>
                                <m:accPr>
                                  <m:chr m:val="̂"/>
                                  <m:ctrlPr>
                                    <a:rPr kumimoji="1" lang="en-US" altLang="ja-JP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sSup>
                                    <m:sSupPr>
                                      <m:ctrlP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kumimoji="1" lang="en-US" altLang="ja-JP" sz="3200" b="0" i="1" smtClean="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acc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28BA2A1A-EAED-7EDA-2A8E-C538A96F4B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47" y="5173964"/>
                <a:ext cx="3497176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1C487E3-1E19-CE73-CB70-18826867263B}"/>
                  </a:ext>
                </a:extLst>
              </p:cNvPr>
              <p:cNvSpPr txBox="1"/>
              <p:nvPr/>
            </p:nvSpPr>
            <p:spPr>
              <a:xfrm>
                <a:off x="5514271" y="5173964"/>
                <a:ext cx="3497752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1C487E3-1E19-CE73-CB70-188268672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71" y="5173964"/>
                <a:ext cx="3497752" cy="15473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4421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605C0-44D9-4795-0E55-647AC1224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462C77-4871-B0C2-EB57-758CDAFB1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母平均の区間推定</a:t>
            </a:r>
            <a:r>
              <a:rPr lang="ja-JP" altLang="en-US" dirty="0"/>
              <a:t>③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209F162-41FA-0E05-CB4B-9A8746579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D7B6A1B-79C6-6BF4-F81A-1A06E6962DF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手順③　</a:t>
                </a:r>
                <a:r>
                  <a:rPr kumimoji="1" lang="en-US" altLang="ja-JP" dirty="0"/>
                  <a:t>t</a:t>
                </a:r>
                <a:r>
                  <a:rPr kumimoji="1" lang="ja-JP" altLang="en-US" dirty="0"/>
                  <a:t>分布表から，</a:t>
                </a:r>
                <a:r>
                  <a:rPr kumimoji="1" lang="en-US" altLang="ja-JP" dirty="0"/>
                  <a:t>t</a:t>
                </a:r>
                <a:r>
                  <a:rPr kumimoji="1" lang="ja-JP" altLang="en-US" dirty="0"/>
                  <a:t>パーセント点を求める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自由度</a:t>
                </a:r>
                <a:r>
                  <a:rPr lang="en-US" altLang="ja-JP" dirty="0"/>
                  <a:t>	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−1=29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上側確率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1−0.95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=0.025</m:t>
                    </m:r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2.0452</m:t>
                    </m:r>
                  </m:oMath>
                </a14:m>
                <a:endParaRPr lang="en-US" altLang="ja-JP" dirty="0"/>
              </a:p>
              <a:p>
                <a:r>
                  <a:rPr lang="ja-JP" altLang="en-US" dirty="0"/>
                  <a:t>手順④　</a:t>
                </a:r>
                <a:r>
                  <a:rPr lang="en-US" altLang="ja-JP" dirty="0"/>
                  <a:t>±</a:t>
                </a:r>
                <a:r>
                  <a:rPr lang="ja-JP" altLang="en-US" dirty="0"/>
                  <a:t>の後の部分に代入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  <m:d>
                      <m:dPr>
                        <m:ctrlP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e>
                    </m:d>
                    <m:rad>
                      <m:radPr>
                        <m:degHide m:val="on"/>
                        <m:ctrlPr>
                          <a:rPr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ja-JP" i="1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ja-JP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accent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ja-JP" i="1" dirty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altLang="ja-JP" i="1" dirty="0">
                                    <a:solidFill>
                                      <a:schemeClr val="accent2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r>
                              <a:rPr kumimoji="1" lang="en-US" altLang="ja-JP" b="0" i="1" dirty="0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rad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=2.0452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ad>
                      <m:radPr>
                        <m:degHide m:val="on"/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60</m:t>
                            </m:r>
                          </m:num>
                          <m:den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30</m:t>
                            </m:r>
                          </m:den>
                        </m:f>
                      </m:e>
                    </m:ra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2.8923</m:t>
                    </m:r>
                  </m:oMath>
                </a14:m>
                <a:endParaRPr lang="en-US" altLang="ja-JP" dirty="0">
                  <a:solidFill>
                    <a:schemeClr val="accent2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D7B6A1B-79C6-6BF4-F81A-1A06E6962DF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371483AD-9072-FD5A-D10B-591ED4FBD2A6}"/>
                  </a:ext>
                </a:extLst>
              </p:cNvPr>
              <p:cNvSpPr txBox="1"/>
              <p:nvPr/>
            </p:nvSpPr>
            <p:spPr>
              <a:xfrm>
                <a:off x="5514847" y="5173964"/>
                <a:ext cx="3497752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non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sSub>
                        <m:sSubPr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  <m:d>
                        <m:dPr>
                          <m:ctrlP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200" b="0" i="1" smtClean="0">
                              <a:solidFill>
                                <a:schemeClr val="accent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371483AD-9072-FD5A-D10B-591ED4FBD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847" y="5173964"/>
                <a:ext cx="3497752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C71A146E-CDF5-E03E-79A8-03A6337640B2}"/>
                  </a:ext>
                </a:extLst>
              </p:cNvPr>
              <p:cNvSpPr txBox="1"/>
              <p:nvPr/>
            </p:nvSpPr>
            <p:spPr>
              <a:xfrm>
                <a:off x="5514270" y="5173964"/>
                <a:ext cx="3497753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kumimoji="1" lang="en-US" altLang="ja-JP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2.0452</m:t>
                      </m:r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3200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60</m:t>
                              </m:r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accent1"/>
                                  </a:solidFill>
                                  <a:latin typeface="Cambria Math" panose="02040503050406030204" pitchFamily="18" charset="0"/>
                                </a:rPr>
                                <m:t>30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C71A146E-CDF5-E03E-79A8-03A6337640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4270" y="5173964"/>
                <a:ext cx="3497753" cy="154734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CE4107A5-086D-8085-AAAF-E037894464BA}"/>
                  </a:ext>
                </a:extLst>
              </p:cNvPr>
              <p:cNvSpPr txBox="1"/>
              <p:nvPr/>
            </p:nvSpPr>
            <p:spPr>
              <a:xfrm>
                <a:off x="5513696" y="5173965"/>
                <a:ext cx="3497753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ad>
                        <m:radPr>
                          <m:degHide m:val="on"/>
                          <m:ctrlPr>
                            <a:rPr kumimoji="1" lang="en-US" altLang="ja-JP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rad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kumimoji="1" lang="en-US" altLang="ja-JP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2.8923</m:t>
                      </m:r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CE4107A5-086D-8085-AAAF-E03789446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696" y="5173965"/>
                <a:ext cx="3497753" cy="154734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97631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  <p:bldP spid="7" grpId="0" animBg="1"/>
      <p:bldP spid="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707061-FE44-48AB-B1EB-17A452AB7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66586F-0FA4-F1A6-C960-8C22AE84E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母平均の区間推定④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903B079-E6FA-53A5-2D9F-754DD7EDD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A4BE3BC5-38AE-0225-FD28-EB5164323E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手順⑤　標本平均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dirty="0"/>
                  <a:t>を代入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下限値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72−2.8923=69.1077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上限値</a:t>
                </a:r>
                <a:r>
                  <a:rPr lang="en-US" altLang="ja-JP" dirty="0"/>
                  <a:t>	</a:t>
                </a:r>
                <a:r>
                  <a:rPr lang="ja-JP" altLang="en-US" dirty="0"/>
                  <a:t>：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72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i="1">
                        <a:latin typeface="Cambria Math" panose="02040503050406030204" pitchFamily="18" charset="0"/>
                      </a:rPr>
                      <m:t>2.8923=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74.8923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よって，求める</a:t>
                </a:r>
                <a:r>
                  <a:rPr lang="en-US" altLang="ja-JP" dirty="0"/>
                  <a:t>95%</a:t>
                </a:r>
                <a:r>
                  <a:rPr lang="ja-JP" altLang="en-US" dirty="0"/>
                  <a:t>信頼区間は　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69.1077, 74.8923</m:t>
                        </m:r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A4BE3BC5-38AE-0225-FD28-EB5164323E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6049AA7E-27A7-366A-3619-F9670D2AFC30}"/>
                  </a:ext>
                </a:extLst>
              </p:cNvPr>
              <p:cNvSpPr txBox="1"/>
              <p:nvPr/>
            </p:nvSpPr>
            <p:spPr>
              <a:xfrm>
                <a:off x="5513696" y="5173965"/>
                <a:ext cx="3497753" cy="154734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ad>
                        <m:radPr>
                          <m:degHide m:val="on"/>
                          <m:ctrlPr>
                            <a:rPr kumimoji="1" lang="en-US" altLang="ja-JP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rad>
                      <m:acc>
                        <m:accPr>
                          <m:chr m:val="̅"/>
                          <m:ctrlP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en-US" altLang="ja-JP" sz="3200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</m:e>
                      </m:acc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±</m:t>
                      </m:r>
                      <m:r>
                        <a:rPr kumimoji="1" lang="en-US" altLang="ja-JP" sz="3200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2.8923</m:t>
                      </m:r>
                      <m:rad>
                        <m:radPr>
                          <m:degHide m:val="on"/>
                          <m:ctrlPr>
                            <a:rPr kumimoji="1" lang="en-US" altLang="ja-JP" sz="32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ja-JP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altLang="ja-JP" sz="32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sz="3200" dirty="0"/>
              </a:p>
            </p:txBody>
          </p:sp>
        </mc:Choice>
        <mc:Fallback xmlns="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6049AA7E-27A7-366A-3619-F9670D2AFC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696" y="5173965"/>
                <a:ext cx="3497753" cy="154734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77210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72FC9-12EA-183D-9227-4A87BD2865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B154F84F-44EE-9DCA-9D8C-BE2A948EED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/>
              <a:t>２：母分散の区間推定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B31E5C4-9E9F-A1E3-60B8-9A0F301E9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66781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E382A5-2E65-42BD-C1EA-DB58EB4B8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母分散の信頼区間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F20D3EB-1268-27C3-B359-2A67B4CB8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15672FF-EF34-BEFC-5B26-4351DEFC6C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kumimoji="1" lang="ja-JP" altLang="en-US" dirty="0"/>
                  <a:t>母分散の信頼区間の推定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カイ二乗分布を使用する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𝑈</m:t>
                          </m:r>
                        </m:e>
                        <m:sub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ja-JP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𝜇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ja-JP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ja-JP" i="1">
                              <a:latin typeface="Cambria Math" panose="02040503050406030204" pitchFamily="18" charset="0"/>
                            </a:rPr>
                            <m:t>𝑛</m:t>
                          </m:r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ja-JP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ja-JP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</m:acc>
                                  <m:r>
                                    <a:rPr lang="en-US" altLang="ja-JP" sz="3200" i="1" dirty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ja-JP" sz="3200" i="1" dirty="0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ja-JP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US" altLang="ja-JP" dirty="0"/>
              </a:p>
              <a:p>
                <a:pPr lvl="1"/>
                <a:endParaRPr lang="en-US" altLang="ja-JP" dirty="0"/>
              </a:p>
              <a:p>
                <a:pPr lvl="1"/>
                <a:r>
                  <a:rPr lang="ja-JP" altLang="en-US" dirty="0"/>
                  <a:t>このうち，右辺第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項は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未知の母平均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ja-JP" altLang="en-US" dirty="0">
                    <a:solidFill>
                      <a:schemeClr val="accent5"/>
                    </a:solidFill>
                  </a:rPr>
                  <a:t>を含まない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自由度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dirty="0"/>
                  <a:t>のカイ二乗分布に従う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p>
                                <m:sSupPr>
                                  <m:ctrlPr>
                                    <a:rPr lang="en-US" altLang="ja-JP" b="0" i="1" smtClean="0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ja-JP" b="0" i="1" smtClean="0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ja-JP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ja-JP" b="0" i="1" smtClean="0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ja-JP" i="1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acc>
                                        <m:accPr>
                                          <m:chr m:val="̅"/>
                                          <m:ctrlPr>
                                            <a:rPr lang="en-US" altLang="ja-JP" i="1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i="1">
                                              <a:solidFill>
                                                <a:schemeClr val="accent5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</m:acc>
                                    </m:e>
                                  </m:d>
                                </m:e>
                                <m:sup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num>
                        <m:den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~</m:t>
                      </m:r>
                      <m:sSup>
                        <m:sSup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kumimoji="1" lang="en-US" altLang="ja-JP" dirty="0"/>
              </a:p>
              <a:p>
                <a:pPr lvl="2"/>
                <a:endParaRPr lang="en-US" altLang="ja-JP" b="0" dirty="0"/>
              </a:p>
              <a:p>
                <a:pPr lvl="2"/>
                <a:r>
                  <a:rPr lang="ja-JP" altLang="en-US" b="0" dirty="0"/>
                  <a:t>参考：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𝑛</m:t>
                        </m:r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tx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acc>
                                  <m:accPr>
                                    <m:chr m:val="̅"/>
                                    <m:ctrlP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i="1">
                                        <a:solidFill>
                                          <a:schemeClr val="tx2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  <m:r>
                                  <a:rPr lang="en-US" altLang="ja-JP" sz="2400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400" i="1" dirty="0">
                                    <a:solidFill>
                                      <a:schemeClr val="tx2"/>
                                    </a:solidFill>
                                    <a:latin typeface="Cambria Math" panose="02040503050406030204" pitchFamily="18" charset="0"/>
                                  </a:rPr>
                                  <m:t>𝜇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15672FF-EF34-BEFC-5B26-4351DEFC6C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62" t="-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23744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A6FA5F0-4FA6-A0D1-92FC-C2DAED6AA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カイ二乗分布は左右非対称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39A513E3-C942-2D03-ABE3-D90F0F6E6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F3CBA54-C4A4-5ACD-62C9-EE59610B1D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カイ二乗分布は左右非対称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分布の両側でそれぞれ，棄却域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kumimoji="1" lang="ja-JP" altLang="en-US" dirty="0"/>
                  <a:t>を調べる必要がある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F3CBA54-C4A4-5ACD-62C9-EE59610B1D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図 4">
            <a:extLst>
              <a:ext uri="{FF2B5EF4-FFF2-40B4-BE49-F238E27FC236}">
                <a16:creationId xmlns:a16="http://schemas.microsoft.com/office/drawing/2014/main" id="{A8A3D247-2554-74EE-A76E-AC4331E03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939" y="2067269"/>
            <a:ext cx="7028121" cy="4217809"/>
          </a:xfrm>
          <a:prstGeom prst="rect">
            <a:avLst/>
          </a:prstGeom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1CDD3007-4B6E-938F-A718-838C65CAF311}"/>
              </a:ext>
            </a:extLst>
          </p:cNvPr>
          <p:cNvSpPr txBox="1"/>
          <p:nvPr/>
        </p:nvSpPr>
        <p:spPr>
          <a:xfrm>
            <a:off x="2600125" y="4655553"/>
            <a:ext cx="764953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 anchor="ctr">
            <a:spAutoFit/>
          </a:bodyPr>
          <a:lstStyle/>
          <a:p>
            <a:pPr algn="ctr"/>
            <a:r>
              <a:rPr kumimoji="1" lang="en-US" altLang="ja-JP" dirty="0">
                <a:latin typeface="BIZ UDPゴシック" panose="020B0400000000000000" pitchFamily="50" charset="-128"/>
                <a:ea typeface="BIZ UDPゴシック" panose="020B0400000000000000" pitchFamily="50" charset="-128"/>
              </a:rPr>
              <a:t>95%</a:t>
            </a:r>
            <a:endParaRPr kumimoji="1" lang="ja-JP" altLang="en-US" dirty="0">
              <a:latin typeface="BIZ UDPゴシック" panose="020B0400000000000000" pitchFamily="50" charset="-128"/>
              <a:ea typeface="BIZ UDPゴシック" panose="020B0400000000000000" pitchFamily="50" charset="-128"/>
            </a:endParaRPr>
          </a:p>
        </p:txBody>
      </p: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21074ED1-E337-0CA7-B5A6-A65CCDC6875F}"/>
              </a:ext>
            </a:extLst>
          </p:cNvPr>
          <p:cNvGrpSpPr/>
          <p:nvPr/>
        </p:nvGrpSpPr>
        <p:grpSpPr>
          <a:xfrm>
            <a:off x="72002" y="4175261"/>
            <a:ext cx="1743448" cy="1471553"/>
            <a:chOff x="4368368" y="4284566"/>
            <a:chExt cx="1743448" cy="1471553"/>
          </a:xfrm>
        </p:grpSpPr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ADC000BD-78A3-1EF0-925E-1AE78A0D1991}"/>
                </a:ext>
              </a:extLst>
            </p:cNvPr>
            <p:cNvSpPr txBox="1"/>
            <p:nvPr/>
          </p:nvSpPr>
          <p:spPr>
            <a:xfrm>
              <a:off x="4368368" y="4284566"/>
              <a:ext cx="1683474" cy="646331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 anchor="ctr">
              <a:spAutoFit/>
            </a:bodyPr>
            <a:lstStyle/>
            <a:p>
              <a:pPr algn="ctr"/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2.5%</a:t>
              </a:r>
            </a:p>
            <a:p>
              <a:pPr algn="ctr"/>
              <a:r>
                <a:rPr kumimoji="1" lang="ja-JP" altLang="en-US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上から</a:t>
              </a:r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97.5%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9" name="直線矢印コネクタ 8">
              <a:extLst>
                <a:ext uri="{FF2B5EF4-FFF2-40B4-BE49-F238E27FC236}">
                  <a16:creationId xmlns:a16="http://schemas.microsoft.com/office/drawing/2014/main" id="{282C3905-775E-5A7E-907E-342E72F03CCF}"/>
                </a:ext>
              </a:extLst>
            </p:cNvPr>
            <p:cNvCxnSpPr>
              <a:cxnSpLocks/>
              <a:stCxn id="8" idx="2"/>
            </p:cNvCxnSpPr>
            <p:nvPr/>
          </p:nvCxnSpPr>
          <p:spPr>
            <a:xfrm>
              <a:off x="5210105" y="4930897"/>
              <a:ext cx="901711" cy="825222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837AE688-487C-2BCB-2BA9-895B8BA01B02}"/>
              </a:ext>
            </a:extLst>
          </p:cNvPr>
          <p:cNvGrpSpPr/>
          <p:nvPr/>
        </p:nvGrpSpPr>
        <p:grpSpPr>
          <a:xfrm>
            <a:off x="5893201" y="5004835"/>
            <a:ext cx="837088" cy="776355"/>
            <a:chOff x="7901912" y="5166676"/>
            <a:chExt cx="837088" cy="776355"/>
          </a:xfrm>
        </p:grpSpPr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2F8D0896-0C83-3488-64EB-D82C0F8CD543}"/>
                </a:ext>
              </a:extLst>
            </p:cNvPr>
            <p:cNvSpPr txBox="1"/>
            <p:nvPr/>
          </p:nvSpPr>
          <p:spPr>
            <a:xfrm>
              <a:off x="7901912" y="5166676"/>
              <a:ext cx="837088" cy="369332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kumimoji="1" lang="en-US" altLang="ja-JP" dirty="0">
                  <a:solidFill>
                    <a:schemeClr val="accent5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2.5%</a:t>
              </a:r>
              <a:endParaRPr kumimoji="1" lang="ja-JP" altLang="en-US" dirty="0">
                <a:solidFill>
                  <a:schemeClr val="accent5"/>
                </a:solidFill>
                <a:latin typeface="BIZ UDPゴシック" panose="020B0400000000000000" pitchFamily="50" charset="-128"/>
                <a:ea typeface="BIZ UDPゴシック" panose="020B0400000000000000" pitchFamily="50" charset="-128"/>
              </a:endParaRPr>
            </a:p>
          </p:txBody>
        </p:sp>
        <p:cxnSp>
          <p:nvCxnSpPr>
            <p:cNvPr id="12" name="直線矢印コネクタ 11">
              <a:extLst>
                <a:ext uri="{FF2B5EF4-FFF2-40B4-BE49-F238E27FC236}">
                  <a16:creationId xmlns:a16="http://schemas.microsoft.com/office/drawing/2014/main" id="{D576D804-0416-2B0A-CBD7-FA3CE6AE90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951458" y="5554293"/>
              <a:ext cx="385050" cy="388738"/>
            </a:xfrm>
            <a:prstGeom prst="straightConnector1">
              <a:avLst/>
            </a:prstGeom>
            <a:ln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1A74FD58-7BB2-F598-0964-B79F7D43E389}"/>
              </a:ext>
            </a:extLst>
          </p:cNvPr>
          <p:cNvGrpSpPr/>
          <p:nvPr/>
        </p:nvGrpSpPr>
        <p:grpSpPr>
          <a:xfrm>
            <a:off x="1501296" y="5822504"/>
            <a:ext cx="822918" cy="744616"/>
            <a:chOff x="5291755" y="4873237"/>
            <a:chExt cx="822918" cy="7446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F5C7B28F-F9C1-135E-62A2-830C4D56C574}"/>
                    </a:ext>
                  </a:extLst>
                </p:cNvPr>
                <p:cNvSpPr txBox="1"/>
                <p:nvPr/>
              </p:nvSpPr>
              <p:spPr>
                <a:xfrm>
                  <a:off x="5291755" y="5239160"/>
                  <a:ext cx="822918" cy="378693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</m:ctrlPr>
                          </m:sSubSupPr>
                          <m:e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𝜒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0.975</m:t>
                            </m:r>
                          </m:sub>
                          <m:sup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F5C7B28F-F9C1-135E-62A2-830C4D56C57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91755" y="5239160"/>
                  <a:ext cx="822918" cy="378693"/>
                </a:xfrm>
                <a:prstGeom prst="rect">
                  <a:avLst/>
                </a:prstGeom>
                <a:blipFill>
                  <a:blip r:embed="rId4"/>
                  <a:stretch>
                    <a:fillRect b="-645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直線矢印コネクタ 24">
              <a:extLst>
                <a:ext uri="{FF2B5EF4-FFF2-40B4-BE49-F238E27FC236}">
                  <a16:creationId xmlns:a16="http://schemas.microsoft.com/office/drawing/2014/main" id="{D345073B-7FAB-53FB-4BB9-5EFCE4B534E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3214" y="4873237"/>
              <a:ext cx="0" cy="369512"/>
            </a:xfrm>
            <a:prstGeom prst="straightConnector1">
              <a:avLst/>
            </a:prstGeom>
            <a:ln w="381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52E48C0D-E2D7-976E-9B77-BEDD14837B3D}"/>
              </a:ext>
            </a:extLst>
          </p:cNvPr>
          <p:cNvGrpSpPr/>
          <p:nvPr/>
        </p:nvGrpSpPr>
        <p:grpSpPr>
          <a:xfrm>
            <a:off x="5155103" y="5822504"/>
            <a:ext cx="827726" cy="744616"/>
            <a:chOff x="5289351" y="4873237"/>
            <a:chExt cx="827726" cy="74461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A83C7A2F-D2B3-8801-8A62-811DC0F6502D}"/>
                    </a:ext>
                  </a:extLst>
                </p:cNvPr>
                <p:cNvSpPr txBox="1"/>
                <p:nvPr/>
              </p:nvSpPr>
              <p:spPr>
                <a:xfrm>
                  <a:off x="5289351" y="5239160"/>
                  <a:ext cx="827726" cy="378693"/>
                </a:xfrm>
                <a:prstGeom prst="rect">
                  <a:avLst/>
                </a:prstGeom>
                <a:noFill/>
              </p:spPr>
              <p:txBody>
                <a:bodyPr wrap="none" rtlCol="0" anchor="ctr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Sup>
                          <m:sSubSupPr>
                            <m:ctrlP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</m:ctrlPr>
                          </m:sSubSupPr>
                          <m:e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𝜒</m:t>
                            </m:r>
                          </m:e>
                          <m:sub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0.025</m:t>
                            </m:r>
                          </m:sub>
                          <m:sup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  <a:ea typeface="BIZ UDPゴシック" panose="020B0400000000000000" pitchFamily="50" charset="-128"/>
                              </a:rPr>
                              <m:t>2</m:t>
                            </m:r>
                          </m:sup>
                        </m:sSubSup>
                      </m:oMath>
                    </m:oMathPara>
                  </a14:m>
                  <a:endParaRPr kumimoji="1" lang="ja-JP" altLang="en-US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</p:txBody>
            </p:sp>
          </mc:Choice>
          <mc:Fallback xmlns="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A83C7A2F-D2B3-8801-8A62-811DC0F650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89351" y="5239160"/>
                  <a:ext cx="827726" cy="378693"/>
                </a:xfrm>
                <a:prstGeom prst="rect">
                  <a:avLst/>
                </a:prstGeom>
                <a:blipFill>
                  <a:blip r:embed="rId5"/>
                  <a:stretch>
                    <a:fillRect b="-645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直線矢印コネクタ 29">
              <a:extLst>
                <a:ext uri="{FF2B5EF4-FFF2-40B4-BE49-F238E27FC236}">
                  <a16:creationId xmlns:a16="http://schemas.microsoft.com/office/drawing/2014/main" id="{F5D3EABB-EE15-9C33-17B3-38DB1A6A5DB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703214" y="4873237"/>
              <a:ext cx="0" cy="369512"/>
            </a:xfrm>
            <a:prstGeom prst="straightConnector1">
              <a:avLst/>
            </a:prstGeom>
            <a:ln w="38100">
              <a:solidFill>
                <a:schemeClr val="accent5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69062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DBC636-6DD1-DD2A-07FE-F1B16C0A9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4ADBA2-6DC4-3702-80E9-BD12191C2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母分散の</a:t>
            </a:r>
            <a:r>
              <a:rPr kumimoji="1" lang="en-US" altLang="ja-JP" dirty="0"/>
              <a:t>95%</a:t>
            </a:r>
            <a:r>
              <a:rPr kumimoji="1" lang="ja-JP" altLang="en-US" dirty="0"/>
              <a:t>信頼区間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222CBE5-D787-C545-D2E3-B3B72BB9F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8BE6F92-9DAC-33F0-A242-F3812FB878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母分散の信頼区間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["/>
                          <m:endChr m:val="]"/>
                          <m:ctrlPr>
                            <a:rPr kumimoji="1" lang="en-US" altLang="ja-JP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kumimoji="1" lang="en-US" altLang="ja-JP" b="0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kumimoji="1" lang="en-US" altLang="ja-JP" b="0" i="1" smtClean="0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altLang="ja-JP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kumimoji="1" lang="en-US" altLang="ja-JP" b="0" i="1" smtClean="0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sSubSup>
                                <m:sSubSupPr>
                                  <m:ctrlP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0.025</m:t>
                                  </m:r>
                                </m:sub>
                                <m:sup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kumimoji="1"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den>
                          </m:f>
                          <m:r>
                            <a:rPr kumimoji="1" lang="en-US" altLang="ja-JP" b="0" i="1" dirty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ja-JP" i="1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US" altLang="ja-JP" i="1">
                                      <a:solidFill>
                                        <a:schemeClr val="tx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p>
                                    <m:sSupPr>
                                      <m:ctrlPr>
                                        <a:rPr lang="en-US" altLang="ja-JP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ctrlP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sSub>
                                            <m:sSubPr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sSub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  <m:sub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𝑖</m:t>
                                              </m:r>
                                            </m:sub>
                                          </m:sSub>
                                          <m:r>
                                            <a:rPr lang="en-US" altLang="ja-JP" i="1">
                                              <a:solidFill>
                                                <a:schemeClr val="tx2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−</m:t>
                                          </m:r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ja-JP" i="1">
                                                  <a:solidFill>
                                                    <a:schemeClr val="tx2"/>
                                                  </a:solidFill>
                                                  <a:latin typeface="Cambria Math" panose="02040503050406030204" pitchFamily="18" charset="0"/>
                                                </a:rPr>
                                                <m:t>𝑋</m:t>
                                              </m:r>
                                            </m:e>
                                          </m:acc>
                                        </m:e>
                                      </m:d>
                                    </m:e>
                                    <m:sup>
                                      <m:r>
                                        <a:rPr lang="en-US" altLang="ja-JP" i="1">
                                          <a:solidFill>
                                            <a:schemeClr val="tx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nary>
                            </m:num>
                            <m:den>
                              <m:sSubSup>
                                <m:sSubSupPr>
                                  <m:ctrlP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𝜒</m:t>
                                  </m:r>
                                </m:e>
                                <m:sub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0.</m:t>
                                  </m:r>
                                  <m:r>
                                    <a:rPr lang="en-US" altLang="ja-JP" b="0" i="1" smtClean="0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97</m:t>
                                  </m:r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  <m:sup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bSup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i="1">
                                      <a:solidFill>
                                        <a:schemeClr val="accent6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e>
                              </m:d>
                            </m:den>
                          </m:f>
                        </m:e>
                      </m:d>
                    </m:oMath>
                  </m:oMathPara>
                </a14:m>
                <a:endParaRPr kumimoji="1" lang="en-US" altLang="ja-JP" dirty="0"/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:endParaRPr lang="en-US" altLang="ja-JP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ja-JP" alt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標本平均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からの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偏差二乗和</m:t>
                            </m:r>
                          </m:num>
                          <m:den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カイ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二乗分布</m:t>
                            </m:r>
                            <m:r>
                              <a:rPr lang="ja-JP" altLang="en-US" i="1" smtClean="0">
                                <a:latin typeface="Cambria Math" panose="02040503050406030204" pitchFamily="18" charset="0"/>
                              </a:rPr>
                              <m:t>の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2.5%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点</m:t>
                            </m:r>
                          </m:den>
                        </m:f>
                        <m:r>
                          <a:rPr lang="en-US" altLang="ja-JP" i="1" dirty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ja-JP" alt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標本平均からの偏差二乗和</m:t>
                            </m:r>
                          </m:num>
                          <m:den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カイ二乗分布の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97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.5%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点</m:t>
                            </m:r>
                          </m:den>
                        </m:f>
                      </m:e>
                    </m:d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b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d>
                      <m:dPr>
                        <m:ctrlP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solidFill>
                              <a:schemeClr val="accent6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en-US" sz="2000" dirty="0"/>
                  <a:t>　：自由度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ja-JP" altLang="en-US" sz="2000" dirty="0"/>
                  <a:t>，上側確率</a:t>
                </a:r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ja-JP" altLang="en-US" sz="2000" dirty="0"/>
                  <a:t>のカイ二乗分布パーセント点</a:t>
                </a:r>
                <a:endParaRPr lang="en-US" altLang="ja-JP" sz="2000" dirty="0"/>
              </a:p>
              <a:p>
                <a:pPr lvl="2"/>
                <a:r>
                  <a:rPr lang="ja-JP" altLang="en-US" sz="1600" dirty="0"/>
                  <a:t>カイ二乗分布表から読み取る</a:t>
                </a:r>
                <a:endParaRPr lang="en-US" altLang="ja-JP" sz="1600" dirty="0"/>
              </a:p>
              <a:p>
                <a:pPr lvl="2"/>
                <a:r>
                  <a:rPr lang="ja-JP" altLang="en-US" sz="1600" dirty="0"/>
                  <a:t>教科書に記載がないので，配布の</a:t>
                </a:r>
                <a:r>
                  <a:rPr lang="en-US" altLang="ja-JP" sz="1600" dirty="0"/>
                  <a:t>Excel</a:t>
                </a:r>
                <a:r>
                  <a:rPr lang="ja-JP" altLang="en-US" sz="1600" dirty="0"/>
                  <a:t>を利用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8BE6F92-9DAC-33F0-A242-F3812FB878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10DEBB01-C9DA-ABAB-BB30-AECA0DCEF877}"/>
              </a:ext>
            </a:extLst>
          </p:cNvPr>
          <p:cNvGrpSpPr/>
          <p:nvPr/>
        </p:nvGrpSpPr>
        <p:grpSpPr>
          <a:xfrm>
            <a:off x="2305947" y="2537396"/>
            <a:ext cx="2223521" cy="584413"/>
            <a:chOff x="4572001" y="6014242"/>
            <a:chExt cx="3009013" cy="584413"/>
          </a:xfrm>
        </p:grpSpPr>
        <p:sp>
          <p:nvSpPr>
            <p:cNvPr id="6" name="左中かっこ 5">
              <a:extLst>
                <a:ext uri="{FF2B5EF4-FFF2-40B4-BE49-F238E27FC236}">
                  <a16:creationId xmlns:a16="http://schemas.microsoft.com/office/drawing/2014/main" id="{A26C853B-5CD8-07B7-8AD5-0508490841F2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D8B04375-AB51-A0F1-C0B6-5F5BACDF3492}"/>
                </a:ext>
              </a:extLst>
            </p:cNvPr>
            <p:cNvSpPr txBox="1"/>
            <p:nvPr/>
          </p:nvSpPr>
          <p:spPr>
            <a:xfrm>
              <a:off x="5326802" y="6136990"/>
              <a:ext cx="14994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下限値</a:t>
              </a:r>
            </a:p>
          </p:txBody>
        </p:sp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269E8E4E-7328-8D93-E23B-82B22D9C6BCF}"/>
              </a:ext>
            </a:extLst>
          </p:cNvPr>
          <p:cNvGrpSpPr/>
          <p:nvPr/>
        </p:nvGrpSpPr>
        <p:grpSpPr>
          <a:xfrm>
            <a:off x="4614532" y="2537395"/>
            <a:ext cx="2223521" cy="584413"/>
            <a:chOff x="4572001" y="6014242"/>
            <a:chExt cx="3009013" cy="584413"/>
          </a:xfrm>
        </p:grpSpPr>
        <p:sp>
          <p:nvSpPr>
            <p:cNvPr id="13" name="左中かっこ 12">
              <a:extLst>
                <a:ext uri="{FF2B5EF4-FFF2-40B4-BE49-F238E27FC236}">
                  <a16:creationId xmlns:a16="http://schemas.microsoft.com/office/drawing/2014/main" id="{A55C07FA-B5D4-6CEA-3677-43EC8D4420C0}"/>
                </a:ext>
              </a:extLst>
            </p:cNvPr>
            <p:cNvSpPr/>
            <p:nvPr/>
          </p:nvSpPr>
          <p:spPr>
            <a:xfrm rot="16200000">
              <a:off x="6015134" y="4571109"/>
              <a:ext cx="122748" cy="3009013"/>
            </a:xfrm>
            <a:prstGeom prst="leftBrac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48932B95-2287-0925-389B-09D66D3AA65A}"/>
                </a:ext>
              </a:extLst>
            </p:cNvPr>
            <p:cNvSpPr txBox="1"/>
            <p:nvPr/>
          </p:nvSpPr>
          <p:spPr>
            <a:xfrm>
              <a:off x="5326802" y="6136990"/>
              <a:ext cx="1499412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400" dirty="0">
                  <a:solidFill>
                    <a:srgbClr val="00B050"/>
                  </a:solidFill>
                  <a:latin typeface="BIZ UDPゴシック" panose="020B0400000000000000" pitchFamily="50" charset="-128"/>
                  <a:ea typeface="BIZ UDPゴシック" panose="020B0400000000000000" pitchFamily="50" charset="-128"/>
                </a:rPr>
                <a:t>上限値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4389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BE797-B784-3189-D5AC-AB7585A3B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A25DB2-E8F4-9E8E-133D-3DE2620671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母分散の区間推定量の導出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B7F0867-B533-91DE-A821-FA7207215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EB152E9-8737-2346-6504-DCA4F4AD6C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altLang="ja-JP" sz="1800" dirty="0"/>
                  <a:t>95%</a:t>
                </a:r>
                <a:r>
                  <a:rPr lang="ja-JP" altLang="ja-JP" sz="1800" dirty="0"/>
                  <a:t>信頼区間の例</a:t>
                </a:r>
                <a:endParaRPr lang="en-US" altLang="ja-JP" sz="1800" dirty="0"/>
              </a:p>
              <a:p>
                <a:pPr lvl="1"/>
                <a:r>
                  <a:rPr lang="ja-JP" altLang="ja-JP" sz="1600" dirty="0"/>
                  <a:t>母分散の</a:t>
                </a:r>
                <a:r>
                  <a:rPr lang="en-US" altLang="ja-JP" sz="1600" dirty="0"/>
                  <a:t>95%</a:t>
                </a:r>
                <a:r>
                  <a:rPr lang="ja-JP" altLang="ja-JP" sz="1600" dirty="0"/>
                  <a:t>信頼区間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0.975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ja-JP" sz="1800" i="1">
                        <a:latin typeface="Cambria Math" panose="02040503050406030204" pitchFamily="18" charset="0"/>
                      </a:rPr>
                      <m:t>=0.95</m:t>
                    </m:r>
                  </m:oMath>
                </a14:m>
                <a:endParaRPr lang="ja-JP" altLang="ja-JP" sz="1800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𝑈</m:t>
                    </m:r>
                  </m:oMath>
                </a14:m>
                <a:r>
                  <a:rPr lang="ja-JP" altLang="ja-JP" sz="1600" dirty="0"/>
                  <a:t>を</a:t>
                </a:r>
                <a:r>
                  <a:rPr lang="ja-JP" altLang="en-US" sz="1600" dirty="0"/>
                  <a:t>，</a:t>
                </a:r>
                <a:r>
                  <a:rPr lang="ja-JP" altLang="ja-JP" sz="1600" dirty="0"/>
                  <a:t>自由度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ja-JP" altLang="ja-JP" sz="1600" dirty="0"/>
                  <a:t>のカイ二乗統計量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nary>
                          <m:naryPr>
                            <m:chr m:val="∑"/>
                            <m:limLoc m:val="undOvr"/>
                            <m:ctrlPr>
                              <a:rPr lang="en-US" altLang="ja-JP" sz="1600"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sSup>
                              <m:sSupPr>
                                <m:ctrlP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ja-JP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ja-JP" sz="16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  <m:sub>
                                        <m:r>
                                          <a:rPr lang="en-US" altLang="ja-JP" sz="1600" i="1">
                                            <a:latin typeface="Cambria Math" panose="02040503050406030204" pitchFamily="18" charset="0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US" altLang="ja-JP" sz="1600" i="1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acc>
                                      <m:accPr>
                                        <m:chr m:val="̅"/>
                                        <m:ctrlPr>
                                          <a:rPr lang="en-US" altLang="ja-JP" sz="16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sz="1600" b="0" i="1" smtClean="0">
                                            <a:latin typeface="Cambria Math" panose="02040503050406030204" pitchFamily="18" charset="0"/>
                                          </a:rPr>
                                          <m:t>𝑋</m:t>
                                        </m:r>
                                      </m:e>
                                    </m:acc>
                                  </m:e>
                                </m:d>
                              </m:e>
                              <m:sup>
                                <m:r>
                                  <a:rPr lang="en-US" altLang="ja-JP" sz="16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nary>
                      </m:num>
                      <m:den>
                        <m:sSubSup>
                          <m:sSubSupPr>
                            <m:ctrlPr>
                              <a:rPr lang="en-US" altLang="ja-JP" sz="16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  <m:sup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  <m:r>
                      <a:rPr lang="en-US" altLang="ja-JP" sz="1600" i="1">
                        <a:latin typeface="Cambria Math" panose="02040503050406030204" pitchFamily="18" charset="0"/>
                      </a:rPr>
                      <m:t>~</m:t>
                    </m:r>
                    <m:sSup>
                      <m:sSup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altLang="ja-JP" sz="1600" dirty="0"/>
                  <a:t> </a:t>
                </a:r>
                <a:r>
                  <a:rPr lang="ja-JP" altLang="ja-JP" sz="1600" dirty="0"/>
                  <a:t>で置き換える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0.975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𝑈</m:t>
                            </m:r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  <m:r>
                      <a:rPr lang="en-US" altLang="ja-JP" sz="1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1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0.975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ja-JP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ja-JP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den>
                            </m:f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ja-JP" altLang="ja-JP" sz="1800" dirty="0"/>
              </a:p>
              <a:p>
                <a:pPr lvl="1"/>
                <a:r>
                  <a:rPr lang="ja-JP" altLang="ja-JP" sz="1600" dirty="0"/>
                  <a:t>両辺の逆数をとる</a:t>
                </a:r>
                <a:endParaRPr lang="en-US" altLang="ja-JP" sz="1600" dirty="0"/>
              </a:p>
              <a:p>
                <a:pPr lvl="2"/>
                <a:r>
                  <a:rPr lang="ja-JP" altLang="ja-JP" sz="1400" dirty="0"/>
                  <a:t>不等号の向きが変わることに注意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0.975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ja-JP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ja-JP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den>
                            </m:f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ja-JP" altLang="ja-JP" sz="1800" dirty="0"/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ctrlPr>
                          <a:rPr lang="en-US" altLang="ja-JP" sz="16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sz="16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ja-JP" sz="16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16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r>
                                      <a:rPr lang="en-US" altLang="ja-JP" sz="16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ja-JP" sz="16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ja-JP" sz="1600" b="0" i="1" smtClean="0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</m:acc>
                              </m:e>
                            </m:d>
                          </m:e>
                          <m:sup>
                            <m:r>
                              <a:rPr lang="en-US" altLang="ja-JP" sz="16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ja-JP" altLang="ja-JP" sz="1600" dirty="0"/>
                  <a:t>を移項し</a:t>
                </a:r>
                <a:r>
                  <a:rPr lang="ja-JP" altLang="en-US" sz="1600" dirty="0"/>
                  <a:t>，</a:t>
                </a:r>
                <a:r>
                  <a:rPr lang="ja-JP" altLang="ja-JP" sz="1600" dirty="0"/>
                  <a:t>左から小さい順に並ぶように位置を入れ替える</a:t>
                </a:r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sz="1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0.975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ja-JP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ja-JP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den>
                            </m:f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  <m:r>
                      <a:rPr lang="en-US" altLang="ja-JP" sz="1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1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ja-JP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ja-JP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0.975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&gt;</m:t>
                            </m:r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ja-JP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ja-JP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br>
                  <a:rPr lang="en-US" altLang="ja-JP" sz="1800" i="1" dirty="0"/>
                </a:br>
                <a14:m>
                  <m:oMath xmlns:m="http://schemas.openxmlformats.org/officeDocument/2006/math">
                    <m:r>
                      <a:rPr lang="en-US" altLang="ja-JP" sz="1800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180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sz="180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sz="18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ja-JP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ja-JP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0.025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sSubSup>
                              <m:sSubSup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b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b>
                              <m:sup>
                                <m: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r>
                              <a:rPr lang="en-US" altLang="ja-JP" sz="1800" i="1">
                                <a:latin typeface="Cambria Math" panose="02040503050406030204" pitchFamily="18" charset="0"/>
                              </a:rPr>
                              <m:t>&lt;</m:t>
                            </m:r>
                            <m:f>
                              <m:fPr>
                                <m:ctrlPr>
                                  <a:rPr lang="en-US" altLang="ja-JP" sz="180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nary>
                                  <m:naryPr>
                                    <m:chr m:val="∑"/>
                                    <m:limLoc m:val="undOvr"/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US" altLang="ja-JP" sz="18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d>
                                          <m:dPr>
                                            <m:ctrlPr>
                                              <a:rPr lang="en-US" altLang="ja-JP" sz="1800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altLang="ja-JP" sz="1800" i="1">
                                                    <a:latin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altLang="ja-JP" sz="1800" i="1">
                                                <a:latin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acc>
                                              <m:accPr>
                                                <m:chr m:val="̅"/>
                                                <m:ctrlP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US" altLang="ja-JP" sz="1800" b="0" i="1" smtClean="0">
                                                    <a:latin typeface="Cambria Math" panose="02040503050406030204" pitchFamily="18" charset="0"/>
                                                  </a:rPr>
                                                  <m:t>𝑋</m:t>
                                                </m:r>
                                              </m:e>
                                            </m:acc>
                                          </m:e>
                                        </m:d>
                                      </m:e>
                                      <m:sup>
                                        <m:r>
                                          <a:rPr lang="en-US" altLang="ja-JP" sz="1800" i="1"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num>
                              <m:den>
                                <m:sSubSup>
                                  <m:sSubSup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𝜒</m:t>
                                    </m:r>
                                  </m:e>
                                  <m:sub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0.975</m:t>
                                    </m:r>
                                  </m:sub>
                                  <m:sup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  <m:d>
                                  <m:dPr>
                                    <m:ctrlP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1800" i="1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en-US" altLang="ja-JP" sz="18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EB152E9-8737-2346-6504-DCA4F4AD6C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343" t="-31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618831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節　母平均の区間推定・母分散の区間推定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母平均の区間推定について理解する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信頼係数・信頼区間・棄却域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b="0" i="1" dirty="0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altLang="ja-JP" b="0" i="1" dirty="0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b="0" i="1" dirty="0" smtClean="0">
                            <a:latin typeface="Cambria Math" panose="02040503050406030204" pitchFamily="18" charset="0"/>
                          </a:rPr>
                          <m:t>,  </m:t>
                        </m:r>
                        <m:acc>
                          <m:accPr>
                            <m:chr m:val="̅"/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 dirty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bSup>
                                  <m:sSubSupPr>
                                    <m:ctrlP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  <m:sup>
                                    <m:r>
                                      <a:rPr lang="en-US" altLang="ja-JP" i="1" dirty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bSup>
                              </m:num>
                              <m:den>
                                <m:r>
                                  <a:rPr lang="en-US" altLang="ja-JP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母分散の区間推定について理解する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0.025</m:t>
                                </m:r>
                              </m:sub>
                              <m:sup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,  </m:t>
                        </m:r>
                        <m:f>
                          <m:f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sSup>
                                  <m:sSupPr>
                                    <m:ctrlPr>
                                      <a:rPr lang="en-US" altLang="ja-JP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d>
                                      <m:dPr>
                                        <m:ctrlPr>
                                          <a:rPr lang="en-US" altLang="ja-JP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US" altLang="ja-JP" i="1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acc>
                                          <m:accPr>
                                            <m:chr m:val="̅"/>
                                            <m:ctrlP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b="0" i="1" smtClean="0">
                                                <a:latin typeface="Cambria Math" panose="02040503050406030204" pitchFamily="18" charset="0"/>
                                              </a:rPr>
                                              <m:t>𝑋</m:t>
                                            </m:r>
                                          </m:e>
                                        </m:acc>
                                      </m:e>
                                    </m:d>
                                  </m:e>
                                  <m:sup>
                                    <m:r>
                                      <a:rPr lang="en-US" altLang="ja-JP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nary>
                          </m:num>
                          <m:den>
                            <m:sSubSup>
                              <m:sSubSup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𝜒</m:t>
                                </m:r>
                              </m:e>
                              <m:sub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US" altLang="ja-JP" b="0" i="1" smtClean="0">
                                    <a:latin typeface="Cambria Math" panose="02040503050406030204" pitchFamily="18" charset="0"/>
                                  </a:rPr>
                                  <m:t>97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  <m:sup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  <m:d>
                              <m:dPr>
                                <m:ctrlP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A4776-F7A6-08FA-DCC6-BAF969C656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1EA660B-2650-AC6D-2872-2DEF44315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(</a:t>
            </a:r>
            <a:r>
              <a:rPr kumimoji="1" lang="ja-JP" altLang="en-US" dirty="0"/>
              <a:t>付録</a:t>
            </a:r>
            <a:r>
              <a:rPr kumimoji="1" lang="en-US" altLang="ja-JP" dirty="0"/>
              <a:t>) </a:t>
            </a:r>
            <a:r>
              <a:rPr kumimoji="1" lang="ja-JP" altLang="en-US" dirty="0"/>
              <a:t>母平均の区間推定で</a:t>
            </a:r>
            <a:r>
              <a:rPr lang="en-US" altLang="ja-JP" dirty="0"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t</a:t>
            </a:r>
            <a:r>
              <a:rPr lang="en-US" altLang="ja-JP" dirty="0"/>
              <a:t> </a:t>
            </a:r>
            <a:r>
              <a:rPr lang="ja-JP" altLang="en-US" dirty="0"/>
              <a:t>分布を用いる理由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784249A-3177-F2B0-D117-544462698C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70E190E-A7EB-545D-BC2A-8ECCEFF4DB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111479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2400" dirty="0"/>
              <a:t>「推定とはデータを用いた計算により母数を推定すること」</a:t>
            </a:r>
            <a:endParaRPr lang="en-US" altLang="ja-JP" sz="2400" dirty="0"/>
          </a:p>
          <a:p>
            <a:pPr marL="0" indent="0">
              <a:buNone/>
            </a:pPr>
            <a:r>
              <a:rPr lang="ja-JP" altLang="en-US" sz="2400" dirty="0"/>
              <a:t>状況設定</a:t>
            </a:r>
            <a:endParaRPr lang="en-US" altLang="ja-JP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6C71B5A-BFE0-0BBC-494F-0EE8743E0382}"/>
                  </a:ext>
                </a:extLst>
              </p:cNvPr>
              <p:cNvSpPr txBox="1"/>
              <p:nvPr/>
            </p:nvSpPr>
            <p:spPr>
              <a:xfrm>
                <a:off x="220133" y="2048047"/>
                <a:ext cx="8703733" cy="1114792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: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母集団，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: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確率変数，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: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母平均，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: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母分数</a:t>
                </a:r>
                <a:endParaRPr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ja-JP" sz="2400" i="1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ja-JP" sz="2400" i="1">
                            <a:latin typeface="Cambria Math" panose="02040503050406030204" pitchFamily="18" charset="0"/>
                          </a:rPr>
                          <m:t>, </m:t>
                        </m:r>
                        <m:sSup>
                          <m:sSupPr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とする．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𝑏</m:t>
                        </m:r>
                      </m:sup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: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標本平均，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acc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  <m:t>𝜎</m:t>
                                </m:r>
                              </m:e>
                              <m:sup>
                                <m: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d>
                  </m:oMath>
                </a14:m>
                <a:endParaRPr kumimoji="1"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6C71B5A-BFE0-0BBC-494F-0EE8743E03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33" y="2048047"/>
                <a:ext cx="8703733" cy="1114792"/>
              </a:xfrm>
              <a:prstGeom prst="rect">
                <a:avLst/>
              </a:prstGeom>
              <a:blipFill>
                <a:blip r:embed="rId3"/>
                <a:stretch>
                  <a:fillRect t="-3723"/>
                </a:stretch>
              </a:blipFill>
              <a:ln w="285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78B1ECBA-E82C-47BB-AD11-C5E5E85686B7}"/>
                  </a:ext>
                </a:extLst>
              </p:cNvPr>
              <p:cNvSpPr txBox="1"/>
              <p:nvPr/>
            </p:nvSpPr>
            <p:spPr>
              <a:xfrm>
                <a:off x="131976" y="3297776"/>
                <a:ext cx="637042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まず次の標準正規分布に従う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を考える </a:t>
                </a:r>
                <a:endParaRPr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78B1ECBA-E82C-47BB-AD11-C5E5E8568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976" y="3297776"/>
                <a:ext cx="6370424" cy="461665"/>
              </a:xfrm>
              <a:prstGeom prst="rect">
                <a:avLst/>
              </a:prstGeom>
              <a:blipFill>
                <a:blip r:embed="rId4"/>
                <a:stretch>
                  <a:fillRect l="-1531" t="-11842" b="-27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221551E9-FA1D-5267-3CD4-72674A0D032B}"/>
                  </a:ext>
                </a:extLst>
              </p:cNvPr>
              <p:cNvSpPr txBox="1"/>
              <p:nvPr/>
            </p:nvSpPr>
            <p:spPr>
              <a:xfrm>
                <a:off x="331892" y="3820996"/>
                <a:ext cx="7572587" cy="1292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4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400" b="0" i="1" dirty="0" smtClean="0">
                              <a:latin typeface="Cambria Math" panose="02040503050406030204" pitchFamily="18" charset="0"/>
                            </a:rPr>
                            <m:t>𝐸</m:t>
                          </m:r>
                          <m:r>
                            <a:rPr lang="en-US" altLang="ja-JP" sz="2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acc>
                            <m:accPr>
                              <m:chr m:val="̅"/>
                              <m:ctrlPr>
                                <a:rPr lang="en-US" altLang="ja-JP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400" b="0" i="1" dirty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4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ja-JP" sz="2400" b="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altLang="ja-JP" sz="2400" b="0" i="1" dirty="0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acc>
                                <m:accPr>
                                  <m:chr m:val="̅"/>
                                  <m:ctrlPr>
                                    <a:rPr lang="en-US" altLang="ja-JP" sz="24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ja-JP" sz="2400" b="0" i="1" dirty="0" smtClean="0">
                                      <a:latin typeface="Cambria Math" panose="02040503050406030204" pitchFamily="18" charset="0"/>
                                    </a:rPr>
                                    <m:t>𝑋</m:t>
                                  </m:r>
                                </m:e>
                              </m:acc>
                              <m:r>
                                <a:rPr lang="en-US" altLang="ja-JP" sz="2400" b="0" i="1" dirty="0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rad>
                        </m:den>
                      </m:f>
                      <m:r>
                        <a:rPr lang="en-US" altLang="ja-JP" sz="2400" b="0" i="0" dirty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4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sz="2400" b="0" i="1" dirty="0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ja-JP" sz="2400" b="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altLang="ja-JP" sz="2400" b="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𝜎</m:t>
                                      </m:r>
                                    </m:e>
                                    <m:sup>
                                      <m:r>
                                        <a:rPr lang="en-US" altLang="ja-JP" sz="2400" b="0" i="1" dirty="0" smtClean="0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ja-JP" sz="24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ctrlPr>
                            <a:rPr lang="en-US" altLang="ja-JP" sz="24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2400" b="0" i="1" dirty="0" smtClean="0">
                              <a:latin typeface="Cambria Math" panose="02040503050406030204" pitchFamily="18" charset="0"/>
                            </a:rPr>
                            <m:t>0, 1</m:t>
                          </m:r>
                        </m:e>
                      </m:d>
                    </m:oMath>
                  </m:oMathPara>
                </a14:m>
                <a:endParaRPr lang="ja-JP" altLang="en-US" dirty="0"/>
              </a:p>
            </p:txBody>
          </p:sp>
        </mc:Choice>
        <mc:Fallback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221551E9-FA1D-5267-3CD4-72674A0D03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892" y="3820996"/>
                <a:ext cx="7572587" cy="12922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4B9CE537-32B1-0090-C061-F652C4A19CA0}"/>
                  </a:ext>
                </a:extLst>
              </p:cNvPr>
              <p:cNvSpPr txBox="1"/>
              <p:nvPr/>
            </p:nvSpPr>
            <p:spPr>
              <a:xfrm>
                <a:off x="220133" y="5106249"/>
                <a:ext cx="6993468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2400" dirty="0">
                    <a:solidFill>
                      <a:srgbClr val="0070C0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青字：確率変数→（サンプリングして）データ</a:t>
                </a:r>
                <a:endParaRPr lang="en-US" altLang="ja-JP" sz="2400" dirty="0">
                  <a:solidFill>
                    <a:srgbClr val="0070C0"/>
                  </a:solidFill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lang="ja-JP" altLang="en-US" sz="2400" dirty="0">
                    <a:solidFill>
                      <a:srgbClr val="FF0000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赤字：母数</a:t>
                </a:r>
                <a:endParaRPr lang="en-US" altLang="ja-JP" sz="2400" dirty="0">
                  <a:solidFill>
                    <a:srgbClr val="FF0000"/>
                  </a:solidFill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endParaRPr lang="en-US" altLang="ja-JP" sz="2400" dirty="0">
                  <a:solidFill>
                    <a:srgbClr val="FF0000"/>
                  </a:solidFill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もし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もしが定まれば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の分布が定まる 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4B9CE537-32B1-0090-C061-F652C4A19C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33" y="5106249"/>
                <a:ext cx="6993468" cy="1569660"/>
              </a:xfrm>
              <a:prstGeom prst="rect">
                <a:avLst/>
              </a:prstGeom>
              <a:blipFill>
                <a:blip r:embed="rId6"/>
                <a:stretch>
                  <a:fillRect l="-1308" t="-3113" b="-739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8944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AAC2FD-DA06-558C-C555-E7C3A7B5B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363A41-791C-2D05-E9D5-C886B66E2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(</a:t>
            </a:r>
            <a:r>
              <a:rPr kumimoji="1" lang="ja-JP" altLang="en-US" dirty="0"/>
              <a:t>付録</a:t>
            </a:r>
            <a:r>
              <a:rPr kumimoji="1" lang="en-US" altLang="ja-JP" dirty="0"/>
              <a:t>) </a:t>
            </a:r>
            <a:r>
              <a:rPr kumimoji="1" lang="ja-JP" altLang="en-US" dirty="0"/>
              <a:t>母平均の区間推定で</a:t>
            </a:r>
            <a:r>
              <a:rPr lang="en-US" altLang="ja-JP" dirty="0"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t</a:t>
            </a:r>
            <a:r>
              <a:rPr lang="en-US" altLang="ja-JP" dirty="0"/>
              <a:t> </a:t>
            </a:r>
            <a:r>
              <a:rPr lang="ja-JP" altLang="en-US" dirty="0"/>
              <a:t>分布を用いる理由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4C87DC01-8D07-5AEE-ED92-F59BD24D7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AC7077FC-A925-C853-FD84-DACAADF743E8}"/>
                  </a:ext>
                </a:extLst>
              </p:cNvPr>
              <p:cNvSpPr txBox="1"/>
              <p:nvPr/>
            </p:nvSpPr>
            <p:spPr>
              <a:xfrm>
                <a:off x="220133" y="933894"/>
                <a:ext cx="6993468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もし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もしが定まれば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の分布が定まる</a:t>
                </a:r>
                <a:endParaRPr lang="en-US" altLang="ja-JP" sz="2400" dirty="0">
                  <a:solidFill>
                    <a:schemeClr val="tx1"/>
                  </a:solidFill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→　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を中心とした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 </a:t>
                </a:r>
                <a:r>
                  <a:rPr lang="en-US" altLang="ja-JP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95</a:t>
                </a:r>
                <a:r>
                  <a:rPr lang="ja-JP" altLang="en-US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％の区間がわかる 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AC7077FC-A925-C853-FD84-DACAADF743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133" y="933894"/>
                <a:ext cx="6993468" cy="830997"/>
              </a:xfrm>
              <a:prstGeom prst="rect">
                <a:avLst/>
              </a:prstGeom>
              <a:blipFill>
                <a:blip r:embed="rId3"/>
                <a:stretch>
                  <a:fillRect l="-1308" t="-6569" b="-138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図 10">
            <a:extLst>
              <a:ext uri="{FF2B5EF4-FFF2-40B4-BE49-F238E27FC236}">
                <a16:creationId xmlns:a16="http://schemas.microsoft.com/office/drawing/2014/main" id="{317D8B92-BC6B-EF7F-8D05-3F871E49B3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442" y="1764891"/>
            <a:ext cx="5035809" cy="217816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128F9A6D-07AF-9B33-F877-0E62A271E511}"/>
                  </a:ext>
                </a:extLst>
              </p:cNvPr>
              <p:cNvSpPr txBox="1"/>
              <p:nvPr/>
            </p:nvSpPr>
            <p:spPr>
              <a:xfrm>
                <a:off x="1764453" y="4026208"/>
                <a:ext cx="3959014" cy="4690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(下限≤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≤上限)</m:t>
                    </m:r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128F9A6D-07AF-9B33-F877-0E62A271E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4453" y="4026208"/>
                <a:ext cx="3959014" cy="469039"/>
              </a:xfrm>
              <a:prstGeom prst="rect">
                <a:avLst/>
              </a:prstGeom>
              <a:blipFill>
                <a:blip r:embed="rId5"/>
                <a:stretch>
                  <a:fillRect l="-308" t="-12987" b="-2727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342AB2A2-B102-D957-E514-75797DAD1EB5}"/>
                  </a:ext>
                </a:extLst>
              </p:cNvPr>
              <p:cNvSpPr txBox="1"/>
              <p:nvPr/>
            </p:nvSpPr>
            <p:spPr>
              <a:xfrm>
                <a:off x="833119" y="4624071"/>
                <a:ext cx="63804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2400" b="0" dirty="0">
                    <a:solidFill>
                      <a:srgbClr val="EBA415"/>
                    </a:solidFill>
                  </a:rPr>
                  <a:t>上限</a:t>
                </a:r>
                <a14:m>
                  <m:oMath xmlns:m="http://schemas.openxmlformats.org/officeDocument/2006/math">
                    <m:r>
                      <a:rPr lang="en-US" altLang="ja-JP" sz="24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ja-JP" sz="2400" b="0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0" dirty="0" smtClean="0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lang="ja-JP" altLang="en-US" sz="2400" dirty="0"/>
                  <a:t>上側</a:t>
                </a:r>
                <a:r>
                  <a:rPr lang="en-US" altLang="ja-JP" sz="2400" dirty="0"/>
                  <a:t>0.025 </a:t>
                </a:r>
                <a:r>
                  <a:rPr lang="ja-JP" altLang="en-US" sz="2400" dirty="0"/>
                  <a:t>の点 </a:t>
                </a:r>
                <a:r>
                  <a:rPr lang="en-US" altLang="ja-JP" sz="2400" dirty="0"/>
                  <a:t>(</a:t>
                </a:r>
                <a14:m>
                  <m:oMath xmlns:m="http://schemas.openxmlformats.org/officeDocument/2006/math">
                    <m:r>
                      <a:rPr lang="en-US" altLang="ja-JP" sz="2400" b="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ja-JP" sz="2400" b="0" i="0" dirty="0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</m:oMath>
                </a14:m>
                <a:r>
                  <a:rPr lang="en-US" altLang="ja-JP" sz="2400" dirty="0"/>
                  <a:t>)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342AB2A2-B102-D957-E514-75797DAD1E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19" y="4624071"/>
                <a:ext cx="6380481" cy="461665"/>
              </a:xfrm>
              <a:prstGeom prst="rect">
                <a:avLst/>
              </a:prstGeom>
              <a:blipFill>
                <a:blip r:embed="rId6"/>
                <a:stretch>
                  <a:fillRect l="-1530" t="-14667" b="-32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6A71291-2ADC-A695-62E7-E8C4A6909E08}"/>
                  </a:ext>
                </a:extLst>
              </p:cNvPr>
              <p:cNvSpPr txBox="1"/>
              <p:nvPr/>
            </p:nvSpPr>
            <p:spPr>
              <a:xfrm>
                <a:off x="833119" y="5093110"/>
                <a:ext cx="6380481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2400" b="0" dirty="0">
                    <a:solidFill>
                      <a:srgbClr val="FF0000"/>
                    </a:solidFill>
                  </a:rPr>
                  <a:t>下限</a:t>
                </a:r>
                <a14:m>
                  <m:oMath xmlns:m="http://schemas.openxmlformats.org/officeDocument/2006/math">
                    <m:r>
                      <a:rPr lang="en-US" altLang="ja-JP" sz="2400" b="0" i="0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US" altLang="ja-JP" sz="2400" b="0" i="0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0" dirty="0" smtClean="0">
                            <a:latin typeface="Cambria Math" panose="02040503050406030204" pitchFamily="18" charset="0"/>
                          </a:rPr>
                          <m:t>0, 1</m:t>
                        </m:r>
                      </m:e>
                    </m:d>
                    <m:r>
                      <a:rPr lang="ja-JP" altLang="en-US" sz="2400" i="1" dirty="0"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lang="ja-JP" altLang="en-US" sz="2400" dirty="0"/>
                  <a:t>下側</a:t>
                </a:r>
                <a:r>
                  <a:rPr lang="en-US" altLang="ja-JP" sz="2400" dirty="0"/>
                  <a:t>0.025 </a:t>
                </a:r>
                <a:r>
                  <a:rPr lang="ja-JP" altLang="en-US" sz="2400" dirty="0"/>
                  <a:t>の点 </a:t>
                </a:r>
                <a:r>
                  <a:rPr lang="en-US" altLang="ja-JP" sz="2400" dirty="0"/>
                  <a:t>(</a:t>
                </a:r>
                <a14:m>
                  <m:oMath xmlns:m="http://schemas.openxmlformats.org/officeDocument/2006/math">
                    <m:r>
                      <a:rPr lang="en-US" altLang="ja-JP" sz="2400" b="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ja-JP" sz="2400" b="0" i="0" dirty="0" smtClean="0">
                            <a:latin typeface="Cambria Math" panose="02040503050406030204" pitchFamily="18" charset="0"/>
                          </a:rPr>
                          <m:t>0.025</m:t>
                        </m:r>
                      </m:sub>
                    </m:sSub>
                  </m:oMath>
                </a14:m>
                <a:r>
                  <a:rPr lang="en-US" altLang="ja-JP" sz="2400" dirty="0"/>
                  <a:t>)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56A71291-2ADC-A695-62E7-E8C4A6909E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3119" y="5093110"/>
                <a:ext cx="6380481" cy="461665"/>
              </a:xfrm>
              <a:prstGeom prst="rect">
                <a:avLst/>
              </a:prstGeom>
              <a:blipFill>
                <a:blip r:embed="rId7"/>
                <a:stretch>
                  <a:fillRect l="-1530" t="-14474" b="-30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8349818-B0DF-414F-F128-83CFF1DB94EB}"/>
                  </a:ext>
                </a:extLst>
              </p:cNvPr>
              <p:cNvSpPr txBox="1"/>
              <p:nvPr/>
            </p:nvSpPr>
            <p:spPr>
              <a:xfrm>
                <a:off x="882226" y="5766754"/>
                <a:ext cx="6569547" cy="953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2400" dirty="0"/>
                  <a:t>⇒　</a:t>
                </a:r>
                <a14:m>
                  <m:oMath xmlns:m="http://schemas.openxmlformats.org/officeDocument/2006/math">
                    <m:r>
                      <a:rPr lang="ja-JP" altLang="en-US" sz="2400" b="0" i="1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sz="24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ja-JP" sz="2400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sz="2400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sz="2400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ja-JP" sz="2400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</m:den>
                        </m:f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88349818-B0DF-414F-F128-83CFF1DB94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26" y="5766754"/>
                <a:ext cx="6569547" cy="953851"/>
              </a:xfrm>
              <a:prstGeom prst="rect">
                <a:avLst/>
              </a:prstGeom>
              <a:blipFill>
                <a:blip r:embed="rId8"/>
                <a:stretch>
                  <a:fillRect l="-14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554735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14162-C6BA-66CD-F532-1C467376B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9BC135-1C06-95D9-7CF9-6D295944F2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(</a:t>
            </a:r>
            <a:r>
              <a:rPr kumimoji="1" lang="ja-JP" altLang="en-US" dirty="0"/>
              <a:t>付録</a:t>
            </a:r>
            <a:r>
              <a:rPr kumimoji="1" lang="en-US" altLang="ja-JP" dirty="0"/>
              <a:t>) </a:t>
            </a:r>
            <a:r>
              <a:rPr kumimoji="1" lang="ja-JP" altLang="en-US" dirty="0"/>
              <a:t>母平均の区間推定で</a:t>
            </a:r>
            <a:r>
              <a:rPr lang="en-US" altLang="ja-JP" dirty="0"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t</a:t>
            </a:r>
            <a:r>
              <a:rPr lang="en-US" altLang="ja-JP" dirty="0"/>
              <a:t> </a:t>
            </a:r>
            <a:r>
              <a:rPr lang="ja-JP" altLang="en-US" dirty="0"/>
              <a:t>分布を用いる理由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2E7CB4C9-21E8-0B7A-5E28-491084195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D56A46-A822-A405-B732-47B7FEB6EF50}"/>
                  </a:ext>
                </a:extLst>
              </p:cNvPr>
              <p:cNvSpPr txBox="1"/>
              <p:nvPr/>
            </p:nvSpPr>
            <p:spPr>
              <a:xfrm>
                <a:off x="645159" y="829000"/>
                <a:ext cx="6569547" cy="953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sz="24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ja-JP" sz="2400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sz="2400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sz="2400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ja-JP" sz="2400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</m:den>
                        </m:f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92D56A46-A822-A405-B732-47B7FEB6EF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59" y="829000"/>
                <a:ext cx="6569547" cy="9538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75C99D64-C483-280D-B4FE-24123432432E}"/>
                  </a:ext>
                </a:extLst>
              </p:cNvPr>
              <p:cNvSpPr txBox="1"/>
              <p:nvPr/>
            </p:nvSpPr>
            <p:spPr>
              <a:xfrm>
                <a:off x="656167" y="1735431"/>
                <a:ext cx="7021666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⇒　サンプリングした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ja-JP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</m:ctrlPr>
                      </m:accPr>
                      <m:e>
                        <m:r>
                          <a:rPr lang="en-US" altLang="ja-JP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  <m:t>𝑋</m:t>
                        </m:r>
                      </m:e>
                    </m:acc>
                  </m:oMath>
                </a14:m>
                <a:r>
                  <a:rPr lang="ja-JP" altLang="en-US" sz="2400" dirty="0">
                    <a:solidFill>
                      <a:srgbClr val="0070C0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lang="ja-JP" altLang="en-US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に基づく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が</a:t>
                </a:r>
                <a:r>
                  <a:rPr lang="en-US" altLang="ja-JP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95</a:t>
                </a:r>
                <a:r>
                  <a:rPr lang="ja-JP" altLang="en-US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％の区間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に</a:t>
                </a:r>
                <a:endParaRPr lang="en-US" altLang="ja-JP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　　 入っているかどうかが</a:t>
                </a:r>
                <a:r>
                  <a:rPr lang="ja-JP" altLang="en-US" sz="2400" dirty="0">
                    <a:solidFill>
                      <a:schemeClr val="tx1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わかる 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75C99D64-C483-280D-B4FE-2412343243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167" y="1735431"/>
                <a:ext cx="7021666" cy="830997"/>
              </a:xfrm>
              <a:prstGeom prst="rect">
                <a:avLst/>
              </a:prstGeom>
              <a:blipFill>
                <a:blip r:embed="rId4"/>
                <a:stretch>
                  <a:fillRect l="-1390" t="-6618" b="-1470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44ACE783-0041-61B1-B176-279012BE0EC0}"/>
                  </a:ext>
                </a:extLst>
              </p:cNvPr>
              <p:cNvSpPr txBox="1"/>
              <p:nvPr/>
            </p:nvSpPr>
            <p:spPr>
              <a:xfrm>
                <a:off x="645159" y="2661254"/>
                <a:ext cx="7394788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⇒　実際には母数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US" altLang="ja-JP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はわからない（それを推定したい）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44ACE783-0041-61B1-B176-279012BE0E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59" y="2661254"/>
                <a:ext cx="7394788" cy="461665"/>
              </a:xfrm>
              <a:prstGeom prst="rect">
                <a:avLst/>
              </a:prstGeom>
              <a:blipFill>
                <a:blip r:embed="rId5"/>
                <a:stretch>
                  <a:fillRect l="-1319" t="-13333" r="-1072" b="-28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6E76466-13B2-C32D-DF3E-4142FFA0761A}"/>
              </a:ext>
            </a:extLst>
          </p:cNvPr>
          <p:cNvSpPr txBox="1"/>
          <p:nvPr/>
        </p:nvSpPr>
        <p:spPr>
          <a:xfrm>
            <a:off x="656167" y="3267467"/>
            <a:ext cx="739478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>
                <a:latin typeface="Meiryo UI" panose="020B0604030504040204" pitchFamily="34" charset="-128"/>
                <a:ea typeface="Meiryo UI" panose="020B0604030504040204" pitchFamily="34" charset="-128"/>
              </a:rPr>
              <a:t>⇒　そこで上の式を次のように変換できればうれしい</a:t>
            </a:r>
            <a:endParaRPr lang="ja-JP" alt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EF76A33B-E0EB-204E-4233-A94A7B3E5411}"/>
                  </a:ext>
                </a:extLst>
              </p:cNvPr>
              <p:cNvSpPr txBox="1"/>
              <p:nvPr/>
            </p:nvSpPr>
            <p:spPr>
              <a:xfrm>
                <a:off x="474979" y="3863688"/>
                <a:ext cx="7735147" cy="43973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0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ja-JP" altLang="en-US" sz="20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sz="2000" i="1" dirty="0">
                            <a:latin typeface="Cambria Math" panose="02040503050406030204" pitchFamily="18" charset="0"/>
                          </a:rPr>
                          <m:t>下限</m:t>
                        </m:r>
                        <m:r>
                          <a:rPr lang="ja-JP" altLang="en-US" sz="2000" i="1" dirty="0">
                            <a:latin typeface="Cambria Math" panose="02040503050406030204" pitchFamily="18" charset="0"/>
                          </a:rPr>
                          <m:t>（</m:t>
                        </m:r>
                        <m:r>
                          <a:rPr lang="ja-JP" altLang="en-US" sz="20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データ</m:t>
                        </m:r>
                        <m:r>
                          <a:rPr lang="ja-JP" alt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と</m:t>
                        </m:r>
                        <m:r>
                          <a:rPr lang="ja-JP" alt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表</m:t>
                        </m:r>
                        <m:r>
                          <a:rPr lang="ja-JP" altLang="en-US" sz="2000" i="1" dirty="0">
                            <a:latin typeface="Cambria Math" panose="02040503050406030204" pitchFamily="18" charset="0"/>
                          </a:rPr>
                          <m:t>）</m:t>
                        </m:r>
                        <m:r>
                          <a:rPr lang="en-US" altLang="ja-JP" sz="20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ja-JP" altLang="en-US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母数</m:t>
                        </m:r>
                        <m:r>
                          <a:rPr lang="ja-JP" altLang="en-US" sz="20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のみ</m:t>
                        </m:r>
                        <m:r>
                          <a:rPr lang="en-US" altLang="ja-JP" sz="20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ja-JP" altLang="en-US" sz="2000" i="1" dirty="0">
                            <a:latin typeface="Cambria Math" panose="02040503050406030204" pitchFamily="18" charset="0"/>
                          </a:rPr>
                          <m:t>上限</m:t>
                        </m:r>
                        <m:r>
                          <a:rPr lang="ja-JP" altLang="en-US" sz="2000" i="1" dirty="0" smtClean="0">
                            <a:latin typeface="Cambria Math" panose="02040503050406030204" pitchFamily="18" charset="0"/>
                          </a:rPr>
                          <m:t>（</m:t>
                        </m:r>
                        <m:r>
                          <a:rPr lang="ja-JP" altLang="en-US" sz="20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データ</m:t>
                        </m:r>
                        <m:r>
                          <a:rPr lang="ja-JP" altLang="en-US" sz="200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と</m:t>
                        </m:r>
                        <m:r>
                          <a:rPr lang="ja-JP" altLang="en-US" sz="20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表</m:t>
                        </m:r>
                        <m:r>
                          <a:rPr lang="ja-JP" altLang="en-US" sz="2000" i="1" dirty="0" smtClean="0">
                            <a:latin typeface="Cambria Math" panose="02040503050406030204" pitchFamily="18" charset="0"/>
                          </a:rPr>
                          <m:t>）</m:t>
                        </m:r>
                      </m:e>
                    </m:d>
                  </m:oMath>
                </a14:m>
                <a:r>
                  <a:rPr lang="en-US" altLang="ja-JP" sz="2000" dirty="0"/>
                  <a:t>=</a:t>
                </a:r>
                <a:r>
                  <a:rPr lang="en-US" altLang="ja-JP" sz="20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000" dirty="0"/>
              </a:p>
            </p:txBody>
          </p:sp>
        </mc:Choice>
        <mc:Fallback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EF76A33B-E0EB-204E-4233-A94A7B3E54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4979" y="3863688"/>
                <a:ext cx="7735147" cy="439736"/>
              </a:xfrm>
              <a:prstGeom prst="rect">
                <a:avLst/>
              </a:prstGeom>
              <a:blipFill>
                <a:blip r:embed="rId6"/>
                <a:stretch>
                  <a:fillRect t="-6944" b="-1944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1F74816C-5F33-B28D-AAD2-1EAB7C691D29}"/>
                  </a:ext>
                </a:extLst>
              </p:cNvPr>
              <p:cNvSpPr txBox="1"/>
              <p:nvPr/>
            </p:nvSpPr>
            <p:spPr>
              <a:xfrm>
                <a:off x="163406" y="4357118"/>
                <a:ext cx="2627208" cy="46166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もし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がわかれば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1F74816C-5F33-B28D-AAD2-1EAB7C691D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06" y="4357118"/>
                <a:ext cx="2627208" cy="461665"/>
              </a:xfrm>
              <a:prstGeom prst="rect">
                <a:avLst/>
              </a:prstGeom>
              <a:blipFill>
                <a:blip r:embed="rId7"/>
                <a:stretch>
                  <a:fillRect l="-3211" t="-10000" b="-22500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272E51C6-0C7F-1C68-C506-7F2AE1783D07}"/>
                  </a:ext>
                </a:extLst>
              </p:cNvPr>
              <p:cNvSpPr txBox="1"/>
              <p:nvPr/>
            </p:nvSpPr>
            <p:spPr>
              <a:xfrm>
                <a:off x="777239" y="4872477"/>
                <a:ext cx="6569547" cy="926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acc>
                          <m:accPr>
                            <m:chr m:val="̅"/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272E51C6-0C7F-1C68-C506-7F2AE1783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39" y="4872477"/>
                <a:ext cx="6569547" cy="92647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19484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3A4404-3F22-EB40-877E-75F02DF7DC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341F68-C0BE-8581-98A5-3FA96B712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(</a:t>
            </a:r>
            <a:r>
              <a:rPr kumimoji="1" lang="ja-JP" altLang="en-US" dirty="0"/>
              <a:t>付録</a:t>
            </a:r>
            <a:r>
              <a:rPr kumimoji="1" lang="en-US" altLang="ja-JP" dirty="0"/>
              <a:t>) </a:t>
            </a:r>
            <a:r>
              <a:rPr kumimoji="1" lang="ja-JP" altLang="en-US" dirty="0"/>
              <a:t>母平均の区間推定で</a:t>
            </a:r>
            <a:r>
              <a:rPr lang="en-US" altLang="ja-JP" dirty="0"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t</a:t>
            </a:r>
            <a:r>
              <a:rPr lang="en-US" altLang="ja-JP" dirty="0"/>
              <a:t> </a:t>
            </a:r>
            <a:r>
              <a:rPr lang="ja-JP" altLang="en-US" dirty="0"/>
              <a:t>分布を用いる理由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A3414EC-3E74-C75E-67B6-EC28316E3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23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5380F990-E432-0521-A53A-AF577AC77A0F}"/>
                  </a:ext>
                </a:extLst>
              </p:cNvPr>
              <p:cNvSpPr txBox="1"/>
              <p:nvPr/>
            </p:nvSpPr>
            <p:spPr>
              <a:xfrm>
                <a:off x="645159" y="829000"/>
                <a:ext cx="6569547" cy="953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f>
                          <m:fPr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sz="2400" i="1" dirty="0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ja-JP" sz="2400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altLang="ja-JP" sz="2400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𝜎</m:t>
                                        </m:r>
                                      </m:e>
                                      <m:sup>
                                        <m:r>
                                          <a:rPr lang="en-US" altLang="ja-JP" sz="2400" i="1" dirty="0">
                                            <a:solidFill>
                                              <a:srgbClr val="FF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ja-JP" sz="2400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</m:den>
                        </m:f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5380F990-E432-0521-A53A-AF577AC77A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159" y="829000"/>
                <a:ext cx="6569547" cy="9538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8A4E348C-AB0E-D9EA-C2B0-ECA4F6CB6DC9}"/>
                  </a:ext>
                </a:extLst>
              </p:cNvPr>
              <p:cNvSpPr txBox="1"/>
              <p:nvPr/>
            </p:nvSpPr>
            <p:spPr>
              <a:xfrm>
                <a:off x="163406" y="1817126"/>
                <a:ext cx="2627208" cy="46166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もし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がわかれば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8A4E348C-AB0E-D9EA-C2B0-ECA4F6CB6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06" y="1817126"/>
                <a:ext cx="2627208" cy="461665"/>
              </a:xfrm>
              <a:prstGeom prst="rect">
                <a:avLst/>
              </a:prstGeom>
              <a:blipFill>
                <a:blip r:embed="rId4"/>
                <a:stretch>
                  <a:fillRect l="-3211" t="-9877" b="-20988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93D9F189-E104-C1E8-D6C0-84669F29F4A4}"/>
                  </a:ext>
                </a:extLst>
              </p:cNvPr>
              <p:cNvSpPr txBox="1"/>
              <p:nvPr/>
            </p:nvSpPr>
            <p:spPr>
              <a:xfrm>
                <a:off x="777239" y="2332485"/>
                <a:ext cx="6569547" cy="926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acc>
                          <m:accPr>
                            <m:chr m:val="̅"/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93D9F189-E104-C1E8-D6C0-84669F29F4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39" y="2332485"/>
                <a:ext cx="6569547" cy="9264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矢印: 右 3">
            <a:extLst>
              <a:ext uri="{FF2B5EF4-FFF2-40B4-BE49-F238E27FC236}">
                <a16:creationId xmlns:a16="http://schemas.microsoft.com/office/drawing/2014/main" id="{0729623C-2E05-85D9-6F71-1A13B1C3D783}"/>
              </a:ext>
            </a:extLst>
          </p:cNvPr>
          <p:cNvSpPr/>
          <p:nvPr/>
        </p:nvSpPr>
        <p:spPr>
          <a:xfrm>
            <a:off x="514774" y="2494632"/>
            <a:ext cx="365760" cy="5892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33513FE8-C048-47D7-D55F-7730A57F9290}"/>
                  </a:ext>
                </a:extLst>
              </p:cNvPr>
              <p:cNvSpPr txBox="1"/>
              <p:nvPr/>
            </p:nvSpPr>
            <p:spPr>
              <a:xfrm>
                <a:off x="777239" y="3135808"/>
                <a:ext cx="7851987" cy="926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 smtClean="0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33513FE8-C048-47D7-D55F-7730A57F9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39" y="3135808"/>
                <a:ext cx="7851987" cy="9264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矢印: 右 10">
            <a:extLst>
              <a:ext uri="{FF2B5EF4-FFF2-40B4-BE49-F238E27FC236}">
                <a16:creationId xmlns:a16="http://schemas.microsoft.com/office/drawing/2014/main" id="{34FEAA5C-0399-4620-A43D-002A6AF65498}"/>
              </a:ext>
            </a:extLst>
          </p:cNvPr>
          <p:cNvSpPr/>
          <p:nvPr/>
        </p:nvSpPr>
        <p:spPr>
          <a:xfrm>
            <a:off x="514774" y="3297955"/>
            <a:ext cx="365760" cy="5892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82A5294-5AF5-3398-8800-73D485292F2D}"/>
                  </a:ext>
                </a:extLst>
              </p:cNvPr>
              <p:cNvSpPr txBox="1"/>
              <p:nvPr/>
            </p:nvSpPr>
            <p:spPr>
              <a:xfrm>
                <a:off x="777239" y="3939131"/>
                <a:ext cx="7851987" cy="926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 smtClean="0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̅"/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sz="2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≥</m:t>
                        </m:r>
                        <m:acc>
                          <m:accPr>
                            <m:chr m:val="̅"/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𝜎</m:t>
                                    </m:r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A82A5294-5AF5-3398-8800-73D485292F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7239" y="3939131"/>
                <a:ext cx="7851987" cy="92647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矢印: 右 15">
            <a:extLst>
              <a:ext uri="{FF2B5EF4-FFF2-40B4-BE49-F238E27FC236}">
                <a16:creationId xmlns:a16="http://schemas.microsoft.com/office/drawing/2014/main" id="{FFCF3AC5-B7B5-B7CA-C2C2-7E8431B53669}"/>
              </a:ext>
            </a:extLst>
          </p:cNvPr>
          <p:cNvSpPr/>
          <p:nvPr/>
        </p:nvSpPr>
        <p:spPr>
          <a:xfrm>
            <a:off x="514774" y="4101278"/>
            <a:ext cx="365760" cy="5892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左中かっこ 17">
            <a:extLst>
              <a:ext uri="{FF2B5EF4-FFF2-40B4-BE49-F238E27FC236}">
                <a16:creationId xmlns:a16="http://schemas.microsoft.com/office/drawing/2014/main" id="{3CD795AF-987C-8488-098D-F71D62CACC9F}"/>
              </a:ext>
            </a:extLst>
          </p:cNvPr>
          <p:cNvSpPr/>
          <p:nvPr/>
        </p:nvSpPr>
        <p:spPr>
          <a:xfrm rot="16200000">
            <a:off x="2635039" y="3939389"/>
            <a:ext cx="175045" cy="1781175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左中かっこ 21">
            <a:extLst>
              <a:ext uri="{FF2B5EF4-FFF2-40B4-BE49-F238E27FC236}">
                <a16:creationId xmlns:a16="http://schemas.microsoft.com/office/drawing/2014/main" id="{3615BABB-AAEF-0E89-0497-7D914005ADC6}"/>
              </a:ext>
            </a:extLst>
          </p:cNvPr>
          <p:cNvSpPr/>
          <p:nvPr/>
        </p:nvSpPr>
        <p:spPr>
          <a:xfrm rot="16200000">
            <a:off x="5282989" y="3939389"/>
            <a:ext cx="175045" cy="1781175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180AD09-D573-636E-F07D-5B8693ADC1B9}"/>
              </a:ext>
            </a:extLst>
          </p:cNvPr>
          <p:cNvSpPr txBox="1"/>
          <p:nvPr/>
        </p:nvSpPr>
        <p:spPr>
          <a:xfrm>
            <a:off x="1831974" y="5004826"/>
            <a:ext cx="1781175" cy="338554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1600" dirty="0">
                <a:solidFill>
                  <a:srgbClr val="0070C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データと表で求まる</a:t>
            </a:r>
            <a:endParaRPr lang="ja-JP" altLang="en-US" sz="1600" dirty="0">
              <a:solidFill>
                <a:srgbClr val="0070C0"/>
              </a:solidFill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EDA3F496-84C1-75FB-EF0A-4D0691C65C15}"/>
              </a:ext>
            </a:extLst>
          </p:cNvPr>
          <p:cNvSpPr txBox="1"/>
          <p:nvPr/>
        </p:nvSpPr>
        <p:spPr>
          <a:xfrm>
            <a:off x="4522785" y="5004826"/>
            <a:ext cx="1781175" cy="338554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1600" dirty="0">
                <a:solidFill>
                  <a:srgbClr val="0070C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データと表で求まる</a:t>
            </a:r>
            <a:endParaRPr lang="ja-JP" altLang="en-US" sz="1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C1D6E297-7100-6F1D-BDF8-AC79BEF8BAAA}"/>
                  </a:ext>
                </a:extLst>
              </p:cNvPr>
              <p:cNvSpPr txBox="1"/>
              <p:nvPr/>
            </p:nvSpPr>
            <p:spPr>
              <a:xfrm>
                <a:off x="514774" y="5482603"/>
                <a:ext cx="8377980" cy="120032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OK!</a:t>
                </a:r>
              </a:p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推定したい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が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95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％の確率て含まれる区間がデータと表だけから求められた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C1D6E297-7100-6F1D-BDF8-AC79BEF8BA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74" y="5482603"/>
                <a:ext cx="8377980" cy="1200329"/>
              </a:xfrm>
              <a:prstGeom prst="rect">
                <a:avLst/>
              </a:prstGeom>
              <a:blipFill>
                <a:blip r:embed="rId8"/>
                <a:stretch>
                  <a:fillRect l="-1091" t="-4061" b="-9645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33509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9F5BC-A0EC-8852-254A-9E9E6ED4F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E48A5A-3D7C-26AA-D138-C804F0A33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(</a:t>
            </a:r>
            <a:r>
              <a:rPr kumimoji="1" lang="ja-JP" altLang="en-US" dirty="0"/>
              <a:t>付録</a:t>
            </a:r>
            <a:r>
              <a:rPr kumimoji="1" lang="en-US" altLang="ja-JP" dirty="0"/>
              <a:t>) </a:t>
            </a:r>
            <a:r>
              <a:rPr kumimoji="1" lang="ja-JP" altLang="en-US" dirty="0"/>
              <a:t>母平均の区間推定で</a:t>
            </a:r>
            <a:r>
              <a:rPr lang="en-US" altLang="ja-JP" dirty="0"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t</a:t>
            </a:r>
            <a:r>
              <a:rPr lang="en-US" altLang="ja-JP" dirty="0"/>
              <a:t> </a:t>
            </a:r>
            <a:r>
              <a:rPr lang="ja-JP" altLang="en-US" dirty="0"/>
              <a:t>分布を用いる理由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107EE39-E2DD-A25B-22E6-005E17CC8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24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BE9E40ED-D672-0E76-DD22-1B58D778DA7E}"/>
                  </a:ext>
                </a:extLst>
              </p:cNvPr>
              <p:cNvSpPr txBox="1"/>
              <p:nvPr/>
            </p:nvSpPr>
            <p:spPr>
              <a:xfrm>
                <a:off x="163406" y="928126"/>
                <a:ext cx="4046644" cy="46166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しかし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は一般にはわからない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BE9E40ED-D672-0E76-DD22-1B58D778DA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06" y="928126"/>
                <a:ext cx="4046644" cy="461665"/>
              </a:xfrm>
              <a:prstGeom prst="rect">
                <a:avLst/>
              </a:prstGeom>
              <a:blipFill>
                <a:blip r:embed="rId3"/>
                <a:stretch>
                  <a:fillRect l="-2093" t="-9877" r="-1046" b="-20988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DCD8BBAC-D2F1-11EC-7820-BC5ABC6FBC24}"/>
                  </a:ext>
                </a:extLst>
              </p:cNvPr>
              <p:cNvSpPr txBox="1"/>
              <p:nvPr/>
            </p:nvSpPr>
            <p:spPr>
              <a:xfrm>
                <a:off x="361020" y="1507212"/>
                <a:ext cx="8377980" cy="46166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そこで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ja-JP" sz="2400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の代わりにデータで計算できる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ja-JP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Meiryo UI" panose="020B0604030504040204" pitchFamily="34" charset="-128"/>
                              </a:rPr>
                            </m:ctrlPr>
                          </m:accPr>
                          <m:e>
                            <m:r>
                              <a:rPr lang="en-US" altLang="ja-JP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Meiryo UI" panose="020B0604030504040204" pitchFamily="34" charset="-128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ja-JP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>
                    <a:solidFill>
                      <a:srgbClr val="0070C0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で置き換えよう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DCD8BBAC-D2F1-11EC-7820-BC5ABC6FBC2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20" y="1507212"/>
                <a:ext cx="8377980" cy="461665"/>
              </a:xfrm>
              <a:prstGeom prst="rect">
                <a:avLst/>
              </a:prstGeom>
              <a:blipFill>
                <a:blip r:embed="rId4"/>
                <a:stretch>
                  <a:fillRect l="-1091" t="-13158" b="-26316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45469D43-9CA9-A8FD-FEB4-BF33A2084D5A}"/>
                  </a:ext>
                </a:extLst>
              </p:cNvPr>
              <p:cNvSpPr txBox="1"/>
              <p:nvPr/>
            </p:nvSpPr>
            <p:spPr>
              <a:xfrm>
                <a:off x="361020" y="2506887"/>
                <a:ext cx="2863850" cy="129221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altLang="ja-JP" sz="2400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ja-JP" sz="2400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sz="2400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acc>
                            <m:accPr>
                              <m:chr m:val="̅"/>
                              <m:ctrlPr>
                                <a:rPr lang="en-US" altLang="ja-JP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ja-JP" sz="2400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</m:acc>
                          <m:r>
                            <a:rPr lang="en-US" altLang="ja-JP" sz="2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2400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US" altLang="ja-JP" sz="2400" i="1" dirty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f>
                                <m:fPr>
                                  <m:ctrlPr>
                                    <a:rPr lang="en-US" altLang="ja-JP" sz="2400" i="1" dirty="0" smtClean="0">
                                      <a:solidFill>
                                        <a:srgbClr val="0070C0"/>
                                      </a:solidFill>
                                      <a:latin typeface="Cambria Math" panose="02040503050406030204" pitchFamily="18" charset="0"/>
                                      <a:ea typeface="Meiryo UI" panose="020B0604030504040204" pitchFamily="34" charset="-128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US" altLang="ja-JP" sz="2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Meiryo UI" panose="020B0604030504040204" pitchFamily="34" charset="-128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altLang="ja-JP" sz="24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Meiryo UI" panose="020B0604030504040204" pitchFamily="34" charset="-128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altLang="ja-JP" sz="2400" i="1" dirty="0">
                                              <a:solidFill>
                                                <a:srgbClr val="0070C0"/>
                                              </a:solidFill>
                                              <a:latin typeface="Cambria Math" panose="02040503050406030204" pitchFamily="18" charset="0"/>
                                              <a:ea typeface="Meiryo UI" panose="020B0604030504040204" pitchFamily="34" charset="-128"/>
                                            </a:rPr>
                                            <m:t>𝜎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altLang="ja-JP" sz="2400" i="1" dirty="0">
                                          <a:solidFill>
                                            <a:srgbClr val="0070C0"/>
                                          </a:solidFill>
                                          <a:latin typeface="Cambria Math" panose="02040503050406030204" pitchFamily="18" charset="0"/>
                                          <a:ea typeface="Meiryo UI" panose="020B0604030504040204" pitchFamily="34" charset="-128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en-US" altLang="ja-JP" sz="24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den>
                              </m:f>
                            </m:e>
                          </m:rad>
                        </m:den>
                      </m:f>
                    </m:oMath>
                  </m:oMathPara>
                </a14:m>
                <a:endParaRPr lang="ja-JP" altLang="en-US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45469D43-9CA9-A8FD-FEB4-BF33A2084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1020" y="2506887"/>
                <a:ext cx="2863850" cy="129221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FD875493-3E5E-584A-457B-002ED4A64F1A}"/>
                  </a:ext>
                </a:extLst>
              </p:cNvPr>
              <p:cNvSpPr txBox="1"/>
              <p:nvPr/>
            </p:nvSpPr>
            <p:spPr>
              <a:xfrm>
                <a:off x="1054100" y="2085018"/>
                <a:ext cx="457200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の代わりに次の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を用いる</a:t>
                </a:r>
              </a:p>
            </p:txBody>
          </p:sp>
        </mc:Choice>
        <mc:Fallback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FD875493-3E5E-584A-457B-002ED4A64F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54100" y="2085018"/>
                <a:ext cx="4572000" cy="461665"/>
              </a:xfrm>
              <a:prstGeom prst="rect">
                <a:avLst/>
              </a:prstGeom>
              <a:blipFill>
                <a:blip r:embed="rId6"/>
                <a:stretch>
                  <a:fillRect l="-400" t="-11842" b="-27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矢印: 右 11">
            <a:extLst>
              <a:ext uri="{FF2B5EF4-FFF2-40B4-BE49-F238E27FC236}">
                <a16:creationId xmlns:a16="http://schemas.microsoft.com/office/drawing/2014/main" id="{B6594615-56CB-1EB6-98C6-2101DDB652E8}"/>
              </a:ext>
            </a:extLst>
          </p:cNvPr>
          <p:cNvSpPr/>
          <p:nvPr/>
        </p:nvSpPr>
        <p:spPr>
          <a:xfrm>
            <a:off x="565574" y="2011016"/>
            <a:ext cx="365760" cy="5892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76FBCF45-CC48-F071-044E-8D0007689E54}"/>
              </a:ext>
            </a:extLst>
          </p:cNvPr>
          <p:cNvSpPr txBox="1"/>
          <p:nvPr/>
        </p:nvSpPr>
        <p:spPr>
          <a:xfrm>
            <a:off x="3719913" y="2667849"/>
            <a:ext cx="506306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dirty="0">
                <a:solidFill>
                  <a:srgbClr val="0070C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青字：確率変数→（サンプリングして）データ</a:t>
            </a:r>
            <a:endParaRPr lang="en-US" altLang="ja-JP" sz="2000" dirty="0">
              <a:solidFill>
                <a:srgbClr val="0070C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  <a:p>
            <a:r>
              <a:rPr lang="ja-JP" altLang="en-US" sz="2000" dirty="0">
                <a:solidFill>
                  <a:srgbClr val="FF000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赤字：母数</a:t>
            </a:r>
            <a:endParaRPr lang="en-US" altLang="ja-JP" sz="2000" dirty="0">
              <a:solidFill>
                <a:srgbClr val="FF0000"/>
              </a:solidFill>
              <a:latin typeface="Meiryo UI" panose="020B0604030504040204" pitchFamily="34" charset="-128"/>
              <a:ea typeface="Meiryo UI" panose="020B0604030504040204" pitchFamily="34" charset="-128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EC3197FE-DD75-F58E-ADBA-5F73C5BD5288}"/>
                  </a:ext>
                </a:extLst>
              </p:cNvPr>
              <p:cNvSpPr txBox="1"/>
              <p:nvPr/>
            </p:nvSpPr>
            <p:spPr>
              <a:xfrm>
                <a:off x="163406" y="3882216"/>
                <a:ext cx="7050194" cy="461665"/>
              </a:xfrm>
              <a:prstGeom prst="rect">
                <a:avLst/>
              </a:prstGeom>
              <a:noFill/>
              <a:ln w="28575">
                <a:solidFill>
                  <a:srgbClr val="FF0000"/>
                </a:solidFill>
              </a:ln>
            </p:spPr>
            <p:txBody>
              <a:bodyPr wrap="square">
                <a:spAutoFit/>
              </a:bodyPr>
              <a:lstStyle/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しかし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は標準正規分布には従わず，「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分布」に従う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EC3197FE-DD75-F58E-ADBA-5F73C5BD52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06" y="3882216"/>
                <a:ext cx="7050194" cy="461665"/>
              </a:xfrm>
              <a:prstGeom prst="rect">
                <a:avLst/>
              </a:prstGeom>
              <a:blipFill>
                <a:blip r:embed="rId7"/>
                <a:stretch>
                  <a:fillRect l="-1206" t="-9877" b="-20988"/>
                </a:stretch>
              </a:blipFill>
              <a:ln w="28575"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44635C7E-F3AF-5EAF-E062-5C504438C150}"/>
                  </a:ext>
                </a:extLst>
              </p:cNvPr>
              <p:cNvSpPr txBox="1"/>
              <p:nvPr/>
            </p:nvSpPr>
            <p:spPr>
              <a:xfrm>
                <a:off x="163406" y="4420647"/>
                <a:ext cx="8377980" cy="461665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en-US" altLang="ja-JP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Meiryo UI" panose="020B0604030504040204" pitchFamily="34" charset="-128"/>
                              </a:rPr>
                            </m:ctrlPr>
                          </m:accPr>
                          <m:e>
                            <m:r>
                              <a:rPr lang="en-US" altLang="ja-JP" sz="2400" b="0" i="1" dirty="0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  <a:ea typeface="Meiryo UI" panose="020B0604030504040204" pitchFamily="34" charset="-128"/>
                              </a:rPr>
                              <m:t>𝜎</m:t>
                            </m:r>
                          </m:e>
                        </m:acc>
                      </m:e>
                      <m:sup>
                        <m:r>
                          <a:rPr lang="en-US" altLang="ja-JP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ea typeface="Meiryo UI" panose="020B0604030504040204" pitchFamily="34" charset="-128"/>
                          </a:rPr>
                          <m:t>2</m:t>
                        </m:r>
                      </m:sup>
                    </m:sSup>
                  </m:oMath>
                </a14:m>
                <a:r>
                  <a:rPr lang="ja-JP" altLang="en-US" sz="2400" dirty="0">
                    <a:solidFill>
                      <a:srgbClr val="0070C0"/>
                    </a:solidFill>
                    <a:latin typeface="Meiryo UI" panose="020B0604030504040204" pitchFamily="34" charset="-128"/>
                    <a:ea typeface="Meiryo UI" panose="020B0604030504040204" pitchFamily="34" charset="-128"/>
                  </a:rPr>
                  <a:t> 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の自由度は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𝜈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. 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分布は自由度ごとに分布が変わる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44635C7E-F3AF-5EAF-E062-5C504438C1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406" y="4420647"/>
                <a:ext cx="8377980" cy="461665"/>
              </a:xfrm>
              <a:prstGeom prst="rect">
                <a:avLst/>
              </a:prstGeom>
              <a:blipFill>
                <a:blip r:embed="rId8"/>
                <a:stretch>
                  <a:fillRect t="-13158" b="-26316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4533890A-6A3A-5995-CC9C-1F7AE086EBD2}"/>
                  </a:ext>
                </a:extLst>
              </p:cNvPr>
              <p:cNvSpPr txBox="1"/>
              <p:nvPr/>
            </p:nvSpPr>
            <p:spPr>
              <a:xfrm>
                <a:off x="1920028" y="4872815"/>
                <a:ext cx="3959014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(下限≤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altLang="ja-JP" sz="2400" b="0" i="1" dirty="0" smtClean="0">
                        <a:solidFill>
                          <a:srgbClr val="EBA415"/>
                        </a:solidFill>
                        <a:latin typeface="Cambria Math" panose="02040503050406030204" pitchFamily="18" charset="0"/>
                      </a:rPr>
                      <m:t>上限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4533890A-6A3A-5995-CC9C-1F7AE086EB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0028" y="4872815"/>
                <a:ext cx="3959014" cy="461665"/>
              </a:xfrm>
              <a:prstGeom prst="rect">
                <a:avLst/>
              </a:prstGeom>
              <a:blipFill>
                <a:blip r:embed="rId9"/>
                <a:stretch>
                  <a:fillRect l="-462" t="-13158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012828E5-06EE-AF8B-EB74-5989919F3366}"/>
                  </a:ext>
                </a:extLst>
              </p:cNvPr>
              <p:cNvSpPr txBox="1"/>
              <p:nvPr/>
            </p:nvSpPr>
            <p:spPr>
              <a:xfrm>
                <a:off x="882226" y="5449254"/>
                <a:ext cx="6569547" cy="953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 smtClean="0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)≤</m:t>
                        </m:r>
                        <m:f>
                          <m:fPr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ja-JP" sz="2400" i="1" dirty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  <a:ea typeface="Meiryo UI" panose="020B0604030504040204" pitchFamily="34" charset="-128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sz="2400" i="1" dirty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  <a:ea typeface="Meiryo UI" panose="020B0604030504040204" pitchFamily="34" charset="-128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ja-JP" sz="2400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</m:den>
                        </m:f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012828E5-06EE-AF8B-EB74-5989919F3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26" y="5449254"/>
                <a:ext cx="6569547" cy="9538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矢印: 右 33">
            <a:extLst>
              <a:ext uri="{FF2B5EF4-FFF2-40B4-BE49-F238E27FC236}">
                <a16:creationId xmlns:a16="http://schemas.microsoft.com/office/drawing/2014/main" id="{3E1CD78F-B0BE-E378-C637-26627CAF2A4A}"/>
              </a:ext>
            </a:extLst>
          </p:cNvPr>
          <p:cNvSpPr/>
          <p:nvPr/>
        </p:nvSpPr>
        <p:spPr>
          <a:xfrm>
            <a:off x="554142" y="5474987"/>
            <a:ext cx="365760" cy="5892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968961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E5574A-FC12-2ED8-F6AC-7329A0A63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DBACE7-C20A-BDDE-EE3F-29E58CBFD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ja-JP" dirty="0"/>
              <a:t>(</a:t>
            </a:r>
            <a:r>
              <a:rPr kumimoji="1" lang="ja-JP" altLang="en-US" dirty="0"/>
              <a:t>付録</a:t>
            </a:r>
            <a:r>
              <a:rPr kumimoji="1" lang="en-US" altLang="ja-JP" dirty="0"/>
              <a:t>) </a:t>
            </a:r>
            <a:r>
              <a:rPr kumimoji="1" lang="ja-JP" altLang="en-US" dirty="0"/>
              <a:t>母平均の区間推定で</a:t>
            </a:r>
            <a:r>
              <a:rPr lang="en-US" altLang="ja-JP" dirty="0">
                <a:latin typeface="BIZ UDPゴシック" panose="020B0400000000000000" pitchFamily="34" charset="-128"/>
                <a:ea typeface="BIZ UDPゴシック" panose="020B0400000000000000" pitchFamily="34" charset="-128"/>
              </a:rPr>
              <a:t>t</a:t>
            </a:r>
            <a:r>
              <a:rPr lang="en-US" altLang="ja-JP" dirty="0"/>
              <a:t> </a:t>
            </a:r>
            <a:r>
              <a:rPr lang="ja-JP" altLang="en-US" dirty="0"/>
              <a:t>分布を用いる理由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1DC57D0E-D523-E60A-6860-3EBA73F7B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25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68E8A3EC-23B8-B104-281A-C7F6160CB2DC}"/>
                  </a:ext>
                </a:extLst>
              </p:cNvPr>
              <p:cNvSpPr txBox="1"/>
              <p:nvPr/>
            </p:nvSpPr>
            <p:spPr>
              <a:xfrm>
                <a:off x="882226" y="832804"/>
                <a:ext cx="6569547" cy="9538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 smtClean="0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)≤</m:t>
                        </m:r>
                        <m:f>
                          <m:fPr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acc>
                              <m:accPr>
                                <m:chr m:val="̅"/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acc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𝜇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f>
                                  <m:fPr>
                                    <m:ctrlP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</m:ctrlPr>
                                  </m:fPr>
                                  <m:num>
                                    <m:sSup>
                                      <m:sSupPr>
                                        <m:ctrlP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</m:ctrlPr>
                                      </m:sSup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US" altLang="ja-JP" sz="2400" i="1" dirty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  <a:ea typeface="Meiryo UI" panose="020B0604030504040204" pitchFamily="34" charset="-128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US" altLang="ja-JP" sz="2400" i="1" dirty="0">
                                                <a:solidFill>
                                                  <a:srgbClr val="0070C0"/>
                                                </a:solidFill>
                                                <a:latin typeface="Cambria Math" panose="02040503050406030204" pitchFamily="18" charset="0"/>
                                                <a:ea typeface="Meiryo UI" panose="020B0604030504040204" pitchFamily="34" charset="-128"/>
                                              </a:rPr>
                                              <m:t>𝜎</m:t>
                                            </m:r>
                                          </m:e>
                                        </m:acc>
                                      </m:e>
                                      <m:sup>
                                        <m: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num>
                                  <m:den>
                                    <m:r>
                                      <a:rPr lang="en-US" altLang="ja-JP" sz="2400" i="1" dirty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rad>
                          </m:den>
                        </m:f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68E8A3EC-23B8-B104-281A-C7F6160CB2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226" y="832804"/>
                <a:ext cx="6569547" cy="95385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2F245653-3460-B539-3ACC-B4D1E34AC7A2}"/>
                  </a:ext>
                </a:extLst>
              </p:cNvPr>
              <p:cNvSpPr txBox="1"/>
              <p:nvPr/>
            </p:nvSpPr>
            <p:spPr>
              <a:xfrm>
                <a:off x="482176" y="1786655"/>
                <a:ext cx="7880810" cy="926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 smtClean="0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Meiryo UI" panose="020B0604030504040204" pitchFamily="34" charset="-128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acc>
                          <m:accPr>
                            <m:chr m:val="̅"/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Meiryo UI" panose="020B0604030504040204" pitchFamily="34" charset="-128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2F245653-3460-B539-3ACC-B4D1E34AC7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176" y="1786655"/>
                <a:ext cx="7880810" cy="92647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矢印: 右 7">
            <a:extLst>
              <a:ext uri="{FF2B5EF4-FFF2-40B4-BE49-F238E27FC236}">
                <a16:creationId xmlns:a16="http://schemas.microsoft.com/office/drawing/2014/main" id="{F35168D0-34BA-9C77-C3BA-8DE081EDDB2D}"/>
              </a:ext>
            </a:extLst>
          </p:cNvPr>
          <p:cNvSpPr/>
          <p:nvPr/>
        </p:nvSpPr>
        <p:spPr>
          <a:xfrm>
            <a:off x="154092" y="1920338"/>
            <a:ext cx="354065" cy="5892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872D2ED-7771-0649-7F02-F67F0B36CFD6}"/>
                  </a:ext>
                </a:extLst>
              </p:cNvPr>
              <p:cNvSpPr txBox="1"/>
              <p:nvPr/>
            </p:nvSpPr>
            <p:spPr>
              <a:xfrm>
                <a:off x="482176" y="2643301"/>
                <a:ext cx="8458624" cy="926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 smtClean="0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sSub>
                          <m:sSubPr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Meiryo UI" panose="020B0604030504040204" pitchFamily="34" charset="-128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ja-JP" sz="2400" i="1" dirty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sz="24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Meiryo UI" panose="020B0604030504040204" pitchFamily="34" charset="-128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4872D2ED-7771-0649-7F02-F67F0B36CF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176" y="2643301"/>
                <a:ext cx="8458624" cy="92647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矢印: 右 13">
            <a:extLst>
              <a:ext uri="{FF2B5EF4-FFF2-40B4-BE49-F238E27FC236}">
                <a16:creationId xmlns:a16="http://schemas.microsoft.com/office/drawing/2014/main" id="{8AF75250-BFB8-0357-2ABA-8E81B64E07AD}"/>
              </a:ext>
            </a:extLst>
          </p:cNvPr>
          <p:cNvSpPr/>
          <p:nvPr/>
        </p:nvSpPr>
        <p:spPr>
          <a:xfrm>
            <a:off x="154092" y="2776984"/>
            <a:ext cx="354065" cy="5892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E3202338-C593-EEB4-2D6C-4A12176B4F4C}"/>
                  </a:ext>
                </a:extLst>
              </p:cNvPr>
              <p:cNvSpPr txBox="1"/>
              <p:nvPr/>
            </p:nvSpPr>
            <p:spPr>
              <a:xfrm>
                <a:off x="482176" y="3491737"/>
                <a:ext cx="8458624" cy="92647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ja-JP" altLang="en-US" sz="2400" b="0" i="1" smtClean="0">
                        <a:latin typeface="Cambria Math" panose="02040503050406030204" pitchFamily="18" charset="0"/>
                      </a:rPr>
                      <m:t>　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𝑃𝑟</m:t>
                    </m:r>
                    <m:d>
                      <m:dPr>
                        <m:ctrlPr>
                          <a:rPr lang="en-US" altLang="ja-JP" sz="2400" i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acc>
                          <m:accPr>
                            <m:chr m:val="̅"/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sSub>
                          <m:sSub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d>
                          <m:d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𝜈</m:t>
                            </m:r>
                          </m:e>
                        </m:d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Meiryo UI" panose="020B0604030504040204" pitchFamily="34" charset="-128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ja-JP" sz="2400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𝜇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≥</m:t>
                        </m:r>
                        <m:acc>
                          <m:accPr>
                            <m:chr m:val="̅"/>
                            <m:ctrlP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ja-JP" sz="2400" i="1" dirty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</m:acc>
                        <m:r>
                          <a:rPr lang="en-US" altLang="ja-JP" sz="2400" b="0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400" b="0" i="1" dirty="0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ja-JP" sz="2400" dirty="0">
                                <a:latin typeface="Cambria Math" panose="02040503050406030204" pitchFamily="18" charset="0"/>
                              </a:rPr>
                              <m:t>0.025</m:t>
                            </m:r>
                          </m:sub>
                        </m:sSub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𝜈</m:t>
                        </m:r>
                        <m:r>
                          <a:rPr lang="en-US" altLang="ja-JP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  <m:rad>
                          <m:radPr>
                            <m:degHide m:val="on"/>
                            <m:ctrlPr>
                              <a:rPr lang="en-US" altLang="ja-JP" sz="2400" i="1" dirty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ctrlPr>
                                  <a:rPr lang="en-US" altLang="ja-JP" sz="2400" i="1" dirty="0">
                                    <a:solidFill>
                                      <a:srgbClr val="0070C0"/>
                                    </a:solidFill>
                                    <a:latin typeface="Cambria Math" panose="02040503050406030204" pitchFamily="18" charset="0"/>
                                    <a:ea typeface="Meiryo UI" panose="020B0604030504040204" pitchFamily="34" charset="-128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</m:ctrlPr>
                                  </m:sSup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US" altLang="ja-JP" sz="2400" i="1" dirty="0">
                                            <a:solidFill>
                                              <a:srgbClr val="0070C0"/>
                                            </a:solidFill>
                                            <a:latin typeface="Cambria Math" panose="02040503050406030204" pitchFamily="18" charset="0"/>
                                            <a:ea typeface="Meiryo UI" panose="020B0604030504040204" pitchFamily="34" charset="-128"/>
                                          </a:rPr>
                                          <m:t>𝜎</m:t>
                                        </m:r>
                                      </m:e>
                                    </m:acc>
                                  </m:e>
                                  <m:sup>
                                    <m:r>
                                      <a:rPr lang="en-US" altLang="ja-JP" sz="2400" i="1" dirty="0">
                                        <a:solidFill>
                                          <a:srgbClr val="0070C0"/>
                                        </a:solidFill>
                                        <a:latin typeface="Cambria Math" panose="02040503050406030204" pitchFamily="18" charset="0"/>
                                        <a:ea typeface="Meiryo UI" panose="020B0604030504040204" pitchFamily="34" charset="-128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US" altLang="ja-JP" sz="2400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rad>
                      </m:e>
                    </m:d>
                  </m:oMath>
                </a14:m>
                <a:r>
                  <a:rPr lang="en-US" altLang="ja-JP" sz="2400" dirty="0"/>
                  <a:t>=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0.95</a:t>
                </a:r>
                <a:endParaRPr lang="ja-JP" altLang="en-US" sz="2400" dirty="0">
                  <a:latin typeface="Meiryo UI" panose="020B0604030504040204" pitchFamily="34" charset="-128"/>
                  <a:ea typeface="Meiryo UI" panose="020B0604030504040204" pitchFamily="34" charset="-128"/>
                </a:endParaRPr>
              </a:p>
            </p:txBody>
          </p:sp>
        </mc:Choice>
        <mc:Fallback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E3202338-C593-EEB4-2D6C-4A12176B4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176" y="3491737"/>
                <a:ext cx="8458624" cy="92647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矢印: 右 19">
            <a:extLst>
              <a:ext uri="{FF2B5EF4-FFF2-40B4-BE49-F238E27FC236}">
                <a16:creationId xmlns:a16="http://schemas.microsoft.com/office/drawing/2014/main" id="{CF1FCBA7-0DB7-7CDA-1CE6-BF9962064714}"/>
              </a:ext>
            </a:extLst>
          </p:cNvPr>
          <p:cNvSpPr/>
          <p:nvPr/>
        </p:nvSpPr>
        <p:spPr>
          <a:xfrm>
            <a:off x="154092" y="3625420"/>
            <a:ext cx="354065" cy="58928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左中かっこ 21">
            <a:extLst>
              <a:ext uri="{FF2B5EF4-FFF2-40B4-BE49-F238E27FC236}">
                <a16:creationId xmlns:a16="http://schemas.microsoft.com/office/drawing/2014/main" id="{8B0FD1B9-6BFF-2772-5DF0-A115267C8C0F}"/>
              </a:ext>
            </a:extLst>
          </p:cNvPr>
          <p:cNvSpPr/>
          <p:nvPr/>
        </p:nvSpPr>
        <p:spPr>
          <a:xfrm rot="16200000">
            <a:off x="2455652" y="3340901"/>
            <a:ext cx="175045" cy="2139949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左中かっこ 24">
            <a:extLst>
              <a:ext uri="{FF2B5EF4-FFF2-40B4-BE49-F238E27FC236}">
                <a16:creationId xmlns:a16="http://schemas.microsoft.com/office/drawing/2014/main" id="{314AA524-8E4A-95C1-4E20-30534E01806A}"/>
              </a:ext>
            </a:extLst>
          </p:cNvPr>
          <p:cNvSpPr/>
          <p:nvPr/>
        </p:nvSpPr>
        <p:spPr>
          <a:xfrm rot="16200000">
            <a:off x="5514765" y="3288513"/>
            <a:ext cx="175044" cy="2244726"/>
          </a:xfrm>
          <a:prstGeom prst="lef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3E7162D-5B67-4F50-AB15-9825B562B5C2}"/>
              </a:ext>
            </a:extLst>
          </p:cNvPr>
          <p:cNvSpPr txBox="1"/>
          <p:nvPr/>
        </p:nvSpPr>
        <p:spPr>
          <a:xfrm>
            <a:off x="1673224" y="4585726"/>
            <a:ext cx="1781175" cy="338554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1600" dirty="0">
                <a:solidFill>
                  <a:srgbClr val="0070C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データと表で求まる</a:t>
            </a:r>
            <a:endParaRPr lang="ja-JP" altLang="en-US" sz="1600" dirty="0">
              <a:solidFill>
                <a:srgbClr val="0070C0"/>
              </a:solidFill>
            </a:endParaRPr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B104AFCA-B7D5-1753-53AF-DADF430AB070}"/>
              </a:ext>
            </a:extLst>
          </p:cNvPr>
          <p:cNvSpPr txBox="1"/>
          <p:nvPr/>
        </p:nvSpPr>
        <p:spPr>
          <a:xfrm>
            <a:off x="4713285" y="4585726"/>
            <a:ext cx="1781175" cy="338554"/>
          </a:xfrm>
          <a:prstGeom prst="rect">
            <a:avLst/>
          </a:prstGeom>
          <a:noFill/>
          <a:ln w="28575">
            <a:solidFill>
              <a:srgbClr val="0070C0"/>
            </a:solidFill>
          </a:ln>
        </p:spPr>
        <p:txBody>
          <a:bodyPr wrap="square">
            <a:spAutoFit/>
          </a:bodyPr>
          <a:lstStyle/>
          <a:p>
            <a:r>
              <a:rPr lang="ja-JP" altLang="en-US" sz="1600" dirty="0">
                <a:solidFill>
                  <a:srgbClr val="0070C0"/>
                </a:solidFill>
                <a:latin typeface="Meiryo UI" panose="020B0604030504040204" pitchFamily="34" charset="-128"/>
                <a:ea typeface="Meiryo UI" panose="020B0604030504040204" pitchFamily="34" charset="-128"/>
              </a:rPr>
              <a:t>データと表で求まる</a:t>
            </a:r>
            <a:endParaRPr lang="ja-JP" altLang="en-US" sz="1600" dirty="0">
              <a:solidFill>
                <a:srgbClr val="0070C0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90D9AA06-EC7E-C822-AB91-DCC8687A4637}"/>
                  </a:ext>
                </a:extLst>
              </p:cNvPr>
              <p:cNvSpPr txBox="1"/>
              <p:nvPr/>
            </p:nvSpPr>
            <p:spPr>
              <a:xfrm>
                <a:off x="514774" y="5311153"/>
                <a:ext cx="8377980" cy="1200329"/>
              </a:xfrm>
              <a:prstGeom prst="rect">
                <a:avLst/>
              </a:prstGeom>
              <a:noFill/>
              <a:ln w="28575">
                <a:noFill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OK!</a:t>
                </a:r>
              </a:p>
              <a:p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推定したい 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 が</a:t>
                </a:r>
                <a:r>
                  <a:rPr lang="en-US" altLang="ja-JP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95</a:t>
                </a:r>
                <a:r>
                  <a:rPr lang="ja-JP" altLang="en-US" sz="2400" dirty="0">
                    <a:latin typeface="Meiryo UI" panose="020B0604030504040204" pitchFamily="34" charset="-128"/>
                    <a:ea typeface="Meiryo UI" panose="020B0604030504040204" pitchFamily="34" charset="-128"/>
                  </a:rPr>
                  <a:t>％の確率て含まれる区間がデータと表だけから求められた</a:t>
                </a:r>
                <a:endParaRPr lang="ja-JP" altLang="en-US" sz="24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6" name="テキスト ボックス 35">
                <a:extLst>
                  <a:ext uri="{FF2B5EF4-FFF2-40B4-BE49-F238E27FC236}">
                    <a16:creationId xmlns:a16="http://schemas.microsoft.com/office/drawing/2014/main" id="{90D9AA06-EC7E-C822-AB91-DCC8687A46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4774" y="5311153"/>
                <a:ext cx="8377980" cy="1200329"/>
              </a:xfrm>
              <a:prstGeom prst="rect">
                <a:avLst/>
              </a:prstGeom>
              <a:blipFill>
                <a:blip r:embed="rId7"/>
                <a:stretch>
                  <a:fillRect l="-1091" t="-4061" b="-9645"/>
                </a:stretch>
              </a:blipFill>
              <a:ln w="28575">
                <a:noFill/>
              </a:ln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79958811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2687</TotalTime>
  <Words>1568</Words>
  <Application>Microsoft Office PowerPoint</Application>
  <PresentationFormat>画面に合わせる (4:3)</PresentationFormat>
  <Paragraphs>252</Paragraphs>
  <Slides>25</Slides>
  <Notes>10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25</vt:i4>
      </vt:variant>
    </vt:vector>
  </HeadingPairs>
  <TitlesOfParts>
    <vt:vector size="34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母平均の区間推定・母分散の区間推定 後半</vt:lpstr>
      <vt:lpstr>今日の目標</vt:lpstr>
      <vt:lpstr>PowerPoint プレゼンテーション</vt:lpstr>
      <vt:lpstr>区間推定</vt:lpstr>
      <vt:lpstr>棄却域</vt:lpstr>
      <vt:lpstr>母平均の95%信頼区間</vt:lpstr>
      <vt:lpstr>母平均の95%信頼区間</vt:lpstr>
      <vt:lpstr>(Advanced) 母平均の区間推定量の導出①</vt:lpstr>
      <vt:lpstr>(Advanced) 母平均の区間推定量の導出②</vt:lpstr>
      <vt:lpstr>母平均の区間推定①</vt:lpstr>
      <vt:lpstr>母平均の区間推定②</vt:lpstr>
      <vt:lpstr>母平均の区間推定③</vt:lpstr>
      <vt:lpstr>母平均の区間推定④</vt:lpstr>
      <vt:lpstr>PowerPoint プレゼンテーション</vt:lpstr>
      <vt:lpstr>母分散の信頼区間</vt:lpstr>
      <vt:lpstr>カイ二乗分布は左右非対称</vt:lpstr>
      <vt:lpstr>母分散の95%信頼区間</vt:lpstr>
      <vt:lpstr>(Advanced) 母分散の区間推定量の導出</vt:lpstr>
      <vt:lpstr>Summary</vt:lpstr>
      <vt:lpstr>(付録) 母平均の区間推定でt 分布を用いる理由</vt:lpstr>
      <vt:lpstr>(付録) 母平均の区間推定でt 分布を用いる理由</vt:lpstr>
      <vt:lpstr>(付録) 母平均の区間推定でt 分布を用いる理由</vt:lpstr>
      <vt:lpstr>(付録) 母平均の区間推定でt 分布を用いる理由</vt:lpstr>
      <vt:lpstr>(付録) 母平均の区間推定でt 分布を用いる理由</vt:lpstr>
      <vt:lpstr>(付録) 母平均の区間推定でt 分布を用いる理由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津村幸治</cp:lastModifiedBy>
  <cp:revision>528</cp:revision>
  <dcterms:created xsi:type="dcterms:W3CDTF">2025-03-03T09:28:12Z</dcterms:created>
  <dcterms:modified xsi:type="dcterms:W3CDTF">2026-09-14T05:17:05Z</dcterms:modified>
</cp:coreProperties>
</file>