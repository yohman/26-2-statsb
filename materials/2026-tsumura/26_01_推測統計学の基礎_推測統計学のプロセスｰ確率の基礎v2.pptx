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6"/>
  </p:notesMasterIdLst>
  <p:sldIdLst>
    <p:sldId id="256" r:id="rId2"/>
    <p:sldId id="257" r:id="rId3"/>
    <p:sldId id="258" r:id="rId4"/>
    <p:sldId id="544" r:id="rId5"/>
    <p:sldId id="545" r:id="rId6"/>
    <p:sldId id="546" r:id="rId7"/>
    <p:sldId id="547" r:id="rId8"/>
    <p:sldId id="548" r:id="rId9"/>
    <p:sldId id="282" r:id="rId10"/>
    <p:sldId id="549" r:id="rId11"/>
    <p:sldId id="550" r:id="rId12"/>
    <p:sldId id="551" r:id="rId13"/>
    <p:sldId id="553" r:id="rId14"/>
    <p:sldId id="552" r:id="rId15"/>
    <p:sldId id="556" r:id="rId16"/>
    <p:sldId id="557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572" r:id="rId26"/>
    <p:sldId id="573" r:id="rId27"/>
    <p:sldId id="575" r:id="rId28"/>
    <p:sldId id="569" r:id="rId29"/>
    <p:sldId id="570" r:id="rId30"/>
    <p:sldId id="576" r:id="rId31"/>
    <p:sldId id="577" r:id="rId32"/>
    <p:sldId id="578" r:id="rId33"/>
    <p:sldId id="262" r:id="rId34"/>
    <p:sldId id="57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クラスサイズや，周囲の教室の環境等によって適宜調整ください．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コインの音がうるさい可能性があります．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38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893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79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f.go.jp/policy/currency/coin/general_coin/list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#01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914400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dirty="0"/>
              <a:t>推測統計学の基礎：推測統計学のプロセス</a:t>
            </a:r>
            <a:br>
              <a:rPr lang="en-US" altLang="ja-JP" dirty="0"/>
            </a:br>
            <a:r>
              <a:rPr lang="ja-JP" altLang="en-US" dirty="0"/>
              <a:t>　　　　　　　　　　　　　</a:t>
            </a:r>
            <a:r>
              <a:rPr lang="en-US" altLang="ja-JP" dirty="0"/>
              <a:t>/</a:t>
            </a:r>
            <a:r>
              <a:rPr lang="ja-JP" altLang="en-US" dirty="0"/>
              <a:t>確率の基礎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節　推測統計学の基礎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推測統計学のプロセスを学ぶ</a:t>
            </a:r>
            <a:endParaRPr kumimoji="1" lang="en-US" altLang="ja-JP" dirty="0"/>
          </a:p>
          <a:p>
            <a:pPr lvl="1"/>
            <a:r>
              <a:rPr lang="ja-JP" altLang="en-US" dirty="0"/>
              <a:t>確率の基礎となる概念を学ぶ</a:t>
            </a:r>
            <a:endParaRPr lang="en-US" altLang="ja-JP" dirty="0"/>
          </a:p>
          <a:p>
            <a:pPr lvl="1"/>
            <a:r>
              <a:rPr lang="ja-JP" altLang="en-US" dirty="0"/>
              <a:t>確率について学ぶ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4530-AD0C-28F5-2E74-7C215C2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A61FF7-A43D-F0BD-2A79-4921FA5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1AB72C-E4E8-32F8-A322-716C9497BB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2"/>
                </a:solidFill>
              </a:rPr>
              <a:t>推測統計学　</a:t>
            </a:r>
            <a:r>
              <a:rPr lang="en-US" altLang="ja-JP" dirty="0">
                <a:solidFill>
                  <a:schemeClr val="accent2"/>
                </a:solidFill>
              </a:rPr>
              <a:t>inferential statistics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母集団からランダムに抽出した</a:t>
            </a:r>
            <a:r>
              <a:rPr lang="ja-JP" altLang="en-US" b="1" dirty="0">
                <a:solidFill>
                  <a:schemeClr val="accent5"/>
                </a:solidFill>
              </a:rPr>
              <a:t>標本を利用</a:t>
            </a:r>
            <a:r>
              <a:rPr lang="ja-JP" altLang="en-US" dirty="0">
                <a:solidFill>
                  <a:schemeClr val="tx2"/>
                </a:solidFill>
              </a:rPr>
              <a:t>して，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母集団の未知の特性値</a:t>
            </a:r>
            <a:r>
              <a:rPr lang="ja-JP" altLang="en-US" dirty="0">
                <a:solidFill>
                  <a:schemeClr val="tx2"/>
                </a:solidFill>
              </a:rPr>
              <a:t>（平均値や分散など）を</a:t>
            </a:r>
            <a:r>
              <a:rPr lang="ja-JP" altLang="en-US" b="1" dirty="0">
                <a:solidFill>
                  <a:schemeClr val="accent5"/>
                </a:solidFill>
              </a:rPr>
              <a:t>推測</a:t>
            </a:r>
            <a:r>
              <a:rPr lang="ja-JP" altLang="en-US" dirty="0">
                <a:solidFill>
                  <a:schemeClr val="tx2"/>
                </a:solidFill>
              </a:rPr>
              <a:t>していく方法</a:t>
            </a:r>
            <a:endParaRPr lang="en-US" altLang="ja-JP" dirty="0">
              <a:solidFill>
                <a:schemeClr val="tx2"/>
              </a:solidFill>
            </a:endParaRPr>
          </a:p>
          <a:p>
            <a:pPr lvl="2"/>
            <a:r>
              <a:rPr kumimoji="1" lang="ja-JP" altLang="en-US" dirty="0">
                <a:solidFill>
                  <a:schemeClr val="tx2"/>
                </a:solidFill>
              </a:rPr>
              <a:t>母集団すべてに調査を行い，データを取得することが難しいため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FAF5B2-B474-8138-BD89-7337E3361F6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1587500" y="1161460"/>
            <a:ext cx="1968500" cy="1943100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5537200" y="1161460"/>
            <a:ext cx="2019300" cy="2019300"/>
          </a:xfrm>
          <a:prstGeom prst="ellipse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1749425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母集団の特性値</a:t>
            </a:r>
            <a:endParaRPr kumimoji="1" lang="en-US" altLang="ja-JP" sz="1400" dirty="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平均・分散など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5721350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標本の推定量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2571750" y="3104560"/>
            <a:ext cx="15875" cy="695325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559550" y="2690222"/>
            <a:ext cx="4763" cy="1109663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EF6E616-D040-C3B1-0A4B-779E35794DC8}"/>
              </a:ext>
            </a:extLst>
          </p:cNvPr>
          <p:cNvGrpSpPr/>
          <p:nvPr/>
        </p:nvGrpSpPr>
        <p:grpSpPr>
          <a:xfrm>
            <a:off x="3556000" y="1557459"/>
            <a:ext cx="2451100" cy="695325"/>
            <a:chOff x="4619625" y="1786649"/>
            <a:chExt cx="2451100" cy="695325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0000000-0008-0000-0000-00000800000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19625" y="2362200"/>
              <a:ext cx="2451100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7">
              <a:extLst>
                <a:ext uri="{FF2B5EF4-FFF2-40B4-BE49-F238E27FC236}">
                  <a16:creationId xmlns:a16="http://schemas.microsoft.com/office/drawing/2014/main" id="{00000000-0008-0000-0000-000012000000}"/>
                </a:ext>
              </a:extLst>
            </p:cNvPr>
            <p:cNvSpPr txBox="1"/>
            <p:nvPr/>
          </p:nvSpPr>
          <p:spPr>
            <a:xfrm>
              <a:off x="4900743" y="1786649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無作為抽出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63D6071-726B-7E14-E5B2-B52BBCB65FDB}"/>
              </a:ext>
            </a:extLst>
          </p:cNvPr>
          <p:cNvGrpSpPr/>
          <p:nvPr/>
        </p:nvGrpSpPr>
        <p:grpSpPr>
          <a:xfrm>
            <a:off x="3425825" y="3631527"/>
            <a:ext cx="2295525" cy="695325"/>
            <a:chOff x="4489450" y="3860717"/>
            <a:chExt cx="2295525" cy="69532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0000000-0008-0000-0000-00000F000000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4489450" y="4424363"/>
              <a:ext cx="2295525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6">
              <a:extLst>
                <a:ext uri="{FF2B5EF4-FFF2-40B4-BE49-F238E27FC236}">
                  <a16:creationId xmlns:a16="http://schemas.microsoft.com/office/drawing/2014/main" id="{10097B8C-2A05-44ED-8ED3-C698495B0B29}"/>
                </a:ext>
              </a:extLst>
            </p:cNvPr>
            <p:cNvSpPr txBox="1"/>
            <p:nvPr/>
          </p:nvSpPr>
          <p:spPr>
            <a:xfrm>
              <a:off x="4921232" y="3860717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推測</a:t>
              </a:r>
            </a:p>
          </p:txBody>
        </p:sp>
      </p:grpSp>
      <p:sp>
        <p:nvSpPr>
          <p:cNvPr id="35" name="楕円 34">
            <a:extLst>
              <a:ext uri="{FF2B5EF4-FFF2-40B4-BE49-F238E27FC236}">
                <a16:creationId xmlns:a16="http://schemas.microsoft.com/office/drawing/2014/main" id="{8AFF1FC0-D64C-6526-A4B8-3857BE5B442F}"/>
              </a:ext>
            </a:extLst>
          </p:cNvPr>
          <p:cNvSpPr/>
          <p:nvPr/>
        </p:nvSpPr>
        <p:spPr>
          <a:xfrm>
            <a:off x="6007100" y="1575797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</a:t>
            </a:r>
          </a:p>
        </p:txBody>
      </p:sp>
    </p:spTree>
    <p:extLst>
      <p:ext uri="{BB962C8B-B14F-4D97-AF65-F5344CB8AC3E}">
        <p14:creationId xmlns:p14="http://schemas.microsoft.com/office/powerpoint/2010/main" val="951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4C11C-1C33-A319-D9AD-BF5B6472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推定量と推定値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274281-CCC6-9503-BE76-BB8154C7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3C567-F2D4-7AC4-FCC1-C20503B0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推定量　</a:t>
            </a:r>
            <a:r>
              <a:rPr kumimoji="1" lang="en-US" altLang="ja-JP" dirty="0">
                <a:solidFill>
                  <a:schemeClr val="accent2"/>
                </a:solidFill>
              </a:rPr>
              <a:t>estimator</a:t>
            </a:r>
          </a:p>
          <a:p>
            <a:pPr lvl="1"/>
            <a:r>
              <a:rPr lang="ja-JP" altLang="en-US" dirty="0"/>
              <a:t>母集団の特性値を推定するための標本データの統計量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推定値　</a:t>
            </a:r>
            <a:r>
              <a:rPr lang="en-US" altLang="ja-JP" dirty="0">
                <a:solidFill>
                  <a:schemeClr val="accent2"/>
                </a:solidFill>
              </a:rPr>
              <a:t>estimate</a:t>
            </a:r>
          </a:p>
          <a:p>
            <a:pPr lvl="1"/>
            <a:r>
              <a:rPr kumimoji="1" lang="ja-JP" altLang="en-US" dirty="0"/>
              <a:t>実際のデータで推定量を計算した値</a:t>
            </a:r>
          </a:p>
        </p:txBody>
      </p:sp>
    </p:spTree>
    <p:extLst>
      <p:ext uri="{BB962C8B-B14F-4D97-AF65-F5344CB8AC3E}">
        <p14:creationId xmlns:p14="http://schemas.microsoft.com/office/powerpoint/2010/main" val="182073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CCAEC-B68C-9DCA-9181-9FE12008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標本誤差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732A986-5513-57C2-3509-7292BD50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標本誤差　</a:t>
                </a:r>
                <a:r>
                  <a:rPr kumimoji="1" lang="en-US" altLang="ja-JP" sz="3200" dirty="0">
                    <a:solidFill>
                      <a:schemeClr val="accent2"/>
                    </a:solidFill>
                  </a:rPr>
                  <a:t>sampling error</a:t>
                </a:r>
              </a:p>
              <a:p>
                <a:pPr lvl="1"/>
                <a:r>
                  <a:rPr lang="ja-JP" altLang="en-US" sz="2800" dirty="0"/>
                  <a:t>母集団の特性値と，</a:t>
                </a:r>
                <a:br>
                  <a:rPr lang="en-US" altLang="ja-JP" sz="2800" dirty="0"/>
                </a:br>
                <a:r>
                  <a:rPr lang="ja-JP" altLang="en-US" sz="2800" dirty="0"/>
                  <a:t>標本データから計算する推定量との乖離</a:t>
                </a:r>
                <a:r>
                  <a:rPr lang="ja-JP" altLang="en-US" sz="1800" dirty="0"/>
                  <a:t>（誤差）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母集団の特性値</a:t>
                </a:r>
                <a:r>
                  <a:rPr kumimoji="1" lang="ja-JP" altLang="en-US" sz="1400" dirty="0"/>
                  <a:t>（母平均</a:t>
                </a:r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sz="1400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1400" dirty="0"/>
                  <a:t>）　</a:t>
                </a:r>
                <a:r>
                  <a:rPr kumimoji="1" lang="ja-JP" altLang="en-US" sz="2400" dirty="0"/>
                  <a:t>→　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固定値</a:t>
                </a:r>
                <a:endParaRPr kumimoji="1" lang="en-US" altLang="ja-JP" sz="2400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sz="2400" dirty="0">
                    <a:solidFill>
                      <a:schemeClr val="accent5"/>
                    </a:solidFill>
                  </a:rPr>
                  <a:t>標本</a:t>
                </a:r>
                <a:r>
                  <a:rPr lang="ja-JP" altLang="en-US" sz="2400" dirty="0"/>
                  <a:t>から計算した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推定量</a:t>
                </a:r>
                <a:r>
                  <a:rPr lang="ja-JP" altLang="en-US" sz="1400" dirty="0"/>
                  <a:t>（標本平均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1400" dirty="0"/>
                  <a:t>，標本分散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400" dirty="0"/>
                  <a:t>）　</a:t>
                </a:r>
                <a:r>
                  <a:rPr lang="ja-JP" altLang="en-US" sz="2400" dirty="0"/>
                  <a:t>→　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確率変数</a:t>
                </a:r>
                <a:endParaRPr lang="en-US" altLang="ja-JP" sz="2400" dirty="0">
                  <a:solidFill>
                    <a:schemeClr val="accent5"/>
                  </a:solidFill>
                </a:endParaRPr>
              </a:p>
              <a:p>
                <a:pPr lvl="3"/>
                <a:r>
                  <a:rPr kumimoji="1" lang="ja-JP" altLang="en-US" sz="2000" dirty="0"/>
                  <a:t>確率変数：偶然性を持って変動する値</a:t>
                </a:r>
                <a:r>
                  <a:rPr kumimoji="1" lang="ja-JP" altLang="en-US" sz="1050" dirty="0"/>
                  <a:t>（詳細は次回）</a:t>
                </a:r>
                <a:endParaRPr kumimoji="1" lang="en-US" altLang="ja-JP" sz="2000" dirty="0"/>
              </a:p>
              <a:p>
                <a:pPr lvl="3"/>
                <a:r>
                  <a:rPr lang="ja-JP" altLang="en-US" sz="2000" dirty="0"/>
                  <a:t>母集団から標本を抽出する際に，偶然性</a:t>
                </a:r>
                <a:r>
                  <a:rPr lang="ja-JP" altLang="en-US" sz="1050" dirty="0"/>
                  <a:t>（ランダム性）</a:t>
                </a:r>
                <a:r>
                  <a:rPr lang="ja-JP" altLang="en-US" sz="2000" dirty="0"/>
                  <a:t>をもつため</a:t>
                </a:r>
                <a:endParaRPr lang="en-US" altLang="ja-JP" sz="2000" dirty="0"/>
              </a:p>
              <a:p>
                <a:pPr lvl="3"/>
                <a:r>
                  <a:rPr kumimoji="1" lang="ja-JP" altLang="en-US" sz="2000" dirty="0"/>
                  <a:t>無作為抽出</a:t>
                </a:r>
                <a:r>
                  <a:rPr kumimoji="1" lang="ja-JP" altLang="en-US" sz="1050" dirty="0"/>
                  <a:t>（ランダムサンプリング）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76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7E2EE-5BD7-55C1-2241-59773304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コイン投げの事例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C61F13-2B04-560C-6EE7-48DCAF0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母集団</a:t>
                </a:r>
                <a:endParaRPr kumimoji="1" lang="en-US" altLang="ja-JP" sz="3200" dirty="0"/>
              </a:p>
              <a:p>
                <a:pPr lvl="1"/>
                <a:r>
                  <a:rPr kumimoji="1" lang="ja-JP" altLang="en-US" sz="2800" dirty="0"/>
                  <a:t>コインを投げて，表の出る比率は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lang="ja-JP" altLang="en-US" sz="2400" dirty="0"/>
                  <a:t>母集団の特徴を事前に知っている特殊な事例</a:t>
                </a:r>
                <a:endParaRPr lang="en-US" altLang="ja-JP" sz="2400" dirty="0"/>
              </a:p>
              <a:p>
                <a:endParaRPr kumimoji="1" lang="en-US" altLang="ja-JP" sz="3200" dirty="0"/>
              </a:p>
              <a:p>
                <a:r>
                  <a:rPr kumimoji="1" lang="ja-JP" altLang="en-US" sz="3200" dirty="0"/>
                  <a:t>標本</a:t>
                </a:r>
                <a:endParaRPr kumimoji="1" lang="en-US" altLang="ja-JP" sz="3200" dirty="0"/>
              </a:p>
              <a:p>
                <a:pPr lvl="1"/>
                <a:r>
                  <a:rPr lang="ja-JP" altLang="en-US" sz="2800" dirty="0"/>
                  <a:t>コインを</a:t>
                </a:r>
                <a:r>
                  <a:rPr lang="en-US" altLang="ja-JP" sz="2800" dirty="0"/>
                  <a:t>10</a:t>
                </a:r>
                <a:r>
                  <a:rPr lang="ja-JP" altLang="en-US" sz="2800" dirty="0"/>
                  <a:t>回投げて表が出た回数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/>
                  <a:t>表の出る比率の推定量 →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　</m:t>
                    </m:r>
                    <m:f>
                      <m:fPr>
                        <m:ctrlPr>
                          <a:rPr lang="ja-JP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6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FEA77-053C-37CA-5019-48A022C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</a:t>
            </a:r>
            <a:r>
              <a:rPr kumimoji="1" lang="ja-JP" altLang="en-US" dirty="0"/>
              <a:t>　コイン投げの実験をしてみよう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6536298-3350-DC89-E180-813F8C81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ja-JP" altLang="en-US" sz="1400" dirty="0"/>
                  <a:t>コインを投げて表が出る比率</a:t>
                </a:r>
                <a:r>
                  <a:rPr lang="ja-JP" altLang="en-US" sz="1100" dirty="0"/>
                  <a:t>（母比率</a:t>
                </a:r>
                <a:r>
                  <a:rPr lang="en-US" altLang="ja-JP" sz="1100" dirty="0"/>
                  <a:t>=50%</a:t>
                </a:r>
                <a:r>
                  <a:rPr lang="ja-JP" altLang="en-US" sz="1100" dirty="0"/>
                  <a:t>）</a:t>
                </a:r>
                <a:r>
                  <a:rPr lang="ja-JP" altLang="en-US" sz="1400" dirty="0"/>
                  <a:t>と，実際にコインを</a:t>
                </a:r>
                <a:r>
                  <a:rPr lang="en-US" altLang="ja-JP" sz="1400" dirty="0"/>
                  <a:t>10</a:t>
                </a:r>
                <a:r>
                  <a:rPr lang="ja-JP" altLang="en-US" sz="1400" dirty="0"/>
                  <a:t>回投げて表が出る回数</a:t>
                </a:r>
                <a:r>
                  <a:rPr lang="ja-JP" altLang="en-US" sz="1100" dirty="0"/>
                  <a:t>（＝推定量）</a:t>
                </a:r>
                <a:r>
                  <a:rPr lang="ja-JP" altLang="en-US" sz="1400" dirty="0"/>
                  <a:t>の誤差は？</a:t>
                </a:r>
                <a:endParaRPr lang="en-US" altLang="ja-JP" sz="1400" dirty="0"/>
              </a:p>
              <a:p>
                <a:pPr lvl="1"/>
                <a:r>
                  <a:rPr kumimoji="1" lang="ja-JP" altLang="en-US" sz="1600" dirty="0"/>
                  <a:t>①</a:t>
                </a:r>
                <a:r>
                  <a:rPr kumimoji="1" lang="en-US" altLang="ja-JP" sz="1600" dirty="0"/>
                  <a:t>10</a:t>
                </a:r>
                <a:r>
                  <a:rPr kumimoji="1" lang="ja-JP" altLang="en-US" sz="1600" dirty="0"/>
                  <a:t>円玉を用意する</a:t>
                </a:r>
                <a:r>
                  <a:rPr kumimoji="1" lang="ja-JP" altLang="en-US" sz="1200" dirty="0"/>
                  <a:t>（重さを統一するため）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②実際にコイントスを</a:t>
                </a:r>
                <a:r>
                  <a:rPr lang="en-US" altLang="ja-JP" sz="1600" dirty="0"/>
                  <a:t>10</a:t>
                </a:r>
                <a:r>
                  <a:rPr lang="ja-JP" altLang="en-US" sz="1600" dirty="0"/>
                  <a:t>回行い，表が出た回数を記録する</a:t>
                </a:r>
                <a:endParaRPr lang="en-US" altLang="ja-JP" sz="1600" dirty="0"/>
              </a:p>
              <a:p>
                <a:pPr lvl="2"/>
                <a:r>
                  <a:rPr kumimoji="1" lang="ja-JP" altLang="en-US" sz="1600" dirty="0"/>
                  <a:t>「</a:t>
                </a:r>
                <a:r>
                  <a:rPr kumimoji="1" lang="en-US" altLang="ja-JP" sz="1600" dirty="0"/>
                  <a:t>100</a:t>
                </a:r>
                <a:r>
                  <a:rPr kumimoji="1" lang="ja-JP" altLang="en-US" sz="1600" dirty="0"/>
                  <a:t>」の記載がある方が「裏」です！</a:t>
                </a:r>
                <a:endParaRPr kumimoji="1" lang="en-US" altLang="ja-JP" sz="1600" dirty="0"/>
              </a:p>
              <a:p>
                <a:pPr lvl="3"/>
                <a:r>
                  <a:rPr kumimoji="1" lang="en-US" altLang="ja-JP" sz="1400" dirty="0">
                    <a:hlinkClick r:id="rId3"/>
                  </a:rPr>
                  <a:t>https://www.mof.go.jp/policy/currency/coin/general_coin/list.htm</a:t>
                </a:r>
                <a:endParaRPr kumimoji="1" lang="en-US" altLang="ja-JP" sz="1400" dirty="0"/>
              </a:p>
              <a:p>
                <a:pPr lvl="2"/>
                <a:r>
                  <a:rPr lang="ja-JP" altLang="en-US" sz="1600" dirty="0"/>
                  <a:t>回数を</a:t>
                </a:r>
                <a:r>
                  <a:rPr lang="en-US" altLang="ja-JP" sz="1600" dirty="0"/>
                  <a:t>Google Form</a:t>
                </a:r>
                <a:r>
                  <a:rPr lang="ja-JP" altLang="en-US" sz="1600" dirty="0"/>
                  <a:t>に送信してください</a:t>
                </a:r>
                <a:r>
                  <a:rPr lang="ja-JP" altLang="en-US" sz="1200" dirty="0"/>
                  <a:t>（収集したデータは，後ほど使用します）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③表の出る比率の推定量を計算する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ja-JP" altLang="en-US" sz="1400" b="0" i="1" dirty="0">
                        <a:latin typeface="Cambria Math" panose="02040503050406030204" pitchFamily="18" charset="0"/>
                      </a:rPr>
                      <m:t>表の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出る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比率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推定量</m:t>
                    </m:r>
                    <m:r>
                      <a:rPr lang="en-US" altLang="ja-JP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</m:t>
                        </m:r>
                        <m:r>
                          <a:rPr lang="ja-JP" altLang="en-US" sz="1400" i="1" smtClean="0">
                            <a:latin typeface="Cambria Math" panose="02040503050406030204" pitchFamily="18" charset="0"/>
                          </a:rPr>
                          <m:t>出た</m:t>
                        </m:r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回数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kumimoji="1" lang="ja-JP" altLang="en-US" sz="1400" dirty="0"/>
                  <a:t>　：個人の記録</a:t>
                </a:r>
                <a:endParaRPr kumimoji="1" lang="en-US" altLang="ja-JP" sz="1400" dirty="0"/>
              </a:p>
              <a:p>
                <a:pPr lvl="1"/>
                <a:r>
                  <a:rPr lang="ja-JP" altLang="en-US" sz="1600" dirty="0"/>
                  <a:t>④</a:t>
                </a:r>
                <a:r>
                  <a:rPr lang="en-US" altLang="ja-JP" sz="1600" dirty="0"/>
                  <a:t>5</a:t>
                </a:r>
                <a:r>
                  <a:rPr lang="ja-JP" altLang="en-US" sz="1600" dirty="0"/>
                  <a:t>人</a:t>
                </a:r>
                <a:r>
                  <a:rPr lang="en-US" altLang="ja-JP" sz="1600" dirty="0"/>
                  <a:t>1</a:t>
                </a:r>
                <a:r>
                  <a:rPr lang="ja-JP" altLang="en-US" sz="1600" dirty="0"/>
                  <a:t>組でグループを組み，表の出る比率の推定量を計算する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：グループの記録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  <a:p>
                <a:pPr lvl="1"/>
                <a:r>
                  <a:rPr kumimoji="1" lang="ja-JP" altLang="en-US" sz="1600" dirty="0"/>
                  <a:t>⑤クラス全体の表の出る比率の推定量を計算する</a:t>
                </a:r>
                <a:endParaRPr kumimoji="1"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クラス人数</m:t>
                        </m:r>
                        <m:r>
                          <a:rPr lang="en-US" altLang="ja-JP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：クラスの記録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個人・グループの記録よりも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"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EA370AB-58C2-1DBE-052D-C30EE583F081}"/>
              </a:ext>
            </a:extLst>
          </p:cNvPr>
          <p:cNvSpPr/>
          <p:nvPr/>
        </p:nvSpPr>
        <p:spPr>
          <a:xfrm>
            <a:off x="5932967" y="4412512"/>
            <a:ext cx="3079057" cy="23096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一般的に，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標本数が大きくなるほど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推定量の分布の幅</a:t>
            </a:r>
            <a:r>
              <a:rPr kumimoji="1" lang="ja-JP" altLang="en-US" sz="1400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（ブレ）</a:t>
            </a: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小さくなる</a:t>
            </a: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．</a:t>
            </a:r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推測をする際には，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標本数が多い方が良い．</a:t>
            </a:r>
          </a:p>
        </p:txBody>
      </p:sp>
    </p:spTree>
    <p:extLst>
      <p:ext uri="{BB962C8B-B14F-4D97-AF65-F5344CB8AC3E}">
        <p14:creationId xmlns:p14="http://schemas.microsoft.com/office/powerpoint/2010/main" val="272297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２：確率の基礎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4C7C7-AA52-A182-E9B2-D1B773B0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4974728-CB10-711D-B4E0-227502FC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10B4531-3E2C-0635-CFBF-03A691A74D2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580997766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全事象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起こり得る可能性がある，すべての事象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根元事象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elementary event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ひとつひとつの事象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空事象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empty set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根元事象が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つもないもの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84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4299-5D28-5B4B-58D9-6E4CA72A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63934-B708-A01A-8344-6157A498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C0CA69-3B6E-8216-533E-11BD4AD8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3C8863F-48CC-0156-E991-25B4862945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A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 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余事象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complementary event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の余事象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A89B44-A225-25F5-1586-7C02C5D3B17D}"/>
              </a:ext>
            </a:extLst>
          </p:cNvPr>
          <p:cNvGrpSpPr/>
          <p:nvPr/>
        </p:nvGrpSpPr>
        <p:grpSpPr>
          <a:xfrm>
            <a:off x="5953270" y="3429000"/>
            <a:ext cx="2785730" cy="2563733"/>
            <a:chOff x="5688419" y="3581886"/>
            <a:chExt cx="2785730" cy="2563733"/>
          </a:xfrm>
        </p:grpSpPr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72420FB3-83D1-AD47-899C-CB080FF8D3D6}"/>
                </a:ext>
              </a:extLst>
            </p:cNvPr>
            <p:cNvSpPr/>
            <p:nvPr/>
          </p:nvSpPr>
          <p:spPr>
            <a:xfrm>
              <a:off x="5688419" y="3753293"/>
              <a:ext cx="2785730" cy="2392326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C9F1B60-6AF0-142E-06E7-20E8468B09FA}"/>
                </a:ext>
              </a:extLst>
            </p:cNvPr>
            <p:cNvGrpSpPr/>
            <p:nvPr/>
          </p:nvGrpSpPr>
          <p:grpSpPr>
            <a:xfrm>
              <a:off x="5912665" y="3581886"/>
              <a:ext cx="2170107" cy="2358796"/>
              <a:chOff x="5912665" y="3581886"/>
              <a:chExt cx="2170107" cy="2358796"/>
            </a:xfrm>
          </p:grpSpPr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81B5035A-6227-E6BD-067E-562D415A91E3}"/>
                  </a:ext>
                </a:extLst>
              </p:cNvPr>
              <p:cNvGrpSpPr/>
              <p:nvPr/>
            </p:nvGrpSpPr>
            <p:grpSpPr>
              <a:xfrm>
                <a:off x="5912665" y="4064192"/>
                <a:ext cx="2170107" cy="1876490"/>
                <a:chOff x="5635256" y="4027422"/>
                <a:chExt cx="2170107" cy="1876490"/>
              </a:xfrm>
            </p:grpSpPr>
            <p:sp>
              <p:nvSpPr>
                <p:cNvPr id="23" name="楕円 22">
                  <a:extLst>
                    <a:ext uri="{FF2B5EF4-FFF2-40B4-BE49-F238E27FC236}">
                      <a16:creationId xmlns:a16="http://schemas.microsoft.com/office/drawing/2014/main" id="{4329BEB1-EAEC-3879-198A-E3817DB67FAE}"/>
                    </a:ext>
                  </a:extLst>
                </p:cNvPr>
                <p:cNvSpPr/>
                <p:nvPr/>
              </p:nvSpPr>
              <p:spPr>
                <a:xfrm flipV="1">
                  <a:off x="5635256" y="4170805"/>
                  <a:ext cx="1733107" cy="1733107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CF513FB5-049F-2522-B324-E1661B1333B0}"/>
                    </a:ext>
                  </a:extLst>
                </p:cNvPr>
                <p:cNvGrpSpPr/>
                <p:nvPr/>
              </p:nvGrpSpPr>
              <p:grpSpPr>
                <a:xfrm>
                  <a:off x="6303357" y="4027422"/>
                  <a:ext cx="1502006" cy="628362"/>
                  <a:chOff x="6303357" y="4027422"/>
                  <a:chExt cx="1502006" cy="6283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0167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5194-CC45-EAB8-C219-0257504D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24C94-6C95-3AF4-45D3-62F048E8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積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F05257-2EF0-A358-9287-22101519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57EB36AD-F87D-796C-E471-8B3D35CC9BE2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積事象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intersection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どちらにも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かつ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さんもどちらも当たり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5101EE2-2BA9-D313-69E1-37D93D8A60A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25FB92BC-175A-C061-8EEA-9FCC153EAF9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DF6015B8-7AA6-A1AD-D988-5F098385D44A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E1A67B97-3C93-70D8-2970-D5CCFCCFE5E3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BC7A5CC5-0D76-5C9B-112E-0616C660728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AFF44D8-E155-D9EC-63DD-EE7125431CEF}"/>
              </a:ext>
            </a:extLst>
          </p:cNvPr>
          <p:cNvGrpSpPr/>
          <p:nvPr/>
        </p:nvGrpSpPr>
        <p:grpSpPr>
          <a:xfrm>
            <a:off x="1743740" y="947000"/>
            <a:ext cx="3242531" cy="1168879"/>
            <a:chOff x="1743740" y="947000"/>
            <a:chExt cx="3242531" cy="116887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990F797-6663-DBE1-E8E6-C372E042CB8D}"/>
                </a:ext>
              </a:extLst>
            </p:cNvPr>
            <p:cNvSpPr/>
            <p:nvPr/>
          </p:nvSpPr>
          <p:spPr>
            <a:xfrm>
              <a:off x="1743740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BA84148-B1A9-18F1-F07F-B099C9DF477A}"/>
                </a:ext>
              </a:extLst>
            </p:cNvPr>
            <p:cNvSpPr/>
            <p:nvPr/>
          </p:nvSpPr>
          <p:spPr>
            <a:xfrm>
              <a:off x="4156932" y="947000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9B1AC6-9CF3-7630-626F-A2DD4D0E550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5849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B80D-1B10-C022-16BE-D6AD8FEA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C8E2A-8FBB-0889-173C-9D453B58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排反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4B1C7B-2110-3747-575A-8BAC6B2C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AA2DE24-C1C7-9033-51EF-5F1B4F4503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排反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mutually exclusive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積事象が空事象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（存在しない）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の場合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の２つの事象のこと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互いに排反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646CBD8-8F6B-E4CC-61FD-274F34B43C0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CA073EA-BE21-DBAB-41F0-AF97F73A57F7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37BB5409-1C8D-2C3B-8C4D-B7B6A547E4B5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55C2C1DF-2A4C-6718-DEAA-3AE5CBE66FB8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CCE0B0FB-806F-520E-D495-A953BCF1344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7787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2A0A-9BBB-0EBB-30A1-46F4AD06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23D36-3351-F29D-A6C5-F566F96B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和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D3CB01-609A-697A-5837-1AAF11D0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7D7E6154-8B1F-361A-7525-63F8A29D4C48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715051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和事象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どちらかに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または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さんか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18A1F7C-3533-B070-6914-2B2C13B33544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1586000-EBD7-B133-6325-5893D88F76B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998C0D69-56F7-D9E8-CA73-1593A6BEDEB6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B5D69CE5-2C5C-73BE-3319-79E55CFF5341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2D061DE-806C-B156-4D2D-2B14F9AEAC5F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4C3A9B3-632A-DE9C-97B3-3DC0508A966B}"/>
              </a:ext>
            </a:extLst>
          </p:cNvPr>
          <p:cNvGrpSpPr/>
          <p:nvPr/>
        </p:nvGrpSpPr>
        <p:grpSpPr>
          <a:xfrm>
            <a:off x="1743740" y="947000"/>
            <a:ext cx="5656520" cy="1168879"/>
            <a:chOff x="1743740" y="947000"/>
            <a:chExt cx="5656520" cy="1168879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29C4FF4-47CC-E0CA-9587-88D9065A0118}"/>
                </a:ext>
              </a:extLst>
            </p:cNvPr>
            <p:cNvSpPr/>
            <p:nvPr/>
          </p:nvSpPr>
          <p:spPr>
            <a:xfrm>
              <a:off x="1743740" y="954088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41A7F0AB-BF9C-49F1-5480-5B2E132F650A}"/>
                </a:ext>
              </a:extLst>
            </p:cNvPr>
            <p:cNvSpPr/>
            <p:nvPr/>
          </p:nvSpPr>
          <p:spPr>
            <a:xfrm>
              <a:off x="4156932" y="947000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234D2B68-1896-204D-6124-F7A865D9635C}"/>
                </a:ext>
              </a:extLst>
            </p:cNvPr>
            <p:cNvSpPr/>
            <p:nvPr/>
          </p:nvSpPr>
          <p:spPr>
            <a:xfrm>
              <a:off x="6570921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31ECB2-D65A-3290-BE0C-4325A24B859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39030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kumimoji="1" lang="ja-JP" altLang="en-US" dirty="0"/>
              <a:t>：確率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30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67C2-3A12-3A59-CEF5-4A4ECED5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02383-AA78-72E9-3623-82839488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23F3C2-13C6-4366-2A96-3BAC3D00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54E5C3-8DA9-F654-0F5F-741E43FD7C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953677"/>
            <a:ext cx="8880843" cy="5777061"/>
          </a:xfrm>
        </p:spPr>
        <p:txBody>
          <a:bodyPr/>
          <a:lstStyle/>
          <a:p>
            <a:r>
              <a:rPr kumimoji="1" lang="ja-JP" altLang="en-US" dirty="0">
                <a:solidFill>
                  <a:schemeClr val="tx2"/>
                </a:solidFill>
              </a:rPr>
              <a:t>全事象</a:t>
            </a:r>
            <a:endParaRPr kumimoji="1"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起こり得る可能性がある，すべての事象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kumimoji="1" lang="ja-JP" altLang="en-US" dirty="0">
                <a:solidFill>
                  <a:schemeClr val="tx2"/>
                </a:solidFill>
              </a:rPr>
              <a:t>根元事象　</a:t>
            </a:r>
            <a:r>
              <a:rPr kumimoji="1" lang="en-US" altLang="ja-JP" dirty="0">
                <a:solidFill>
                  <a:schemeClr val="accent2"/>
                </a:solidFill>
              </a:rPr>
              <a:t>elementary event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ひとつひとつの事象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kumimoji="1" lang="ja-JP" altLang="en-US" dirty="0">
                <a:solidFill>
                  <a:schemeClr val="tx2"/>
                </a:solidFill>
              </a:rPr>
              <a:t>空事象　</a:t>
            </a:r>
            <a:r>
              <a:rPr kumimoji="1" lang="en-US" altLang="ja-JP" dirty="0">
                <a:solidFill>
                  <a:schemeClr val="accent2"/>
                </a:solidFill>
              </a:rPr>
              <a:t>empty set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根元事象が</a:t>
            </a:r>
            <a:r>
              <a:rPr lang="en-US" altLang="ja-JP" dirty="0">
                <a:solidFill>
                  <a:schemeClr val="tx2"/>
                </a:solidFill>
              </a:rPr>
              <a:t>1</a:t>
            </a:r>
            <a:r>
              <a:rPr lang="ja-JP" altLang="en-US" dirty="0">
                <a:solidFill>
                  <a:schemeClr val="tx2"/>
                </a:solidFill>
              </a:rPr>
              <a:t>つもないもの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事象</a:t>
            </a:r>
            <a:r>
              <a:rPr lang="en-US" altLang="ja-JP" dirty="0">
                <a:solidFill>
                  <a:schemeClr val="tx2"/>
                </a:solidFill>
              </a:rPr>
              <a:t>A</a:t>
            </a:r>
          </a:p>
          <a:p>
            <a:pPr lvl="1"/>
            <a:r>
              <a:rPr lang="en-US" altLang="ja-JP" dirty="0">
                <a:solidFill>
                  <a:schemeClr val="tx2"/>
                </a:solidFill>
              </a:rPr>
              <a:t>A</a:t>
            </a:r>
            <a:r>
              <a:rPr lang="ja-JP" altLang="en-US" dirty="0">
                <a:solidFill>
                  <a:schemeClr val="tx2"/>
                </a:solidFill>
              </a:rPr>
              <a:t>が起こる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余事象　</a:t>
            </a:r>
            <a:r>
              <a:rPr lang="en-US" altLang="ja-JP" dirty="0">
                <a:solidFill>
                  <a:schemeClr val="accent2"/>
                </a:solidFill>
              </a:rPr>
              <a:t>complementary event</a:t>
            </a:r>
          </a:p>
          <a:p>
            <a:pPr lvl="1"/>
            <a:r>
              <a:rPr lang="en-US" altLang="ja-JP" dirty="0">
                <a:solidFill>
                  <a:schemeClr val="tx2"/>
                </a:solidFill>
              </a:rPr>
              <a:t>A</a:t>
            </a:r>
            <a:r>
              <a:rPr lang="ja-JP" altLang="en-US" dirty="0">
                <a:solidFill>
                  <a:schemeClr val="tx2"/>
                </a:solidFill>
              </a:rPr>
              <a:t>が起こらない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8F531A-E5FE-22B0-2C07-57B398F204B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102555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EC58-00B7-36F1-4FB4-DB2F9D5D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93DFB5-4220-55CA-B58E-4606D9D1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C42C22F-8BB7-880B-213A-0DEABD66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865E934-4B4C-52EF-158B-11263B35AB5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953677"/>
                <a:ext cx="8880843" cy="5777061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積事象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intersection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どちらにも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かつ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排反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mutually exclusive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積事象が空事象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（存在しない）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の場合の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つの事象のこと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和事象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union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どちらかに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または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865E934-4B4C-52EF-158B-11263B35A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953677"/>
                <a:ext cx="8880843" cy="5777061"/>
              </a:xfrm>
              <a:blipFill>
                <a:blip r:embed="rId2"/>
                <a:stretch>
                  <a:fillRect l="-824" t="-8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96753C-4487-1B58-BA94-B3EAAE1C9D6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68228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7B603-5346-4F90-C6E8-9DDE6008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A7D121-6178-18FE-1286-CFFA27D3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556CE9F-A03B-1456-9533-C9F2161B9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kumimoji="1" lang="ja-JP" altLang="en-US" dirty="0"/>
                  <a:t>確率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probability</a:t>
                </a:r>
              </a:p>
              <a:p>
                <a:pPr lvl="1"/>
                <a:r>
                  <a:rPr lang="ja-JP" altLang="en-US" dirty="0"/>
                  <a:t>事象の起こりやすさの度合い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全事象における，該当事象の相対的な大きさ　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該当</m:t>
                            </m:r>
                            <m:r>
                              <a:rPr lang="ja-JP" alt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事象</m:t>
                            </m:r>
                          </m:num>
                          <m:den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全事象</m:t>
                            </m:r>
                          </m:den>
                        </m:f>
                      </m:e>
                    </m:d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事象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が起こる確率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rgbClr val="FF0000"/>
                    </a:solidFill>
                  </a:rPr>
                  <a:t>　　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i="0" dirty="0" smtClean="0">
                        <a:solidFill>
                          <a:schemeClr val="tx1"/>
                        </a:solidFill>
                      </a:rPr>
                      <m:t>各事象の実現がランダムの場合</m:t>
                    </m:r>
                  </m:oMath>
                </a14:m>
                <a:r>
                  <a:rPr lang="ja-JP" altLang="en-US" dirty="0"/>
                  <a:t>　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　　　　　　→　　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ja-JP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事象</m:t>
                            </m:r>
                            <m:r>
                              <a:rPr lang="ja-JP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数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ja-JP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事象</m:t>
                            </m:r>
                            <m:r>
                              <a:rPr lang="ja-JP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数</m:t>
                            </m:r>
                          </m:den>
                        </m:f>
                      </m:e>
                    </m:func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全事象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kumimoji="1" lang="ja-JP" altLang="en-US" dirty="0"/>
                  <a:t>の中で，いずれかの根元事象が起こる確率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=1=100%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空事象の確率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=0=0%</m:t>
                    </m:r>
                  </m:oMath>
                </a14:m>
                <a:endParaRPr kumimoji="1" lang="en-US" altLang="ja-JP" dirty="0"/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確率の上限値と下限値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556CE9F-A03B-1456-9533-C9F2161B9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7" t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13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0D65C-5601-FC39-9962-0831D22A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確率の公理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060757-C9DD-AD65-3AD4-1DC6733A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5B7B739-48A1-5844-6FA2-5F97FFB7B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確率の公理　</a:t>
                </a:r>
                <a:r>
                  <a:rPr lang="en-US" altLang="ja-JP" dirty="0"/>
                  <a:t> 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probability axioms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以下を満たさないものは確率とはいえない</a:t>
                </a:r>
                <a:endParaRPr lang="en-US" altLang="ja-JP" dirty="0"/>
              </a:p>
              <a:p>
                <a:r>
                  <a:rPr lang="en-US" altLang="ja-JP" dirty="0"/>
                  <a:t>Ⅰ	</a:t>
                </a:r>
                <a:r>
                  <a:rPr lang="ja-JP" altLang="en-US" dirty="0"/>
                  <a:t>任意の事象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に対して、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0≤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≤1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確率は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必ず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0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から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の間</a:t>
                </a:r>
                <a:r>
                  <a:rPr lang="ja-JP" altLang="en-US" dirty="0"/>
                  <a:t>の値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パーセント表示なら</a:t>
                </a:r>
                <a:r>
                  <a:rPr lang="en-US" altLang="ja-JP" dirty="0"/>
                  <a:t>0%</a:t>
                </a:r>
                <a:r>
                  <a:rPr lang="ja-JP" altLang="en-US" dirty="0"/>
                  <a:t>～</a:t>
                </a:r>
                <a:r>
                  <a:rPr lang="en-US" altLang="ja-JP" dirty="0"/>
                  <a:t>100%</a:t>
                </a:r>
              </a:p>
              <a:p>
                <a:r>
                  <a:rPr lang="en-US" altLang="ja-JP" dirty="0"/>
                  <a:t>Ⅱ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=1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全事象の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根元事象の確率の合計は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（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=100%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）</a:t>
                </a:r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r>
                  <a:rPr lang="en-US" altLang="ja-JP" dirty="0"/>
                  <a:t>Ⅲ	</a:t>
                </a:r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 err="1"/>
                  <a:t>が排</a:t>
                </a:r>
                <a:r>
                  <a:rPr lang="ja-JP" altLang="en-US" dirty="0"/>
                  <a:t>反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𝐴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𝜙</m:t>
                    </m:r>
                  </m:oMath>
                </a14:m>
                <a:r>
                  <a:rPr lang="en-US" altLang="ja-JP" dirty="0"/>
                  <a:t>)</a:t>
                </a:r>
                <a:r>
                  <a:rPr lang="ja-JP" altLang="en-US" dirty="0"/>
                  <a:t>ならば、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  <m:r>
                              <a:rPr lang="en-US" altLang="ja-JP" i="1">
                                <a:latin typeface="Cambria Math"/>
                                <a:ea typeface="Cambria Math"/>
                              </a:rPr>
                              <m:t>∪</m:t>
                            </m:r>
                            <m:r>
                              <a:rPr lang="en-US" altLang="ja-JP" i="1">
                                <a:latin typeface="Cambria Math"/>
                                <a:ea typeface="Cambria Math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積事象が空事象であれば、和事象の確率は</a:t>
                </a:r>
                <a:br>
                  <a:rPr lang="en-US" altLang="ja-JP" dirty="0"/>
                </a:br>
                <a:r>
                  <a:rPr lang="ja-JP" altLang="en-US" dirty="0"/>
                  <a:t>和事象を構成する事象の確率の和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5B7B739-48A1-5844-6FA2-5F97FFB7B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9FC9C5D-505F-3519-BE82-98966B5F980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0258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FA4A1-E4DF-E371-20BB-B027C39A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確率の公理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詳細版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F2F2BA8-C9AE-6ACD-DAB2-FB09DE50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E2C323-F269-6A3C-CFED-176873306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確率の公理（コルモゴロフの公理）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Ⅰ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非負性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事象の確率は非負の実数をとる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Ⅱ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少なくとも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つの根元事象が起こる確率は</a:t>
                </a:r>
                <a:r>
                  <a:rPr lang="en-US" altLang="ja-JP" dirty="0"/>
                  <a:t>1</a:t>
                </a:r>
              </a:p>
              <a:p>
                <a:pPr lvl="1"/>
                <a:r>
                  <a:rPr kumimoji="1" lang="en-US" altLang="ja-JP" dirty="0"/>
                  <a:t>Ⅲ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加算加法性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互いに排反な事象の和集合の確率は，それぞれの確率の和に等しい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E2C323-F269-6A3C-CFED-176873306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93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AD10-0DDA-8972-DC0C-F376BD4F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DAB112-E9B0-3C68-7374-EE6CB008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確率の公理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詳細版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4501A-4D5E-8032-61CD-EE0B62A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A64B517-EDC0-34F6-087B-9260649C5C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ja-JP" altLang="en-US" dirty="0"/>
                  <a:t>コルモゴロフの公理から導かれる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つの系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単調性</a:t>
                </a:r>
                <a:endParaRPr lang="en-US" altLang="ja-JP" dirty="0"/>
              </a:p>
              <a:p>
                <a:pPr lvl="2"/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の部分集合の場合</a:t>
                </a:r>
                <a:r>
                  <a:rPr kumimoji="1" lang="ja-JP" altLang="en-US" sz="1600" dirty="0"/>
                  <a:t>（</a:t>
                </a:r>
                <a:r>
                  <a:rPr kumimoji="1" lang="en-US" altLang="ja-JP" sz="1600" dirty="0"/>
                  <a:t>A</a:t>
                </a:r>
                <a:r>
                  <a:rPr kumimoji="1" lang="ja-JP" altLang="en-US" sz="1600" dirty="0"/>
                  <a:t>が</a:t>
                </a:r>
                <a:r>
                  <a:rPr kumimoji="1" lang="en-US" altLang="ja-JP" sz="1600" dirty="0"/>
                  <a:t>B</a:t>
                </a:r>
                <a:r>
                  <a:rPr kumimoji="1" lang="ja-JP" altLang="en-US" sz="1600" dirty="0"/>
                  <a:t>に含まれる場合）</a:t>
                </a:r>
                <a:r>
                  <a:rPr kumimoji="1" lang="ja-JP" altLang="en-US" dirty="0"/>
                  <a:t>，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の確率は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の確率以下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公理</a:t>
                </a:r>
                <a:r>
                  <a:rPr lang="en-US" altLang="ja-JP" dirty="0"/>
                  <a:t>Ⅱ</a:t>
                </a:r>
                <a:r>
                  <a:rPr lang="ja-JP" altLang="en-US" dirty="0"/>
                  <a:t>より，少なくとも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つの根元事象が起こる確率は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なので，</a:t>
                </a:r>
                <a:br>
                  <a:rPr lang="en-US" altLang="ja-JP" dirty="0"/>
                </a:br>
                <a:r>
                  <a:rPr lang="ja-JP" altLang="en-US" dirty="0"/>
                  <a:t>何も起こらない確率は</a:t>
                </a:r>
                <a:r>
                  <a:rPr lang="en-US" altLang="ja-JP" dirty="0"/>
                  <a:t>0</a:t>
                </a:r>
              </a:p>
              <a:p>
                <a:pPr lvl="1"/>
                <a:r>
                  <a:rPr kumimoji="1"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余事象の法則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余事象</a:t>
                </a:r>
                <a:r>
                  <a:rPr kumimoji="1" lang="ja-JP" altLang="en-US" sz="1600" dirty="0"/>
                  <a:t>（</a:t>
                </a:r>
                <a:r>
                  <a:rPr kumimoji="1" lang="en-US" altLang="ja-JP" sz="1600" dirty="0"/>
                  <a:t>A</a:t>
                </a:r>
                <a:r>
                  <a:rPr kumimoji="1" lang="ja-JP" altLang="en-US" sz="1600" dirty="0"/>
                  <a:t>が起こらない）</a:t>
                </a:r>
                <a:r>
                  <a:rPr kumimoji="1" lang="ja-JP" altLang="en-US" dirty="0"/>
                  <a:t>の確率は，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全事象の確率</a:t>
                </a:r>
                <a:r>
                  <a:rPr kumimoji="1" lang="ja-JP" altLang="en-US" sz="1600" dirty="0"/>
                  <a:t>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sz="1600" dirty="0"/>
                  <a:t>）</a:t>
                </a:r>
                <a:r>
                  <a:rPr kumimoji="1" lang="ja-JP" altLang="en-US" dirty="0"/>
                  <a:t>から，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が起こる確率</a:t>
                </a:r>
                <a:r>
                  <a:rPr kumimoji="1" lang="ja-JP" altLang="en-US" sz="1600" dirty="0"/>
                  <a:t>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1600" dirty="0"/>
                  <a:t>）</a:t>
                </a:r>
                <a:r>
                  <a:rPr kumimoji="1" lang="ja-JP" altLang="en-US" dirty="0"/>
                  <a:t>を引いたもの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確率の値域（取り得る値の範囲）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単調性の性質（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kumimoji="1" lang="ja-JP" altLang="en-US" dirty="0"/>
                  <a:t>）を使うと，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より</a:t>
                </a:r>
                <a:br>
                  <a:rPr kumimoji="1" lang="en-US" altLang="ja-JP" dirty="0"/>
                </a:b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ja-JP" altLang="en-US" dirty="0"/>
                  <a:t>となる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A64B517-EDC0-34F6-087B-9260649C5C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 b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23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2CB0A-0B5D-2B20-0627-009C8E5A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カードの事例から考える確率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BA32CC0-D2A2-DBBF-95B7-3FC6D08F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0C53E518-8B8A-8D56-548B-1902A560005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sz="2800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sz="2800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sz="2800" dirty="0">
                    <a:solidFill>
                      <a:schemeClr val="tx2"/>
                    </a:solidFill>
                  </a:rPr>
                  <a:t>の確率</a:t>
                </a:r>
                <a:r>
                  <a:rPr lang="en-US" altLang="ja-JP" sz="2800" dirty="0">
                    <a:solidFill>
                      <a:schemeClr val="tx1"/>
                    </a:solidFill>
                  </a:rPr>
                  <a:t>(</a:t>
                </a:r>
                <a:r>
                  <a:rPr lang="ja-JP" altLang="en-US" sz="2800" dirty="0">
                    <a:solidFill>
                      <a:schemeClr val="tx1"/>
                    </a:solidFill>
                  </a:rPr>
                  <a:t>カードの出方がランダムの場合</a:t>
                </a:r>
                <a:r>
                  <a:rPr lang="en-US" altLang="ja-JP" sz="2800" dirty="0">
                    <a:solidFill>
                      <a:schemeClr val="tx1"/>
                    </a:solidFill>
                  </a:rPr>
                  <a:t>)</a:t>
                </a: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該当</m:t>
                        </m:r>
                        <m:r>
                          <a:rPr lang="ja-JP" alt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事象</m:t>
                        </m:r>
                        <m:r>
                          <a:rPr lang="ja-JP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の要素数</m:t>
                        </m:r>
                      </m:num>
                      <m:den>
                        <m: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全事象</m:t>
                        </m:r>
                        <m:r>
                          <a:rPr lang="ja-JP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要素数</m:t>
                        </m:r>
                      </m:den>
                    </m:f>
                    <m:r>
                      <a:rPr kumimoji="1" lang="en-US" altLang="ja-JP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sz="2400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sz="2200" dirty="0">
                    <a:solidFill>
                      <a:schemeClr val="tx2"/>
                    </a:solidFill>
                  </a:rPr>
                  <a:t>当たりは</a:t>
                </a:r>
                <a:r>
                  <a:rPr lang="en-US" altLang="ja-JP" sz="22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2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200" dirty="0">
                    <a:solidFill>
                      <a:schemeClr val="tx2"/>
                    </a:solidFill>
                  </a:rPr>
                  <a:t>4</a:t>
                </a:r>
                <a:r>
                  <a:rPr lang="ja-JP" altLang="en-US" sz="22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0C53E518-8B8A-8D56-548B-1902A56000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1099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C50AE69F-68FA-CE4D-32C6-468BFE23CD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790380"/>
              </p:ext>
            </p:extLst>
          </p:nvPr>
        </p:nvGraphicFramePr>
        <p:xfrm>
          <a:off x="6155635" y="4830417"/>
          <a:ext cx="2583363" cy="15772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121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861121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861121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52576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52576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52576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2F2BE71B-4C7B-F0D8-C19C-163440090ADE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188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226B-BC5B-E7E4-535A-E1A30D73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F3F07-2E86-F366-5F98-47A071DF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同時確率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CDA259-99C1-12BF-1DCE-1F54C9F2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A64E83D-9D39-BFFC-0DAE-27CF00EAE98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同時確率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joint probability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積事象の確率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事象が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つ同時に起きる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sz="2000" dirty="0">
                    <a:solidFill>
                      <a:schemeClr val="tx2"/>
                    </a:solidFill>
                  </a:rPr>
                  <a:t>AB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ともに当たりは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A64E83D-9D39-BFFC-0DAE-27CF00EA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B212314B-BF54-88FF-CCDF-50213D075061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4FA31974-B420-3784-B887-798DD48EEA1F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459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B80AB-7B22-7A8C-663E-3CA9F831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3274D-3B6B-4F3D-D432-29C72D2A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和集合の確率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BC908B-DDFC-C2AD-B806-E70B97A0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E062CA8-AEF3-E464-CA7F-AF88B005B54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和集合の確率</a:t>
                </a:r>
                <a:endParaRPr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和事象の確率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元の事象の確率より大きくなる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3"/>
                <a:r>
                  <a:rPr kumimoji="1" lang="ja-JP" altLang="en-US" sz="1800" dirty="0">
                    <a:solidFill>
                      <a:schemeClr val="tx2"/>
                    </a:solidFill>
                  </a:rPr>
                  <a:t>加算加法性，単調性より</a:t>
                </a:r>
                <a:endParaRPr kumimoji="1" lang="en-US" altLang="ja-JP" sz="1800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sz="2000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または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が当たりは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5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E062CA8-AEF3-E464-CA7F-AF88B005B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F0E1C2AE-F6F7-F048-9AE7-0AE6C4901151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35430BDE-764C-89E6-5D9E-E643F0F48877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8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FB23-96B4-E366-4FA9-8C5776B9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1C38C-096F-31D7-438A-81C6F433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条件付き確率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6CA5CB-FE55-D01E-9C9A-230E1B40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77C6106D-4C1B-AF24-45C1-09D896249F7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条件付き確率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conditional probability</a:t>
                </a:r>
              </a:p>
              <a:p>
                <a:pPr lvl="1"/>
                <a:r>
                  <a:rPr lang="en-US" altLang="ja-JP" dirty="0">
                    <a:solidFill>
                      <a:schemeClr val="accent5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が起こったことを想定して</a:t>
                </a:r>
                <a:r>
                  <a:rPr lang="ja-JP" altLang="en-US" sz="1600" dirty="0">
                    <a:solidFill>
                      <a:schemeClr val="accent5"/>
                    </a:solidFill>
                  </a:rPr>
                  <a:t>（確定）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lang="en-US" altLang="ja-JP" dirty="0">
                    <a:solidFill>
                      <a:schemeClr val="tx2"/>
                    </a:solidFill>
                  </a:rPr>
                </a:b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が起こる確率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|条件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積事象</m:t>
                        </m:r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確率</m:t>
                        </m:r>
                      </m:num>
                      <m:den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条件</m:t>
                        </m:r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確率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77C6106D-4C1B-AF24-45C1-09D896249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94513571-51E5-67D3-3CE5-006F30226038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C1F730AD-55A6-D128-5489-5F04B5B01F96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07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0D1C3-3CD0-149E-84C8-00E517C6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</a:t>
            </a:r>
            <a:r>
              <a:rPr lang="ja-JP" altLang="en-US" dirty="0"/>
              <a:t>　条件付確率の計算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30C6A0-ADB7-D534-B7D3-AE711F2C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23CAF5F-7B55-2365-EEF0-5F74150529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条件付確率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（条件）</a:t>
                </a:r>
                <a:r>
                  <a:rPr lang="ja-JP" altLang="en-US" dirty="0"/>
                  <a:t>が起こった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場合に</a:t>
                </a:r>
                <a:r>
                  <a:rPr lang="ja-JP" altLang="en-US" dirty="0"/>
                  <a:t>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が起こる確率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/>
              </a:p>
              <a:p>
                <a:r>
                  <a:rPr kumimoji="1" lang="ja-JP" altLang="en-US" dirty="0"/>
                  <a:t>練習問題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サイコロを振り，出目を見逃した．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友人によると，出目は偶数だったとのこと．</a:t>
                </a:r>
                <a:br>
                  <a:rPr kumimoji="1" lang="ja-JP" altLang="en-US" dirty="0"/>
                </a:br>
                <a:r>
                  <a:rPr kumimoji="1" lang="ja-JP" altLang="en-US" dirty="0"/>
                  <a:t>出目が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以上である確率は？</a:t>
                </a:r>
              </a:p>
              <a:p>
                <a:pPr lvl="1"/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（確定している条件）</a:t>
                </a:r>
                <a:r>
                  <a:rPr lang="ja-JP" altLang="en-US" dirty="0"/>
                  <a:t>は？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→　偶数　→　</a:t>
                </a:r>
                <a:r>
                  <a:rPr lang="en-US" altLang="ja-JP" dirty="0"/>
                  <a:t>2,4,6</a:t>
                </a:r>
              </a:p>
              <a:p>
                <a:pPr lvl="1"/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sz="1800" dirty="0"/>
                  <a:t>（確率を求めたい事象）</a:t>
                </a:r>
                <a:r>
                  <a:rPr kumimoji="1" lang="ja-JP" altLang="en-US" dirty="0"/>
                  <a:t>は？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→　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　→　</a:t>
                </a:r>
                <a:r>
                  <a:rPr kumimoji="1" lang="en-US" altLang="ja-JP" dirty="0"/>
                  <a:t>4,5,6</a:t>
                </a:r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の積事象は？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→　偶数かつ</a:t>
                </a:r>
                <a:r>
                  <a:rPr lang="en-US" altLang="ja-JP" dirty="0"/>
                  <a:t>4</a:t>
                </a:r>
                <a:r>
                  <a:rPr lang="ja-JP" altLang="en-US" dirty="0"/>
                  <a:t>以上　→　</a:t>
                </a:r>
                <a:r>
                  <a:rPr lang="en-US" altLang="ja-JP" dirty="0"/>
                  <a:t>4,6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23CAF5F-7B55-2365-EEF0-5F74150529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FBB111-F35B-8E00-3AC5-10CB4C595287}"/>
              </a:ext>
            </a:extLst>
          </p:cNvPr>
          <p:cNvSpPr/>
          <p:nvPr/>
        </p:nvSpPr>
        <p:spPr>
          <a:xfrm>
            <a:off x="4389061" y="5157557"/>
            <a:ext cx="165867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4BEC58-43E3-C7D9-FA9A-CC8239A3D9B9}"/>
              </a:ext>
            </a:extLst>
          </p:cNvPr>
          <p:cNvSpPr/>
          <p:nvPr/>
        </p:nvSpPr>
        <p:spPr>
          <a:xfrm>
            <a:off x="4521298" y="5684252"/>
            <a:ext cx="165867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B0732A-04F9-F55E-448B-4227162DA9E9}"/>
              </a:ext>
            </a:extLst>
          </p:cNvPr>
          <p:cNvSpPr/>
          <p:nvPr/>
        </p:nvSpPr>
        <p:spPr>
          <a:xfrm>
            <a:off x="4776052" y="6227280"/>
            <a:ext cx="2543375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D15BC2-3B5B-C5A6-3D58-0DD1646C659D}"/>
              </a:ext>
            </a:extLst>
          </p:cNvPr>
          <p:cNvSpPr/>
          <p:nvPr/>
        </p:nvSpPr>
        <p:spPr>
          <a:xfrm>
            <a:off x="2636874" y="3848614"/>
            <a:ext cx="2158410" cy="31941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C119276-5777-72B1-CC02-93A963036B27}"/>
              </a:ext>
            </a:extLst>
          </p:cNvPr>
          <p:cNvSpPr/>
          <p:nvPr/>
        </p:nvSpPr>
        <p:spPr>
          <a:xfrm>
            <a:off x="1710069" y="4199929"/>
            <a:ext cx="799215" cy="329608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DB3887-EA0B-459B-6EAB-493C8BD7419E}"/>
              </a:ext>
            </a:extLst>
          </p:cNvPr>
          <p:cNvSpPr/>
          <p:nvPr/>
        </p:nvSpPr>
        <p:spPr>
          <a:xfrm>
            <a:off x="6539023" y="5147690"/>
            <a:ext cx="935665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1A7305-A796-6821-4B83-EA2CC54A729B}"/>
              </a:ext>
            </a:extLst>
          </p:cNvPr>
          <p:cNvSpPr/>
          <p:nvPr/>
        </p:nvSpPr>
        <p:spPr>
          <a:xfrm>
            <a:off x="6675322" y="5689952"/>
            <a:ext cx="101201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03E42D8-E2A1-C404-0D8C-EC8CB4135737}"/>
              </a:ext>
            </a:extLst>
          </p:cNvPr>
          <p:cNvSpPr/>
          <p:nvPr/>
        </p:nvSpPr>
        <p:spPr>
          <a:xfrm>
            <a:off x="7764070" y="6194615"/>
            <a:ext cx="752610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66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7C54-5F58-1F42-8331-D305662A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A0766A-21D4-4028-3C63-49D3DB80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</a:t>
            </a:r>
            <a:r>
              <a:rPr lang="ja-JP" altLang="en-US" dirty="0"/>
              <a:t>　条件付確率の計算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B40E83-26E7-F966-A1ED-2A345EA1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332D3B9-9BC4-1544-0839-5FE8E3017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条件付確率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/>
              </a:p>
              <a:p>
                <a:r>
                  <a:rPr kumimoji="1" lang="ja-JP" altLang="en-US" dirty="0"/>
                  <a:t>練習問題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（確定している条件）</a:t>
                </a:r>
                <a:r>
                  <a:rPr lang="ja-JP" altLang="en-US" dirty="0"/>
                  <a:t>は？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→　偶数　→　</a:t>
                </a:r>
                <a:r>
                  <a:rPr lang="en-US" altLang="ja-JP" dirty="0"/>
                  <a:t>2,4,6</a:t>
                </a:r>
              </a:p>
              <a:p>
                <a:pPr lvl="1"/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sz="1800" dirty="0"/>
                  <a:t>（確率を求めたい事象）</a:t>
                </a:r>
                <a:r>
                  <a:rPr kumimoji="1" lang="ja-JP" altLang="en-US" dirty="0"/>
                  <a:t>は？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→　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　→　</a:t>
                </a:r>
                <a:r>
                  <a:rPr kumimoji="1" lang="en-US" altLang="ja-JP" dirty="0"/>
                  <a:t>4,5,6</a:t>
                </a:r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の積事象は？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→　偶数かつ</a:t>
                </a:r>
                <a:r>
                  <a:rPr lang="en-US" altLang="ja-JP" dirty="0"/>
                  <a:t>4</a:t>
                </a:r>
                <a:r>
                  <a:rPr lang="ja-JP" altLang="en-US" dirty="0"/>
                  <a:t>以上　→　</a:t>
                </a:r>
                <a:r>
                  <a:rPr lang="en-US" altLang="ja-JP" dirty="0"/>
                  <a:t>4,6</a:t>
                </a:r>
              </a:p>
              <a:p>
                <a:r>
                  <a:rPr kumimoji="1" lang="ja-JP" altLang="en-US" dirty="0"/>
                  <a:t>確率を計算して代入する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332D3B9-9BC4-1544-0839-5FE8E3017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08E267-BA42-AE91-8D43-7E5691BF596E}"/>
              </a:ext>
            </a:extLst>
          </p:cNvPr>
          <p:cNvSpPr/>
          <p:nvPr/>
        </p:nvSpPr>
        <p:spPr>
          <a:xfrm>
            <a:off x="1805349" y="4753520"/>
            <a:ext cx="448754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E3A7B6-C70E-1BE3-7BF6-DDD6A3B69DB9}"/>
              </a:ext>
            </a:extLst>
          </p:cNvPr>
          <p:cNvSpPr/>
          <p:nvPr/>
        </p:nvSpPr>
        <p:spPr>
          <a:xfrm>
            <a:off x="2360430" y="5384787"/>
            <a:ext cx="448754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290744-4473-F4F6-A347-76621E578971}"/>
              </a:ext>
            </a:extLst>
          </p:cNvPr>
          <p:cNvSpPr/>
          <p:nvPr/>
        </p:nvSpPr>
        <p:spPr>
          <a:xfrm>
            <a:off x="2136052" y="6053049"/>
            <a:ext cx="673131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6118D-53A0-80B4-682E-629F3A3EE46A}"/>
              </a:ext>
            </a:extLst>
          </p:cNvPr>
          <p:cNvSpPr/>
          <p:nvPr/>
        </p:nvSpPr>
        <p:spPr>
          <a:xfrm>
            <a:off x="2809183" y="6053048"/>
            <a:ext cx="1475738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57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84893-40EB-F33B-D8CE-8EFF3F4E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独立の場合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210ADBD-933E-209B-7780-0F3E638A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DB3AA57-7E9C-7CF4-6833-CBAE9752918F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31976" y="3189514"/>
                <a:ext cx="8880048" cy="3552222"/>
              </a:xfrm>
            </p:spPr>
            <p:txBody>
              <a:bodyPr anchor="ctr">
                <a:normAutofit/>
              </a:bodyPr>
              <a:lstStyle/>
              <a:p>
                <a:r>
                  <a:rPr kumimoji="1" lang="ja-JP" altLang="en-US" sz="2000" b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積事象の確率</a:t>
                </a:r>
                <a:r>
                  <a:rPr kumimoji="1" lang="en-US" altLang="ja-JP" sz="2000" b="0" i="1" dirty="0">
                    <a:latin typeface="Cambria Math" panose="02040503050406030204" pitchFamily="18" charset="0"/>
                  </a:rPr>
                  <a:t>	</a:t>
                </a:r>
                <a:r>
                  <a:rPr kumimoji="1" lang="ja-JP" altLang="en-US" sz="2000" b="0" i="1" dirty="0">
                    <a:latin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ja-JP" sz="2000" dirty="0"/>
                  <a:t>A</a:t>
                </a:r>
                <a:r>
                  <a:rPr lang="ja-JP" altLang="en-US" sz="2000" dirty="0"/>
                  <a:t>と</a:t>
                </a:r>
                <a:r>
                  <a:rPr lang="en-US" altLang="ja-JP" sz="2000" dirty="0"/>
                  <a:t>B</a:t>
                </a:r>
                <a:r>
                  <a:rPr lang="ja-JP" altLang="en-US" sz="2000" dirty="0"/>
                  <a:t>が独立なら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pPr lvl="1"/>
                <a:r>
                  <a:rPr lang="ja-JP" altLang="en-US" sz="1800" dirty="0"/>
                  <a:t>今回のカードの事例は独立でないので</a:t>
                </a:r>
                <a:r>
                  <a:rPr lang="en-US" altLang="ja-JP" sz="1800" dirty="0"/>
                  <a:t>	</a:t>
                </a:r>
                <a:r>
                  <a:rPr lang="ja-JP" altLang="en-US" sz="18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altLang="ja-JP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ja-JP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altLang="ja-JP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ja-JP" sz="1800" dirty="0"/>
              </a:p>
              <a:p>
                <a:r>
                  <a:rPr lang="ja-JP" altLang="en-US" sz="2000" b="1" dirty="0">
                    <a:solidFill>
                      <a:schemeClr val="accent5"/>
                    </a:solidFill>
                  </a:rPr>
                  <a:t>和事象の確率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US" altLang="ja-JP" sz="2000" dirty="0"/>
              </a:p>
              <a:p>
                <a:r>
                  <a:rPr lang="en-US" altLang="ja-JP" sz="2000" dirty="0"/>
                  <a:t>A</a:t>
                </a:r>
                <a:r>
                  <a:rPr lang="ja-JP" altLang="en-US" sz="2000" dirty="0"/>
                  <a:t>と</a:t>
                </a:r>
                <a:r>
                  <a:rPr lang="en-US" altLang="ja-JP" sz="2000" dirty="0"/>
                  <a:t>B</a:t>
                </a:r>
                <a:r>
                  <a:rPr lang="ja-JP" altLang="en-US" sz="2000" dirty="0"/>
                  <a:t>が独立なら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2000" dirty="0"/>
              </a:p>
              <a:p>
                <a:pPr lvl="1"/>
                <a:r>
                  <a:rPr lang="ja-JP" altLang="en-US" sz="1800" dirty="0"/>
                  <a:t>今回のカードの事例は独立でないので</a:t>
                </a:r>
                <a:r>
                  <a:rPr lang="en-US" altLang="ja-JP" sz="1800" dirty="0"/>
                  <a:t>	</a:t>
                </a:r>
                <a:r>
                  <a:rPr lang="ja-JP" altLang="en-US" sz="1800" dirty="0"/>
                  <a:t>：</a:t>
                </a:r>
                <a:endParaRPr lang="en-US" altLang="ja-JP" sz="18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ja-JP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altLang="ja-JP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1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DB3AA57-7E9C-7CF4-6833-CBAE97529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31976" y="3189514"/>
                <a:ext cx="8880048" cy="3552222"/>
              </a:xfr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F1FBD34A-0079-4FE0-9976-E172C43AAFDF}"/>
                  </a:ext>
                </a:extLst>
              </p:cNvPr>
              <p:cNvSpPr/>
              <p:nvPr/>
            </p:nvSpPr>
            <p:spPr>
              <a:xfrm>
                <a:off x="131975" y="890986"/>
                <a:ext cx="8880049" cy="204815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ja-JP" altLang="en-US" sz="2400" b="1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独立</a:t>
                </a:r>
                <a:endParaRPr kumimoji="1" lang="en-US" altLang="ja-JP" sz="2400" b="1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ある事象や試行の結果が，</a:t>
                </a:r>
                <a:r>
                  <a: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他の事象や試行の結果に影響を与えない</a:t>
                </a:r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状態．</a:t>
                </a:r>
                <a:b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互いに同値な次のいずれかが成り立つこと</a:t>
                </a:r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①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②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③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F1FBD34A-0079-4FE0-9976-E172C43AAF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5" y="890986"/>
                <a:ext cx="8880049" cy="2048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031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4E1C1-10C6-AC2B-8273-FC2F3129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2400" dirty="0"/>
              <a:t>(Advanced) </a:t>
            </a:r>
            <a:r>
              <a:rPr kumimoji="1" lang="ja-JP" altLang="en-US" sz="2400" dirty="0"/>
              <a:t>条件付確率以外からの独立でないことの証明</a:t>
            </a:r>
            <a:r>
              <a:rPr lang="ja-JP" altLang="en-US" sz="2400" dirty="0">
                <a:solidFill>
                  <a:srgbClr val="FF0000"/>
                </a:solidFill>
              </a:rPr>
              <a:t>　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4D90B1-911E-5D2E-2677-83FBE7EE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960A75-F01A-AD7A-25B6-BAF734251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と事象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が独立ならば，以下が成り立つ．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指示関数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が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起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き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る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それ以外</m:t>
                            </m:r>
                          </m:e>
                        </m:eqAr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が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起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き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る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0: 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それ以外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指示関数について，</a:t>
                </a:r>
                <a:r>
                  <a:rPr kumimoji="1" lang="ja-JP" altLang="en-US" dirty="0">
                    <a:solidFill>
                      <a:srgbClr val="00B050"/>
                    </a:solidFill>
                  </a:rPr>
                  <a:t>共分散</a:t>
                </a:r>
                <a:r>
                  <a:rPr kumimoji="1" lang="ja-JP" altLang="en-US" dirty="0"/>
                  <a:t>がゼロ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今回のカードの事例では，実際に計算してみると，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=0.2−0.15=0.05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共分散が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に一致しないので独立ではない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さらに共分散が正の値なので，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と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が同時に起きやすい</a:t>
                </a:r>
                <a:r>
                  <a:rPr kumimoji="1" lang="ja-JP" altLang="en-US" sz="1900" dirty="0"/>
                  <a:t>（正の相関がある）</a:t>
                </a:r>
                <a:r>
                  <a:rPr kumimoji="1" lang="ja-JP" altLang="en-US" dirty="0"/>
                  <a:t>こともわかる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960A75-F01A-AD7A-25B6-BAF734251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2" t="-947" b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672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1E302-687A-183E-9C4A-AB995A5A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病気にかかっているか判定する検査</a:t>
            </a:r>
            <a:r>
              <a:rPr kumimoji="1" lang="en-US" altLang="ja-JP" dirty="0"/>
              <a:t>【</a:t>
            </a:r>
            <a:r>
              <a:rPr kumimoji="1" lang="ja-JP" altLang="en-US" dirty="0"/>
              <a:t>難問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EEE7F25-C4B6-9A58-D1F9-F0D52071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BE9C4C-39D6-C012-7F0A-B8BD1333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ある病気は</a:t>
            </a:r>
            <a:r>
              <a:rPr kumimoji="1" lang="en-US" altLang="ja-JP" dirty="0"/>
              <a:t>10</a:t>
            </a:r>
            <a:r>
              <a:rPr kumimoji="1" lang="ja-JP" altLang="en-US" dirty="0"/>
              <a:t>万人に</a:t>
            </a:r>
            <a:r>
              <a:rPr kumimoji="1" lang="en-US" altLang="ja-JP" dirty="0"/>
              <a:t>1</a:t>
            </a:r>
            <a:r>
              <a:rPr kumimoji="1" lang="ja-JP" altLang="en-US" dirty="0"/>
              <a:t>人が罹患</a:t>
            </a:r>
          </a:p>
          <a:p>
            <a:r>
              <a:rPr kumimoji="1" lang="ja-JP" altLang="en-US" dirty="0"/>
              <a:t>検査の判定が間違っている確率は</a:t>
            </a:r>
            <a:r>
              <a:rPr kumimoji="1" lang="en-US" altLang="ja-JP" dirty="0"/>
              <a:t>1%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(=0.01)</a:t>
            </a:r>
          </a:p>
          <a:p>
            <a:pPr lvl="1"/>
            <a:r>
              <a:rPr kumimoji="1" lang="ja-JP" altLang="en-US" dirty="0"/>
              <a:t>病気なのに陰性反応が出る場合</a:t>
            </a:r>
          </a:p>
          <a:p>
            <a:pPr lvl="1"/>
            <a:r>
              <a:rPr kumimoji="1" lang="ja-JP" altLang="en-US" dirty="0"/>
              <a:t>病気でないのに陽性反応が出る場合</a:t>
            </a:r>
          </a:p>
          <a:p>
            <a:r>
              <a:rPr kumimoji="1" lang="ja-JP" altLang="en-US" dirty="0"/>
              <a:t>検査で陽性反応が出たとき，</a:t>
            </a:r>
            <a:br>
              <a:rPr kumimoji="1" lang="en-US" altLang="ja-JP" dirty="0"/>
            </a:br>
            <a:r>
              <a:rPr kumimoji="1" lang="ja-JP" altLang="en-US" dirty="0"/>
              <a:t>あなたが本当に罹患している確率は？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事象</a:t>
            </a:r>
            <a:r>
              <a:rPr kumimoji="1" lang="en-US" altLang="ja-JP" dirty="0"/>
              <a:t>A</a:t>
            </a:r>
            <a:r>
              <a:rPr kumimoji="1" lang="ja-JP" altLang="en-US" sz="2000" dirty="0"/>
              <a:t>（条件）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：陽性反応が出る</a:t>
            </a:r>
          </a:p>
          <a:p>
            <a:r>
              <a:rPr kumimoji="1" lang="ja-JP" altLang="en-US" dirty="0"/>
              <a:t>同時確率</a:t>
            </a:r>
            <a:r>
              <a:rPr lang="en-US" altLang="ja-JP" dirty="0"/>
              <a:t>		</a:t>
            </a:r>
            <a:r>
              <a:rPr lang="ja-JP" altLang="en-US" dirty="0"/>
              <a:t>：</a:t>
            </a:r>
            <a:r>
              <a:rPr kumimoji="1" lang="ja-JP" altLang="en-US" dirty="0"/>
              <a:t>本当に罹患していて，検査が正しい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7D4372-1E45-77FC-837E-B76E7A22213E}"/>
              </a:ext>
            </a:extLst>
          </p:cNvPr>
          <p:cNvSpPr/>
          <p:nvPr/>
        </p:nvSpPr>
        <p:spPr>
          <a:xfrm>
            <a:off x="2809183" y="4713345"/>
            <a:ext cx="2464565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4C3802-E4CB-C7FE-95AC-8D41EBDA45B0}"/>
              </a:ext>
            </a:extLst>
          </p:cNvPr>
          <p:cNvSpPr/>
          <p:nvPr/>
        </p:nvSpPr>
        <p:spPr>
          <a:xfrm>
            <a:off x="2809182" y="5319457"/>
            <a:ext cx="5141773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63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ACFDD-77F8-1F3C-1C9A-FB06B8C5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病気にかかっているか判定する検査</a:t>
            </a:r>
            <a:r>
              <a:rPr lang="en-US" altLang="ja-JP" dirty="0"/>
              <a:t>【</a:t>
            </a:r>
            <a:r>
              <a:rPr lang="ja-JP" altLang="en-US" dirty="0"/>
              <a:t>難問</a:t>
            </a:r>
            <a:r>
              <a:rPr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A40278-E466-7074-2649-D8CEC0F1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850CBCC-C716-8D15-C3AD-2F5D1CA95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（条件）：陽性反応が出る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2</a:t>
                </a:r>
                <a:r>
                  <a:rPr lang="ja-JP" altLang="en-US" dirty="0"/>
                  <a:t>つのパターンのそれぞれの確率を計算する</a:t>
                </a:r>
              </a:p>
              <a:p>
                <a:endParaRPr lang="en-US" altLang="ja-JP" dirty="0"/>
              </a:p>
              <a:p>
                <a:r>
                  <a:rPr lang="ja-JP" altLang="en-US" dirty="0"/>
                  <a:t>本当に罹患していて，検査結果が正しい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(0.00001×0.99)</a:t>
                </a:r>
              </a:p>
              <a:p>
                <a:r>
                  <a:rPr lang="ja-JP" altLang="en-US" dirty="0"/>
                  <a:t>罹患していないのに，検査結果が誤り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(0.99999×0.01)</a:t>
                </a:r>
              </a:p>
              <a:p>
                <a:endParaRPr lang="en-US" altLang="ja-JP" dirty="0"/>
              </a:p>
              <a:p>
                <a:r>
                  <a:rPr lang="ja-JP" altLang="en-US" dirty="0"/>
                  <a:t>上記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パターンは同時には起こりえないので</a:t>
                </a:r>
                <a:r>
                  <a:rPr lang="en-US" altLang="ja-JP" dirty="0"/>
                  <a:t>【</a:t>
                </a:r>
                <a:r>
                  <a:rPr lang="ja-JP" altLang="en-US" dirty="0"/>
                  <a:t>独立</a:t>
                </a:r>
                <a:r>
                  <a:rPr lang="en-US" altLang="ja-JP" dirty="0"/>
                  <a:t>】</a:t>
                </a:r>
              </a:p>
              <a:p>
                <a:pPr lvl="1"/>
                <a:r>
                  <a:rPr lang="ja-JP" altLang="en-US" dirty="0"/>
                  <a:t>単純に足し算すれば良い</a:t>
                </a:r>
                <a:endParaRPr lang="en-US" altLang="ja-JP" dirty="0"/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100000</m:t>
                            </m:r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×0.99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99999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100000</m:t>
                            </m:r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×0.01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=0.0100098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850CBCC-C716-8D15-C3AD-2F5D1CA95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80D0A1-ABDC-A24D-B70B-3DDE642EDA10}"/>
              </a:ext>
            </a:extLst>
          </p:cNvPr>
          <p:cNvSpPr/>
          <p:nvPr/>
        </p:nvSpPr>
        <p:spPr>
          <a:xfrm>
            <a:off x="1702435" y="5819131"/>
            <a:ext cx="6920570" cy="902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0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5DDE-2178-368F-B0AB-0C06CDCC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0641D-AB16-D85D-6D3A-69E2179E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病気にかかっているか判定する検査</a:t>
            </a:r>
            <a:r>
              <a:rPr lang="en-US" altLang="ja-JP" dirty="0"/>
              <a:t>【</a:t>
            </a:r>
            <a:r>
              <a:rPr lang="ja-JP" altLang="en-US" dirty="0"/>
              <a:t>難問</a:t>
            </a:r>
            <a:r>
              <a:rPr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1FDA07-6ADF-5CDF-B3A5-FE58ED33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F4366C5-65E5-90B0-15B8-44D16230C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同時確率：本当に罹患していて，検査結果が正しい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(0.00001×0.99)</a:t>
                </a:r>
              </a:p>
              <a:p>
                <a:pPr lvl="2"/>
                <a:r>
                  <a:rPr lang="ja-JP" altLang="en-US" dirty="0"/>
                  <a:t>既出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条件付確率：</a:t>
                </a:r>
                <a:br>
                  <a:rPr lang="en-US" altLang="ja-JP" dirty="0"/>
                </a:br>
                <a:r>
                  <a:rPr lang="ja-JP" altLang="en-US" dirty="0"/>
                  <a:t>検査で陽性反応が出たとき，本当に罹患している確率</a:t>
                </a:r>
                <a:endParaRPr lang="en-US" altLang="ja-JP" dirty="0"/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同時確率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事象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0.00098031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F4366C5-65E5-90B0-15B8-44D16230C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E580D55-FCEF-7145-11D9-B5C131ED81E2}"/>
              </a:ext>
            </a:extLst>
          </p:cNvPr>
          <p:cNvSpPr/>
          <p:nvPr/>
        </p:nvSpPr>
        <p:spPr>
          <a:xfrm>
            <a:off x="4572000" y="4806997"/>
            <a:ext cx="2116842" cy="902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46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節　推測統計学の基礎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推測統計学のプロセスを学ぶ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母集団の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未知の特性値</a:t>
                </a:r>
                <a:r>
                  <a:rPr lang="ja-JP" altLang="en-US" dirty="0"/>
                  <a:t>を，標本を利用して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推測</a:t>
                </a:r>
                <a:r>
                  <a:rPr lang="ja-JP" altLang="en-US" dirty="0"/>
                  <a:t>していく方法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推定量・推定値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標準誤差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確率の基礎となる概念を学ぶ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全事象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根元事象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空事象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余事象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和事象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積事象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185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1</a:t>
            </a:r>
            <a:r>
              <a:rPr lang="ja-JP" altLang="en-US" dirty="0"/>
              <a:t>節　推測統計学の基礎</a:t>
            </a:r>
            <a:endParaRPr lang="en-US" altLang="ja-JP" dirty="0"/>
          </a:p>
          <a:p>
            <a:pPr lvl="1"/>
            <a:r>
              <a:rPr lang="ja-JP" altLang="en-US" dirty="0"/>
              <a:t>確率について学ぶ</a:t>
            </a:r>
            <a:endParaRPr lang="en-US" altLang="ja-JP" dirty="0"/>
          </a:p>
          <a:p>
            <a:pPr lvl="2"/>
            <a:r>
              <a:rPr lang="ja-JP" altLang="en-US" dirty="0"/>
              <a:t>確率の公理</a:t>
            </a:r>
            <a:endParaRPr lang="en-US" altLang="ja-JP" dirty="0"/>
          </a:p>
          <a:p>
            <a:pPr lvl="2"/>
            <a:r>
              <a:rPr lang="ja-JP" altLang="en-US" dirty="0"/>
              <a:t>条件付き確率</a:t>
            </a:r>
            <a:endParaRPr lang="en-US" altLang="ja-JP" dirty="0"/>
          </a:p>
          <a:p>
            <a:pPr lvl="2"/>
            <a:r>
              <a:rPr lang="ja-JP" altLang="en-US" dirty="0"/>
              <a:t>独立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74744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753</TotalTime>
  <Words>2812</Words>
  <Application>Microsoft Office PowerPoint</Application>
  <PresentationFormat>画面に合わせる (4:3)</PresentationFormat>
  <Paragraphs>600</Paragraphs>
  <Slides>34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43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推測統計学の基礎：推測統計学のプロセス 　　　　　　　　　　　　　/確率の基礎</vt:lpstr>
      <vt:lpstr>今日の目標</vt:lpstr>
      <vt:lpstr>PowerPoint プレゼンテーション</vt:lpstr>
      <vt:lpstr>推測統計学のプロセス</vt:lpstr>
      <vt:lpstr>推定量と推定値</vt:lpstr>
      <vt:lpstr>標本誤差</vt:lpstr>
      <vt:lpstr>コイン投げの事例</vt:lpstr>
      <vt:lpstr>[AL]　コイン投げの実験をしてみよう</vt:lpstr>
      <vt:lpstr>PowerPoint プレゼンテーション</vt:lpstr>
      <vt:lpstr>事象</vt:lpstr>
      <vt:lpstr>事象</vt:lpstr>
      <vt:lpstr>積事象</vt:lpstr>
      <vt:lpstr>排反</vt:lpstr>
      <vt:lpstr>和事象</vt:lpstr>
      <vt:lpstr>PowerPoint プレゼンテーション</vt:lpstr>
      <vt:lpstr>事象</vt:lpstr>
      <vt:lpstr>事象</vt:lpstr>
      <vt:lpstr>確率</vt:lpstr>
      <vt:lpstr>確率の公理</vt:lpstr>
      <vt:lpstr>(Advanced) 確率の公理【詳細版】</vt:lpstr>
      <vt:lpstr>(Advanced) 確率の公理【詳細版】</vt:lpstr>
      <vt:lpstr>カードの事例から考える確率</vt:lpstr>
      <vt:lpstr>同時確率</vt:lpstr>
      <vt:lpstr>和集合の確率</vt:lpstr>
      <vt:lpstr>条件付き確率</vt:lpstr>
      <vt:lpstr>[AL]　条件付確率の計算</vt:lpstr>
      <vt:lpstr>[AL]　条件付確率の計算</vt:lpstr>
      <vt:lpstr>独立の場合</vt:lpstr>
      <vt:lpstr>(Advanced) 条件付確率以外からの独立でないことの証明　</vt:lpstr>
      <vt:lpstr>[AL] 病気にかかっているか判定する検査【難問】</vt:lpstr>
      <vt:lpstr>[AL] 病気にかかっているか判定する検査【難問】</vt:lpstr>
      <vt:lpstr>[AL] 病気にかかっているか判定する検査【難問】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88</cp:revision>
  <dcterms:created xsi:type="dcterms:W3CDTF">2025-03-03T09:28:12Z</dcterms:created>
  <dcterms:modified xsi:type="dcterms:W3CDTF">2026-09-13T17:52:18Z</dcterms:modified>
</cp:coreProperties>
</file>