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37"/>
  </p:notesMasterIdLst>
  <p:sldIdLst>
    <p:sldId id="256" r:id="rId2"/>
    <p:sldId id="257" r:id="rId3"/>
    <p:sldId id="575" r:id="rId4"/>
    <p:sldId id="576" r:id="rId5"/>
    <p:sldId id="578" r:id="rId6"/>
    <p:sldId id="577" r:id="rId7"/>
    <p:sldId id="579" r:id="rId8"/>
    <p:sldId id="580" r:id="rId9"/>
    <p:sldId id="581" r:id="rId10"/>
    <p:sldId id="582" r:id="rId11"/>
    <p:sldId id="584" r:id="rId12"/>
    <p:sldId id="585" r:id="rId13"/>
    <p:sldId id="567" r:id="rId14"/>
    <p:sldId id="570" r:id="rId15"/>
    <p:sldId id="571" r:id="rId16"/>
    <p:sldId id="586" r:id="rId17"/>
    <p:sldId id="587" r:id="rId18"/>
    <p:sldId id="588" r:id="rId19"/>
    <p:sldId id="262" r:id="rId20"/>
    <p:sldId id="589" r:id="rId21"/>
    <p:sldId id="590" r:id="rId22"/>
    <p:sldId id="591" r:id="rId23"/>
    <p:sldId id="574" r:id="rId24"/>
    <p:sldId id="592" r:id="rId25"/>
    <p:sldId id="593" r:id="rId26"/>
    <p:sldId id="594" r:id="rId27"/>
    <p:sldId id="595" r:id="rId28"/>
    <p:sldId id="597" r:id="rId29"/>
    <p:sldId id="598" r:id="rId30"/>
    <p:sldId id="599" r:id="rId31"/>
    <p:sldId id="600" r:id="rId32"/>
    <p:sldId id="601" r:id="rId33"/>
    <p:sldId id="573" r:id="rId34"/>
    <p:sldId id="596" r:id="rId35"/>
    <p:sldId id="602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3" autoAdjust="0"/>
    <p:restoredTop sz="89946" autoAdjust="0"/>
  </p:normalViewPr>
  <p:slideViewPr>
    <p:cSldViewPr snapToGrid="0">
      <p:cViewPr varScale="1">
        <p:scale>
          <a:sx n="109" d="100"/>
          <a:sy n="109" d="100"/>
        </p:scale>
        <p:origin x="14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973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863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892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0000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A761-3DFE-A7C8-72FA-E831D028C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F9B242-3517-B1DF-71FA-098444527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1B89F2B-5B31-6249-6183-E0D8B9272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C25B0C-7F63-62BD-5BC6-28F59BF9F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434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4656-5B4C-5ACC-01F1-C6C9F6C7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37AC0E6-22FB-FEE9-7775-85287893C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BFB20D-1D1C-EF60-A343-FB7BB4B9F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FEEA1D-8BFA-CAD0-C999-FECCD2C52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53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CD31F-4B91-A195-1DAF-ABAD9C250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AE4A6D8-B72E-3865-F860-E701C388E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7C97FA8-042C-C7FC-C338-E20A410FF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608211D-EEF9-24E1-8A96-23C28DB4C9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260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6E57A-FD0C-65A0-C46E-0E0B332EE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41423E8-DD18-3ED0-A96F-BC45FECC3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90355EC-50B1-0CD4-C30E-7B90EF013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CA4ADE-B5B0-21AA-8A79-29AEA6631F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6961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E7310-85B0-97BB-E446-7F46981E6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9AB37B3-2DEC-D878-3D21-FEFF1356BA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62C33BA-2CD7-3EB4-5043-5539393E0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6BF139-7465-8810-3B28-56A35FFB2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6095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F9CA1-BFE1-4081-3AF4-86B6DD19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14BB24-42C9-A758-CD49-232C70290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44A1237-72FC-7E49-1035-63BD74EB2E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F30F133-2F6B-EEE7-4AB0-32EDADEBA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409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6291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27155-E39B-4521-9A0F-765735CE7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CBD4163-5EF1-01EB-9442-B4E84095C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848B115-A8D6-A06F-41F9-821F4FF05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506C702-0DF9-01BD-882F-F7B3B1E78D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366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99C5-4642-F312-6B4E-617E004F7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BE0C7AE-33D2-5DC1-BFA9-1DE524D333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A829E4B-3733-8AB0-5833-79B183072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AC917D-FC7B-626F-45E1-E9E306525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1505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D632A-58B6-C334-9921-B599C7396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CC7125E-CA6C-1AB8-E4C6-1CE239218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76152F3-B25F-C8F4-0E5F-9525766A2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F3B641-D90B-CC5F-F152-5ABEA5449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64135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CE47A-D65B-2CFC-74F3-622D32BA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63EA05F-7A53-073E-46CE-E050974AA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A22B583-06E8-4C6A-338E-05214D26B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F2F5F95-392E-FF03-D37D-73637737C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1660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4FE3-C399-55EF-3C60-93192E77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E75BE3-F88F-D53D-CBBE-D581F034F0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1633DE3-C5E8-CC51-C546-79E94FA7C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618978-0EB0-D62A-D353-9DF2A9D6E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6564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ACDB2-6CE1-1FBE-8A17-043DEA53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B7CC5B9-2290-F196-C178-E0CE88B34B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1EE6347-04D2-A2BF-F3FE-C72DFE39D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9A87D16-BBF1-E791-D130-B77844A694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4925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#03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確率分布：離散確率分布</a:t>
            </a:r>
            <a:r>
              <a:rPr lang="en-US" altLang="ja-JP" dirty="0"/>
              <a:t>(</a:t>
            </a:r>
            <a:r>
              <a:rPr lang="ja-JP" altLang="en-US" dirty="0"/>
              <a:t>後半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節　確率分布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確率変数について理解する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期待値について理解する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離散確率分布について学ぶ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0194-9996-ED0C-B99C-5942546F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704AFC-17B0-9834-5117-153039D60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１：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二項分布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AE30B9-0289-453F-783F-322E9518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4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/>
                  <a:t>結果は「起こる」「起こらない」の二択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試行</a:t>
                </a:r>
                <a:r>
                  <a:rPr kumimoji="1" lang="ja-JP" altLang="en-US" sz="1800" dirty="0"/>
                  <a:t>（ベルヌーイ試行）</a:t>
                </a:r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行ったときの，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chemeClr val="accent2"/>
                    </a:solidFill>
                  </a:rPr>
                  <a:t>「起こる」回数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を確率変数とする確率分布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ある野球選手の打率は 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割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分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0.32</a:t>
                </a:r>
                <a:r>
                  <a:rPr lang="ja-JP" altLang="en-US" sz="1800" dirty="0"/>
                  <a:t>）</a:t>
                </a:r>
                <a:r>
                  <a:rPr lang="ja-JP" altLang="en-US" dirty="0"/>
                  <a:t>である．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ja-JP" altLang="en-US" dirty="0"/>
                  <a:t>この選手が 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 打席に立つとき，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en-US" altLang="ja-JP" dirty="0"/>
                  <a:t>3</a:t>
                </a:r>
                <a:r>
                  <a:rPr lang="ja-JP" altLang="en-US" dirty="0"/>
                  <a:t>回ヒットを打つ 確率を求めたい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668233" y="3362143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189345" y="475629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5467546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370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A590-2D3A-B3EA-370E-B8D723EC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FF180-DCBB-C2F3-4A0E-40FF21CF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打率の事例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DBD7DA-67A5-54A4-42FC-17C358FC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文章より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=0.32</m:t>
                    </m:r>
                  </m:oMath>
                </a14:m>
                <a:endParaRPr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試行回数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2"/>
                    </a:solidFill>
                  </a:rPr>
                  <a:t>「起こる」回数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二項分布の確率質量関数に代入して計算する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0.32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=0.151519</m:t>
                    </m:r>
                  </m:oMath>
                </a14:m>
                <a:endParaRPr lang="ja-JP" altLang="en-US" dirty="0"/>
              </a:p>
              <a:p>
                <a:pPr lvl="1"/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C2B8821-0334-C4BB-BB8D-D0BAB516FF7E}"/>
              </a:ext>
            </a:extLst>
          </p:cNvPr>
          <p:cNvSpPr/>
          <p:nvPr/>
        </p:nvSpPr>
        <p:spPr>
          <a:xfrm>
            <a:off x="2539389" y="4767724"/>
            <a:ext cx="3255354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5ACBF3D-9368-2892-79A9-39DC10856E8A}"/>
              </a:ext>
            </a:extLst>
          </p:cNvPr>
          <p:cNvSpPr/>
          <p:nvPr/>
        </p:nvSpPr>
        <p:spPr>
          <a:xfrm>
            <a:off x="522746" y="5273749"/>
            <a:ext cx="5271997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2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02335-9718-A20F-D284-7612E30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1B7EA1-2C4A-0D15-EABD-3C4EC85F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回起こる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回中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組み合わせ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らない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起こらない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15AC54-9553-F939-7061-CC2B9A4E71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30365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1258-DC77-DB92-4E71-71D4AE23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5ECDC-534B-6236-6895-48FCD577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F0B1E8-7D71-6725-D08C-04B2B639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左辺：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が，値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をとる確率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13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8548-31D5-A5C6-1294-D1D0AEE7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E23AF-B63D-DDC6-BDF2-6D3A4D22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065216-A703-6B36-C7A4-DDEC63F6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回中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回起こる組み合わせ</a:t>
                </a:r>
                <a:endParaRPr kumimoji="1" lang="en-US" altLang="ja-JP" dirty="0"/>
              </a:p>
              <a:p>
                <a:r>
                  <a:rPr kumimoji="1" lang="ja-JP" altLang="en-US" dirty="0"/>
                  <a:t>組み合わせ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combination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5−3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kumimoji="1" lang="en-US" altLang="ja-JP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×2×1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kumimoji="1" lang="ja-JP" altLang="en-US" dirty="0"/>
                  <a:t>　：階乗，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までの積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726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9C4D-9A88-327E-0D7B-F3EB5FDA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D9746-FA82-32E7-AFDC-A9DA5283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638C128-B739-42EC-2133-47697AF1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b="0" dirty="0"/>
                  <a:t>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の，起こる回数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3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起こらない確率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の，起こらない回数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「起こらない」＝「起こる」の余事象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100%</a:t>
                </a:r>
                <a:r>
                  <a:rPr lang="ja-JP" altLang="en-US" sz="1600" dirty="0"/>
                  <a:t>（</a:t>
                </a:r>
                <a:r>
                  <a:rPr lang="en-US" altLang="ja-JP" sz="1600" dirty="0"/>
                  <a:t>=1</a:t>
                </a:r>
                <a:r>
                  <a:rPr lang="ja-JP" altLang="en-US" sz="1600" dirty="0"/>
                  <a:t>）</a:t>
                </a:r>
                <a:r>
                  <a:rPr lang="ja-JP" altLang="en-US" dirty="0"/>
                  <a:t>から「起こる確率」を引けば良い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77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A0508-3F28-32D2-EF00-3E5805A7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DFE41C8-3254-0F37-8458-E3A0AEEA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二項分布の確率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 と，②起こる確率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 がわかれば確率が計算できる</a:t>
                </a:r>
                <a:endParaRPr kumimoji="1" lang="en-US" altLang="ja-JP" dirty="0"/>
              </a:p>
              <a:p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は，二項分布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にしたがう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kumimoji="1" lang="ja-JP" altLang="en-US" dirty="0"/>
                  <a:t>は「したがう」の意味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ja-JP" altLang="en-US" dirty="0"/>
                  <a:t>は「二項分布（</a:t>
                </a:r>
                <a:r>
                  <a:rPr kumimoji="1" lang="en-US" altLang="ja-JP" dirty="0"/>
                  <a:t>Binomial dist.</a:t>
                </a:r>
                <a:r>
                  <a:rPr kumimoji="1" lang="ja-JP" altLang="en-US" dirty="0"/>
                  <a:t>）」の意味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451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CD20C-B7CB-B4DB-46BB-CE77AB9C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584221E-2CC3-28A5-ABA0-AD80ECFEB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8782493" cy="136885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２：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確率分布が二項分布に従うときの期待値と分散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1D85B6-775D-D499-0CEE-FD2804A6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624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二項分布の期待値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二項分布の分散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</m:oMath>
                  </m:oMathPara>
                </a14:m>
                <a:endParaRPr lang="en-US" altLang="ja-JP" sz="36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A5BDB5-7E0C-212C-D71D-971B2D3E177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6BD3A1-EB6A-92E7-E725-8E21E1D7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二項分布の期待値の導出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F2DB42-60E4-EE11-A016-02199486E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968" y="933253"/>
                <a:ext cx="9021232" cy="592474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ja-JP" sz="19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ja-JP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altLang="ja-JP" sz="19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z="190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kumimoji="1" lang="en-US" altLang="ja-JP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kumimoji="1" lang="en-US" altLang="ja-JP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sz="1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9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19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ja-JP" sz="19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sz="1900" i="1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kumimoji="1" lang="en-US" altLang="ja-JP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ja-JP" sz="19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>
                            <m:fPr>
                              <m:ctrlP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kumimoji="1" lang="en-US" altLang="ja-JP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! </m:t>
                              </m:r>
                            </m:den>
                          </m:f>
                          <m:sSup>
                            <m:sSupPr>
                              <m:ctrlP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1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US" altLang="ja-JP" sz="19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sz="1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9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19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19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! 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US" altLang="ja-JP" sz="19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sz="19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9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19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19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ja-JP" sz="19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f>
                            <m:fPr>
                              <m:ctrlP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! 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19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19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US" altLang="ja-JP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9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19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sz="19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altLang="ja-JP" sz="19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19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19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sz="19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r>
                            <a:rPr lang="en-US" altLang="ja-JP" sz="1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19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1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ja-JP" sz="19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altLang="ja-JP" sz="2200" dirty="0"/>
              </a:p>
              <a:p>
                <a:pPr marL="0" indent="0">
                  <a:buNone/>
                </a:pPr>
                <a:r>
                  <a:rPr lang="ja-JP" altLang="en-US" sz="2200" dirty="0"/>
                  <a:t>ここで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ja-JP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ja-JP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ja-JP" altLang="en-US" sz="2200" dirty="0"/>
                  <a:t> とおくと</a:t>
                </a:r>
                <a:endParaRPr kumimoji="1" lang="en-US" altLang="ja-JP" sz="2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chr m:val="∑"/>
                          <m:ctrlPr>
                            <a:rPr lang="en-US" altLang="ja-JP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ja-JP" sz="20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′! 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20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0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chr m:val="∑"/>
                          <m:ctrlPr>
                            <a:rPr lang="en-US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′=0</m:t>
                          </m:r>
                        </m:sub>
                        <m:sup>
                          <m:r>
                            <a:rPr lang="en-US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ctrlPr>
                                    <a:rPr lang="en-US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sz="2000" dirty="0"/>
              </a:p>
              <a:p>
                <a:pPr marL="0" indent="0">
                  <a:buNone/>
                </a:pPr>
                <a:r>
                  <a:rPr lang="ja-JP" altLang="en-US" sz="2200" dirty="0"/>
                  <a:t>ここで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ja-JP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′=0</m:t>
                        </m:r>
                      </m:sub>
                      <m:sup>
                        <m:r>
                          <a:rPr lang="en-US" altLang="ja-JP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sz="2200" dirty="0"/>
                  <a:t> は </a:t>
                </a:r>
                <a14:m>
                  <m:oMath xmlns:m="http://schemas.openxmlformats.org/officeDocument/2006/math">
                    <m:r>
                      <a:rPr lang="en-US" altLang="ja-JP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200" dirty="0"/>
                  <a:t> 回試行の二項分布の場合の</a:t>
                </a:r>
                <a:r>
                  <a:rPr lang="ja-JP" altLang="en-US" sz="2200" dirty="0">
                    <a:solidFill>
                      <a:srgbClr val="FF0000"/>
                    </a:solidFill>
                  </a:rPr>
                  <a:t>全ての起き得る事象の確率の和</a:t>
                </a:r>
                <a:r>
                  <a:rPr lang="ja-JP" altLang="en-US" sz="2200" dirty="0"/>
                  <a:t>だから </a:t>
                </a:r>
                <a:r>
                  <a:rPr lang="en-US" altLang="ja-JP" sz="2200" dirty="0"/>
                  <a:t>1</a:t>
                </a:r>
                <a:r>
                  <a:rPr lang="ja-JP" altLang="en-US" sz="2200" dirty="0"/>
                  <a:t>  </a:t>
                </a:r>
                <a:endParaRPr lang="en-US" altLang="ja-JP" sz="2200" dirty="0"/>
              </a:p>
              <a:p>
                <a:pPr marL="0" indent="0">
                  <a:buNone/>
                </a:pPr>
                <a:endParaRPr lang="en-US" altLang="ja-JP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ja-JP" altLang="en-US" sz="2000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968" y="933253"/>
                <a:ext cx="9021232" cy="5924745"/>
              </a:xfrm>
              <a:blipFill>
                <a:blip r:embed="rId3"/>
                <a:stretch>
                  <a:fillRect l="-7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77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4E40-0736-9B1B-A0AE-31A24251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44C55-BC17-0004-5D00-F53C079D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ED568D-F35C-0386-459F-B86949C4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ja-JP" sz="21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kumimoji="1" lang="en-US" altLang="ja-JP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1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1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ja-JP" sz="21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kumimoji="1" lang="en-US" altLang="ja-JP" sz="21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 sz="21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kumimoji="1" lang="en-US" altLang="ja-JP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b>
                            <m:sSub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kumimoji="1" lang="en-US" altLang="ja-JP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b>
                            <m:sSub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kumimoji="1" lang="en-US" altLang="ja-JP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2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kumimoji="1" lang="en-US" altLang="ja-JP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1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1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sz="21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21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ja-JP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US" altLang="ja-JP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21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21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1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altLang="ja-JP" sz="2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21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2100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US" altLang="ja-JP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ja-JP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ja-JP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21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1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21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1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US" altLang="ja-JP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21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2100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altLang="ja-JP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ja-JP" altLang="en-US" sz="2400" dirty="0"/>
                  <a:t>とする</a:t>
                </a:r>
                <a:endParaRPr lang="en-US" altLang="ja-JP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100" i="1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ja-JP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1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sz="2100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altLang="ja-JP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1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altLang="ja-JP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en-US" altLang="ja-JP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2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ja-JP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sz="2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sz="21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sz="21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  <m:e>
                          <m:f>
                            <m:fPr>
                              <m:ctrlPr>
                                <a:rPr lang="en-US" altLang="ja-JP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ja-JP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altLang="ja-JP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ja-JP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sz="2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altLang="ja-JP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ja-JP" sz="21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</m:d>
                              <m:r>
                                <a:rPr lang="en-US" altLang="ja-JP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ja-JP" sz="2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21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sz="2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altLang="ja-JP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1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21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nary>
                      <m:r>
                        <a:rPr lang="en-US" altLang="ja-JP" sz="21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21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2100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altLang="ja-JP" sz="21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ja-JP" altLang="en-US" sz="2100" dirty="0"/>
                  <a:t>ここで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ja-JP" sz="2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′=0</m:t>
                        </m:r>
                      </m:sub>
                      <m:sup>
                        <m:r>
                          <a:rPr lang="en-US" altLang="ja-JP" sz="2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1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f>
                          <m:fPr>
                            <m:ctrlP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−2−</m:t>
                                </m:r>
                                <m:r>
                                  <a:rPr lang="en-US" altLang="ja-JP" sz="2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1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−2−</m:t>
                            </m:r>
                            <m: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1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a:rPr lang="en-US" altLang="ja-JP" sz="2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100" dirty="0"/>
                  <a:t>は </a:t>
                </a:r>
                <a14:m>
                  <m:oMath xmlns:m="http://schemas.openxmlformats.org/officeDocument/2006/math">
                    <m:r>
                      <a:rPr lang="en-US" altLang="ja-JP" sz="2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1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ja-JP" altLang="en-US" sz="2100" dirty="0"/>
                  <a:t> 回試行の二項分布の場合の</a:t>
                </a:r>
                <a:r>
                  <a:rPr lang="ja-JP" altLang="en-US" sz="2100" dirty="0">
                    <a:solidFill>
                      <a:srgbClr val="FF0000"/>
                    </a:solidFill>
                  </a:rPr>
                  <a:t>全ての起き得る事象の確率の和</a:t>
                </a:r>
                <a:r>
                  <a:rPr lang="ja-JP" altLang="en-US" sz="2100" dirty="0"/>
                  <a:t>だから </a:t>
                </a:r>
                <a:r>
                  <a:rPr lang="en-US" altLang="ja-JP" sz="2100" dirty="0"/>
                  <a:t>1</a:t>
                </a:r>
                <a:r>
                  <a:rPr lang="ja-JP" altLang="en-US" sz="2100" dirty="0"/>
                  <a:t>  </a:t>
                </a:r>
                <a:endParaRPr lang="en-US" altLang="ja-JP" sz="2100" dirty="0"/>
              </a:p>
              <a:p>
                <a:pPr marL="0" indent="0">
                  <a:buNone/>
                </a:pPr>
                <a:endParaRPr lang="en-US" altLang="ja-JP" sz="21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100" b="0" i="1" smtClean="0"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sSup>
                        <m:sSupPr>
                          <m:ctrlP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altLang="ja-JP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21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sz="21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altLang="ja-JP" sz="21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18" r="-2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3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277F-4D97-1474-2C9B-6B53D241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6A329-62FF-CED0-23EE-C4A0073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90FAF3B-7B09-6937-B803-AB0209F2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ja-JP" altLang="en-US" sz="2000" b="0" i="1" dirty="0">
                    <a:latin typeface="Cambria Math" panose="02040503050406030204" pitchFamily="18" charset="0"/>
                  </a:rPr>
                  <a:t>以上より</a:t>
                </a:r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sz="20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d>
                            <m:d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sSup>
                        <m:sSup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5" t="-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8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1EAB-0FF0-794B-4D74-C837856E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FB78C0-FA39-EDA3-234F-27E77C552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３：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ポアソン分布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5D2F96-7179-6C3E-BEEA-520AB25C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357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3209-D1EE-E183-CA8F-A3AAB8A7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714E00-3EE3-92EC-8E6E-48EC12BC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ポアソン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716128-5D26-CDAE-2532-FA3A4AB2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ポアソン分布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二項分布のひとつ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が極端に小さく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かつ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が十分に大きい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場合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厳密には「ある事象が一定の時間内に発生する回数」を表す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日あたりの死亡事故件数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生産ラインに不良品が混入する件数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分間あたりの来店者数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865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AF9DE-59F4-91D0-6A4C-A6D6B3F3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A86320-337D-67F1-62B8-A2D4FFED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二項分布のうち，</a:t>
                </a:r>
                <a:r>
                  <a:rPr kumimoji="1" lang="ja-JP" altLang="en-US" dirty="0"/>
                  <a:t>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が極端に小さい</a:t>
                </a:r>
                <a:r>
                  <a:rPr kumimoji="1" lang="ja-JP" altLang="en-US" dirty="0"/>
                  <a:t>場合</a:t>
                </a:r>
                <a:r>
                  <a:rPr lang="ja-JP" altLang="en-US" dirty="0"/>
                  <a:t>の近似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≒1</m:t>
                    </m:r>
                  </m:oMath>
                </a14:m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lang="ja-JP" altLang="en-US" dirty="0"/>
                  <a:t>ポアソン分布の期待値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ポアソン分布の分散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036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4C514-9B1A-71F2-6A32-0CE28EF1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A1C05-B7EB-42AD-CBD4-DF1662F5D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分布の意味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C67613F-E541-83F7-8423-8E095BCB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4D55B83-7DA7-7A32-0395-0E6A52175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kumimoji="1" lang="ja-JP" altLang="en-US" dirty="0"/>
                  <a:t>千葉で震度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以上の地震が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日間で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回の割合で起こるものとする</a:t>
                </a:r>
                <a:r>
                  <a:rPr kumimoji="1" lang="en-US" altLang="ja-JP" dirty="0"/>
                  <a:t>(1</a:t>
                </a:r>
                <a:r>
                  <a:rPr kumimoji="1" lang="ja-JP" altLang="en-US" dirty="0"/>
                  <a:t>日あたり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kumimoji="1" lang="ja-JP" altLang="en-US" dirty="0"/>
                  <a:t>の確率で起こる</a:t>
                </a:r>
                <a:r>
                  <a:rPr kumimoji="1" lang="en-US" altLang="ja-JP" dirty="0"/>
                  <a:t>)</a:t>
                </a:r>
                <a:r>
                  <a:rPr kumimoji="1" lang="ja-JP" altLang="en-US" dirty="0"/>
                  <a:t>．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日間で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 回起こる確率は，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二項分布</a:t>
                </a:r>
                <a:r>
                  <a:rPr lang="ja-JP" altLang="en-US" dirty="0"/>
                  <a:t>とすると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しかし地震は「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日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回起きるかどうか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」という現象ではなく，時々刻々起き得るもの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そこで「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日間で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回起きる割合」を固定し，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時間ごとに起きるかどうかと考え直す．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日間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=2400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時間より，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時間あたりの地震の起きる確率は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このとき 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2400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時間で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 </a:t>
                </a:r>
                <a:r>
                  <a:rPr lang="ja-JP" altLang="en-US" dirty="0"/>
                  <a:t>回地震が起きる確率は，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00−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r>
                  <a:rPr lang="ja-JP" altLang="en-US" dirty="0"/>
                  <a:t>このように</a:t>
                </a:r>
                <a:r>
                  <a:rPr lang="en-US" altLang="ja-JP" dirty="0"/>
                  <a:t>, </a:t>
                </a:r>
                <a:r>
                  <a:rPr lang="ja-JP" altLang="en-US" dirty="0"/>
                  <a:t>ある「期間」</a:t>
                </a:r>
                <a:r>
                  <a:rPr lang="en-US" altLang="ja-JP" dirty="0"/>
                  <a:t> (</a:t>
                </a:r>
                <a:r>
                  <a:rPr lang="ja-JP" altLang="en-US" dirty="0"/>
                  <a:t>例</a:t>
                </a:r>
                <a:r>
                  <a:rPr lang="en-US" altLang="ja-JP" dirty="0"/>
                  <a:t>:100</a:t>
                </a:r>
                <a:r>
                  <a:rPr lang="ja-JP" altLang="en-US" dirty="0"/>
                  <a:t>日間</a:t>
                </a:r>
                <a:r>
                  <a:rPr lang="en-US" altLang="ja-JP" dirty="0"/>
                  <a:t>)</a:t>
                </a:r>
                <a:r>
                  <a:rPr lang="ja-JP" altLang="en-US" dirty="0"/>
                  <a:t>の現象の発生回数の割合</a:t>
                </a:r>
                <a:r>
                  <a:rPr lang="en-US" altLang="ja-JP" dirty="0"/>
                  <a:t>(</a:t>
                </a:r>
                <a:r>
                  <a:rPr lang="ja-JP" altLang="en-US" dirty="0"/>
                  <a:t>例</a:t>
                </a:r>
                <a:r>
                  <a:rPr lang="en-US" altLang="ja-JP" dirty="0"/>
                  <a:t>:2</a:t>
                </a:r>
                <a:r>
                  <a:rPr lang="ja-JP" altLang="en-US" dirty="0"/>
                  <a:t>回</a:t>
                </a:r>
                <a:r>
                  <a:rPr lang="en-US" altLang="ja-JP" dirty="0"/>
                  <a:t>)</a:t>
                </a:r>
                <a:r>
                  <a:rPr lang="ja-JP" altLang="en-US" dirty="0"/>
                  <a:t>を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 と固定</a:t>
                </a:r>
                <a:r>
                  <a:rPr lang="ja-JP" altLang="en-US" dirty="0"/>
                  <a:t>し，期間の</a:t>
                </a:r>
                <a:r>
                  <a:rPr lang="ja-JP" altLang="en-US" dirty="0">
                    <a:solidFill>
                      <a:srgbClr val="00B0F0"/>
                    </a:solidFill>
                  </a:rPr>
                  <a:t>分割数</a:t>
                </a:r>
                <a:r>
                  <a:rPr lang="en-US" altLang="ja-JP" dirty="0">
                    <a:solidFill>
                      <a:srgbClr val="00B0F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>
                    <a:solidFill>
                      <a:srgbClr val="00B0F0"/>
                    </a:solidFill>
                  </a:rPr>
                  <a:t> </a:t>
                </a:r>
                <a:r>
                  <a:rPr lang="ja-JP" altLang="en-US" dirty="0"/>
                  <a:t>を </a:t>
                </a:r>
                <a:r>
                  <a:rPr lang="en-US" altLang="ja-JP" dirty="0"/>
                  <a:t>100, 2400, ... </a:t>
                </a:r>
                <a:r>
                  <a:rPr lang="ja-JP" altLang="en-US" dirty="0"/>
                  <a:t>と増やしていくとどうなるか？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340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340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34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34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b>
                          <m:sSub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340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sz="3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ja-JP" altLang="en-US" sz="3600" dirty="0">
                    <a:solidFill>
                      <a:schemeClr val="accent5"/>
                    </a:solidFill>
                  </a:rPr>
                  <a:t>    式</a:t>
                </a:r>
                <a:r>
                  <a:rPr lang="en-US" altLang="ja-JP" sz="3600" dirty="0">
                    <a:solidFill>
                      <a:schemeClr val="accent5"/>
                    </a:solidFill>
                  </a:rPr>
                  <a:t>(1)</a:t>
                </a:r>
                <a:r>
                  <a:rPr lang="en-US" altLang="ja-JP" sz="3400" dirty="0"/>
                  <a:t> </a:t>
                </a:r>
              </a:p>
              <a:p>
                <a:pPr marL="324000" lvl="1" indent="0">
                  <a:buNone/>
                </a:pPr>
                <a:r>
                  <a:rPr lang="ja-JP" altLang="en-US" sz="3100" dirty="0"/>
                  <a:t>これがポワソン分布</a:t>
                </a:r>
                <a:r>
                  <a:rPr lang="en-US" altLang="ja-JP" sz="3100" dirty="0"/>
                  <a:t>(Poisson distribution)</a:t>
                </a:r>
                <a:r>
                  <a:rPr lang="ja-JP" altLang="en-US" sz="3100" dirty="0"/>
                  <a:t>である．</a:t>
                </a:r>
                <a:endParaRPr lang="en-US" altLang="ja-JP" sz="3100" dirty="0"/>
              </a:p>
              <a:p>
                <a:pPr marL="324000" lvl="1" indent="0">
                  <a:buNone/>
                </a:pPr>
                <a:r>
                  <a:rPr lang="ja-JP" altLang="en-US" sz="3100" dirty="0">
                    <a:solidFill>
                      <a:schemeClr val="accent5"/>
                    </a:solidFill>
                  </a:rPr>
                  <a:t>二項分布で</a:t>
                </a:r>
                <a:r>
                  <a:rPr lang="en-US" altLang="ja-JP" sz="3200" dirty="0">
                    <a:solidFill>
                      <a:schemeClr val="accent5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:=</m:t>
                    </m:r>
                    <m:f>
                      <m:fPr>
                        <m:ctrlP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>
                      <m:sSubPr>
                        <m:ctrlP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sub>
                    </m:sSub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3200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sz="3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3100" dirty="0">
                    <a:solidFill>
                      <a:schemeClr val="accent5"/>
                    </a:solidFill>
                  </a:rPr>
                  <a:t>場合と見なせる．</a:t>
                </a:r>
                <a:endParaRPr lang="en-US" altLang="ja-JP" sz="31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4D55B83-7DA7-7A32-0395-0E6A52175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253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3F7B-737A-FD29-D8D3-DF49388B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8B1846-1D64-DC13-9B2D-7656658B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分布の確率質量関数の導出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06C078F-AB4A-E4A5-8320-1E51A82A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1C493B-0DC3-EB08-F390-498FEE228E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9012024" cy="585362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</m:t>
                      </m:r>
                    </m:oMath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br>
                  <a:rPr lang="en-US" altLang="ja-JP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sSup>
                              <m:sSup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  <m:func>
                      <m:funcPr>
                        <m:ctrlP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func>
                      <m:funcPr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altLang="ja-JP" dirty="0">
                    <a:solidFill>
                      <a:schemeClr val="accent5"/>
                    </a:solidFill>
                  </a:rPr>
                  <a:t>    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ここで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⋯(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den>
                          </m:f>
                        </m:e>
                      </m:func>
                    </m:oMath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func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func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  ⋯ ⋅</m:t>
                      </m:r>
                      <m:func>
                        <m:func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func>
                    </m:oMath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=1⋅1⋅⋯⋅1=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1C493B-0DC3-EB08-F390-498FEE228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9012024" cy="5853626"/>
              </a:xfrm>
              <a:blipFill>
                <a:blip r:embed="rId3"/>
                <a:stretch>
                  <a:fillRect l="-12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01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480D-6AA0-3ECA-B3DB-B4B2FE8F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9338AB-9FB1-0B60-7E6D-4F8C4028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分布の確率質量関数の導出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EDF2FBC-4336-5B1C-3317-53B5CCD4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0425C8D-5B38-709D-7FA0-FC26D38EF6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 (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微分</a:t>
                </a:r>
                <a:r>
                  <a:rPr lang="ja-JP" altLang="en-US" dirty="0"/>
                  <a:t>積分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応用で示した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)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limLow>
                                <m:limLowPr>
                                  <m:ctrlPr>
                                    <a:rPr lang="en-US" altLang="ja-JP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ja-JP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  <m:f>
                                <m:f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以上を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  <a:r>
                  <a:rPr lang="ja-JP" altLang="en-US" dirty="0"/>
                  <a:t>に代入</a:t>
                </a:r>
                <a:br>
                  <a:rPr lang="en-US" altLang="ja-JP" dirty="0">
                    <a:solidFill>
                      <a:schemeClr val="tx1"/>
                    </a:solidFill>
                  </a:rPr>
                </a:b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accent5"/>
                    </a:solidFill>
                  </a:rPr>
                  <a:t>              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⋅1⋅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⋅1=</m:t>
                    </m:r>
                    <m:sSup>
                      <m:s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0425C8D-5B38-709D-7FA0-FC26D38EF6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1486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EBF1C-6EDE-B9B3-0194-5DFD591E1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ECA1C75-C7F8-721C-0956-B4681390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927B9608-CC7B-D4D5-2173-D70146DAAF6F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幾何分布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ベルヌーイ試行を繰り返して</a:t>
                          </a:r>
                          <a:endParaRPr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①初めて成功させるまでの試行回数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の分布　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={1, 2, …}</m:t>
                              </m:r>
                            </m:oMath>
                          </a14:m>
                          <a:endParaRPr kumimoji="1"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927B9608-CC7B-D4D5-2173-D70146DAAF6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15543603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D253E7-56E3-533F-13BD-46A34DFD518F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D253E7-56E3-533F-13BD-46A34DFD5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タイトル 1">
            <a:extLst>
              <a:ext uri="{FF2B5EF4-FFF2-40B4-BE49-F238E27FC236}">
                <a16:creationId xmlns:a16="http://schemas.microsoft.com/office/drawing/2014/main" id="{AB1E832B-DCB2-0779-6058-5D9334886C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3200" b="0" kern="1200" cap="all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 </a:t>
            </a:r>
            <a:r>
              <a:rPr lang="ja-JP" altLang="en-US" dirty="0"/>
              <a:t>幾何分布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lang="ja-JP" altLang="en-US" dirty="0"/>
              <a:t>の特徴</a:t>
            </a:r>
          </a:p>
        </p:txBody>
      </p:sp>
    </p:spTree>
    <p:extLst>
      <p:ext uri="{BB962C8B-B14F-4D97-AF65-F5344CB8AC3E}">
        <p14:creationId xmlns:p14="http://schemas.microsoft.com/office/powerpoint/2010/main" val="5818422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3BE53-CAE4-375E-87F3-1CD9F4F67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BC930-B278-A4F9-4544-6785DFFA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幾何分布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E4989A5-DC5A-3A59-1FA0-F9A679EA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1559301-C8FD-9892-A220-B931C033C3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確率質量関数</a:t>
                </a:r>
                <a:endParaRPr lang="en-US" altLang="ja-JP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ja-JP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因子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ja-JP" dirty="0"/>
                  <a:t>:</a:t>
                </a:r>
                <a:r>
                  <a:rPr lang="ja-JP" altLang="en-US" dirty="0"/>
                  <a:t> はじめの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回失敗し続ける確率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因子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最後の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回目に成功する確率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 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ja-JP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altLang="ja-JP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nary>
                    </m:oMath>
                  </m:oMathPara>
                </a14:m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1559301-C8FD-9892-A220-B931C033C3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36" t="-2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2372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357A-DD83-AB9E-DCB0-DFAEC226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EB6EE6-C651-CEB4-645A-4F3BFA591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幾何分布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3B57187-6C98-6193-CCB7-E668BAD8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E8883E1-1BF7-5D7A-391E-21D910BB65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ja-JP" altLang="en-US" dirty="0"/>
                  <a:t>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ja-JP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altLang="ja-JP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nary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ここで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とおいて，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　　　　　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=1           +2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 +  3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  ⋯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en-US" dirty="0"/>
                  <a:t>上の式から下の式を引いて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=1+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これは比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ja-JP" altLang="en-US" dirty="0"/>
                  <a:t> の等比数列なので，その無限級数の和は，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1−(1−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E8883E1-1BF7-5D7A-391E-21D910BB65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93" t="-18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1623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05403-E1FC-8C67-71A5-DB38A621D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E1FF41-F47A-F2AC-8177-1D1FE7D5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幾何分布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1CFA24A-1709-9E5E-1947-A36E919E0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183624C-0ED9-D883-D9F1-DFD37E9BDC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ja-JP" altLang="en-US" i="1" dirty="0">
                    <a:latin typeface="Cambria Math" panose="02040503050406030204" pitchFamily="18" charset="0"/>
                  </a:rPr>
                  <a:t>よって 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 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よって 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183624C-0ED9-D883-D9F1-DFD37E9BDC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4798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8C740-EDB3-C816-14F5-3D6D11F96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E9E7D5-C5A5-19D0-22ED-E0079DED6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幾何分布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67520FA-15D9-B0A8-75E0-E652ACCF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2DAEFB6-1CC9-9B64-F0E9-3FA0D9124F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ja-JP" altLang="en-US" dirty="0"/>
                  <a:t>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より 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 </a:t>
                </a:r>
                <a:r>
                  <a:rPr lang="ja-JP" altLang="en-US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を求める．</a:t>
                </a:r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ここで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とおいて，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1             +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 +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altLang="ja-JP" b="0" dirty="0"/>
              </a:p>
              <a:p>
                <a:pPr marL="0" indent="0">
                  <a:buNone/>
                </a:pPr>
                <a:r>
                  <a:rPr lang="ja-JP" altLang="en-US" dirty="0"/>
                  <a:t>上の式から下の式を引いて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1+3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以上より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2DAEFB6-1CC9-9B64-F0E9-3FA0D9124F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55" t="-157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689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95D17-E99D-4417-BA45-39BE1C44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EA70E5B-C762-2CF5-0A2D-97DFA3E90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6F9A5CF6-24EF-574A-AE5F-A01DA15380A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07041506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幾何分布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ベルヌーイ試行を繰り返して</a:t>
                          </a:r>
                          <a:endParaRPr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②初めて成功させるまでの</a:t>
                          </a:r>
                          <a:r>
                            <a:rPr lang="ja-JP" altLang="en-US" b="0" dirty="0">
                              <a:solidFill>
                                <a:srgbClr val="FF0000"/>
                              </a:solidFill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失敗回数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a14:m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の分布　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={0, 1, 2, …}</m:t>
                              </m:r>
                            </m:oMath>
                          </a14:m>
                          <a:endParaRPr kumimoji="1" lang="en-US" altLang="ja-JP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0&lt;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=1−</m:t>
                                </m:r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6F9A5CF6-24EF-574A-AE5F-A01DA15380A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07041506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9A70FF9-56B5-9E96-F63E-07CBDF55EAEA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9DD253E7-56E3-533F-13BD-46A34DFD5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4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タイトル 1">
            <a:extLst>
              <a:ext uri="{FF2B5EF4-FFF2-40B4-BE49-F238E27FC236}">
                <a16:creationId xmlns:a16="http://schemas.microsoft.com/office/drawing/2014/main" id="{754677D8-043E-6A9B-7D89-BDB032FD6BB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kumimoji="1" sz="3200" b="0" kern="1200" cap="all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eaLnBrk="1" hangingPunct="1">
              <a:defRPr kumimoji="1">
                <a:solidFill>
                  <a:schemeClr val="tx2"/>
                </a:solidFill>
              </a:defRPr>
            </a:lvl2pPr>
            <a:lvl3pPr eaLnBrk="1" hangingPunct="1">
              <a:defRPr kumimoji="1">
                <a:solidFill>
                  <a:schemeClr val="tx2"/>
                </a:solidFill>
              </a:defRPr>
            </a:lvl3pPr>
            <a:lvl4pPr eaLnBrk="1" hangingPunct="1">
              <a:defRPr kumimoji="1">
                <a:solidFill>
                  <a:schemeClr val="tx2"/>
                </a:solidFill>
              </a:defRPr>
            </a:lvl4pPr>
            <a:lvl5pPr eaLnBrk="1" hangingPunct="1">
              <a:defRPr kumimoji="1">
                <a:solidFill>
                  <a:schemeClr val="tx2"/>
                </a:solidFill>
              </a:defRPr>
            </a:lvl5pPr>
            <a:lvl6pPr eaLnBrk="1" hangingPunct="1">
              <a:defRPr kumimoji="1">
                <a:solidFill>
                  <a:schemeClr val="tx2"/>
                </a:solidFill>
              </a:defRPr>
            </a:lvl6pPr>
            <a:lvl7pPr eaLnBrk="1" hangingPunct="1">
              <a:defRPr kumimoji="1">
                <a:solidFill>
                  <a:schemeClr val="tx2"/>
                </a:solidFill>
              </a:defRPr>
            </a:lvl7pPr>
            <a:lvl8pPr eaLnBrk="1" hangingPunct="1">
              <a:defRPr kumimoji="1">
                <a:solidFill>
                  <a:schemeClr val="tx2"/>
                </a:solidFill>
              </a:defRPr>
            </a:lvl8pPr>
            <a:lvl9pPr eaLnBrk="1" hangingPunct="1">
              <a:defRPr kumimoji="1">
                <a:solidFill>
                  <a:schemeClr val="tx2"/>
                </a:solidFill>
              </a:defRPr>
            </a:lvl9pPr>
          </a:lstStyle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 </a:t>
            </a:r>
            <a:r>
              <a:rPr lang="ja-JP" altLang="en-US" dirty="0"/>
              <a:t>幾何分布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lang="ja-JP" altLang="en-US" dirty="0"/>
              <a:t>の特徴</a:t>
            </a:r>
          </a:p>
        </p:txBody>
      </p:sp>
    </p:spTree>
    <p:extLst>
      <p:ext uri="{BB962C8B-B14F-4D97-AF65-F5344CB8AC3E}">
        <p14:creationId xmlns:p14="http://schemas.microsoft.com/office/powerpoint/2010/main" val="2469378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EC27F-DF13-FFF4-2B1F-CB19166E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6623D1-D462-4243-6370-3F519A23E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幾何分布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44929D5-F1B6-4F9D-4527-7B056971F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0A6429F-39FC-3CFC-39C6-5E68879B4C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確率質量関数</a:t>
                </a:r>
                <a:endParaRPr lang="en-US" altLang="ja-JP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US" altLang="ja-JP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因子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ja-JP" dirty="0"/>
                  <a:t>:</a:t>
                </a:r>
                <a:r>
                  <a:rPr lang="ja-JP" altLang="en-US" dirty="0"/>
                  <a:t> はじめの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回失敗し続ける確率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因子 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最後の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回目に成功する確率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 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ja-JP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altLang="ja-JP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nary>
                    </m:oMath>
                  </m:oMathPara>
                </a14:m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0A6429F-39FC-3CFC-39C6-5E68879B4C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36" t="-2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3489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B74FF-1556-BD8B-B5BA-AC1B89CA8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6019EA-A81E-A417-E512-3090CF9A6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幾何分布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7980135-5B5E-FB7E-51F2-BA489C780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9BE12AB-F84D-4C88-4CA7-1B96C65C7B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ja-JP" altLang="en-US" sz="3400" dirty="0"/>
                  <a:t>期待値</a:t>
                </a:r>
                <a:endParaRPr lang="en-US" altLang="ja-JP" sz="3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ja-JP" altLang="en-US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en-US" altLang="ja-JP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ja-JP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nary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ここで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とおいて，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ja-JP" alt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b="0" i="1" dirty="0" smtClean="0"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=1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上の式から下の式を引いて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これは初期値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ja-JP" altLang="en-US" dirty="0"/>
                  <a:t>，比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ja-JP" altLang="en-US" dirty="0"/>
                  <a:t>の等比数列なので，その無限級数の和は，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1−(1−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9BE12AB-F84D-4C88-4CA7-1B96C65C7B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21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864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5FC16-B31F-4180-CFD1-21C32218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F57479-0E29-C792-62FF-805930EFE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幾何分布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42FD30E-8E5B-97DC-290D-650F6543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2880107-4B8A-1E70-C8C5-73611011C4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ja-JP" altLang="en-US" i="1" dirty="0">
                    <a:latin typeface="Cambria Math" panose="02040503050406030204" pitchFamily="18" charset="0"/>
                  </a:rPr>
                  <a:t>よって 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 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よって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2880107-4B8A-1E70-C8C5-73611011C4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157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C1D0-BD66-236B-225C-23684C68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966E8C-4C25-3781-125C-0717FEA3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幾何分布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35BAD6-EBA7-321E-4D7B-4F9524073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553D528-45DB-FE22-7967-25A594F28B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ja-JP" altLang="en-US" sz="2400" dirty="0"/>
                  <a:t>分散</a:t>
                </a:r>
                <a:endParaRPr lang="en-US" altLang="ja-JP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ja-JP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altLang="ja-JP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より  </a:t>
                </a:r>
                <a14:m>
                  <m:oMath xmlns:m="http://schemas.openxmlformats.org/officeDocument/2006/math">
                    <m:r>
                      <a:rPr lang="en-US" altLang="ja-JP" sz="18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 </a:t>
                </a:r>
                <a:r>
                  <a:rPr lang="ja-JP" altLang="en-US" sz="18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を求める．</a:t>
                </a:r>
                <a:endParaRPr lang="en-US" altLang="ja-JP" sz="1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ja-JP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sz="18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𝜋</m:t>
                      </m:r>
                      <m:nary>
                        <m:naryPr>
                          <m:chr m:val="∑"/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sz="18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sz="1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sz="1800" dirty="0"/>
                  <a:t>ここで </a:t>
                </a:r>
                <a14:m>
                  <m:oMath xmlns:m="http://schemas.openxmlformats.org/officeDocument/2006/math"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1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ja-JP" altLang="en-US" sz="18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ja-JP" sz="1800" dirty="0"/>
                  <a:t> </a:t>
                </a:r>
                <a:r>
                  <a:rPr lang="ja-JP" altLang="en-US" sz="1800" dirty="0"/>
                  <a:t>とおいて，</a:t>
                </a:r>
                <a:endParaRPr lang="en-US" altLang="ja-JP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              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altLang="ja-JP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d>
                        <m:d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altLang="ja-JP" sz="1800" b="0" dirty="0"/>
              </a:p>
              <a:p>
                <a:pPr marL="0" indent="0">
                  <a:buNone/>
                </a:pPr>
                <a:r>
                  <a:rPr lang="ja-JP" altLang="en-US" sz="1800" dirty="0"/>
                  <a:t>上の式から下の式を引いて</a:t>
                </a:r>
                <a:endParaRPr lang="en-US" altLang="ja-JP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18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1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ja-JP" sz="1800" i="1"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sz="18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ja-JP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sz="18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ja-JP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ja-JP" altLang="en-US" sz="18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sz="18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2−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(2−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)(1−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sz="1800" dirty="0"/>
              </a:p>
              <a:p>
                <a:pPr marL="0" indent="0">
                  <a:buNone/>
                </a:pPr>
                <a:r>
                  <a:rPr lang="ja-JP" altLang="en-US" sz="1800" dirty="0"/>
                  <a:t>以上より　</a:t>
                </a:r>
                <a14:m>
                  <m:oMath xmlns:m="http://schemas.openxmlformats.org/officeDocument/2006/math"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2−</m:t>
                        </m:r>
                        <m:r>
                          <a:rPr lang="en-US" altLang="ja-JP" sz="1800" i="1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)(1−</m:t>
                        </m:r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sSup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 −</m:t>
                    </m:r>
                    <m:sSup>
                      <m:sSupPr>
                        <m:ctrlPr>
                          <a:rPr lang="en-US" altLang="ja-JP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ja-JP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18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sz="18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sSup>
                          <m:sSupPr>
                            <m:ctrlP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ja-JP" sz="18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553D528-45DB-FE22-7967-25A594F28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55376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D6D5-A15C-2EC3-CBC8-AF328201E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3283B-EC50-9AA9-477B-BB3A3C21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 </a:t>
            </a:r>
            <a:r>
              <a:rPr lang="ja-JP" altLang="en-US" dirty="0"/>
              <a:t>負の二項分布の特徴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6697918-E714-E515-92B1-E995170C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6FC7A2F-0143-AB3F-B48C-92E490EB8DC8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00000">
                    <a:tc gridSpan="2"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【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負の二項分布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】</a:t>
                          </a:r>
                        </a:p>
                        <a:p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ベルヌーイ試行を繰り返して成功確率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で，成功か失敗のいずれかの結果となる試行を，</a:t>
                          </a:r>
                          <a:b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𝑟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回の成功が起こるまで続けた場合の，失敗回数</a:t>
                          </a: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𝑋</m:t>
                              </m:r>
                            </m:oMath>
                          </a14:m>
                          <a:r>
                            <a:rPr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の分布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：試行をやめるまでの成功回数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0≤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𝜋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</m:t>
                              </m:r>
                            </m:oMath>
                          </a14:m>
                          <a:r>
                            <a:rPr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　：成功確率</a:t>
                          </a:r>
                          <a:endParaRPr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>
                                <m:func>
                                  <m:funcPr>
                                    <m:ctrlP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kumimoji="1"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kumimoji="1" lang="en-US" altLang="ja-JP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⌊"/>
                                        <m:endChr m:val="⌋"/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  <m:e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1−</m:t>
                                            </m:r>
                                            <m:r>
                                              <a:rPr kumimoji="1"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num>
                                  <m:den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1" lang="en-US" altLang="ja-JP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𝑉𝑎𝑟</m:t>
                                </m:r>
                                <m:d>
                                  <m:d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d>
                                      <m:d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</m:d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kumimoji="1" lang="ja-JP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36FC7A2F-0143-AB3F-B48C-92E490EB8DC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67569219"/>
                  </p:ext>
                </p:extLst>
              </p:nvPr>
            </p:nvGraphicFramePr>
            <p:xfrm>
              <a:off x="131763" y="933450"/>
              <a:ext cx="8880474" cy="5414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01074">
                      <a:extLst>
                        <a:ext uri="{9D8B030D-6E8A-4147-A177-3AD203B41FA5}">
                          <a16:colId xmlns:a16="http://schemas.microsoft.com/office/drawing/2014/main" val="4287716507"/>
                        </a:ext>
                      </a:extLst>
                    </a:gridCol>
                    <a:gridCol w="6779400">
                      <a:extLst>
                        <a:ext uri="{9D8B030D-6E8A-4147-A177-3AD203B41FA5}">
                          <a16:colId xmlns:a16="http://schemas.microsoft.com/office/drawing/2014/main" val="811103721"/>
                        </a:ext>
                      </a:extLst>
                    </a:gridCol>
                  </a:tblGrid>
                  <a:tr h="914400">
                    <a:tc gridSpan="2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9" t="-2667" r="-274" b="-4940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813231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①母数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104054" r="-359" b="-4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29039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②確率質量関数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204054" r="-359" b="-3006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834695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③累積分布関数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306122" r="-359" b="-2027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326214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④期待値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403378" r="-359" b="-10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009000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⑤分散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087" t="-503378" r="-359" b="-13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012476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907D6B9-F973-C58D-8E99-BB951FE98E7B}"/>
                  </a:ext>
                </a:extLst>
              </p:cNvPr>
              <p:cNvSpPr txBox="1"/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②確率質量関数：　</a:t>
                </a:r>
                <a14:m>
                  <m:oMath xmlns:m="http://schemas.openxmlformats.org/officeDocument/2006/math"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となるような確率についての関数</a:t>
                </a:r>
                <a:endParaRPr kumimoji="1"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③累積分布関数：　確率変数が特定の値</a:t>
                </a:r>
                <a14:m>
                  <m:oMath xmlns:m="http://schemas.openxmlformats.org/officeDocument/2006/math">
                    <m:r>
                      <a:rPr lang="en-US" altLang="ja-JP" sz="1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以下となる確率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4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4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ja-JP" sz="1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1400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を表す関数</a:t>
                </a:r>
                <a:endParaRPr lang="en-US" altLang="ja-JP" sz="1400" dirty="0"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A907D6B9-F973-C58D-8E99-BB951FE98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63" y="6334780"/>
                <a:ext cx="6366615" cy="523220"/>
              </a:xfrm>
              <a:prstGeom prst="rect">
                <a:avLst/>
              </a:prstGeom>
              <a:blipFill>
                <a:blip r:embed="rId3"/>
                <a:stretch>
                  <a:fillRect l="-287" t="-4651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0656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E6010-70F4-C149-7198-C88B67632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7DE15-7158-579B-24E1-56EFB764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負の二項分布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0DD2C87-C20C-ED60-4C5F-47FB5571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5D9AC8A-2AE6-D1BB-CE27-BB7112FCB5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ja-JP" altLang="en-US" dirty="0"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確率質量関数</a:t>
                </a:r>
                <a:endParaRPr lang="en-US" altLang="ja-JP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p>
                        <m:sSup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d>
                        </m:e>
                        <m:sup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altLang="ja-JP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p>
                          <m:r>
                            <a:rPr lang="en-US" altLang="ja-JP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因子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ja-JP" dirty="0"/>
                  <a:t>: </a:t>
                </a:r>
                <a:r>
                  <a:rPr lang="ja-JP" altLang="en-US" dirty="0"/>
                  <a:t>はじめの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dirty="0"/>
                  <a:t> 回中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 回失敗する場合の数 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因子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ja-JP" dirty="0"/>
                  <a:t>: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回失敗する確率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第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因子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最後の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回を併せて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ja-JP" dirty="0"/>
                  <a:t> </a:t>
                </a:r>
                <a:r>
                  <a:rPr lang="ja-JP" altLang="en-US" dirty="0"/>
                  <a:t>回成功する確率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 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期待値</a:t>
                </a:r>
                <a:endParaRPr lang="en-US" altLang="ja-JP" dirty="0"/>
              </a:p>
              <a:p>
                <a:r>
                  <a:rPr lang="en-US" altLang="ja-JP" dirty="0"/>
                  <a:t>1</a:t>
                </a:r>
                <a:r>
                  <a:rPr lang="ja-JP" altLang="en-US" dirty="0"/>
                  <a:t>回成功するまでの失敗回数を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dirty="0"/>
                  <a:t> とする．このような試行を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dirty="0"/>
                  <a:t> 繰り返したと考えればよい．この時，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全体の期待値は各試行の期待値の和になる．理由は第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8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回で説明する．</a:t>
                </a:r>
                <a:endParaRPr lang="en-US" altLang="ja-JP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+⋯+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5D9AC8A-2AE6-D1BB-CE27-BB7112FCB5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25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28861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F96C8-4D59-3BC7-9066-D0AD23EA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53AB0C-2677-000E-9E1C-2444E6DD8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負の二項分布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42FFAF3-3B0D-5A5A-4765-16EE39B5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C3BF3B0-0488-7542-B914-5EFB540C35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ja-JP" dirty="0"/>
                  <a:t>1</a:t>
                </a:r>
                <a:r>
                  <a:rPr lang="ja-JP" altLang="en-US" dirty="0"/>
                  <a:t>回成功するまでの失敗回数を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 dirty="0"/>
                  <a:t> とする試行は，幾何分布②だった．よって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+⋯+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/>
                  <a:t>分散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rgbClr val="FF0000"/>
                    </a:solidFill>
                  </a:rPr>
                  <a:t>互いに独立</a:t>
                </a:r>
                <a:r>
                  <a:rPr lang="ja-JP" altLang="en-US" dirty="0"/>
                  <a:t>な試行を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dirty="0"/>
                  <a:t> 繰り返した場合の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全体の分散は各試行の分散の和になる．理由は第</a:t>
                </a:r>
                <a:r>
                  <a:rPr lang="en-US" altLang="ja-JP" dirty="0">
                    <a:solidFill>
                      <a:srgbClr val="FF0000"/>
                    </a:solidFill>
                  </a:rPr>
                  <a:t>8</a:t>
                </a:r>
                <a:r>
                  <a:rPr lang="ja-JP" altLang="en-US" dirty="0">
                    <a:solidFill>
                      <a:srgbClr val="FF0000"/>
                    </a:solidFill>
                  </a:rPr>
                  <a:t>回で説明する．</a:t>
                </a:r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+⋯+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C3BF3B0-0488-7542-B914-5EFB540C35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551875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1937</TotalTime>
  <Words>2435</Words>
  <Application>Microsoft Office PowerPoint</Application>
  <PresentationFormat>画面に合わせる (4:3)</PresentationFormat>
  <Paragraphs>347</Paragraphs>
  <Slides>35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44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確率分布：離散確率分布(後半)</vt:lpstr>
      <vt:lpstr>今日の目標</vt:lpstr>
      <vt:lpstr>PowerPoint プレゼンテーション</vt:lpstr>
      <vt:lpstr>二項分布</vt:lpstr>
      <vt:lpstr>打率の事例</vt:lpstr>
      <vt:lpstr>二項分布の確率</vt:lpstr>
      <vt:lpstr>二項分布の確率①</vt:lpstr>
      <vt:lpstr>二項分布の確率②</vt:lpstr>
      <vt:lpstr>二項分布の確率③</vt:lpstr>
      <vt:lpstr>二項分布の確率</vt:lpstr>
      <vt:lpstr>PowerPoint プレゼンテーション</vt:lpstr>
      <vt:lpstr>二項分布の期待値と分散</vt:lpstr>
      <vt:lpstr>(Advanced) 二項分布の期待値の導出</vt:lpstr>
      <vt:lpstr>(Advanced) 二項分布の分散の導出①</vt:lpstr>
      <vt:lpstr>(Advanced) 二項分布の分散の導出②</vt:lpstr>
      <vt:lpstr>PowerPoint プレゼンテーション</vt:lpstr>
      <vt:lpstr>ポアソン分布</vt:lpstr>
      <vt:lpstr>ポアソン分布の期待値と分散</vt:lpstr>
      <vt:lpstr>Summary</vt:lpstr>
      <vt:lpstr>(付録)ポアソン分布の意味</vt:lpstr>
      <vt:lpstr>(付録)ポアソン分布の確率質量関数の導出</vt:lpstr>
      <vt:lpstr>(付録)ポアソン分布の確率質量関数の導出</vt:lpstr>
      <vt:lpstr>PowerPoint プレゼンテーション</vt:lpstr>
      <vt:lpstr>(付録)幾何分布①</vt:lpstr>
      <vt:lpstr>(付録)幾何分布①</vt:lpstr>
      <vt:lpstr>(付録)幾何分布①</vt:lpstr>
      <vt:lpstr>(付録)幾何分布①</vt:lpstr>
      <vt:lpstr>PowerPoint プレゼンテーション</vt:lpstr>
      <vt:lpstr>(付録)幾何分布②</vt:lpstr>
      <vt:lpstr>(付録)幾何分布②</vt:lpstr>
      <vt:lpstr>(付録)幾何分布②</vt:lpstr>
      <vt:lpstr>(付録)幾何分布②</vt:lpstr>
      <vt:lpstr>(付録) 負の二項分布の特徴</vt:lpstr>
      <vt:lpstr>(付録)負の二項分布</vt:lpstr>
      <vt:lpstr>(付録)負の二項分布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 幸治</cp:lastModifiedBy>
  <cp:revision>255</cp:revision>
  <dcterms:created xsi:type="dcterms:W3CDTF">2025-03-03T09:28:12Z</dcterms:created>
  <dcterms:modified xsi:type="dcterms:W3CDTF">2026-10-13T23:01:10Z</dcterms:modified>
</cp:coreProperties>
</file>