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4"/>
  </p:notesMasterIdLst>
  <p:sldIdLst>
    <p:sldId id="256" r:id="rId2"/>
    <p:sldId id="257" r:id="rId3"/>
    <p:sldId id="562" r:id="rId4"/>
    <p:sldId id="574" r:id="rId5"/>
    <p:sldId id="575" r:id="rId6"/>
    <p:sldId id="576" r:id="rId7"/>
    <p:sldId id="577" r:id="rId8"/>
    <p:sldId id="578" r:id="rId9"/>
    <p:sldId id="581" r:id="rId10"/>
    <p:sldId id="579" r:id="rId11"/>
    <p:sldId id="580" r:id="rId12"/>
    <p:sldId id="58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 varScale="1">
        <p:scale>
          <a:sx n="100" d="100"/>
          <a:sy n="100" d="100"/>
        </p:scale>
        <p:origin x="4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以下は，「重要」スライドのみ説明いただければ</a:t>
            </a:r>
            <a:r>
              <a:rPr kumimoji="1" lang="en-US" altLang="ja-JP" dirty="0"/>
              <a:t>OK</a:t>
            </a:r>
            <a:r>
              <a:rPr kumimoji="1" lang="ja-JP" altLang="en-US" dirty="0"/>
              <a:t>です．時間と理解度を見て適宜調整ください．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679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/>
              <a:t>#12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858250" cy="810704"/>
          </a:xfrm>
        </p:spPr>
        <p:txBody>
          <a:bodyPr>
            <a:normAutofit fontScale="90000"/>
          </a:bodyPr>
          <a:lstStyle/>
          <a:p>
            <a:pPr algn="l"/>
            <a:r>
              <a:rPr lang="ja-JP" altLang="en-US" sz="2700" dirty="0"/>
              <a:t>回帰分析とその他の代表的な分析手法</a:t>
            </a:r>
            <a:r>
              <a:rPr lang="en-US" altLang="ja-JP" sz="2700" dirty="0"/>
              <a:t>/</a:t>
            </a:r>
            <a:r>
              <a:rPr lang="ja-JP" altLang="en-US" sz="2700" dirty="0"/>
              <a:t>回帰分析の結果の解釈 後半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ch3-5</a:t>
            </a:r>
            <a:r>
              <a:rPr kumimoji="1" lang="ja-JP" altLang="en-US" dirty="0"/>
              <a:t>：分析結果の誤った解釈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5BC38-9840-BD0B-4F90-DEFF2A15E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①分散・標準偏差の解釈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93000CD-6984-9960-E682-C5C2A15D1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189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記述統計量は表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の通りである．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表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より，体重のほうが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分散の値が小さく</a:t>
                </a:r>
                <a:r>
                  <a:rPr kumimoji="1" lang="ja-JP" altLang="en-US" dirty="0"/>
                  <a:t>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身長に比べてデータの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ばらつきは小さい</a:t>
                </a:r>
                <a:r>
                  <a:rPr kumimoji="1" lang="ja-JP" altLang="en-US" dirty="0"/>
                  <a:t>ことがわかる．</a:t>
                </a:r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単位の違うデータ同士で，ばらつきを比較したい場合は，</a:t>
                </a:r>
                <a:br>
                  <a:rPr kumimoji="1" lang="en-US" altLang="ja-JP" dirty="0"/>
                </a:br>
                <a:r>
                  <a:rPr kumimoji="1" lang="ja-JP" altLang="en-US" b="1" dirty="0"/>
                  <a:t>変動係数</a:t>
                </a:r>
                <a:r>
                  <a:rPr kumimoji="1" lang="en-US" altLang="ja-JP" sz="2000" dirty="0">
                    <a:solidFill>
                      <a:schemeClr val="accent2"/>
                    </a:solidFill>
                  </a:rPr>
                  <a:t>coefficient of variation</a:t>
                </a:r>
                <a:r>
                  <a:rPr kumimoji="1" lang="ja-JP" altLang="en-US" dirty="0"/>
                  <a:t>を利用する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𝐶𝑉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標準偏差</m:t>
                          </m:r>
                        </m:num>
                        <m:den>
                          <m:r>
                            <a:rPr lang="ja-JP" altLang="en-US" i="1">
                              <a:latin typeface="Cambria Math" panose="02040503050406030204" pitchFamily="18" charset="0"/>
                            </a:rPr>
                            <m:t>平均値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391BDA4-82AB-F33D-60F6-D8FD77592B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8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1736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199A3D-6430-92C5-B42F-13589B5F9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②推定係数が有意ではない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8BDD09-E45A-0AE2-E5D9-91A971E26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1F4C307-CDBB-478B-1F82-8A07E08C4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190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説明変数として使用した人口の推定係数は</a:t>
            </a:r>
            <a:br>
              <a:rPr kumimoji="1" lang="en-US" altLang="ja-JP" dirty="0"/>
            </a:br>
            <a:r>
              <a:rPr kumimoji="1" lang="ja-JP" altLang="en-US" dirty="0"/>
              <a:t>統計的に有意とはならず，</a:t>
            </a:r>
            <a:br>
              <a:rPr kumimoji="1" lang="en-US" altLang="ja-JP" dirty="0"/>
            </a:br>
            <a:r>
              <a:rPr kumimoji="1" lang="ja-JP" altLang="en-US" dirty="0"/>
              <a:t>目的変数である</a:t>
            </a:r>
            <a:r>
              <a:rPr kumimoji="1" lang="en-US" altLang="ja-JP" dirty="0"/>
              <a:t>GDP</a:t>
            </a:r>
            <a:r>
              <a:rPr kumimoji="1" lang="ja-JP" altLang="en-US" dirty="0"/>
              <a:t>と説明変数である人口は，</a:t>
            </a:r>
            <a:br>
              <a:rPr kumimoji="1" lang="en-US" altLang="ja-JP" dirty="0"/>
            </a:br>
            <a:r>
              <a:rPr kumimoji="1" lang="ja-JP" altLang="en-US" dirty="0">
                <a:solidFill>
                  <a:schemeClr val="accent5"/>
                </a:solidFill>
              </a:rPr>
              <a:t>因果関係がない</a:t>
            </a:r>
            <a:r>
              <a:rPr kumimoji="1" lang="ja-JP" altLang="en-US" dirty="0"/>
              <a:t>ことが明らかになった．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推定係数</a:t>
            </a:r>
            <a:r>
              <a:rPr kumimoji="1" lang="ja-JP" altLang="en-US" sz="2000" dirty="0"/>
              <a:t>（推定した回帰係数）</a:t>
            </a:r>
            <a:r>
              <a:rPr kumimoji="1" lang="ja-JP" altLang="en-US" dirty="0"/>
              <a:t>が有意でない場合，</a:t>
            </a:r>
            <a:br>
              <a:rPr kumimoji="1" lang="en-US" altLang="ja-JP" dirty="0"/>
            </a:br>
            <a:r>
              <a:rPr kumimoji="1" lang="ja-JP" altLang="en-US" dirty="0"/>
              <a:t>「統計的に因果関係があるかどうか</a:t>
            </a:r>
            <a:r>
              <a:rPr kumimoji="1" lang="ja-JP" altLang="en-US" b="1" dirty="0"/>
              <a:t>わからない</a:t>
            </a:r>
            <a:r>
              <a:rPr kumimoji="1" lang="ja-JP" altLang="en-US" dirty="0"/>
              <a:t>」だけで，</a:t>
            </a:r>
            <a:br>
              <a:rPr kumimoji="1" lang="en-US" altLang="ja-JP" dirty="0"/>
            </a:br>
            <a:r>
              <a:rPr kumimoji="1" lang="ja-JP" altLang="en-US" b="1" dirty="0"/>
              <a:t>「因果関係がない」とはいえない</a:t>
            </a:r>
            <a:r>
              <a:rPr kumimoji="1" lang="ja-JP" altLang="en-US" dirty="0"/>
              <a:t>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8812F83-2446-3DFD-E166-E3983DC38CF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359888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25DCBF-F07C-26DD-E8F7-54013C723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③説明変数と目的変数の解釈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C9BD12B-CA47-791F-3788-214658C07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lvl="1"/>
                <a:r>
                  <a:rPr kumimoji="1" lang="ja-JP" altLang="en-US" dirty="0"/>
                  <a:t>（</a:t>
                </a:r>
                <a:r>
                  <a:rPr kumimoji="1" lang="en-US" altLang="ja-JP" dirty="0"/>
                  <a:t>pp. 191</a:t>
                </a:r>
                <a:r>
                  <a:rPr kumimoji="1" lang="ja-JP" altLang="en-US" dirty="0"/>
                  <a:t>）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人口の増加が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排出量に与える影響を見るために，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以下の式を用いて回帰分析を行った．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人</m:t>
                        </m:r>
                        <m:sSub>
                          <m:sSubPr>
                            <m:ctrlP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en-US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口</m:t>
                            </m:r>
                          </m:e>
                          <m:sub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𝐶𝑂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推定結果より，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=0.35となり</m:t>
                    </m:r>
                  </m:oMath>
                </a14:m>
                <a:r>
                  <a:rPr kumimoji="1" lang="ja-JP" altLang="en-US" dirty="0"/>
                  <a:t>，有意水準</a:t>
                </a:r>
                <a:r>
                  <a:rPr kumimoji="1" lang="en-US" altLang="ja-JP" dirty="0"/>
                  <a:t>5%</a:t>
                </a:r>
                <a:r>
                  <a:rPr kumimoji="1" lang="ja-JP" altLang="en-US" dirty="0"/>
                  <a:t>で統計的に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有意な結果を得た．ここから，人口が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単位増加すると，</a:t>
                </a:r>
                <a:br>
                  <a:rPr kumimoji="1" lang="en-US" altLang="ja-JP" dirty="0">
                    <a:solidFill>
                      <a:schemeClr val="accent5"/>
                    </a:solidFill>
                  </a:rPr>
                </a:br>
                <a:r>
                  <a:rPr kumimoji="1" lang="en-US" altLang="ja-JP" dirty="0">
                    <a:solidFill>
                      <a:schemeClr val="accent5"/>
                    </a:solidFill>
                  </a:rPr>
                  <a:t>CO2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排出量が</a:t>
                </a:r>
                <a:r>
                  <a:rPr kumimoji="1" lang="en-US" altLang="ja-JP" dirty="0">
                    <a:solidFill>
                      <a:schemeClr val="accent5"/>
                    </a:solidFill>
                  </a:rPr>
                  <a:t>0.35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単位増加する</a:t>
                </a:r>
                <a:r>
                  <a:rPr kumimoji="1" lang="ja-JP" altLang="en-US" dirty="0"/>
                  <a:t>ことが明らかになった．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r>
                  <a:rPr kumimoji="1" lang="ja-JP" altLang="en-US" dirty="0"/>
                  <a:t>説明変数</a:t>
                </a:r>
                <a:r>
                  <a:rPr kumimoji="1" lang="ja-JP" altLang="en-US" sz="2000" dirty="0"/>
                  <a:t>（原因，右辺）</a:t>
                </a:r>
                <a:r>
                  <a:rPr kumimoji="1" lang="ja-JP" altLang="en-US" dirty="0"/>
                  <a:t>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単位増加すると，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目的変数</a:t>
                </a:r>
                <a:r>
                  <a:rPr kumimoji="1" lang="ja-JP" altLang="en-US" sz="2000" dirty="0"/>
                  <a:t>（結果，左辺）</a:t>
                </a:r>
                <a:r>
                  <a:rPr kumimoji="1" lang="ja-JP" altLang="en-US" dirty="0"/>
                  <a:t>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単位増加する，と読む．</a:t>
                </a:r>
                <a:endParaRPr kumimoji="1" lang="en-US" altLang="ja-JP" dirty="0"/>
              </a:p>
              <a:p>
                <a:r>
                  <a:rPr lang="ja-JP" altLang="en-US" dirty="0"/>
                  <a:t>因果関係は「原因→結果」の一方通行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例文の推定式から読めることは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「</a:t>
                </a:r>
                <a:r>
                  <a:rPr kumimoji="1" lang="en-US" altLang="ja-JP" dirty="0"/>
                  <a:t>CO</a:t>
                </a:r>
                <a:r>
                  <a:rPr kumimoji="1" lang="en-US" altLang="ja-JP" baseline="-25000" dirty="0"/>
                  <a:t>2</a:t>
                </a:r>
                <a:r>
                  <a:rPr kumimoji="1" lang="ja-JP" altLang="en-US" dirty="0"/>
                  <a:t>排出量が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単位増えると，人口が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kumimoji="1" lang="ja-JP" altLang="en-US" dirty="0"/>
                  <a:t>単位増える」</a:t>
                </a:r>
                <a:r>
                  <a:rPr kumimoji="1" lang="en-US" altLang="ja-JP" dirty="0"/>
                  <a:t>…</a:t>
                </a:r>
                <a:r>
                  <a:rPr kumimoji="1" lang="ja-JP" altLang="en-US" dirty="0"/>
                  <a:t>？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0F01C46-D37B-9B42-90B1-839696E3B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3A3235-0224-CA1F-48C2-2D56A59E62C6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046088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848076-F7F8-62C4-BAF4-B09ECC38D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④自由度修正済み決定係数がマイナス値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5EC67A-A4BD-84DA-A532-A8AB28391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6BED827-9854-1BDF-356D-DD74D2E41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ja-JP" altLang="en-US" dirty="0"/>
              <a:t>（</a:t>
            </a:r>
            <a:r>
              <a:rPr lang="en-US" altLang="ja-JP" dirty="0"/>
              <a:t>pp. 192</a:t>
            </a:r>
            <a:r>
              <a:rPr lang="ja-JP" altLang="en-US" dirty="0"/>
              <a:t>）</a:t>
            </a:r>
            <a:br>
              <a:rPr lang="en-US" altLang="ja-JP" dirty="0"/>
            </a:br>
            <a:r>
              <a:rPr lang="ja-JP" altLang="en-US" dirty="0"/>
              <a:t>自由度修正済み決定係数の値は－</a:t>
            </a:r>
            <a:r>
              <a:rPr lang="en-US" altLang="ja-JP" dirty="0"/>
              <a:t>0.0012</a:t>
            </a:r>
            <a:r>
              <a:rPr lang="ja-JP" altLang="en-US" dirty="0"/>
              <a:t>であり，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モデルの当てはまりは非常に悪い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説明変数の個数が多い</a:t>
            </a:r>
            <a:r>
              <a:rPr lang="ja-JP" altLang="en-US" sz="2000" dirty="0"/>
              <a:t>（自由度が小さい）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説明力</a:t>
            </a:r>
            <a:r>
              <a:rPr lang="ja-JP" altLang="en-US" sz="2000" dirty="0"/>
              <a:t>（目的変数との関係性が薄い）</a:t>
            </a:r>
            <a:r>
              <a:rPr lang="ja-JP" altLang="en-US" dirty="0"/>
              <a:t>場合．</a:t>
            </a:r>
            <a:endParaRPr lang="en-US" altLang="ja-JP" dirty="0"/>
          </a:p>
          <a:p>
            <a:r>
              <a:rPr lang="ja-JP" altLang="en-US" dirty="0"/>
              <a:t>「モデルの当てはまりは悪い」とする読み方は</a:t>
            </a:r>
            <a:r>
              <a:rPr lang="ja-JP" altLang="en-US" b="1" dirty="0"/>
              <a:t>誤りではない</a:t>
            </a:r>
            <a:r>
              <a:rPr lang="ja-JP" altLang="en-US" dirty="0"/>
              <a:t>が，</a:t>
            </a:r>
            <a:br>
              <a:rPr lang="en-US" altLang="ja-JP" dirty="0"/>
            </a:br>
            <a:r>
              <a:rPr lang="ja-JP" altLang="en-US" dirty="0"/>
              <a:t>分析モデルや変数選択，</a:t>
            </a:r>
            <a:br>
              <a:rPr lang="en-US" altLang="ja-JP" dirty="0"/>
            </a:br>
            <a:r>
              <a:rPr lang="ja-JP" altLang="en-US" dirty="0"/>
              <a:t>データの特徴を</a:t>
            </a:r>
            <a:r>
              <a:rPr lang="ja-JP" altLang="en-US" b="1" dirty="0"/>
              <a:t>見直した方が良い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4341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BE301-48E5-3DBB-5C50-D0D4BF9B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⑤分析手法の選択の誤り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1A1AEBA-1990-F816-B312-6D9837FC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9600107-9BA7-9056-5217-37C6481E8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193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サッカーの試合の勝敗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（勝ち＝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1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，それ以外＝</a:t>
            </a:r>
            <a:r>
              <a:rPr kumimoji="1" lang="en-US" altLang="ja-JP" sz="1800" dirty="0">
                <a:solidFill>
                  <a:schemeClr val="accent5"/>
                </a:solidFill>
              </a:rPr>
              <a:t>0</a:t>
            </a:r>
            <a:r>
              <a:rPr kumimoji="1" lang="ja-JP" altLang="en-US" sz="1800" dirty="0">
                <a:solidFill>
                  <a:schemeClr val="accent5"/>
                </a:solidFill>
              </a:rPr>
              <a:t>）</a:t>
            </a:r>
            <a:r>
              <a:rPr kumimoji="1" lang="ja-JP" altLang="en-US" dirty="0"/>
              <a:t>に</a:t>
            </a:r>
            <a:br>
              <a:rPr kumimoji="1" lang="en-US" altLang="ja-JP" dirty="0"/>
            </a:br>
            <a:r>
              <a:rPr kumimoji="1" lang="ja-JP" altLang="en-US" dirty="0"/>
              <a:t>影響を与える要因を明らかにするため，</a:t>
            </a:r>
            <a:br>
              <a:rPr kumimoji="1" lang="en-US" altLang="ja-JP" dirty="0"/>
            </a:br>
            <a:r>
              <a:rPr kumimoji="1" lang="ja-JP" altLang="en-US" dirty="0">
                <a:solidFill>
                  <a:schemeClr val="accent5"/>
                </a:solidFill>
              </a:rPr>
              <a:t>最小二乗法</a:t>
            </a:r>
            <a:r>
              <a:rPr kumimoji="1" lang="ja-JP" altLang="en-US" dirty="0"/>
              <a:t>を用いて分析を行う．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目的変数がダミー変数である場合は，</a:t>
            </a:r>
            <a:br>
              <a:rPr kumimoji="1" lang="en-US" altLang="ja-JP" dirty="0"/>
            </a:br>
            <a:r>
              <a:rPr kumimoji="1" lang="ja-JP" altLang="en-US" dirty="0"/>
              <a:t>最小二乗法の前提条件を満たさないため，</a:t>
            </a:r>
            <a:br>
              <a:rPr kumimoji="1" lang="en-US" altLang="ja-JP" dirty="0"/>
            </a:br>
            <a:r>
              <a:rPr kumimoji="1" lang="ja-JP" altLang="en-US" dirty="0"/>
              <a:t>他の方法</a:t>
            </a:r>
            <a:r>
              <a:rPr kumimoji="1" lang="ja-JP" altLang="en-US" sz="2000" dirty="0"/>
              <a:t>（ロジット，プロビットなど）</a:t>
            </a:r>
            <a:r>
              <a:rPr kumimoji="1" lang="ja-JP" altLang="en-US" dirty="0"/>
              <a:t>を用いることを検討する．</a:t>
            </a:r>
            <a:endParaRPr kumimoji="1" lang="en-US" altLang="ja-JP" dirty="0"/>
          </a:p>
          <a:p>
            <a:r>
              <a:rPr lang="ja-JP" altLang="en-US" dirty="0"/>
              <a:t>分析目的や使用データに</a:t>
            </a:r>
            <a:r>
              <a:rPr lang="ja-JP" altLang="en-US" b="1" dirty="0"/>
              <a:t>適した分析方法</a:t>
            </a:r>
            <a:r>
              <a:rPr lang="ja-JP" altLang="en-US" dirty="0"/>
              <a:t>を選択する．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3990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B80FCF-61C5-5611-2ED0-4111E1F87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(Advanced) </a:t>
            </a:r>
            <a:r>
              <a:rPr lang="ja-JP" altLang="en-US" dirty="0"/>
              <a:t>最小二乗法の条件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B4F3378-C32B-A6A2-6500-1B36284DA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最小二乗法の推定量が不偏性をもつ条件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①説明変数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1" lang="ja-JP" altLang="en-US" dirty="0"/>
                  <a:t>が確率変数ではない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②標本数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が大きくなるとき，偏差平方和は無限大になる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③誤差項の期待値は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である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④誤差項の分散は一定である（均一分散性）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⑤誤差項は互いに無相関である（独立性）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これらの条件を満たすモデルを古典的回帰モデルという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古典的回帰モデルで推定された推定量は最良である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ガウス・マルコフ定理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73940A2-12D6-2828-73C0-96334176A0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159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E91336-F9A6-A907-B325-B65F4F348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⑥疑似相関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907248-6EEE-EF0C-45F4-8BCC4BA85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DC1996-CEAD-4CC7-CAC5-6EB1965F9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195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高血圧の人ほど年収が高い．</a:t>
            </a:r>
            <a:endParaRPr kumimoji="1" lang="en-US" altLang="ja-JP" dirty="0"/>
          </a:p>
          <a:p>
            <a:pPr lvl="1"/>
            <a:r>
              <a:rPr lang="ja-JP" altLang="en-US" dirty="0"/>
              <a:t>アイスの売上が上がるほど，熱中症患者が増える．</a:t>
            </a:r>
            <a:endParaRPr lang="en-US" altLang="ja-JP" dirty="0"/>
          </a:p>
          <a:p>
            <a:pPr lvl="1"/>
            <a:r>
              <a:rPr kumimoji="1" lang="ja-JP" altLang="en-US" dirty="0"/>
              <a:t>少子化が進むと，温暖化が進む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相関係数の絶対値が大きいからといって，</a:t>
            </a:r>
            <a:br>
              <a:rPr kumimoji="1" lang="en-US" altLang="ja-JP" dirty="0"/>
            </a:br>
            <a:r>
              <a:rPr kumimoji="1" lang="ja-JP" altLang="en-US" dirty="0"/>
              <a:t>因果関係があるとはいえない．</a:t>
            </a:r>
            <a:endParaRPr lang="en-US" altLang="ja-JP" dirty="0"/>
          </a:p>
          <a:p>
            <a:r>
              <a:rPr kumimoji="1" lang="ja-JP" altLang="en-US" b="1" dirty="0"/>
              <a:t>相関関係と因果関係は別物</a:t>
            </a:r>
            <a:r>
              <a:rPr kumimoji="1" lang="ja-JP" altLang="en-US" dirty="0"/>
              <a:t>であることに注意．</a:t>
            </a:r>
            <a:endParaRPr kumimoji="1" lang="en-US" altLang="ja-JP" dirty="0"/>
          </a:p>
          <a:p>
            <a:pPr lvl="1"/>
            <a:r>
              <a:rPr lang="ja-JP" altLang="en-US" dirty="0"/>
              <a:t>相関関係：関係性がある</a:t>
            </a:r>
            <a:endParaRPr lang="en-US" altLang="ja-JP" dirty="0"/>
          </a:p>
          <a:p>
            <a:pPr lvl="1"/>
            <a:r>
              <a:rPr kumimoji="1" lang="ja-JP" altLang="en-US" dirty="0"/>
              <a:t>因果関係：原因と結果の関係</a:t>
            </a:r>
            <a:endParaRPr kumimoji="1" lang="en-US" altLang="ja-JP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7EA7F63-5C71-8F0D-4A32-95A7AB900A1F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659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4BD59-EF89-63AB-35B3-3ED5F555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⑦全数調査における推定の必要性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2D8B07-1E33-B17D-DA10-01DE0EE6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69EFFA6-337D-875D-CD84-D76A70501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kumimoji="1" lang="ja-JP" altLang="en-US" dirty="0"/>
              <a:t>（</a:t>
            </a:r>
            <a:r>
              <a:rPr kumimoji="1" lang="en-US" altLang="ja-JP" dirty="0"/>
              <a:t>pp. 196</a:t>
            </a:r>
            <a:r>
              <a:rPr kumimoji="1" lang="ja-JP" altLang="en-US" dirty="0"/>
              <a:t>）</a:t>
            </a:r>
            <a:br>
              <a:rPr kumimoji="1" lang="en-US" altLang="ja-JP" dirty="0"/>
            </a:br>
            <a:r>
              <a:rPr kumimoji="1" lang="ja-JP" altLang="en-US" dirty="0"/>
              <a:t>集落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には</a:t>
            </a:r>
            <a:r>
              <a:rPr kumimoji="1" lang="en-US" altLang="ja-JP" dirty="0"/>
              <a:t>30</a:t>
            </a:r>
            <a:r>
              <a:rPr lang="ja-JP" altLang="en-US" dirty="0"/>
              <a:t>戸の農家がある．</a:t>
            </a:r>
            <a:br>
              <a:rPr lang="en-US" altLang="ja-JP" dirty="0"/>
            </a:br>
            <a:r>
              <a:rPr lang="ja-JP" altLang="en-US" dirty="0">
                <a:solidFill>
                  <a:schemeClr val="accent5"/>
                </a:solidFill>
              </a:rPr>
              <a:t>集落</a:t>
            </a:r>
            <a:r>
              <a:rPr lang="en-US" altLang="ja-JP" dirty="0">
                <a:solidFill>
                  <a:schemeClr val="accent5"/>
                </a:solidFill>
              </a:rPr>
              <a:t>A</a:t>
            </a:r>
            <a:r>
              <a:rPr lang="ja-JP" altLang="en-US" dirty="0">
                <a:solidFill>
                  <a:schemeClr val="accent5"/>
                </a:solidFill>
              </a:rPr>
              <a:t>にある農家の年収</a:t>
            </a:r>
            <a:r>
              <a:rPr lang="ja-JP" altLang="en-US" dirty="0"/>
              <a:t>について調査を行うため，</a:t>
            </a:r>
            <a:br>
              <a:rPr lang="en-US" altLang="ja-JP" dirty="0"/>
            </a:br>
            <a:r>
              <a:rPr lang="en-US" altLang="ja-JP" dirty="0">
                <a:solidFill>
                  <a:schemeClr val="accent5"/>
                </a:solidFill>
              </a:rPr>
              <a:t>30</a:t>
            </a:r>
            <a:r>
              <a:rPr lang="ja-JP" altLang="en-US" dirty="0">
                <a:solidFill>
                  <a:schemeClr val="accent5"/>
                </a:solidFill>
              </a:rPr>
              <a:t>戸すべて</a:t>
            </a:r>
            <a:r>
              <a:rPr lang="ja-JP" altLang="en-US" dirty="0"/>
              <a:t>の農家に年収に関する調査を行って</a:t>
            </a:r>
            <a:r>
              <a:rPr lang="ja-JP" altLang="en-US" dirty="0">
                <a:solidFill>
                  <a:schemeClr val="accent5"/>
                </a:solidFill>
              </a:rPr>
              <a:t>回答を得た</a:t>
            </a:r>
            <a:r>
              <a:rPr lang="ja-JP" altLang="en-US" dirty="0"/>
              <a:t>．</a:t>
            </a:r>
            <a:br>
              <a:rPr lang="en-US" altLang="ja-JP" dirty="0"/>
            </a:br>
            <a:r>
              <a:rPr lang="ja-JP" altLang="en-US" dirty="0"/>
              <a:t>このサンプルサイズ</a:t>
            </a:r>
            <a:r>
              <a:rPr lang="en-US" altLang="ja-JP" dirty="0"/>
              <a:t>30</a:t>
            </a:r>
            <a:r>
              <a:rPr lang="ja-JP" altLang="en-US" dirty="0"/>
              <a:t>のデータを用いて，</a:t>
            </a:r>
            <a:br>
              <a:rPr lang="en-US" altLang="ja-JP" dirty="0"/>
            </a:br>
            <a:r>
              <a:rPr lang="ja-JP" altLang="en-US" dirty="0"/>
              <a:t>年収の平均値に関する</a:t>
            </a:r>
            <a:r>
              <a:rPr lang="ja-JP" altLang="en-US" dirty="0">
                <a:solidFill>
                  <a:schemeClr val="accent5"/>
                </a:solidFill>
              </a:rPr>
              <a:t>区間推定を行う</a:t>
            </a:r>
            <a:r>
              <a:rPr lang="ja-JP" altLang="en-US" dirty="0"/>
              <a:t>．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母集団のデータが手元にあるならば，</a:t>
            </a:r>
            <a:br>
              <a:rPr lang="en-US" altLang="ja-JP" dirty="0"/>
            </a:br>
            <a:r>
              <a:rPr lang="ja-JP" altLang="en-US" dirty="0"/>
              <a:t>そもそも</a:t>
            </a:r>
            <a:r>
              <a:rPr lang="ja-JP" altLang="en-US" b="1" dirty="0"/>
              <a:t>推定作業は不要</a:t>
            </a:r>
            <a:r>
              <a:rPr lang="ja-JP" altLang="en-US" dirty="0"/>
              <a:t>．</a:t>
            </a:r>
            <a:endParaRPr lang="en-US" altLang="ja-JP" dirty="0"/>
          </a:p>
          <a:p>
            <a:pPr lvl="1"/>
            <a:r>
              <a:rPr kumimoji="1" lang="ja-JP" altLang="en-US" dirty="0"/>
              <a:t>推定：母集団の特徴が</a:t>
            </a:r>
            <a:r>
              <a:rPr kumimoji="1" lang="ja-JP" altLang="en-US" b="1" dirty="0"/>
              <a:t>未知のとき</a:t>
            </a:r>
            <a:r>
              <a:rPr kumimoji="1" lang="ja-JP" altLang="en-US" dirty="0"/>
              <a:t>，</a:t>
            </a:r>
            <a:br>
              <a:rPr kumimoji="1" lang="en-US" altLang="ja-JP" dirty="0"/>
            </a:br>
            <a:r>
              <a:rPr kumimoji="1" lang="ja-JP" altLang="en-US" dirty="0"/>
              <a:t>標本のデータから母集団を推測していく方法．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ECDFF9-50BD-9FE8-7BDB-645421244A2D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6254756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章　第</a:t>
            </a:r>
            <a:r>
              <a:rPr lang="en-US" altLang="ja-JP" dirty="0"/>
              <a:t>5</a:t>
            </a:r>
            <a:r>
              <a:rPr lang="ja-JP" altLang="en-US" dirty="0"/>
              <a:t>節　分析結果の誤った解釈</a:t>
            </a:r>
            <a:endParaRPr lang="en-US" altLang="ja-JP" dirty="0"/>
          </a:p>
          <a:p>
            <a:pPr lvl="1"/>
            <a:r>
              <a:rPr lang="ja-JP" altLang="en-US" dirty="0"/>
              <a:t>分析結果の誤った解釈の事例を理解する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95960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932</TotalTime>
  <Words>952</Words>
  <Application>Microsoft Office PowerPoint</Application>
  <PresentationFormat>画面に合わせる (4:3)</PresentationFormat>
  <Paragraphs>81</Paragraphs>
  <Slides>12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0" baseType="lpstr"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回帰分析とその他の代表的な分析手法/回帰分析の結果の解釈 後半</vt:lpstr>
      <vt:lpstr>今日の目標</vt:lpstr>
      <vt:lpstr>PowerPoint プレゼンテーション</vt:lpstr>
      <vt:lpstr>①分散・標準偏差の解釈</vt:lpstr>
      <vt:lpstr>②推定係数が有意ではない</vt:lpstr>
      <vt:lpstr>③説明変数と目的変数の解釈</vt:lpstr>
      <vt:lpstr>④自由度修正済み決定係数がマイナス値</vt:lpstr>
      <vt:lpstr>⑤分析手法の選択の誤り</vt:lpstr>
      <vt:lpstr>(Advanced) 最小二乗法の条件</vt:lpstr>
      <vt:lpstr>⑥疑似相関</vt:lpstr>
      <vt:lpstr>⑦全数調査における推定の必要性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131</cp:revision>
  <dcterms:created xsi:type="dcterms:W3CDTF">2025-03-03T09:28:12Z</dcterms:created>
  <dcterms:modified xsi:type="dcterms:W3CDTF">2026-09-13T16:51:54Z</dcterms:modified>
</cp:coreProperties>
</file>