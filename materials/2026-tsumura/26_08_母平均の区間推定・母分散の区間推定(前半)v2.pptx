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  <p:sldMasterId id="2147483736" r:id="rId2"/>
  </p:sldMasterIdLst>
  <p:notesMasterIdLst>
    <p:notesMasterId r:id="rId36"/>
  </p:notesMasterIdLst>
  <p:sldIdLst>
    <p:sldId id="256" r:id="rId3"/>
    <p:sldId id="257" r:id="rId4"/>
    <p:sldId id="258" r:id="rId5"/>
    <p:sldId id="636" r:id="rId6"/>
    <p:sldId id="630" r:id="rId7"/>
    <p:sldId id="637" r:id="rId8"/>
    <p:sldId id="638" r:id="rId9"/>
    <p:sldId id="631" r:id="rId10"/>
    <p:sldId id="639" r:id="rId11"/>
    <p:sldId id="632" r:id="rId12"/>
    <p:sldId id="640" r:id="rId13"/>
    <p:sldId id="660" r:id="rId14"/>
    <p:sldId id="641" r:id="rId15"/>
    <p:sldId id="633" r:id="rId16"/>
    <p:sldId id="661" r:id="rId17"/>
    <p:sldId id="672" r:id="rId18"/>
    <p:sldId id="673" r:id="rId19"/>
    <p:sldId id="663" r:id="rId20"/>
    <p:sldId id="665" r:id="rId21"/>
    <p:sldId id="666" r:id="rId22"/>
    <p:sldId id="664" r:id="rId23"/>
    <p:sldId id="667" r:id="rId24"/>
    <p:sldId id="671" r:id="rId25"/>
    <p:sldId id="668" r:id="rId26"/>
    <p:sldId id="669" r:id="rId27"/>
    <p:sldId id="262" r:id="rId28"/>
    <p:sldId id="674" r:id="rId29"/>
    <p:sldId id="675" r:id="rId30"/>
    <p:sldId id="676" r:id="rId31"/>
    <p:sldId id="677" r:id="rId32"/>
    <p:sldId id="678" r:id="rId33"/>
    <p:sldId id="679" r:id="rId34"/>
    <p:sldId id="680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46" autoAdjust="0"/>
  </p:normalViewPr>
  <p:slideViewPr>
    <p:cSldViewPr snapToGrid="0">
      <p:cViewPr varScale="1">
        <p:scale>
          <a:sx n="88" d="100"/>
          <a:sy n="88" d="100"/>
        </p:scale>
        <p:origin x="84" y="148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606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4B404-D422-0A27-94EA-25FA3DDF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27E4AA6-5701-B005-7486-ABDB91B02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3DB8844-5768-C196-C127-CCF80B3F0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A7E943-F7EB-803F-BC09-D5153EBA8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738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589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419D-9376-0107-0BDA-A1A96A89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2103928-8324-ABAC-4691-5EB215920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05DB76-33AD-EC23-F7E4-6780E10B7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EF0D1B-B34C-164F-53E5-D972A4870F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ja-JP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16</a:t>
            </a:fld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8250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CCE32-548E-789E-1054-0B23AFAB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98EFE84-D330-C1CE-7555-8BD40B1AF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2CB6B74-C248-F17A-B927-E396D921F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7E0865-6AE4-EACD-C96B-D509176FE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5163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02D9-3EB8-63F7-7D97-0570B6E56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1E88CD9-5099-B3C6-2393-5AD88A6B0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2F17D27-20AB-F941-150E-33350D2F2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CD9ABE-E513-7180-D73B-C4FA61B61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7052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EB782-93D6-896F-EDD8-7468F7CE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E87B059-0199-0583-35BB-FBB6915BA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141E5F0-58F8-9E28-6AFF-E8594730E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6414BE-E00E-A038-00B2-48723A538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3354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A4611-32B9-23D8-BC4C-066BD962F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4A40A66-D26B-290B-288E-F942545B1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057AA29-9B04-F6F6-F5DD-8DCD4CB99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652184-82FD-E7F8-7DCD-67E4929AE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9801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05739-37A1-3FBC-C55C-05F13DEE6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FB4A461-E150-2917-EF8E-345F099AE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9244986-2C7A-197D-C96E-190935C96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525087-1C57-B243-47DE-A85D14E7B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5837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B77C6-C96D-9910-C63A-2BF754C3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FC0D920-4DD7-B80E-B322-F770C7AE9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A26E66A-6264-5FC6-8926-6C7AC7FD3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C0CC7CC-DCF9-0BD2-BD0A-A2E7E5DFB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640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73329-EE2E-FB68-AE14-D63EC846E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5711B9F-0AD9-1B64-3047-D40B67DC9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34DFE86-982F-63AA-7B01-2D909CB77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F43DEC-EC26-64D0-6ECB-4DA859BC7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32394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EBF8F-E8BC-4870-3CFE-C1DD5046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BE015A1-F987-E879-E470-9EA2EACFE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554D349-FA16-ACDF-2DA9-D6C21B38A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88DB43-7E80-30BF-6D73-69DD72B6A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6833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7767D-8E07-2C67-3445-5DF3C1076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53C075-AF23-7C29-BA38-9A47B018F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F593A39-8573-4D72-FC90-4C1633500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AF0130-0703-45F0-3C18-249D6FC98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2912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F491-3CF2-8ECF-9514-8771A6902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28842AA-3297-3FB9-8E5C-FA6626E65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D589EE6-C44F-27E4-A140-0C601ED71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D53680-965E-1AE5-59D4-253878E4F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360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63E6C-EF25-B12F-292E-DE213FF2A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0428012-9FCA-AB92-5B19-D327C7D08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1B60867-40AA-A770-1EE5-45F77F1F8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94F30A-5D32-3BC2-34C7-761FA3894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8840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BD832-BFCF-14BB-08A9-5B660B272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D125027-6C53-8CF5-6FDE-2A43E45BD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2B11825-FB39-33B3-C866-5FBAEB078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B185B1-A243-1101-F8D1-D8635F5F8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1012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AA36-7E58-E319-CD82-6F0E74C4F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81785D-EB15-E8C2-4705-881E09824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74069F6-A1B7-3A1F-49CD-7F5CE49A9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47EC77-2DC8-01BC-C640-1555CDB59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29756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96C64-5B48-0EAC-860F-C3AFD5608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684DC1F-0739-644A-CBB6-FADC82E50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06D5DCC-C8B5-E17D-63A5-C5DC00D65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3674E5-C05A-F0C6-E847-5C22C9BCA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34679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00DE3-8B38-34C2-CD8F-670618E6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590B9D7-727A-165C-E2F6-50C91B4B7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39B7787-23BD-68D9-ACD2-03A3B8D79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E363BD4-AFC1-1A2C-97EE-0160DFE08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0336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>
  <p:cSld name="タイトル スライド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5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6" name="Google Shape;16;p50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2717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今日の目標">
  <p:cSld name="今日の目標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Font typeface="Noto Sans Symbols"/>
              <a:buChar char="◆"/>
              <a:defRPr/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Font typeface="Noto Sans Symbols"/>
              <a:buChar char="✔"/>
              <a:defRPr/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Font typeface="Noto Sans Symbols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1556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>
  <p:cSld name="セクション見出し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660"/>
              <a:buNone/>
              <a:defRPr sz="2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4788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>
  <p:cSld name="タイトルとコンテンツ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3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4904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>
  <p:cSld name="2 つのコンテンツ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body" idx="1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body" idx="2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6549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>
  <p:cSld name="比較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1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2"/>
          </p:nvPr>
        </p:nvSpPr>
        <p:spPr>
          <a:xfrm>
            <a:off x="4663281" y="953677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body" idx="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body" idx="4"/>
          </p:nvPr>
        </p:nvSpPr>
        <p:spPr>
          <a:xfrm>
            <a:off x="131975" y="953676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89116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図表の比較">
  <p:cSld name="図表の比較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1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2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3"/>
          </p:nvPr>
        </p:nvSpPr>
        <p:spPr>
          <a:xfrm>
            <a:off x="131182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body" idx="4"/>
          </p:nvPr>
        </p:nvSpPr>
        <p:spPr>
          <a:xfrm>
            <a:off x="4663283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97338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タイトルのみ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08008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白紙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89442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>
  <p:cSld name="タイトル付きの図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0"/>
          <p:cNvSpPr>
            <a:spLocks noGrp="1"/>
          </p:cNvSpPr>
          <p:nvPr>
            <p:ph type="pic" idx="2"/>
          </p:nvPr>
        </p:nvSpPr>
        <p:spPr>
          <a:xfrm>
            <a:off x="235670" y="810704"/>
            <a:ext cx="8672660" cy="4798244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60"/>
          <p:cNvSpPr txBox="1">
            <a:spLocks noGrp="1"/>
          </p:cNvSpPr>
          <p:nvPr>
            <p:ph type="body" idx="1"/>
          </p:nvPr>
        </p:nvSpPr>
        <p:spPr>
          <a:xfrm>
            <a:off x="235669" y="5670223"/>
            <a:ext cx="8672660" cy="10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6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61" name="Google Shape;61;p60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50911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746098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751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66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338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280"/>
              <a:buFont typeface="Noto Sans Symbols"/>
              <a:buChar char="✔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⮚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278914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#08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737600" cy="810704"/>
          </a:xfrm>
        </p:spPr>
        <p:txBody>
          <a:bodyPr>
            <a:normAutofit fontScale="90000"/>
          </a:bodyPr>
          <a:lstStyle/>
          <a:p>
            <a:pPr algn="l"/>
            <a:r>
              <a:rPr lang="ja-JP" altLang="en-US" dirty="0"/>
              <a:t>母平均の点推定・区間推定・母分散の点推定・区間推定　前半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節　母平均の点推定・区間推定・母分散の点推定・区間推定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母数と推定量の違いを理解する</a:t>
            </a:r>
            <a:endParaRPr kumimoji="1" lang="en-US" altLang="ja-JP" dirty="0"/>
          </a:p>
          <a:p>
            <a:pPr lvl="1"/>
            <a:r>
              <a:rPr lang="ja-JP" altLang="en-US" dirty="0"/>
              <a:t>不偏推定量の特徴について理解する</a:t>
            </a:r>
            <a:endParaRPr lang="en-US" altLang="ja-JP" dirty="0"/>
          </a:p>
          <a:p>
            <a:pPr lvl="1"/>
            <a:r>
              <a:rPr kumimoji="1" lang="ja-JP" altLang="en-US" dirty="0"/>
              <a:t>母平均の点推定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母分散の点推定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１：母数と推定量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BF59C-5B7B-DD0D-5174-C73582DF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母数と推定量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3A0DCAB-B203-ADD0-A01A-38C8EB9A8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B471067-66F7-4485-2C48-65E92BF9B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kumimoji="1" lang="ja-JP" altLang="en-US" dirty="0"/>
                  <a:t>推定量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母数を推定するための統計量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5"/>
                    </a:solidFill>
                  </a:rPr>
                  <a:t>確率変数</a:t>
                </a:r>
                <a:endParaRPr kumimoji="1"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kumimoji="1" lang="ja-JP" altLang="en-US" dirty="0"/>
                  <a:t>無作為抽出ごとに，どのデータが抽出されるかは毎回ランダムに変わり，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「偶然性を伴う事象」であるため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推定値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推定量に実際の統計データを代入して計算した値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kumimoji="1" lang="ja-JP" altLang="en-US" dirty="0"/>
                  <a:t>の実現値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ja-JP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ja-JP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dirty="0"/>
                  <a:t>，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標本分散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の実現値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母数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母集団の特徴を表す統計量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確率変数ではない（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固定値</a:t>
                </a:r>
                <a:r>
                  <a:rPr lang="ja-JP" altLang="en-US" dirty="0"/>
                  <a:t>）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母平均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，母分散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B471067-66F7-4485-2C48-65E92BF9B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144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455FC-C520-8137-5A3C-98B19E22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7249090-DDC5-4039-569F-8BF7D29F9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２</a:t>
            </a:r>
            <a:r>
              <a:rPr kumimoji="1" lang="ja-JP" altLang="en-US" dirty="0"/>
              <a:t>：不偏推定量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87D36B8-423D-D844-F6FF-A0368F47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7251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0011EC-D55F-B785-2E39-373B2666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不偏推定量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6591C1F-580E-13DC-A739-182B2FC6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9EA446F-F12D-5CF8-DDBF-E77E88861E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不偏推定量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unbiased estimator</a:t>
                </a:r>
              </a:p>
              <a:p>
                <a:pPr lvl="1"/>
                <a:r>
                  <a:rPr kumimoji="1" lang="ja-JP" altLang="en-US" dirty="0"/>
                  <a:t>不偏性 </a:t>
                </a:r>
                <a:r>
                  <a:rPr kumimoji="1" lang="en-US" altLang="ja-JP" dirty="0"/>
                  <a:t>(</a:t>
                </a:r>
                <a:r>
                  <a:rPr kumimoji="1" lang="ja-JP" altLang="en-US" dirty="0"/>
                  <a:t>偏りがない</a:t>
                </a:r>
                <a:r>
                  <a:rPr kumimoji="1" lang="en-US" altLang="ja-JP" dirty="0"/>
                  <a:t>) </a:t>
                </a:r>
                <a:r>
                  <a:rPr kumimoji="1" lang="ja-JP" altLang="en-US" dirty="0"/>
                  <a:t>をもつ推定量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のこと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不偏性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unbiasedness</a:t>
                </a: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推定量の不偏性とは「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推定量の期待値が，母数と一致する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」こと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en-US" dirty="0"/>
                  <a:t>：母数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ja-JP" altLang="en-US" dirty="0"/>
                  <a:t>：母数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en-US" dirty="0"/>
                  <a:t>に対する推定量</a:t>
                </a:r>
                <a:endParaRPr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標本数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>
                    <a:solidFill>
                      <a:schemeClr val="accent5"/>
                    </a:solidFill>
                  </a:rPr>
                  <a:t>に依存せずに成り立つ</a:t>
                </a:r>
                <a:endParaRPr lang="en-US" altLang="ja-JP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9EA446F-F12D-5CF8-DDBF-E77E88861E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64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8B7C6-6980-BDC8-2B63-F155B403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A4BDDE-A295-0FA6-2367-445EECF3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推定量としての望ましい性質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BD2C3E-9E48-4F31-5111-C2568D1E9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D42964-46EA-FB7D-70A9-5AA17DE28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有効性　</a:t>
            </a:r>
            <a:r>
              <a:rPr lang="en-US" altLang="ja-JP" dirty="0">
                <a:solidFill>
                  <a:schemeClr val="accent2"/>
                </a:solidFill>
              </a:rPr>
              <a:t>efficiency</a:t>
            </a:r>
          </a:p>
          <a:p>
            <a:pPr lvl="1"/>
            <a:r>
              <a:rPr lang="ja-JP" altLang="en-US" dirty="0"/>
              <a:t>同じ不偏性をもつ推定量同士を比べたとき，</a:t>
            </a:r>
            <a:br>
              <a:rPr lang="en-US" altLang="ja-JP" dirty="0"/>
            </a:br>
            <a:r>
              <a:rPr lang="ja-JP" altLang="en-US" dirty="0"/>
              <a:t>分散が小さい推定量の方が良い．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一致性　</a:t>
            </a:r>
            <a:r>
              <a:rPr kumimoji="1" lang="en-US" altLang="ja-JP" dirty="0">
                <a:solidFill>
                  <a:schemeClr val="accent2"/>
                </a:solidFill>
              </a:rPr>
              <a:t>consistency</a:t>
            </a:r>
          </a:p>
          <a:p>
            <a:pPr lvl="1"/>
            <a:r>
              <a:rPr lang="ja-JP" altLang="en-US" dirty="0"/>
              <a:t>標本が大きくなるにつれて，推定量が母数へ収束する．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00866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3439B-9C04-97BB-7025-C3C9A304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77A4289-D118-F95D-C553-17A48266C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：</a:t>
            </a:r>
            <a:r>
              <a:rPr lang="ja-JP" altLang="en-US" dirty="0"/>
              <a:t>点推定と区間推定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3C6CAC0-B2E2-243F-5F28-39E6E73F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4457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D9622-8526-A998-1EFF-D372F3BB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点推定と区間推定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0EC124C-95AD-370A-8E08-691653D7E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718EB87-354B-307B-35C5-EF93EC78F9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点推定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つの値をもって，母数を推定する方法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ja-JP" altLang="en-US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１</m:t>
                        </m:r>
                        <m:r>
                          <a:rPr lang="ja-JP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つの値</m:t>
                        </m:r>
                      </m:e>
                    </m:d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区間推定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上限値</a:t>
                </a:r>
                <a:r>
                  <a:rPr lang="ja-JP" altLang="en-US" dirty="0"/>
                  <a:t>と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下限値</a:t>
                </a:r>
                <a:r>
                  <a:rPr lang="ja-JP" altLang="en-US" dirty="0"/>
                  <a:t>を推定し，</a:t>
                </a:r>
                <a:br>
                  <a:rPr lang="en-US" altLang="ja-JP" dirty="0"/>
                </a:br>
                <a:r>
                  <a:rPr lang="ja-JP" altLang="en-US" dirty="0"/>
                  <a:t>上限値と下限値の間の区間に</a:t>
                </a:r>
                <a:br>
                  <a:rPr lang="en-US" altLang="ja-JP" dirty="0"/>
                </a:br>
                <a:r>
                  <a:rPr lang="ja-JP" altLang="en-US" dirty="0"/>
                  <a:t>母数が含まれる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信頼度</a:t>
                </a:r>
                <a:r>
                  <a:rPr lang="ja-JP" altLang="en-US" dirty="0"/>
                  <a:t>を示す方法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ja-JP" alt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下</m:t>
                        </m:r>
                        <m:r>
                          <a:rPr lang="ja-JP" altLang="en-US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限値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̂"/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ja-JP" altLang="en-US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上限値</m:t>
                        </m:r>
                      </m:e>
                    </m:d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lang="ja-JP" altLang="en-US" sz="1800" dirty="0">
                    <a:solidFill>
                      <a:schemeClr val="tx2"/>
                    </a:solidFill>
                  </a:rPr>
                  <a:t>信頼係数：</a:t>
                </a:r>
                <a:r>
                  <a:rPr lang="en-US" altLang="ja-JP" sz="1800" dirty="0">
                    <a:solidFill>
                      <a:schemeClr val="tx2"/>
                    </a:solidFill>
                  </a:rPr>
                  <a:t>95%</a:t>
                </a:r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718EB87-354B-307B-35C5-EF93EC78F9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1020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7CB35-A15C-032A-17A1-76F1B2D0C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2A3D31B-FB42-93AA-50D4-B0C42047C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４：母平均の点推定量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F4AF15E-11FF-6888-20AD-FB51AF65E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650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3222B2-BFB3-4C15-0C95-CAB825E4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母平均の点推定量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107CFAA-9E49-11EB-1BBF-CE7CF316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02C7FD9-9EEB-BF5C-AB20-135E2BD82A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kumimoji="1" lang="en-US" altLang="ja-JP" dirty="0"/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標本平均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 は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の不偏推定量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である（後で示す）．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つまり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altLang="ja-JP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br>
                  <a:rPr kumimoji="1" lang="en-US" altLang="ja-JP" dirty="0">
                    <a:solidFill>
                      <a:schemeClr val="tx1"/>
                    </a:solidFill>
                  </a:rPr>
                </a:b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endParaRPr kumimoji="1" lang="en-US" altLang="ja-JP" dirty="0"/>
              </a:p>
              <a:p>
                <a:r>
                  <a:rPr lang="ja-JP" altLang="en-US" dirty="0"/>
                  <a:t>そこで</a:t>
                </a:r>
                <a:r>
                  <a:rPr lang="ja-JP" altLang="en-US" dirty="0">
                    <a:solidFill>
                      <a:srgbClr val="00B050"/>
                    </a:solidFill>
                  </a:rPr>
                  <a:t>標本平均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kumimoji="1" lang="ja-JP" altLang="en-US" dirty="0"/>
                  <a:t> を母平均の</a:t>
                </a:r>
                <a:r>
                  <a:rPr kumimoji="1" lang="ja-JP" altLang="en-US" dirty="0">
                    <a:solidFill>
                      <a:srgbClr val="00B050"/>
                    </a:solidFill>
                  </a:rPr>
                  <a:t>点推定量</a:t>
                </a:r>
                <a:r>
                  <a:rPr lang="ja-JP" alt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kumimoji="1" lang="ja-JP" altLang="en-US" dirty="0"/>
                  <a:t> とする．つまり</a:t>
                </a:r>
                <a:endParaRPr lang="en-US" altLang="ja-JP" strike="sngStrik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acc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02C7FD9-9EEB-BF5C-AB20-135E2BD82A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2857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7782C-E3D6-FC66-1FA5-25DE3B5EE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8EF74-3568-8993-DFE6-220C6D1D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(Advanced) </a:t>
            </a:r>
            <a:r>
              <a:rPr kumimoji="1" lang="ja-JP" altLang="en-US"/>
              <a:t>便利</a:t>
            </a:r>
            <a:r>
              <a:rPr lang="ja-JP" altLang="en-US"/>
              <a:t>な</a:t>
            </a:r>
            <a:r>
              <a:rPr kumimoji="1" lang="ja-JP" altLang="en-US" dirty="0"/>
              <a:t>公式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91EE79F-864D-8E44-1C97-F976BF223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DFE9ECB-5DCB-8C49-AAE9-D97D7ED13A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dirty="0">
                    <a:solidFill>
                      <a:schemeClr val="tx2"/>
                    </a:solidFill>
                  </a:rPr>
                  <a:t>: 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確率変数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,  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dirty="0">
                    <a:solidFill>
                      <a:schemeClr val="tx2"/>
                    </a:solidFill>
                  </a:rPr>
                  <a:t>: 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定数 とする．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chemeClr val="tx2"/>
                    </a:solidFill>
                  </a:rPr>
                  <a:t>一般に次が成り立つ．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endParaRPr lang="en-US" altLang="ja-JP" dirty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𝑎𝑋</m:t>
                        </m:r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ja-JP" altLang="ja-JP" dirty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が互いに独立なら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DFE9ECB-5DCB-8C49-AAE9-D97D7ED13A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2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234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16FF7-792D-B0AC-13F1-66035A63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(Advanced)</a:t>
            </a:r>
            <a:r>
              <a:rPr lang="ja-JP" altLang="en-US" dirty="0"/>
              <a:t> 標本平均は</a:t>
            </a:r>
            <a:r>
              <a:rPr kumimoji="1" lang="ja-JP" altLang="en-US" dirty="0"/>
              <a:t>母平均の不偏推定量</a:t>
            </a:r>
            <a:r>
              <a:rPr lang="ja-JP" altLang="en-US" dirty="0"/>
              <a:t>であることの理由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ED5A4EC-7E7B-7187-A45F-9FBCEF15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CE5DA8-2CC0-371F-B69C-B020AF5896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kumimoji="1" lang="ja-JP" altLang="en-US" dirty="0">
                    <a:solidFill>
                      <a:schemeClr val="tx2"/>
                    </a:solidFill>
                  </a:rPr>
                  <a:t>標本平均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:</a:t>
                </a:r>
                <a:r>
                  <a:rPr lang="ja-JP" altLang="ja-JP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chemeClr val="tx2"/>
                    </a:solidFill>
                  </a:rPr>
                  <a:t>標本平均の期待値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chemeClr val="tx2"/>
                    </a:solidFill>
                  </a:rPr>
                  <a:t>前ページの公式を用いると上式は次となる．</a:t>
                </a:r>
                <a:endParaRPr lang="ja-JP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ja-JP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ja-JP" altLang="ja-JP" dirty="0">
                  <a:solidFill>
                    <a:schemeClr val="tx2"/>
                  </a:solidFill>
                </a:endParaRPr>
              </a:p>
              <a:p>
                <a:pPr marL="324000" lvl="1" indent="0">
                  <a:buNone/>
                </a:pPr>
                <a:r>
                  <a:rPr lang="ja-JP" altLang="en-US" dirty="0"/>
                  <a:t>つまり</a:t>
                </a:r>
                <a:br>
                  <a:rPr lang="en-US" altLang="ja-JP" dirty="0">
                    <a:solidFill>
                      <a:schemeClr val="tx2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ja-JP" dirty="0">
                    <a:solidFill>
                      <a:schemeClr val="tx2"/>
                    </a:solidFill>
                  </a:rPr>
                  <a:t>となり</a:t>
                </a:r>
                <a:r>
                  <a:rPr lang="ja-JP" altLang="en-US" dirty="0"/>
                  <a:t>，標本平均は</a:t>
                </a:r>
                <a:r>
                  <a:rPr lang="ja-JP" altLang="ja-JP" dirty="0">
                    <a:solidFill>
                      <a:schemeClr val="tx2"/>
                    </a:solidFill>
                  </a:rPr>
                  <a:t>母平均の</a:t>
                </a:r>
                <a:r>
                  <a:rPr lang="ja-JP" altLang="ja-JP" dirty="0">
                    <a:solidFill>
                      <a:schemeClr val="accent5"/>
                    </a:solidFill>
                  </a:rPr>
                  <a:t>不偏推定量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であることが示された．</a:t>
                </a:r>
                <a:endParaRPr kumimoji="1"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CE5DA8-2CC0-371F-B69C-B020AF5896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2" b="-21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026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3649-B9D0-D833-9B00-A7044BF41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43DD22F-21CC-B268-5DD6-3F428637F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５</a:t>
            </a:r>
            <a:r>
              <a:rPr kumimoji="1" lang="ja-JP" altLang="en-US" dirty="0"/>
              <a:t>：母分散の点推定量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AB08949-F320-28FD-E46E-E9791A64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2639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E5F20-8963-F24E-1B79-221B9DFF3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03B6E8-B63E-BCA6-24FF-95790540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母分散の点推定量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E5FEE7-B7DD-6B3E-C8B2-53834915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A1C70CC-BDAB-A299-009E-375BA1371E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ja-JP" alt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標本分散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個のデータ（標本）の標本分散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とは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400" dirty="0"/>
              </a:p>
              <a:p>
                <a:pPr marL="0" indent="0">
                  <a:buNone/>
                </a:pPr>
                <a:r>
                  <a:rPr lang="ja-JP" altLang="en-US" sz="2400" dirty="0"/>
                  <a:t>残念なことに標本分散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の期待値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kumimoji="1" lang="ja-JP" altLang="en-US" sz="2400" dirty="0"/>
                  <a:t>は母分散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に</a:t>
                </a:r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一致しない</a:t>
                </a:r>
                <a:r>
                  <a:rPr kumimoji="1" lang="ja-JP" altLang="en-US" sz="2400" dirty="0"/>
                  <a:t>（後で示す）．</a:t>
                </a:r>
                <a:endParaRPr kumimoji="1" lang="en-US" altLang="ja-JP" sz="2400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26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ja-JP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sz="2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kumimoji="1" lang="en-US" altLang="ja-JP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sz="2600" dirty="0"/>
              </a:p>
              <a:p>
                <a:r>
                  <a:rPr lang="ja-JP" altLang="en-US" dirty="0">
                    <a:solidFill>
                      <a:schemeClr val="accent5"/>
                    </a:solidFill>
                  </a:rPr>
                  <a:t>標本不偏分散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次式の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 は母分散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の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不偏推定量</a:t>
                </a:r>
                <a:r>
                  <a:rPr lang="ja-JP" altLang="en-US" dirty="0"/>
                  <a:t>（つまりその期待値が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と</m:t>
                    </m:r>
                  </m:oMath>
                </a14:m>
                <a:r>
                  <a:rPr lang="ja-JP" altLang="en-US" dirty="0"/>
                  <a:t>なる推定量）である（後で示す）．これを標本不偏分散と呼ぶ．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ja-JP" dirty="0"/>
              </a:p>
              <a:p>
                <a:pPr marL="0" indent="0">
                  <a:buNone/>
                </a:pP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A1C70CC-BDAB-A299-009E-375BA1371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1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3802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62AB4-387C-BEC7-42C2-6FF2395D2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8C88B1-C8AE-96A5-D13B-987F90F6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標本不偏分散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445338-E428-364D-7E9E-7B0B4C30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40BA6E0-C4F8-428F-A0C2-6A33D6EAEFEB}" type="slidenum">
              <a:rPr kumimoji="1" lang="ja-JP" alt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FEFDFC"/>
                </a:solidFill>
                <a:effectLst/>
                <a:uLnTx/>
                <a:uFillTx/>
                <a:latin typeface="Impact"/>
                <a:sym typeface="Impac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16</a:t>
            </a:fld>
            <a:endParaRPr kumimoji="1" lang="ja-JP" altLang="en-US" sz="2800" b="0" i="0" u="none" strike="noStrike" kern="0" cap="none" spc="0" normalizeH="0" baseline="0" noProof="0">
              <a:ln>
                <a:noFill/>
              </a:ln>
              <a:solidFill>
                <a:srgbClr val="FEFDFC"/>
              </a:solidFill>
              <a:effectLst/>
              <a:uLnTx/>
              <a:uFillTx/>
              <a:latin typeface="Impact"/>
              <a:sym typeface="Impac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D0D786-754E-2737-2124-1AC63A1B8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3194" y="813989"/>
                <a:ext cx="8880049" cy="5788057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標本不偏分散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unbiased variance</a:t>
                </a:r>
              </a:p>
              <a:p>
                <a:pPr lvl="1"/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である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個の標本データ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dirty="0"/>
                  <a:t>を考える．データは標本平均が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となる等式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個を満たす必要があるので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自由度は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．</a:t>
                </a:r>
                <a:endParaRPr lang="en-US" altLang="ja-JP" dirty="0"/>
              </a:p>
              <a:p>
                <a:pPr marL="577215" lvl="1" indent="0">
                  <a:buNone/>
                </a:pPr>
                <a:r>
                  <a:rPr lang="ja-JP" altLang="en-US" dirty="0"/>
                  <a:t>　その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ja-JP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を</m:t>
                    </m:r>
                  </m:oMath>
                </a14:m>
                <a:r>
                  <a:rPr lang="ja-JP" altLang="en-US" dirty="0"/>
                  <a:t>用いた偏差二乗和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/>
                  <a:t>も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標本不偏分散とは，偏差二乗和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を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577215" lvl="1" indent="0">
                  <a:buNone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   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で割ったもの．つまり</a:t>
                </a:r>
                <a:endParaRPr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期待値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ja-JP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ja-JP" i="1" dirty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ja-JP" i="1" dirty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ja-JP" i="1" dirty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dirty="0">
                    <a:solidFill>
                      <a:schemeClr val="accent5"/>
                    </a:solidFill>
                  </a:rPr>
                  <a:t>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　　→　“分散の不偏推定量”</a:t>
                </a:r>
                <a:endParaRPr lang="en-US" altLang="ja-JP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D0D786-754E-2737-2124-1AC63A1B8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3194" y="813989"/>
                <a:ext cx="8880049" cy="5788057"/>
              </a:xfrm>
              <a:blipFill>
                <a:blip r:embed="rId3"/>
                <a:stretch>
                  <a:fillRect t="-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FABD2F0-CFA8-7E5C-6D1E-FB005DC6CF1B}"/>
                  </a:ext>
                </a:extLst>
              </p:cNvPr>
              <p:cNvSpPr txBox="1"/>
              <p:nvPr/>
            </p:nvSpPr>
            <p:spPr>
              <a:xfrm>
                <a:off x="894521" y="3968405"/>
                <a:ext cx="7780352" cy="14468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240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0" lang="en-US" altLang="ja-JP" sz="20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DC077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kumimoji="0" lang="en-US" altLang="ja-JP" sz="20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DC077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accPr>
                            <m:e>
                              <m:r>
                                <a:rPr kumimoji="0" lang="en-US" altLang="ja-JP" sz="20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DC077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kumimoji="0" lang="en-US" altLang="ja-JP" sz="20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DC077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DC077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DC077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Pr>
                        <m:num>
                          <m:r>
                            <a:rPr kumimoji="1" lang="en-US" altLang="ja-JP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DC077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DC077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𝑛</m:t>
                          </m:r>
                          <m:r>
                            <a:rPr kumimoji="1" lang="en-US" altLang="ja-JP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DC077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ja-JP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DC077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kumimoji="1" lang="en-US" altLang="ja-JP" sz="20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DC077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0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DC077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000" b="0" i="1" u="none" strike="noStrike" kern="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DC077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000" b="0" i="1" u="none" strike="noStrike" kern="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DC077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US" altLang="ja-JP" sz="2000" b="0" i="1" u="none" strike="noStrike" kern="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DC077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sz="20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DC077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000" b="0" i="1" u="none" strike="noStrike" kern="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DC077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000" b="0" i="1" u="none" strike="noStrike" kern="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DC077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1" lang="en-US" altLang="ja-JP" sz="20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DC077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ja-JP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f>
                        <m:fPr>
                          <m:ctrlPr>
                            <a:rPr kumimoji="0" lang="en-US" altLang="ja-JP" sz="20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Pr>
                        <m:num>
                          <m:r>
                            <a:rPr kumimoji="0" lang="en-US" altLang="ja-JP" sz="20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num>
                        <m:den>
                          <m:r>
                            <a:rPr kumimoji="0" lang="ja-JP" altLang="en-US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自由度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0" lang="en-US" altLang="ja-JP" sz="20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kumimoji="0" lang="ja-JP" altLang="en-US" sz="20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ja-JP" altLang="en-US" sz="20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kumimoji="0" lang="ja-JP" altLang="en-US" sz="20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元のデータ</m:t>
                                  </m:r>
                                  <m:r>
                                    <a:rPr kumimoji="0" lang="en-US" altLang="ja-JP" sz="2000" b="0" i="1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−</m:t>
                                  </m:r>
                                  <m:r>
                                    <a:rPr kumimoji="0" lang="ja-JP" altLang="en-US" sz="20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標本平均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0" lang="en-US" altLang="ja-JP" sz="20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0" lang="en-US" altLang="ja-JP" sz="20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f>
                        <m:fPr>
                          <m:ctrlPr>
                            <a:rPr kumimoji="0" lang="en-US" altLang="ja-JP" sz="20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Pr>
                        <m:num>
                          <m:r>
                            <a:rPr kumimoji="0" lang="en-US" altLang="ja-JP" sz="20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num>
                        <m:den>
                          <m:r>
                            <a:rPr kumimoji="0" lang="ja-JP" altLang="en-US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自由度</m:t>
                          </m:r>
                        </m:den>
                      </m:f>
                      <m:r>
                        <a:rPr kumimoji="0" lang="en-US" altLang="ja-JP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Arial"/>
                        </a:rPr>
                        <m:t>×</m:t>
                      </m:r>
                      <m:r>
                        <a:rPr kumimoji="0" lang="ja-JP" altLang="en-US" sz="20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Arial"/>
                        </a:rPr>
                        <m:t>偏差</m:t>
                      </m:r>
                      <m:r>
                        <a:rPr kumimoji="0" lang="ja-JP" altLang="en-US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Arial"/>
                        </a:rPr>
                        <m:t>二乗和</m:t>
                      </m:r>
                    </m:oMath>
                  </m:oMathPara>
                </a14:m>
                <a:endParaRPr kumimoji="0" lang="en-US" altLang="ja-JP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FABD2F0-CFA8-7E5C-6D1E-FB005DC6C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21" y="3968405"/>
                <a:ext cx="7780352" cy="14468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528CFE8-C166-AD1E-D93A-A2AC14BE663E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58517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73C5A-929F-945A-C3E8-8C9B7A57D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2B6584-20A6-581B-8D82-FDE456D6A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 </a:t>
            </a:r>
            <a:r>
              <a:rPr lang="ja-JP" altLang="en-US" dirty="0"/>
              <a:t>幾つかの「分散」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F2F323A-3704-9F6D-53E0-E9116655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BDA9709-41F0-608E-C116-74D883C0A4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標本平均の分散（確率変数の期待値・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母数</a:t>
                </a:r>
                <a:r>
                  <a:rPr lang="ja-JP" altLang="en-US" dirty="0"/>
                  <a:t>）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r>
                  <a:rPr lang="ja-JP" altLang="en-US" dirty="0">
                    <a:latin typeface="Cambria Math" panose="02040503050406030204" pitchFamily="18" charset="0"/>
                  </a:rPr>
                  <a:t>標本分散（標本から計算される</a:t>
                </a:r>
                <a:r>
                  <a:rPr lang="ja-JP" altLang="en-US" dirty="0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統計量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） </a:t>
                </a:r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dirty="0">
                  <a:latin typeface="Cambria Math" panose="02040503050406030204" pitchFamily="18" charset="0"/>
                </a:endParaRPr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標本不偏分散（標本から計算される</a:t>
                </a:r>
                <a:r>
                  <a:rPr lang="ja-JP" altLang="en-US" dirty="0">
                    <a:solidFill>
                      <a:srgbClr val="00B0F0"/>
                    </a:solidFill>
                  </a:rPr>
                  <a:t>統計量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）</a:t>
                </a:r>
                <a:endParaRPr lang="en-US" altLang="ja-JP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ja-JP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BDA9709-41F0-608E-C116-74D883C0A4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949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6DCA2-F242-B5C2-B11D-CC99D2A36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7F025FA-175C-1B3D-3211-64819E44C79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dirty="0"/>
                  <a:t>(Advanced) </a:t>
                </a:r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の分散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7F025FA-175C-1B3D-3211-64819E44C7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173F278-CAAF-B9A2-614B-C88AB2EE9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2E2E197-B7D3-6E62-E465-CC5A0FB618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kumimoji="1" lang="ja-JP" altLang="en-US" dirty="0"/>
                  <a:t>公式を用いて標本平均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kumimoji="1" lang="ja-JP" altLang="en-US" dirty="0"/>
                  <a:t>の分散（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母数</a:t>
                </a:r>
                <a:r>
                  <a:rPr kumimoji="1" lang="ja-JP" altLang="en-US" dirty="0"/>
                  <a:t>）を求める</a:t>
                </a:r>
                <a:endParaRPr kumimoji="1" lang="en-US" altLang="ja-JP" dirty="0"/>
              </a:p>
              <a:p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ja-JP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𝑛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以上より，</a:t>
                </a:r>
                <a:r>
                  <a:rPr lang="ja-JP" altLang="ja-JP" dirty="0"/>
                  <a:t>標本平均の分散</a:t>
                </a:r>
                <a:r>
                  <a:rPr lang="ja-JP" altLang="en-US" dirty="0"/>
                  <a:t>は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であり，データ数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 の増加とともに小となる．つまり標本平均の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 の実現値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/>
                  <a:t> の揺らぎが減り，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で母平均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dirty="0"/>
                  <a:t> に収束する．</a:t>
                </a:r>
                <a:r>
                  <a:rPr lang="en-US" altLang="ja-JP" dirty="0"/>
                  <a:t> </a:t>
                </a:r>
              </a:p>
              <a:p>
                <a:pPr marL="324000" lvl="1" indent="0">
                  <a:buNone/>
                </a:pPr>
                <a:r>
                  <a:rPr kumimoji="1" lang="ja-JP" altLang="en-US" dirty="0"/>
                  <a:t>ただしこの「分散」は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期待値</a:t>
                </a:r>
                <a:r>
                  <a:rPr kumimoji="1" lang="ja-JP" altLang="en-US" dirty="0"/>
                  <a:t>なので標本を用いた計算</a:t>
                </a:r>
                <a:r>
                  <a:rPr lang="ja-JP" altLang="en-US" dirty="0"/>
                  <a:t>では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入手できない</a:t>
                </a:r>
                <a:r>
                  <a:rPr kumimoji="1" lang="ja-JP" altLang="en-US" dirty="0"/>
                  <a:t>．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2E2E197-B7D3-6E62-E465-CC5A0FB618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947" r="-43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39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33F7A-53F1-F075-8492-32EE30E01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D0BF56-2618-4D30-3667-9D4743C93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 </a:t>
            </a:r>
            <a:r>
              <a:rPr lang="ja-JP" altLang="en-US" dirty="0">
                <a:latin typeface="Cambria Math" panose="02040503050406030204" pitchFamily="18" charset="0"/>
              </a:rPr>
              <a:t>標本分散の期待値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71368E2-3E47-C9A6-9A16-5BB0C155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4F1E4-BB4F-C7D8-02C1-E297F72D27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324000" lvl="1" indent="0">
                  <a:buNone/>
                </a:pPr>
                <a:r>
                  <a:rPr kumimoji="1" lang="ja-JP" altLang="en-US" dirty="0"/>
                  <a:t>公式を用いて標本</a:t>
                </a:r>
                <a:r>
                  <a:rPr lang="ja-JP" altLang="en-US" dirty="0"/>
                  <a:t>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（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統計量</a:t>
                </a:r>
                <a:r>
                  <a:rPr kumimoji="1" lang="ja-JP" altLang="en-US" dirty="0"/>
                  <a:t>） の</a:t>
                </a:r>
                <a:r>
                  <a:rPr lang="ja-JP" altLang="en-US" dirty="0"/>
                  <a:t>期待値（</a:t>
                </a:r>
                <a:r>
                  <a:rPr lang="ja-JP" altLang="en-US" dirty="0">
                    <a:solidFill>
                      <a:srgbClr val="00B0F0"/>
                    </a:solidFill>
                  </a:rPr>
                  <a:t>母数</a:t>
                </a:r>
                <a:r>
                  <a:rPr lang="ja-JP" altLang="en-US" dirty="0"/>
                  <a:t>）</a:t>
                </a:r>
                <a:r>
                  <a:rPr kumimoji="1" lang="ja-JP" altLang="en-US" dirty="0"/>
                  <a:t>を求める</a:t>
                </a:r>
                <a:endParaRPr lang="ja-JP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    (∗)</m:t>
                      </m:r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ここで次の式を利用する．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ja-JP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ja-JP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上式の青の項は　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ja-JP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</m:nary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nary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dirty="0">
                    <a:solidFill>
                      <a:srgbClr val="00B0F0"/>
                    </a:solidFill>
                  </a:rPr>
                  <a:t>　</a:t>
                </a:r>
                <a:r>
                  <a:rPr lang="ja-JP" altLang="en-US" dirty="0"/>
                  <a:t>となるので次を得る．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ja-JP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4F1E4-BB4F-C7D8-02C1-E297F72D27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821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0B1E8-3F5C-1020-25CA-EC2B25C83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3E396D-CF01-49C3-62AF-36BA61FA7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 </a:t>
            </a:r>
            <a:r>
              <a:rPr lang="ja-JP" altLang="en-US" dirty="0">
                <a:latin typeface="Cambria Math" panose="02040503050406030204" pitchFamily="18" charset="0"/>
              </a:rPr>
              <a:t>標本分散の期待値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251011A-EE7E-BB8E-5435-1C28BF43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6E95883-2719-2981-17FB-ED20747EF7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ja-JP" altLang="en-US" i="1" dirty="0">
                    <a:latin typeface="Cambria Math" panose="02040503050406030204" pitchFamily="18" charset="0"/>
                  </a:rPr>
                  <a:t>上式を式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(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＊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)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に</a:t>
                </a:r>
                <a:r>
                  <a:rPr lang="ja-JP" altLang="en-US" i="1" dirty="0">
                    <a:latin typeface="Cambria Math" panose="02040503050406030204" pitchFamily="18" charset="0"/>
                  </a:rPr>
                  <a:t>代入すると，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  <m: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ja-JP" altLang="ja-JP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ja-JP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ja-JP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ja-JP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ja-JP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latin typeface="Cambria Math" panose="02040503050406030204" pitchFamily="18" charset="0"/>
                  </a:rPr>
                  <a:t>以上より，</a:t>
                </a:r>
                <a:r>
                  <a:rPr lang="ja-JP" altLang="en-US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標本分散の期待値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は母分散より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ja-JP" dirty="0">
                    <a:solidFill>
                      <a:schemeClr val="accent5"/>
                    </a:solidFill>
                  </a:rPr>
                  <a:t>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の割合だけ小さい</a:t>
                </a:r>
                <a:r>
                  <a:rPr lang="ja-JP" altLang="en-US" dirty="0"/>
                  <a:t>．</a:t>
                </a:r>
                <a:endParaRPr lang="ja-JP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6E95883-2719-2981-17FB-ED20747EF7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93" t="-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2149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A222-E7EF-DB41-7408-1A82A176F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14A24E-8345-C367-5EFE-E8C7CF85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 </a:t>
            </a:r>
            <a:r>
              <a:rPr lang="ja-JP" altLang="en-US" dirty="0">
                <a:latin typeface="Cambria Math" panose="02040503050406030204" pitchFamily="18" charset="0"/>
              </a:rPr>
              <a:t>標本分散の期待値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F8BD91-4D94-5A5B-908B-BAB55163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567F2F4-D8CC-1A1A-1807-9B93796F23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lang="ja-JP" altLang="en-US" dirty="0">
                    <a:solidFill>
                      <a:srgbClr val="00B0F0"/>
                    </a:solidFill>
                  </a:rPr>
                  <a:t>「</a:t>
                </a:r>
                <a:r>
                  <a:rPr lang="ja-JP" altLang="en-US" dirty="0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標本分散の期待値が母分散より</a:t>
                </a:r>
                <a:r>
                  <a:rPr lang="ja-JP" altLang="en-US" dirty="0">
                    <a:solidFill>
                      <a:srgbClr val="00B0F0"/>
                    </a:solidFill>
                  </a:rPr>
                  <a:t>小さい」理由</a:t>
                </a:r>
                <a:endParaRPr lang="en-US" altLang="ja-JP" dirty="0">
                  <a:solidFill>
                    <a:srgbClr val="00B0F0"/>
                  </a:solidFill>
                </a:endParaRPr>
              </a:p>
              <a:p>
                <a:pPr marL="324000" lvl="1" indent="0">
                  <a:buNone/>
                </a:pPr>
                <a:r>
                  <a:rPr lang="ja-JP" altLang="en-US" dirty="0"/>
                  <a:t>母集団から無作為にサンプリングする標本の実現値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dirty="0"/>
                  <a:t> はサンプリングするごとに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の周りでゆらぐ．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例えばある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個のデータセットの実現値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ja-JP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lit/>
                      </m:rPr>
                      <a:rPr lang="en-US" altLang="ja-JP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はたまたま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よりもプラス側（例えば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ja-JP" altLang="en-US" dirty="0"/>
                  <a:t>）のごく近くに多く散らばっているとする．このとき</a:t>
                </a: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「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母平均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dirty="0">
                    <a:solidFill>
                      <a:srgbClr val="FF0000"/>
                    </a:solidFill>
                  </a:rPr>
                  <a:t>からの分散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ja-JP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/>
                  <a:t>」</a:t>
                </a: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は大雑把にいって約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になる．このような「データセットのサンプリング」を繰り返した場合 </a:t>
                </a:r>
                <a:r>
                  <a:rPr lang="en-US" altLang="ja-JP" dirty="0"/>
                  <a:t>(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個の標本のサンプリングを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回繰り返した</a:t>
                </a:r>
                <a:r>
                  <a:rPr lang="en-US" altLang="ja-JP" dirty="0"/>
                  <a:t>)</a:t>
                </a:r>
                <a:r>
                  <a:rPr lang="ja-JP" altLang="en-US" dirty="0"/>
                  <a:t> の分散の期待値は母分散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になる．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567F2F4-D8CC-1A1A-1807-9B93796F23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842" r="-8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3172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8652C-288E-06EF-D09D-60F38B2A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108773-37AB-0B3E-498E-187D2A2B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 </a:t>
            </a:r>
            <a:r>
              <a:rPr lang="ja-JP" altLang="en-US" dirty="0">
                <a:latin typeface="Cambria Math" panose="02040503050406030204" pitchFamily="18" charset="0"/>
              </a:rPr>
              <a:t>標本分散の期待値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26C1209-1D95-47A0-C93B-BADF290B2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710802-DEB7-2166-3DD3-0979812733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lang="ja-JP" altLang="en-US" dirty="0"/>
                  <a:t>一方，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ja-JP" altLang="en-US" dirty="0"/>
                  <a:t> の近くに多く散らばっている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個のデータセット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ja-JP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lit/>
                      </m:rPr>
                      <a:rPr lang="en-US" altLang="ja-JP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の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標本分散とは，「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標本平均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(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の実現値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)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ja-JP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を中心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とした散らばりの大きさ</a:t>
                </a:r>
                <a:r>
                  <a:rPr lang="ja-JP" altLang="en-US" dirty="0"/>
                  <a:t>」をあらわすが，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そのものがおおよそ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であり，そこからの分散は </a:t>
                </a:r>
                <a:r>
                  <a:rPr lang="en-US" altLang="ja-JP" dirty="0"/>
                  <a:t>1 </a:t>
                </a:r>
                <a:r>
                  <a:rPr lang="ja-JP" altLang="en-US" dirty="0"/>
                  <a:t>より小さい．いわばそのデータセットの揺らぎの傾向に寄り添うようにデータの散らばりの評価の中心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/>
                  <a:t> を移動させている．よってそのような標本分散の期待値は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よりも小さくなる（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bSup>
                      <m:sSubSupPr>
                        <m:ctrlP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ja-JP" altLang="en-US" dirty="0"/>
                  <a:t> だけ小さい）．</a:t>
                </a: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その</a:t>
                </a:r>
                <a:r>
                  <a:rPr lang="ja-JP" altLang="en-US" dirty="0">
                    <a:solidFill>
                      <a:srgbClr val="7030A0"/>
                    </a:solidFill>
                  </a:rPr>
                  <a:t>減少幅</a:t>
                </a:r>
                <a:r>
                  <a:rPr lang="ja-JP" altLang="en-US" dirty="0"/>
                  <a:t>はゆらぎの評価の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中心とする標本平均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/>
                  <a:t> がどれくらい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dirty="0"/>
                  <a:t> から離れてそのデータセットに寄り添っているのかによって決まり，ちょうど「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>
                    <a:solidFill>
                      <a:srgbClr val="FF0000"/>
                    </a:solidFill>
                  </a:rPr>
                  <a:t>のゆらぎの大きさ（</a:t>
                </a:r>
                <a:r>
                  <a:rPr lang="ja-JP" altLang="en-US" dirty="0">
                    <a:solidFill>
                      <a:srgbClr val="7030A0"/>
                    </a:solidFill>
                  </a:rPr>
                  <a:t>寄り添い幅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）である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>
                    <a:solidFill>
                      <a:srgbClr val="FF0000"/>
                    </a:solidFill>
                  </a:rPr>
                  <a:t> の分散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bSup>
                      <m:sSubSupPr>
                        <m:ctrlP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」</m:t>
                    </m:r>
                  </m:oMath>
                </a14:m>
                <a:r>
                  <a:rPr lang="ja-JP" altLang="en-US" dirty="0"/>
                  <a:t>となる．</a:t>
                </a:r>
                <a:endParaRPr lang="en-US" altLang="ja-JP" dirty="0"/>
              </a:p>
              <a:p>
                <a:pPr marL="324000" lvl="1" indent="0">
                  <a:buNone/>
                </a:pP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直観的な理解は次のページの図を参照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710802-DEB7-2166-3DD3-0979812733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947" r="-446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685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35065-1050-23A0-BA8C-C94732D09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3D14BC-2DD9-2BFB-EB8D-11DE55225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 </a:t>
            </a:r>
            <a:r>
              <a:rPr lang="ja-JP" altLang="en-US" dirty="0">
                <a:latin typeface="Cambria Math" panose="02040503050406030204" pitchFamily="18" charset="0"/>
              </a:rPr>
              <a:t>標本分散の期待値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4D36CB-2496-8B5A-C103-278D9613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p:pic>
        <p:nvPicPr>
          <p:cNvPr id="9" name="図 8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B472C213-C8B2-ACBE-513C-D3EDED3FC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034" y="4441648"/>
            <a:ext cx="2435966" cy="2121712"/>
          </a:xfrm>
          <a:prstGeom prst="rect">
            <a:avLst/>
          </a:prstGeom>
        </p:spPr>
      </p:pic>
      <p:pic>
        <p:nvPicPr>
          <p:cNvPr id="11" name="図 10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4AC1D7CF-C9DA-8827-6D27-6A38F7BC4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57" y="1001146"/>
            <a:ext cx="2389359" cy="2082414"/>
          </a:xfrm>
          <a:prstGeom prst="rect">
            <a:avLst/>
          </a:prstGeom>
        </p:spPr>
      </p:pic>
      <p:pic>
        <p:nvPicPr>
          <p:cNvPr id="13" name="図 12" descr="図形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D2FE816-2338-A829-19B8-39A2321638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065" y="957214"/>
            <a:ext cx="2403941" cy="2121713"/>
          </a:xfrm>
          <a:prstGeom prst="rect">
            <a:avLst/>
          </a:prstGeom>
        </p:spPr>
      </p:pic>
      <p:pic>
        <p:nvPicPr>
          <p:cNvPr id="15" name="図 14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24AFA06-32DF-170A-A12C-60CCC1225F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029" y="1001146"/>
            <a:ext cx="2341251" cy="2070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9D63B441-3D7C-E125-CB82-D7F90678C5A3}"/>
                  </a:ext>
                </a:extLst>
              </p:cNvPr>
              <p:cNvSpPr txBox="1"/>
              <p:nvPr/>
            </p:nvSpPr>
            <p:spPr>
              <a:xfrm>
                <a:off x="1612454" y="3469123"/>
                <a:ext cx="675056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各データセットにおいては紫の点（標本平均）が散らばりの評価の中心</a:t>
                </a:r>
                <a:endParaRPr kumimoji="1" lang="en-US" altLang="ja-JP" sz="1600" dirty="0">
                  <a:latin typeface="游ゴシック" panose="020B0400000000000000" pitchFamily="34" charset="-128"/>
                  <a:ea typeface="游ゴシック" panose="020B0400000000000000" pitchFamily="34" charset="-128"/>
                </a:endParaRPr>
              </a:p>
              <a:p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各データセットごとの標本分散は全データの分散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𝜎</m:t>
                        </m:r>
                      </m:e>
                      <m:sub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𝑥</m:t>
                        </m:r>
                      </m:sub>
                      <m:sup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2</m:t>
                        </m:r>
                      </m:sup>
                    </m:sSubSup>
                  </m:oMath>
                </a14:m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 より小</a:t>
                </a:r>
                <a:endParaRPr kumimoji="1" lang="en-US" altLang="ja-JP" sz="1600" dirty="0">
                  <a:latin typeface="游ゴシック" panose="020B0400000000000000" pitchFamily="34" charset="-128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9D63B441-3D7C-E125-CB82-D7F90678C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454" y="3469123"/>
                <a:ext cx="6750566" cy="584775"/>
              </a:xfrm>
              <a:prstGeom prst="rect">
                <a:avLst/>
              </a:prstGeom>
              <a:blipFill>
                <a:blip r:embed="rId7"/>
                <a:stretch>
                  <a:fillRect l="-542" t="-3125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右中かっこ 16">
            <a:extLst>
              <a:ext uri="{FF2B5EF4-FFF2-40B4-BE49-F238E27FC236}">
                <a16:creationId xmlns:a16="http://schemas.microsoft.com/office/drawing/2014/main" id="{6378D6E8-CD1E-8396-9FEE-F3357521277E}"/>
              </a:ext>
            </a:extLst>
          </p:cNvPr>
          <p:cNvSpPr/>
          <p:nvPr/>
        </p:nvSpPr>
        <p:spPr>
          <a:xfrm rot="5400000">
            <a:off x="3919738" y="1110549"/>
            <a:ext cx="274320" cy="44155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8A355FA-31B8-8BB0-5758-C513665066A1}"/>
                  </a:ext>
                </a:extLst>
              </p:cNvPr>
              <p:cNvSpPr txBox="1"/>
              <p:nvPr/>
            </p:nvSpPr>
            <p:spPr>
              <a:xfrm>
                <a:off x="4167000" y="4477208"/>
                <a:ext cx="491166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全データに対しては赤点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𝜇</m:t>
                        </m:r>
                      </m:e>
                      <m:sub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𝑥</m:t>
                        </m:r>
                      </m:sub>
                    </m:sSub>
                  </m:oMath>
                </a14:m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が散らばりの評価の中心</a:t>
                </a:r>
                <a:endParaRPr kumimoji="1" lang="en-US" altLang="ja-JP" sz="1600" dirty="0">
                  <a:latin typeface="游ゴシック" panose="020B0400000000000000" pitchFamily="34" charset="-128"/>
                  <a:ea typeface="游ゴシック" panose="020B0400000000000000" pitchFamily="34" charset="-128"/>
                </a:endParaRPr>
              </a:p>
              <a:p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全データの分散はほぼ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𝜎</m:t>
                        </m:r>
                      </m:e>
                      <m:sub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𝑥</m:t>
                        </m:r>
                      </m:sub>
                      <m:sup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2</m:t>
                        </m:r>
                      </m:sup>
                    </m:sSubSup>
                  </m:oMath>
                </a14:m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 </a:t>
                </a:r>
                <a:endParaRPr kumimoji="1" lang="en-US" altLang="ja-JP" sz="1600" dirty="0">
                  <a:latin typeface="游ゴシック" panose="020B0400000000000000" pitchFamily="34" charset="-128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8A355FA-31B8-8BB0-5758-C51366506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7000" y="4477208"/>
                <a:ext cx="4911666" cy="584775"/>
              </a:xfrm>
              <a:prstGeom prst="rect">
                <a:avLst/>
              </a:prstGeom>
              <a:blipFill>
                <a:blip r:embed="rId8"/>
                <a:stretch>
                  <a:fillRect l="-745" t="-3125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359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B380-7A42-FA70-902A-1C216057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5FFD53-618D-B031-9068-92D3FC46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標本不偏分散</a:t>
            </a:r>
            <a:r>
              <a:rPr lang="ja-JP" altLang="en-US" dirty="0">
                <a:latin typeface="Cambria Math" panose="02040503050406030204" pitchFamily="18" charset="0"/>
              </a:rPr>
              <a:t>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DDA3AAB-7C60-C783-47A5-CBA6729C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6C24878-E0CD-ED84-EDC8-DCE79ABA36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324000" lvl="1" indent="0">
                  <a:buNone/>
                </a:pPr>
                <a:r>
                  <a:rPr kumimoji="1" lang="ja-JP" altLang="en-US" dirty="0"/>
                  <a:t>標本</a:t>
                </a:r>
                <a:r>
                  <a:rPr lang="ja-JP" altLang="en-US" dirty="0"/>
                  <a:t>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（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統計量</a:t>
                </a:r>
                <a:r>
                  <a:rPr kumimoji="1" lang="ja-JP" altLang="en-US" dirty="0"/>
                  <a:t>） の</a:t>
                </a:r>
                <a:r>
                  <a:rPr lang="ja-JP" altLang="en-US" dirty="0"/>
                  <a:t>期待値（</a:t>
                </a:r>
                <a:r>
                  <a:rPr lang="ja-JP" altLang="en-US" dirty="0">
                    <a:solidFill>
                      <a:srgbClr val="00B0F0"/>
                    </a:solidFill>
                  </a:rPr>
                  <a:t>母数</a:t>
                </a:r>
                <a:r>
                  <a:rPr lang="ja-JP" altLang="en-US" dirty="0"/>
                  <a:t>）は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であった．そこでこれを修正して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ja-JP" altLang="en-US" dirty="0"/>
                  <a:t> にしたい．そのためには，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solidFill>
                                                <a:schemeClr val="accent5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5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chemeClr val="accent5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i="1">
                                              <a:solidFill>
                                                <a:schemeClr val="accent5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5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とすればよい．つまり統計量として右辺の期待値計算の中身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を統計量として用いればよい．これは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標本不偏分散</a:t>
                </a:r>
                <a:r>
                  <a:rPr lang="ja-JP" altLang="en-US" dirty="0"/>
                  <a:t>である．</a:t>
                </a:r>
                <a:endParaRPr lang="ja-JP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6C24878-E0CD-ED84-EDC8-DCE79ABA3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842" b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384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7544-E095-2420-B3BE-3151FEA6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75BE20-1784-F1D2-A15F-14F1F98C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「自由度」の由来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FA820EA-B96F-FAFA-889C-F1B5B694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E1E7467-EC5B-2970-5DDB-EAD2EA94BD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kumimoji="1" lang="ja-JP" altLang="en-US" sz="2400" dirty="0"/>
                  <a:t>　　</a:t>
                </a:r>
                <a:r>
                  <a:rPr kumimoji="1" lang="ja-JP" altLang="en-US" sz="2600" dirty="0"/>
                  <a:t>標本不偏分散</a:t>
                </a:r>
                <a:endParaRPr kumimoji="1" lang="en-US" altLang="ja-JP" sz="2600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ja-JP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ja-JP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ja-JP" sz="2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US" altLang="ja-JP" sz="2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sz="2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1" lang="en-US" altLang="ja-JP" sz="2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br>
                  <a:rPr kumimoji="1" lang="en-US" altLang="ja-JP" sz="2600" b="0" i="1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</a:br>
                <a:endParaRPr lang="en-US" altLang="ja-JP" sz="2600" dirty="0"/>
              </a:p>
              <a:p>
                <a:pPr marL="324000" lvl="1" indent="0">
                  <a:buNone/>
                </a:pPr>
                <a:r>
                  <a:rPr lang="ja-JP" altLang="en-US" sz="2600" dirty="0">
                    <a:solidFill>
                      <a:schemeClr val="tx1"/>
                    </a:solidFill>
                  </a:rPr>
                  <a:t>は</a:t>
                </a:r>
                <a:r>
                  <a:rPr lang="ja-JP" altLang="en-US" sz="2600" dirty="0"/>
                  <a:t>標本平均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sz="2600" dirty="0"/>
                  <a:t> からの偏差二乗和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sz="2600" dirty="0"/>
                  <a:t> を </a:t>
                </a:r>
                <a14:m>
                  <m:oMath xmlns:m="http://schemas.openxmlformats.org/officeDocument/2006/math"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600" dirty="0"/>
                  <a:t> で割ったものであった．もし</a:t>
                </a:r>
                <a:r>
                  <a:rPr lang="ja-JP" altLang="en-US" sz="2600" dirty="0">
                    <a:solidFill>
                      <a:srgbClr val="FF0000"/>
                    </a:solidFill>
                  </a:rPr>
                  <a:t>ゆらぎの評価の中心</a:t>
                </a:r>
                <a:r>
                  <a:rPr lang="ja-JP" altLang="en-US" sz="26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600" dirty="0"/>
                  <a:t> が標本とは</a:t>
                </a:r>
                <a:r>
                  <a:rPr lang="ja-JP" altLang="en-US" sz="2600" dirty="0">
                    <a:solidFill>
                      <a:srgbClr val="FF0000"/>
                    </a:solidFill>
                  </a:rPr>
                  <a:t>独立の値</a:t>
                </a:r>
                <a:r>
                  <a:rPr lang="ja-JP" altLang="en-US" sz="2600" dirty="0"/>
                  <a:t>（例えば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sz="2600" dirty="0"/>
                  <a:t> ）であれば，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sz="2600" dirty="0"/>
                  <a:t> の値は標本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600" dirty="0"/>
                  <a:t> を変数とみて，それぞれ独立に任意の値を与えて計算できる．その場合の任意に値を与えてよい変数の数は標本の数 </a:t>
                </a:r>
                <a14:m>
                  <m:oMath xmlns:m="http://schemas.openxmlformats.org/officeDocument/2006/math"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sz="2600" dirty="0"/>
                  <a:t> である．</a:t>
                </a:r>
                <a:endParaRPr lang="en-US" altLang="ja-JP" sz="2600" dirty="0"/>
              </a:p>
              <a:p>
                <a:pPr marL="324000" lvl="1" indent="0">
                  <a:buNone/>
                </a:pPr>
                <a:r>
                  <a:rPr lang="ja-JP" altLang="en-US" sz="2600" dirty="0"/>
                  <a:t>一方，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sz="2600" dirty="0"/>
                  <a:t>の場合，標本を採取しゆらぎの評価の中心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sz="2600" dirty="0"/>
                  <a:t> がある値に定まったとき，それを</a:t>
                </a:r>
                <a:r>
                  <a:rPr lang="ja-JP" altLang="en-US" sz="2600" dirty="0">
                    <a:solidFill>
                      <a:srgbClr val="FF0000"/>
                    </a:solidFill>
                  </a:rPr>
                  <a:t>定数とみなす</a:t>
                </a:r>
                <a:r>
                  <a:rPr lang="ja-JP" altLang="en-US" sz="2600" dirty="0"/>
                  <a:t>と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sz="2600" dirty="0"/>
                  <a:t> の値は標本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600" dirty="0"/>
                  <a:t> をそれぞれ独立に任意の値を与えて計算できない．なぜなら </a:t>
                </a:r>
                <a14:m>
                  <m:oMath xmlns:m="http://schemas.openxmlformats.org/officeDocument/2006/math"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sz="2600" dirty="0"/>
                  <a:t> 個の標本は</a:t>
                </a:r>
                <a:r>
                  <a:rPr lang="ja-JP" altLang="en-US" sz="2600" dirty="0">
                    <a:solidFill>
                      <a:srgbClr val="FF0000"/>
                    </a:solidFill>
                  </a:rPr>
                  <a:t>定数とみなした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sz="2600" dirty="0"/>
                  <a:t> を用いて次の拘束式を満たす必要があるからである．</a:t>
                </a:r>
                <a:endParaRPr lang="en-US" altLang="ja-JP" sz="2600" dirty="0"/>
              </a:p>
              <a:p>
                <a:pPr marL="324000" lvl="1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sz="2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ja-JP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n-US" altLang="ja-JP" sz="2600" dirty="0"/>
              </a:p>
              <a:p>
                <a:pPr marL="324000" lvl="1" indent="0">
                  <a:buNone/>
                </a:pPr>
                <a:r>
                  <a:rPr lang="ja-JP" altLang="en-US" sz="2600" dirty="0"/>
                  <a:t>これにより </a:t>
                </a:r>
                <a14:m>
                  <m:oMath xmlns:m="http://schemas.openxmlformats.org/officeDocument/2006/math"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600" dirty="0"/>
                  <a:t> 個の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600" dirty="0"/>
                  <a:t> の値を与えると，残り</a:t>
                </a:r>
                <a:r>
                  <a:rPr lang="en-US" altLang="ja-JP" sz="2600" dirty="0"/>
                  <a:t>1</a:t>
                </a:r>
                <a:r>
                  <a:rPr lang="ja-JP" altLang="en-US" sz="2600" dirty="0"/>
                  <a:t>個の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600" dirty="0"/>
                  <a:t> の値は自動的に定まる．よって上式において自由に選べる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600" dirty="0"/>
                  <a:t> の個数は </a:t>
                </a:r>
                <a14:m>
                  <m:oMath xmlns:m="http://schemas.openxmlformats.org/officeDocument/2006/math"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600" dirty="0"/>
                  <a:t> である．これを自由度と呼ぶことにする．  </a:t>
                </a:r>
                <a:endParaRPr lang="en-US" altLang="ja-JP" sz="26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E1E7467-EC5B-2970-5DDB-EAD2EA94BD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1579" r="-7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109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3</a:t>
            </a:r>
            <a:r>
              <a:rPr lang="ja-JP" altLang="en-US" dirty="0"/>
              <a:t>節　母平均の区間推定・母分散の区間推定</a:t>
            </a:r>
            <a:endParaRPr lang="en-US" altLang="ja-JP" dirty="0"/>
          </a:p>
          <a:p>
            <a:pPr lvl="1"/>
            <a:r>
              <a:rPr lang="ja-JP" altLang="en-US" dirty="0"/>
              <a:t>母数と推定量の違いを理解する</a:t>
            </a:r>
            <a:endParaRPr lang="en-US" altLang="ja-JP" dirty="0"/>
          </a:p>
          <a:p>
            <a:pPr lvl="2"/>
            <a:r>
              <a:rPr lang="ja-JP" altLang="en-US" dirty="0"/>
              <a:t>母数：母集団の特徴を表す統計量・固定値</a:t>
            </a:r>
            <a:endParaRPr lang="en-US" altLang="ja-JP" dirty="0"/>
          </a:p>
          <a:p>
            <a:pPr lvl="2"/>
            <a:r>
              <a:rPr lang="ja-JP" altLang="en-US" dirty="0"/>
              <a:t>推定量：母数を推定するための統計量・確率変数</a:t>
            </a:r>
            <a:endParaRPr lang="en-US" altLang="ja-JP" dirty="0"/>
          </a:p>
          <a:p>
            <a:pPr lvl="1"/>
            <a:r>
              <a:rPr lang="ja-JP" altLang="en-US" dirty="0"/>
              <a:t>不偏推定量の特徴について理解する</a:t>
            </a:r>
            <a:endParaRPr lang="en-US" altLang="ja-JP" dirty="0"/>
          </a:p>
          <a:p>
            <a:pPr lvl="2"/>
            <a:r>
              <a:rPr lang="ja-JP" altLang="en-US" dirty="0"/>
              <a:t>偏りのない推定量</a:t>
            </a:r>
            <a:endParaRPr lang="en-US" altLang="ja-JP" dirty="0"/>
          </a:p>
          <a:p>
            <a:pPr lvl="1"/>
            <a:r>
              <a:rPr lang="ja-JP" altLang="en-US" dirty="0"/>
              <a:t>母平均の点推定</a:t>
            </a:r>
            <a:endParaRPr lang="en-US" altLang="ja-JP" dirty="0"/>
          </a:p>
          <a:p>
            <a:pPr lvl="1"/>
            <a:r>
              <a:rPr lang="ja-JP" altLang="en-US" dirty="0"/>
              <a:t>母分散の点推定</a:t>
            </a:r>
            <a:endParaRPr lang="en-US" altLang="ja-JP" dirty="0"/>
          </a:p>
          <a:p>
            <a:pPr lvl="1"/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9979D-FA18-5D1F-F7B2-AEB6D3D8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9574D8-BA9F-83DB-6A4E-D6D8954E3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公式集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52D5B00-0523-9007-C21E-99D54BD0F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D14FA8E-31CC-9C8E-3716-00F1357CCF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ja-JP" dirty="0"/>
                  <a:t>: </a:t>
                </a:r>
                <a:r>
                  <a:rPr kumimoji="1" lang="ja-JP" altLang="en-US" dirty="0"/>
                  <a:t>確率変数，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dirty="0"/>
                  <a:t>: </a:t>
                </a:r>
                <a:r>
                  <a:rPr kumimoji="1" lang="ja-JP" altLang="en-US" dirty="0"/>
                  <a:t>確率密度関数，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∫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=∫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=∫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=∫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−∫2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+∫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𝑥𝑓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−2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br>
                  <a:rPr lang="en-US" altLang="ja-JP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=:</m:t>
                    </m:r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ja-JP" altLang="en-US" dirty="0"/>
                  <a:t> 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ja-JP" dirty="0"/>
                  <a:t>: </a:t>
                </a:r>
                <a:r>
                  <a:rPr lang="ja-JP" altLang="en-US" dirty="0"/>
                  <a:t>定数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𝑎𝐸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𝑎𝑋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D14FA8E-31CC-9C8E-3716-00F1357CCF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73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063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9FB66-D222-BE1F-DE96-D40DBBBB9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34FFB0-A529-3C22-E0D6-1FB4A1858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公式集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ADB9327-1BC1-5617-7703-1E6827AF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286896-09C4-70B2-DE83-043D9560DF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lang="ja-JP" altLang="en-US" b="0" i="1" dirty="0">
                    <a:latin typeface="Cambria Math" panose="02040503050406030204" pitchFamily="18" charset="0"/>
                  </a:rPr>
                  <a:t>２変数の場合</a:t>
                </a:r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ja-JP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dirty="0"/>
                  <a:t>,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∫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ja-JP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∫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dirty="0"/>
                  <a:t>: </a:t>
                </a:r>
                <a:r>
                  <a:rPr lang="ja-JP" altLang="en-US" dirty="0"/>
                  <a:t>同時確率密度関数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∫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の周辺確率密度関数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∫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の周辺確率密度関数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=∫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=∫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=∫∫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=∫∫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+∫∫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=∫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∫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+∫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∫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+∫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+∫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altLang="ja-JP" i="1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</a:b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286896-09C4-70B2-DE83-043D9560DF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465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9DF6B-079C-027E-D552-4318DC25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65F0DB-83AA-F13B-2A49-6ADEF63FA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公式集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7D793D1-B2C7-9BFD-4C93-739749B2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4D86D5A-8606-40FA-7F0B-9DE15FD20D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33254"/>
                <a:ext cx="9144000" cy="5788057"/>
              </a:xfrm>
            </p:spPr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lang="ja-JP" altLang="en-US" b="0" i="1" dirty="0">
                    <a:latin typeface="Cambria Math" panose="02040503050406030204" pitchFamily="18" charset="0"/>
                  </a:rPr>
                  <a:t>２変数の場合</a:t>
                </a:r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=∫∫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+∫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∫2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r>
                  <a:rPr lang="en-US" altLang="ja-JP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 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∫∫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∫∫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+∫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r>
                  <a:rPr lang="en-US" altLang="ja-JP" i="1" dirty="0">
                    <a:latin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∫∫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r>
                  <a:rPr lang="en-US" altLang="ja-JP" i="1" dirty="0">
                    <a:latin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ja-JP" dirty="0"/>
                  <a:t>      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式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(1)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4D86D5A-8606-40FA-7F0B-9DE15FD20D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33254"/>
                <a:ext cx="9144000" cy="5788057"/>
              </a:xfrm>
              <a:blipFill>
                <a:blip r:embed="rId3"/>
                <a:stretch>
                  <a:fillRect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320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2F06-A685-FC32-E6A6-FE1CA9B4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A82D39-FA3F-AD8A-9338-52F62FEBE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公式集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3D5EA8E-97B4-4E1D-DAF9-7BF2556C7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3B2AD8-5A05-1028-744A-54274C539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33254"/>
                <a:ext cx="9144000" cy="5788057"/>
              </a:xfrm>
            </p:spPr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b="0" i="1" dirty="0">
                    <a:latin typeface="Cambria Math" panose="02040503050406030204" pitchFamily="18" charset="0"/>
                  </a:rPr>
                  <a:t>が独立の場合</a:t>
                </a:r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:r>
                  <a:rPr lang="ja-JP" altLang="en-US" i="1" dirty="0">
                    <a:latin typeface="Cambria Math" panose="02040503050406030204" pitchFamily="18" charset="0"/>
                  </a:rPr>
                  <a:t>よって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∫∫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=∫∫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=∫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∫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∫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ja-JP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ja-JP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3B2AD8-5A05-1028-744A-54274C539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33254"/>
                <a:ext cx="9144000" cy="5788057"/>
              </a:xfrm>
              <a:blipFill>
                <a:blip r:embed="rId3"/>
                <a:stretch>
                  <a:fillRect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コンテンツ プレースホルダー 3">
                <a:extLst>
                  <a:ext uri="{FF2B5EF4-FFF2-40B4-BE49-F238E27FC236}">
                    <a16:creationId xmlns:a16="http://schemas.microsoft.com/office/drawing/2014/main" id="{E552BBDC-73AF-16F4-E9ED-325EE6BC5D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4753403"/>
                <a:ext cx="9144000" cy="177607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5000"/>
                  <a:buFont typeface="Wingdings" panose="05000000000000000000" pitchFamily="2" charset="2"/>
                  <a:buChar char="n"/>
                  <a:defRPr kumimoji="1" sz="2800" kern="1200">
                    <a:solidFill>
                      <a:schemeClr val="tx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5000"/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5000"/>
                  <a:buFont typeface="Wingdings" panose="05000000000000000000" pitchFamily="2" charset="2"/>
                  <a:buChar char="Ø"/>
                  <a:defRPr kumimoji="1" sz="2000" kern="120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5000"/>
                  <a:buFont typeface="Wingdings" panose="05000000000000000000" pitchFamily="2" charset="2"/>
                  <a:buChar char="Ø"/>
                  <a:defRPr kumimoji="1" sz="1800" kern="120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5000"/>
                  <a:buFont typeface="Wingdings" panose="05000000000000000000" pitchFamily="2" charset="2"/>
                  <a:buChar char="Ø"/>
                  <a:defRPr kumimoji="1" sz="1800" kern="120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24000" lvl="1" indent="0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  <m:oMath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5" name="コンテンツ プレースホルダー 3">
                <a:extLst>
                  <a:ext uri="{FF2B5EF4-FFF2-40B4-BE49-F238E27FC236}">
                    <a16:creationId xmlns:a16="http://schemas.microsoft.com/office/drawing/2014/main" id="{E552BBDC-73AF-16F4-E9ED-325EE6BC5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53403"/>
                <a:ext cx="9144000" cy="17760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C4CD46F-736D-1E2C-5B63-BCFB52A0669A}"/>
              </a:ext>
            </a:extLst>
          </p:cNvPr>
          <p:cNvSpPr txBox="1"/>
          <p:nvPr/>
        </p:nvSpPr>
        <p:spPr>
          <a:xfrm>
            <a:off x="260773" y="425831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これを</a:t>
            </a:r>
            <a:r>
              <a:rPr lang="ja-JP" altLang="en-US" sz="2400" dirty="0">
                <a:solidFill>
                  <a:schemeClr val="accent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式</a:t>
            </a:r>
            <a:r>
              <a:rPr lang="en-US" altLang="ja-JP" sz="2400" dirty="0">
                <a:solidFill>
                  <a:schemeClr val="accent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(1)</a:t>
            </a:r>
            <a:r>
              <a:rPr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に代入して</a:t>
            </a:r>
          </a:p>
        </p:txBody>
      </p:sp>
    </p:spTree>
    <p:extLst>
      <p:ext uri="{BB962C8B-B14F-4D97-AF65-F5344CB8AC3E}">
        <p14:creationId xmlns:p14="http://schemas.microsoft.com/office/powerpoint/2010/main" val="9045317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231BA-D4F4-3171-3114-926764969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312D4A-193F-4DE4-7236-3F806F97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公式集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1D279AC-1A38-1E0B-7F6E-3DCA66800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9BB9142-5854-556D-03C8-07CD688A1C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44830"/>
                <a:ext cx="9144000" cy="4492183"/>
              </a:xfrm>
            </p:spPr>
            <p:txBody>
              <a:bodyPr>
                <a:noAutofit/>
              </a:bodyPr>
              <a:lstStyle/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rad>
                      </m:den>
                    </m:f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　とおく（標準化）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]]</m:t>
                          </m:r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  <m:oMath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ja-JP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9BB9142-5854-556D-03C8-07CD688A1C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44830"/>
                <a:ext cx="9144000" cy="449218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AA3A79F-1E9E-1107-32EC-192EFC80B57C}"/>
              </a:ext>
            </a:extLst>
          </p:cNvPr>
          <p:cNvSpPr txBox="1"/>
          <p:nvPr/>
        </p:nvSpPr>
        <p:spPr>
          <a:xfrm>
            <a:off x="-193040" y="81070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000" lvl="1" indent="0">
              <a:buNone/>
            </a:pPr>
            <a:r>
              <a:rPr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標準化</a:t>
            </a:r>
            <a:endParaRPr lang="en-US" altLang="ja-JP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90004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E5E75-A256-5BA9-CF30-660A61F0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4C267F-8D26-2F4E-200C-723C07F8C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公式集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2AA2C35-E646-AA62-3B4F-34B1222D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EBC7B4-2774-8E3D-703E-7CAEF1DF40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44830"/>
                <a:ext cx="9144000" cy="4498957"/>
              </a:xfrm>
            </p:spPr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ja-JP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ja-JP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ja-JP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br>
                  <a:rPr lang="en-US" altLang="ja-JP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r>
                  <a:rPr lang="en-US" altLang="ja-JP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=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rad>
                      </m:den>
                    </m:f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rad>
                      </m:den>
                    </m:f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rad>
                      </m:den>
                    </m:f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ja-JP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EBC7B4-2774-8E3D-703E-7CAEF1DF40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44830"/>
                <a:ext cx="9144000" cy="449895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136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5624D-7A6B-0DFD-310C-6910DF8D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D21D48-58C4-C61F-8B59-1DAEF7D8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公式集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D403641-D35D-C0AF-5EF5-BB97D55D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EA35A2A-7721-A21D-DE9A-DBC28E009A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44830"/>
                <a:ext cx="9144000" cy="3279757"/>
              </a:xfrm>
            </p:spPr>
            <p:txBody>
              <a:bodyPr>
                <a:noAutofit/>
              </a:bodyPr>
              <a:lstStyle/>
              <a:p>
                <a:pPr marL="324000" lvl="1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:</a:t>
                </a:r>
                <a:r>
                  <a:rPr lang="en-US" altLang="ja-JP" b="0" i="1" dirty="0">
                    <a:latin typeface="Cambria Math" panose="02040503050406030204" pitchFamily="18" charset="0"/>
                  </a:rPr>
                  <a:t> </a:t>
                </a:r>
                <a:r>
                  <a:rPr lang="ja-JP" altLang="en-US" b="0" i="1" dirty="0">
                    <a:latin typeface="Cambria Math" panose="02040503050406030204" pitchFamily="18" charset="0"/>
                  </a:rPr>
                  <a:t>標本平均</a:t>
                </a:r>
                <a:r>
                  <a:rPr lang="ja-JP" altLang="en-US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，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，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begChr m:val="["/>
                        <m:endChr m:val="]"/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bSup>
                      <m:sSub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acc>
                          <m:accPr>
                            <m:chr m:val="̅"/>
                            <m:ctrlP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sz="3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3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rad>
                      </m:den>
                    </m:f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3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ja-JP" sz="3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3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3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3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3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sz="32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32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sz="32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sz="32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ja-JP" sz="3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　標準化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EA35A2A-7721-A21D-DE9A-DBC28E009A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44830"/>
                <a:ext cx="9144000" cy="327975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D6E26DF-48C4-4F9C-8556-84D5BDC0411A}"/>
              </a:ext>
            </a:extLst>
          </p:cNvPr>
          <p:cNvSpPr txBox="1"/>
          <p:nvPr/>
        </p:nvSpPr>
        <p:spPr>
          <a:xfrm>
            <a:off x="-193040" y="81070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000" lvl="1" indent="0">
              <a:buNone/>
            </a:pPr>
            <a:r>
              <a:rPr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標本平均の標準化</a:t>
            </a:r>
            <a:endParaRPr lang="en-US" altLang="ja-JP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7863662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1_配当">
  <a:themeElements>
    <a:clrScheme name="Santorini">
      <a:dk1>
        <a:srgbClr val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2701</TotalTime>
  <Words>2715</Words>
  <Application>Microsoft Office PowerPoint</Application>
  <PresentationFormat>画面に合わせる (4:3)</PresentationFormat>
  <Paragraphs>261</Paragraphs>
  <Slides>33</Slides>
  <Notes>19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33</vt:i4>
      </vt:variant>
    </vt:vector>
  </HeadingPairs>
  <TitlesOfParts>
    <vt:vector size="44" baseType="lpstr">
      <vt:lpstr>HG丸ｺﾞｼｯｸM-PRO</vt:lpstr>
      <vt:lpstr>Meiryo UI</vt:lpstr>
      <vt:lpstr>Noto Sans Symbols</vt:lpstr>
      <vt:lpstr>游ゴシック</vt:lpstr>
      <vt:lpstr>Arial</vt:lpstr>
      <vt:lpstr>Cambria Math</vt:lpstr>
      <vt:lpstr>Impact</vt:lpstr>
      <vt:lpstr>Wingdings</vt:lpstr>
      <vt:lpstr>Wingdings 2</vt:lpstr>
      <vt:lpstr>配当</vt:lpstr>
      <vt:lpstr>1_配当</vt:lpstr>
      <vt:lpstr>母平均の点推定・区間推定・母分散の点推定・区間推定　前半</vt:lpstr>
      <vt:lpstr>今日の目標</vt:lpstr>
      <vt:lpstr>PowerPoint プレゼンテーション</vt:lpstr>
      <vt:lpstr>母数と推定量</vt:lpstr>
      <vt:lpstr>PowerPoint プレゼンテーション</vt:lpstr>
      <vt:lpstr>不偏推定量</vt:lpstr>
      <vt:lpstr>推定量としての望ましい性質</vt:lpstr>
      <vt:lpstr>PowerPoint プレゼンテーション</vt:lpstr>
      <vt:lpstr>点推定と区間推定</vt:lpstr>
      <vt:lpstr>PowerPoint プレゼンテーション</vt:lpstr>
      <vt:lpstr>母平均の点推定量</vt:lpstr>
      <vt:lpstr>(Advanced) 便利な公式 </vt:lpstr>
      <vt:lpstr>(Advanced) 標本平均は母平均の不偏推定量であることの理由 </vt:lpstr>
      <vt:lpstr>PowerPoint プレゼンテーション</vt:lpstr>
      <vt:lpstr>母分散の点推定量</vt:lpstr>
      <vt:lpstr>標本不偏分散</vt:lpstr>
      <vt:lpstr>(Advanced) 幾つかの「分散」</vt:lpstr>
      <vt:lpstr>(Advanced) 標本平均X ̅の分散</vt:lpstr>
      <vt:lpstr>(Advanced) 標本分散の期待値</vt:lpstr>
      <vt:lpstr>(Advanced) 標本分散の期待値</vt:lpstr>
      <vt:lpstr>(Advanced) 標本分散の期待値</vt:lpstr>
      <vt:lpstr>(Advanced) 標本分散の期待値</vt:lpstr>
      <vt:lpstr>(Advanced) 標本分散の期待値</vt:lpstr>
      <vt:lpstr>(Advanced)標本不偏分散の期待値</vt:lpstr>
      <vt:lpstr>「自由度」の由来</vt:lpstr>
      <vt:lpstr>Summary</vt:lpstr>
      <vt:lpstr>(付録)公式集</vt:lpstr>
      <vt:lpstr>(付録)公式集</vt:lpstr>
      <vt:lpstr>(付録)公式集</vt:lpstr>
      <vt:lpstr>(付録)公式集</vt:lpstr>
      <vt:lpstr>(付録)公式集</vt:lpstr>
      <vt:lpstr>(付録)公式集</vt:lpstr>
      <vt:lpstr>(付録)公式集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504</cp:revision>
  <dcterms:created xsi:type="dcterms:W3CDTF">2025-03-03T09:28:12Z</dcterms:created>
  <dcterms:modified xsi:type="dcterms:W3CDTF">2026-09-16T16:04:32Z</dcterms:modified>
</cp:coreProperties>
</file>