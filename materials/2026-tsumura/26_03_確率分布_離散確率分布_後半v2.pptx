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20" r:id="rId1"/>
  </p:sldMasterIdLst>
  <p:notesMasterIdLst>
    <p:notesMasterId r:id="rId24"/>
  </p:notesMasterIdLst>
  <p:sldIdLst>
    <p:sldId id="256" r:id="rId2"/>
    <p:sldId id="257" r:id="rId3"/>
    <p:sldId id="575" r:id="rId4"/>
    <p:sldId id="576" r:id="rId5"/>
    <p:sldId id="578" r:id="rId6"/>
    <p:sldId id="577" r:id="rId7"/>
    <p:sldId id="579" r:id="rId8"/>
    <p:sldId id="580" r:id="rId9"/>
    <p:sldId id="581" r:id="rId10"/>
    <p:sldId id="582" r:id="rId11"/>
    <p:sldId id="584" r:id="rId12"/>
    <p:sldId id="585" r:id="rId13"/>
    <p:sldId id="567" r:id="rId14"/>
    <p:sldId id="570" r:id="rId15"/>
    <p:sldId id="571" r:id="rId16"/>
    <p:sldId id="586" r:id="rId17"/>
    <p:sldId id="587" r:id="rId18"/>
    <p:sldId id="588" r:id="rId19"/>
    <p:sldId id="262" r:id="rId20"/>
    <p:sldId id="589" r:id="rId21"/>
    <p:sldId id="590" r:id="rId22"/>
    <p:sldId id="591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間スタイル 2 - アクセント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946" autoAdjust="0"/>
  </p:normalViewPr>
  <p:slideViewPr>
    <p:cSldViewPr snapToGrid="0">
      <p:cViewPr varScale="1">
        <p:scale>
          <a:sx n="94" d="100"/>
          <a:sy n="94" d="100"/>
        </p:scale>
        <p:origin x="80" y="2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316469C-FEAD-4C5E-BA2E-E52844FEB7B7}" type="datetimeFigureOut">
              <a:rPr kumimoji="1" lang="ja-JP" altLang="en-US" smtClean="0"/>
              <a:t>2026/9/14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753683A-688A-4D33-8DCE-739EA7585F13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5597903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909733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ja-JP" dirty="0"/>
              <a:t>※</a:t>
            </a:r>
            <a:r>
              <a:rPr kumimoji="1" lang="ja-JP" altLang="en-US" dirty="0"/>
              <a:t>初学者には難易度が高いので，基本は取り扱わなくて良いです．</a:t>
            </a:r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14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086349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18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7789258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20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7000083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1FA761-3DFE-A7C8-72FA-E831D028CF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61F9B242-3517-B1DF-71FA-09844452708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F1B89F2B-5B31-6249-6183-E0D8B9272B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8BC25B0C-7F63-62BD-5BC6-28F59BF9F99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46343464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744656-5B4C-5ACC-01F1-C6C9F6C7AB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スライド イメージ プレースホルダー 1">
            <a:extLst>
              <a:ext uri="{FF2B5EF4-FFF2-40B4-BE49-F238E27FC236}">
                <a16:creationId xmlns:a16="http://schemas.microsoft.com/office/drawing/2014/main" id="{037AC0E6-22FB-FEE9-7775-85287893C4DB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ノート プレースホルダー 2">
            <a:extLst>
              <a:ext uri="{FF2B5EF4-FFF2-40B4-BE49-F238E27FC236}">
                <a16:creationId xmlns:a16="http://schemas.microsoft.com/office/drawing/2014/main" id="{93BFB20D-1D1C-EF60-A343-FB7BB4B9FB9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ja-JP" altLang="en-US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68FEEA1D-8BFA-CAD0-C999-FECCD2C52D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753683A-688A-4D33-8DCE-739EA7585F13}" type="slidenum">
              <a:rPr kumimoji="1" lang="ja-JP" altLang="en-US" smtClean="0"/>
              <a:t>22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76655375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-1" y="2433327"/>
            <a:ext cx="8334000" cy="590321"/>
          </a:xfrm>
        </p:spPr>
        <p:txBody>
          <a:bodyPr anchor="ctr">
            <a:normAutofit/>
          </a:bodyPr>
          <a:lstStyle>
            <a:lvl1pPr marL="0" indent="0" algn="l">
              <a:buNone/>
              <a:defRPr sz="2400" cap="all">
                <a:solidFill>
                  <a:schemeClr val="accent2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ja-JP" altLang="en-US" dirty="0"/>
              <a:t>マスター サブタイトルの書式設定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  <p:sp>
        <p:nvSpPr>
          <p:cNvPr id="9" name="タイトル 8">
            <a:extLst>
              <a:ext uri="{FF2B5EF4-FFF2-40B4-BE49-F238E27FC236}">
                <a16:creationId xmlns:a16="http://schemas.microsoft.com/office/drawing/2014/main" id="{3E1437F2-D6CA-45FF-8DAA-99CA93A9F9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3023648"/>
            <a:ext cx="8334000" cy="810704"/>
          </a:xfrm>
        </p:spPr>
        <p:txBody>
          <a:bodyPr/>
          <a:lstStyle/>
          <a:p>
            <a:r>
              <a:rPr kumimoji="1" lang="ja-JP" altLang="en-US" dirty="0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9791904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今日の目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ja-JP" altLang="en-US" dirty="0"/>
              <a:t>今日の目標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0" name="Text Placeholder 2">
            <a:extLst>
              <a:ext uri="{FF2B5EF4-FFF2-40B4-BE49-F238E27FC236}">
                <a16:creationId xmlns:a16="http://schemas.microsoft.com/office/drawing/2014/main" id="{77017840-59E2-D4E8-707A-9929D188372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306000" indent="-306000">
              <a:buFont typeface="Wingdings" panose="05000000000000000000" pitchFamily="2" charset="2"/>
              <a:buChar char="u"/>
              <a:defRPr/>
            </a:lvl1pPr>
            <a:lvl2pPr marL="630000" indent="-306000">
              <a:buFont typeface="Wingdings" panose="05000000000000000000" pitchFamily="2" charset="2"/>
              <a:buChar char="ü"/>
              <a:defRPr/>
            </a:lvl2pPr>
            <a:lvl3pPr marL="900000" indent="-270000">
              <a:buFont typeface="Wingdings" panose="05000000000000000000" pitchFamily="2" charset="2"/>
              <a:buChar char="Ø"/>
              <a:defRPr/>
            </a:lvl3pPr>
            <a:lvl4pPr marL="1242000" indent="-234000">
              <a:buFont typeface="Wingdings" panose="05000000000000000000" pitchFamily="2" charset="2"/>
              <a:buChar char="Ø"/>
              <a:defRPr/>
            </a:lvl4pPr>
            <a:lvl5pPr marL="1602000" indent="-234000">
              <a:buFont typeface="Wingdings" panose="05000000000000000000" pitchFamily="2" charset="2"/>
              <a:buChar char="Ø"/>
              <a:defRPr/>
            </a:lvl5pPr>
          </a:lstStyle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9794889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2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3672267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9" name="Text Placeholder 2">
            <a:extLst>
              <a:ext uri="{FF2B5EF4-FFF2-40B4-BE49-F238E27FC236}">
                <a16:creationId xmlns:a16="http://schemas.microsoft.com/office/drawing/2014/main" id="{200474C3-AA0B-4FE8-59A5-59C737C3C8C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28952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953679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8"/>
            <a:ext cx="4348743" cy="5788057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68593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2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63281" y="953677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6" y="1583702"/>
            <a:ext cx="4348743" cy="5158034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AF0919C9-51B3-2D74-45D7-B85C57516E70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975" y="953676"/>
            <a:ext cx="4348743" cy="630025"/>
          </a:xfrm>
        </p:spPr>
        <p:txBody>
          <a:bodyPr anchor="ctr">
            <a:noAutofit/>
          </a:bodyPr>
          <a:lstStyle>
            <a:lvl1pPr marL="0" indent="0" algn="l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40416895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の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3" name="Text Placeholder 2">
            <a:extLst>
              <a:ext uri="{FF2B5EF4-FFF2-40B4-BE49-F238E27FC236}">
                <a16:creationId xmlns:a16="http://schemas.microsoft.com/office/drawing/2014/main" id="{07327862-ABB7-ED01-9C8C-7FCCFC55025E}"/>
              </a:ext>
            </a:extLst>
          </p:cNvPr>
          <p:cNvSpPr>
            <a:spLocks noGrp="1"/>
          </p:cNvSpPr>
          <p:nvPr>
            <p:ph idx="14"/>
          </p:nvPr>
        </p:nvSpPr>
        <p:spPr>
          <a:xfrm>
            <a:off x="4663284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975" y="953677"/>
            <a:ext cx="4348743" cy="3080995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2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  <p:sp>
        <p:nvSpPr>
          <p:cNvPr id="6" name="テキスト プレースホルダー 4">
            <a:extLst>
              <a:ext uri="{FF2B5EF4-FFF2-40B4-BE49-F238E27FC236}">
                <a16:creationId xmlns:a16="http://schemas.microsoft.com/office/drawing/2014/main" id="{8B8C6B5F-5F35-CD0D-73A3-108E527DAC8B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4663283" y="4034672"/>
            <a:ext cx="4348743" cy="2696066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  <a:lvl2pPr>
              <a:defRPr>
                <a:solidFill>
                  <a:schemeClr val="accent1"/>
                </a:solidFill>
              </a:defRPr>
            </a:lvl2pPr>
            <a:lvl3pPr>
              <a:defRPr>
                <a:solidFill>
                  <a:schemeClr val="accent1"/>
                </a:solidFill>
              </a:defRPr>
            </a:lvl3pPr>
            <a:lvl4pPr>
              <a:defRPr>
                <a:solidFill>
                  <a:schemeClr val="accent1"/>
                </a:solidFill>
              </a:defRPr>
            </a:lvl4pPr>
            <a:lvl5pPr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29419330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図表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15" name="Text Placeholder 2">
            <a:extLst>
              <a:ext uri="{FF2B5EF4-FFF2-40B4-BE49-F238E27FC236}">
                <a16:creationId xmlns:a16="http://schemas.microsoft.com/office/drawing/2014/main" id="{C83367D3-7F5B-1316-B28E-91EC2416424D}"/>
              </a:ext>
            </a:extLst>
          </p:cNvPr>
          <p:cNvSpPr>
            <a:spLocks noGrp="1"/>
          </p:cNvSpPr>
          <p:nvPr>
            <p:ph idx="13"/>
          </p:nvPr>
        </p:nvSpPr>
        <p:spPr>
          <a:xfrm>
            <a:off x="131181" y="953677"/>
            <a:ext cx="8880843" cy="3844566"/>
          </a:xfrm>
          <a:prstGeom prst="rect">
            <a:avLst/>
          </a:prstGeom>
          <a:ln>
            <a:solidFill>
              <a:schemeClr val="accent2"/>
            </a:solidFill>
          </a:ln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F089DA2C-C2C0-8214-9B8F-1C1FBD9A01C3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131181" y="4941215"/>
            <a:ext cx="8880843" cy="1789523"/>
          </a:xfrm>
        </p:spPr>
        <p:txBody>
          <a:bodyPr>
            <a:noAutofit/>
          </a:bodyPr>
          <a:lstStyle>
            <a:lvl1pPr>
              <a:defRPr sz="2400">
                <a:solidFill>
                  <a:schemeClr val="accent1"/>
                </a:solidFill>
              </a:defRPr>
            </a:lvl1pPr>
            <a:lvl2pPr>
              <a:defRPr sz="2000">
                <a:solidFill>
                  <a:schemeClr val="accent1"/>
                </a:solidFill>
              </a:defRPr>
            </a:lvl2pPr>
            <a:lvl3pPr>
              <a:defRPr sz="1800">
                <a:solidFill>
                  <a:schemeClr val="accent1"/>
                </a:solidFill>
              </a:defRPr>
            </a:lvl3pPr>
            <a:lvl4pPr>
              <a:defRPr sz="1600">
                <a:solidFill>
                  <a:schemeClr val="accent1"/>
                </a:solidFill>
              </a:defRPr>
            </a:lvl4pPr>
            <a:lvl5pPr>
              <a:defRPr sz="1600">
                <a:solidFill>
                  <a:schemeClr val="accent1"/>
                </a:solidFill>
              </a:defRPr>
            </a:lvl5pPr>
          </a:lstStyle>
          <a:p>
            <a:pPr lvl="0"/>
            <a:r>
              <a:rPr kumimoji="1" lang="ja-JP" altLang="en-US" dirty="0"/>
              <a:t>マスター テキストの書式設定</a:t>
            </a:r>
          </a:p>
          <a:p>
            <a:pPr lvl="1"/>
            <a:r>
              <a:rPr kumimoji="1" lang="ja-JP" altLang="en-US" dirty="0"/>
              <a:t>第 </a:t>
            </a:r>
            <a:r>
              <a:rPr kumimoji="1" lang="en-US" altLang="ja-JP" dirty="0"/>
              <a:t>2 </a:t>
            </a:r>
            <a:r>
              <a:rPr kumimoji="1" lang="ja-JP" altLang="en-US" dirty="0"/>
              <a:t>レベル</a:t>
            </a:r>
          </a:p>
          <a:p>
            <a:pPr lvl="2"/>
            <a:r>
              <a:rPr kumimoji="1" lang="ja-JP" altLang="en-US" dirty="0"/>
              <a:t>第 </a:t>
            </a:r>
            <a:r>
              <a:rPr kumimoji="1" lang="en-US" altLang="ja-JP" dirty="0"/>
              <a:t>3 </a:t>
            </a:r>
            <a:r>
              <a:rPr kumimoji="1" lang="ja-JP" altLang="en-US" dirty="0"/>
              <a:t>レベル</a:t>
            </a:r>
          </a:p>
          <a:p>
            <a:pPr lvl="3"/>
            <a:r>
              <a:rPr kumimoji="1" lang="ja-JP" altLang="en-US" dirty="0"/>
              <a:t>第 </a:t>
            </a:r>
            <a:r>
              <a:rPr kumimoji="1" lang="en-US" altLang="ja-JP" dirty="0"/>
              <a:t>4 </a:t>
            </a:r>
            <a:r>
              <a:rPr kumimoji="1" lang="ja-JP" altLang="en-US" dirty="0"/>
              <a:t>レベル</a:t>
            </a:r>
          </a:p>
          <a:p>
            <a:pPr lvl="4"/>
            <a:r>
              <a:rPr kumimoji="1" lang="ja-JP" altLang="en-US" dirty="0"/>
              <a:t>第 </a:t>
            </a:r>
            <a:r>
              <a:rPr kumimoji="1" lang="en-US" altLang="ja-JP" dirty="0"/>
              <a:t>5 </a:t>
            </a:r>
            <a:r>
              <a:rPr kumimoji="1" lang="ja-JP" altLang="en-US" dirty="0"/>
              <a:t>レベル</a:t>
            </a:r>
          </a:p>
        </p:txBody>
      </p:sp>
    </p:spTree>
    <p:extLst>
      <p:ext uri="{BB962C8B-B14F-4D97-AF65-F5344CB8AC3E}">
        <p14:creationId xmlns:p14="http://schemas.microsoft.com/office/powerpoint/2010/main" val="10974725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/>
              <a:t>マスター タイトルの書式設定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31416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127910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5670" y="810704"/>
            <a:ext cx="8672660" cy="479824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ja-JP" altLang="en-US"/>
              <a:t>アイコンをクリックして図を追加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5669" y="5670223"/>
            <a:ext cx="8672660" cy="1032235"/>
          </a:xfrm>
        </p:spPr>
        <p:txBody>
          <a:bodyPr>
            <a:normAutofit/>
          </a:bodyPr>
          <a:lstStyle>
            <a:lvl1pPr marL="0" indent="0">
              <a:buNone/>
              <a:defRPr sz="2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ja-JP" altLang="en-US" dirty="0"/>
              <a:t>マスター テキストの書式設定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‹#›</a:t>
            </a:fld>
            <a:endParaRPr kumimoji="1" lang="ja-JP" altLang="en-US"/>
          </a:p>
        </p:txBody>
      </p:sp>
      <p:sp>
        <p:nvSpPr>
          <p:cNvPr id="8" name="タイトル 7">
            <a:extLst>
              <a:ext uri="{FF2B5EF4-FFF2-40B4-BE49-F238E27FC236}">
                <a16:creationId xmlns:a16="http://schemas.microsoft.com/office/drawing/2014/main" id="{5E52FEF1-33FB-A31C-3BA8-FE7978A359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</p:spTree>
    <p:extLst>
      <p:ext uri="{BB962C8B-B14F-4D97-AF65-F5344CB8AC3E}">
        <p14:creationId xmlns:p14="http://schemas.microsoft.com/office/powerpoint/2010/main" val="28337301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0" y="1"/>
            <a:ext cx="8334000" cy="810704"/>
          </a:xfrm>
          <a:prstGeom prst="rect">
            <a:avLst/>
          </a:prstGeom>
          <a:solidFill>
            <a:schemeClr val="accent1"/>
          </a:solidFill>
        </p:spPr>
        <p:txBody>
          <a:bodyPr vert="horz" lIns="91440" tIns="45720" rIns="91440" bIns="45720" rtlCol="0" anchor="ctr">
            <a:normAutofit/>
          </a:bodyPr>
          <a:lstStyle/>
          <a:p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1976" y="933254"/>
            <a:ext cx="8880049" cy="578805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ja-JP" altLang="en-US" dirty="0"/>
              <a:t>マスター テキストの書式設定</a:t>
            </a:r>
          </a:p>
          <a:p>
            <a:pPr lvl="1"/>
            <a:r>
              <a:rPr lang="ja-JP" altLang="en-US" dirty="0"/>
              <a:t>第 </a:t>
            </a:r>
            <a:r>
              <a:rPr lang="en-US" altLang="ja-JP" dirty="0"/>
              <a:t>2 </a:t>
            </a:r>
            <a:r>
              <a:rPr lang="ja-JP" altLang="en-US" dirty="0"/>
              <a:t>レベル</a:t>
            </a:r>
          </a:p>
          <a:p>
            <a:pPr lvl="2"/>
            <a:r>
              <a:rPr lang="ja-JP" altLang="en-US" dirty="0"/>
              <a:t>第 </a:t>
            </a:r>
            <a:r>
              <a:rPr lang="en-US" altLang="ja-JP" dirty="0"/>
              <a:t>3 </a:t>
            </a:r>
            <a:r>
              <a:rPr lang="ja-JP" altLang="en-US" dirty="0"/>
              <a:t>レベル</a:t>
            </a:r>
          </a:p>
          <a:p>
            <a:pPr lvl="3"/>
            <a:r>
              <a:rPr lang="ja-JP" altLang="en-US" dirty="0"/>
              <a:t>第 </a:t>
            </a:r>
            <a:r>
              <a:rPr lang="en-US" altLang="ja-JP" dirty="0"/>
              <a:t>4 </a:t>
            </a:r>
            <a:r>
              <a:rPr lang="ja-JP" altLang="en-US" dirty="0"/>
              <a:t>レベル</a:t>
            </a:r>
          </a:p>
          <a:p>
            <a:pPr lvl="4"/>
            <a:r>
              <a:rPr lang="ja-JP" altLang="en-US" dirty="0"/>
              <a:t>第 </a:t>
            </a:r>
            <a:r>
              <a:rPr lang="en-US" altLang="ja-JP" dirty="0"/>
              <a:t>5 </a:t>
            </a:r>
            <a:r>
              <a:rPr lang="ja-JP" altLang="en-US" dirty="0"/>
              <a:t>レベル</a:t>
            </a:r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334000" y="0"/>
            <a:ext cx="810000" cy="810704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txBody>
          <a:bodyPr vert="horz" lIns="91440" tIns="45720" rIns="91440" bIns="45720" rtlCol="0" anchor="ctr"/>
          <a:lstStyle>
            <a:lvl1pPr algn="ctr">
              <a:defRPr sz="2800">
                <a:solidFill>
                  <a:schemeClr val="bg1"/>
                </a:solidFill>
                <a:latin typeface="Impact" panose="020B0806030902050204" pitchFamily="34" charset="0"/>
                <a:ea typeface="Meiryo UI" panose="020B0604030504040204" pitchFamily="50" charset="-128"/>
              </a:defRPr>
            </a:lvl1pPr>
          </a:lstStyle>
          <a:p>
            <a:fld id="{940BA6E0-C4F8-428F-A0C2-6A33D6EAEFEB}" type="slidenum">
              <a:rPr kumimoji="1" lang="ja-JP" altLang="en-US" smtClean="0"/>
              <a:pPr/>
              <a:t>‹#›</a:t>
            </a:fld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6619209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32" r:id="rId4"/>
    <p:sldLayoutId id="2147483725" r:id="rId5"/>
    <p:sldLayoutId id="2147483733" r:id="rId6"/>
    <p:sldLayoutId id="2147483734" r:id="rId7"/>
    <p:sldLayoutId id="2147483735" r:id="rId8"/>
    <p:sldLayoutId id="2147483726" r:id="rId9"/>
    <p:sldLayoutId id="2147483727" r:id="rId10"/>
    <p:sldLayoutId id="2147483729" r:id="rId11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kumimoji="1" sz="3200" b="0" kern="1200" cap="all">
          <a:solidFill>
            <a:schemeClr val="bg1"/>
          </a:solidFill>
          <a:latin typeface="Meiryo UI" panose="020B0604030504040204" pitchFamily="50" charset="-128"/>
          <a:ea typeface="Meiryo UI" panose="020B0604030504040204" pitchFamily="50" charset="-128"/>
          <a:cs typeface="+mj-cs"/>
        </a:defRPr>
      </a:lvl1pPr>
      <a:lvl2pPr eaLnBrk="1" hangingPunct="1">
        <a:defRPr kumimoji="1">
          <a:solidFill>
            <a:schemeClr val="tx2"/>
          </a:solidFill>
        </a:defRPr>
      </a:lvl2pPr>
      <a:lvl3pPr eaLnBrk="1" hangingPunct="1">
        <a:defRPr kumimoji="1">
          <a:solidFill>
            <a:schemeClr val="tx2"/>
          </a:solidFill>
        </a:defRPr>
      </a:lvl3pPr>
      <a:lvl4pPr eaLnBrk="1" hangingPunct="1">
        <a:defRPr kumimoji="1">
          <a:solidFill>
            <a:schemeClr val="tx2"/>
          </a:solidFill>
        </a:defRPr>
      </a:lvl4pPr>
      <a:lvl5pPr eaLnBrk="1" hangingPunct="1">
        <a:defRPr kumimoji="1">
          <a:solidFill>
            <a:schemeClr val="tx2"/>
          </a:solidFill>
        </a:defRPr>
      </a:lvl5pPr>
      <a:lvl6pPr eaLnBrk="1" hangingPunct="1">
        <a:defRPr kumimoji="1">
          <a:solidFill>
            <a:schemeClr val="tx2"/>
          </a:solidFill>
        </a:defRPr>
      </a:lvl6pPr>
      <a:lvl7pPr eaLnBrk="1" hangingPunct="1">
        <a:defRPr kumimoji="1">
          <a:solidFill>
            <a:schemeClr val="tx2"/>
          </a:solidFill>
        </a:defRPr>
      </a:lvl7pPr>
      <a:lvl8pPr eaLnBrk="1" hangingPunct="1">
        <a:defRPr kumimoji="1">
          <a:solidFill>
            <a:schemeClr val="tx2"/>
          </a:solidFill>
        </a:defRPr>
      </a:lvl8pPr>
      <a:lvl9pPr eaLnBrk="1" hangingPunct="1">
        <a:defRPr kumimoji="1"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n"/>
        <a:defRPr kumimoji="1" sz="2800" kern="1200">
          <a:solidFill>
            <a:schemeClr val="tx1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ü"/>
        <a:defRPr kumimoji="1" sz="24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20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5000"/>
        <a:buFont typeface="Wingdings" panose="05000000000000000000" pitchFamily="2" charset="2"/>
        <a:buChar char="Ø"/>
        <a:defRPr kumimoji="1" sz="1800" kern="1200">
          <a:solidFill>
            <a:schemeClr val="tx2"/>
          </a:solidFill>
          <a:latin typeface="Meiryo UI" panose="020B0604030504040204" pitchFamily="50" charset="-128"/>
          <a:ea typeface="Meiryo UI" panose="020B0604030504040204" pitchFamily="50" charset="-128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kumimoji="1"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0.png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0.png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字幕 1">
            <a:extLst>
              <a:ext uri="{FF2B5EF4-FFF2-40B4-BE49-F238E27FC236}">
                <a16:creationId xmlns:a16="http://schemas.microsoft.com/office/drawing/2014/main" id="{34E62EDF-23B0-0FF7-CCAE-3A62D57648C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kumimoji="1" lang="ja-JP" altLang="en-US" dirty="0"/>
              <a:t>統計学　</a:t>
            </a:r>
            <a:r>
              <a:rPr kumimoji="1" lang="en-US" altLang="ja-JP" dirty="0"/>
              <a:t>#03</a:t>
            </a:r>
          </a:p>
        </p:txBody>
      </p:sp>
      <p:sp>
        <p:nvSpPr>
          <p:cNvPr id="3" name="タイトル 2">
            <a:extLst>
              <a:ext uri="{FF2B5EF4-FFF2-40B4-BE49-F238E27FC236}">
                <a16:creationId xmlns:a16="http://schemas.microsoft.com/office/drawing/2014/main" id="{48E8BC8D-F503-6C63-21CA-5EDB859CD4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/>
            <a:r>
              <a:rPr lang="ja-JP" altLang="en-US" dirty="0"/>
              <a:t>確率分布：離散確率分布</a:t>
            </a:r>
            <a:r>
              <a:rPr lang="en-US" altLang="ja-JP" dirty="0"/>
              <a:t>(</a:t>
            </a:r>
            <a:r>
              <a:rPr lang="ja-JP" altLang="en-US" dirty="0"/>
              <a:t>後半</a:t>
            </a:r>
            <a:r>
              <a:rPr lang="en-US" altLang="ja-JP" dirty="0"/>
              <a:t>)</a:t>
            </a:r>
            <a:endParaRPr kumimoji="1" lang="ja-JP" altLang="en-US" dirty="0"/>
          </a:p>
        </p:txBody>
      </p:sp>
    </p:spTree>
    <p:extLst>
      <p:ext uri="{BB962C8B-B14F-4D97-AF65-F5344CB8AC3E}">
        <p14:creationId xmlns:p14="http://schemas.microsoft.com/office/powerpoint/2010/main" val="21898824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561E6B7-FCCA-E994-1F6B-EDDE43CEB4E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今日の目標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4B4E2AA-11BC-DBCD-1944-8884E00DB2D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kumimoji="1" lang="ja-JP" altLang="en-US" dirty="0"/>
              <a:t>第</a:t>
            </a:r>
            <a:r>
              <a:rPr lang="en-US" altLang="ja-JP" dirty="0"/>
              <a:t>2</a:t>
            </a:r>
            <a:r>
              <a:rPr kumimoji="1" lang="ja-JP" altLang="en-US" dirty="0"/>
              <a:t>章　第</a:t>
            </a:r>
            <a:r>
              <a:rPr kumimoji="1" lang="en-US" altLang="ja-JP" dirty="0"/>
              <a:t>2</a:t>
            </a:r>
            <a:r>
              <a:rPr kumimoji="1" lang="ja-JP" altLang="en-US" dirty="0"/>
              <a:t>節　確率分布</a:t>
            </a:r>
            <a:endParaRPr kumimoji="1" lang="en-US" altLang="ja-JP" dirty="0"/>
          </a:p>
          <a:p>
            <a:pPr lvl="1"/>
            <a:r>
              <a:rPr kumimoji="1" lang="ja-JP" altLang="en-US" dirty="0"/>
              <a:t>確率変数について理解する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期待値について理解する</a:t>
            </a:r>
            <a:endParaRPr kumimoji="1" lang="en-US" altLang="ja-JP" dirty="0"/>
          </a:p>
          <a:p>
            <a:pPr lvl="1"/>
            <a:r>
              <a:rPr lang="ja-JP" altLang="en-US" dirty="0"/>
              <a:t>離散確率分布について学ぶ</a:t>
            </a:r>
            <a:endParaRPr lang="en-US" altLang="ja-JP" dirty="0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06BA058F-E2A2-1400-D4A6-569AA67B3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66593482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CC0194-9996-ED0C-B99C-5942546FAB1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09704AFC-17B0-9834-5117-153039D60E6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１：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二項分布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7AE30B9-0289-453F-783F-322E9518DF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3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734207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DEAF39C-E11E-48C0-8D49-6BF3020F15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5946E87-4C85-2CBD-D701-8AF49E297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kumimoji="1"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/>
                  <a:t>結果は「起こる」「起こらない」の二択</a:t>
                </a:r>
                <a:endParaRPr lang="en-US" altLang="ja-JP" dirty="0"/>
              </a:p>
              <a:p>
                <a:pPr lvl="1"/>
                <a:r>
                  <a:rPr kumimoji="1" lang="ja-JP" altLang="en-US" dirty="0">
                    <a:solidFill>
                      <a:schemeClr val="accent5"/>
                    </a:solidFill>
                  </a:rPr>
                  <a:t>試行</a:t>
                </a:r>
                <a:r>
                  <a:rPr kumimoji="1" lang="ja-JP" altLang="en-US" sz="1800" dirty="0"/>
                  <a:t>（ベルヌーイ試行）</a:t>
                </a:r>
                <a:r>
                  <a:rPr kumimoji="1" lang="ja-JP" altLang="en-US" dirty="0"/>
                  <a:t>を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回</a:t>
                </a:r>
                <a:r>
                  <a:rPr kumimoji="1" lang="ja-JP" altLang="en-US" dirty="0"/>
                  <a:t>行ったときの，</a:t>
                </a:r>
                <a:br>
                  <a:rPr kumimoji="1" lang="en-US" altLang="ja-JP" dirty="0"/>
                </a:br>
                <a:r>
                  <a:rPr kumimoji="1" lang="ja-JP" altLang="en-US" dirty="0">
                    <a:solidFill>
                      <a:schemeClr val="accent2"/>
                    </a:solidFill>
                  </a:rPr>
                  <a:t>「起こる」回数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を確率変数とする確率分布</a:t>
                </a:r>
                <a:endParaRPr kumimoji="1"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ある野球選手の打率は </a:t>
                </a:r>
                <a:r>
                  <a:rPr lang="en-US" altLang="ja-JP" dirty="0"/>
                  <a:t>3</a:t>
                </a:r>
                <a:r>
                  <a:rPr lang="ja-JP" altLang="en-US" dirty="0"/>
                  <a:t>割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分</a:t>
                </a:r>
                <a:r>
                  <a:rPr lang="ja-JP" altLang="en-US" sz="1800" dirty="0"/>
                  <a:t>（</a:t>
                </a:r>
                <a:r>
                  <a:rPr lang="en-US" altLang="ja-JP" sz="1800" dirty="0"/>
                  <a:t>0.32</a:t>
                </a:r>
                <a:r>
                  <a:rPr lang="ja-JP" altLang="en-US" sz="1800" dirty="0"/>
                  <a:t>）</a:t>
                </a:r>
                <a:r>
                  <a:rPr lang="ja-JP" altLang="en-US" dirty="0"/>
                  <a:t>である．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ja-JP" altLang="en-US" dirty="0"/>
                  <a:t>この選手が </a:t>
                </a:r>
                <a:r>
                  <a:rPr lang="en-US" altLang="ja-JP" dirty="0"/>
                  <a:t>5</a:t>
                </a:r>
                <a:r>
                  <a:rPr lang="ja-JP" altLang="en-US" dirty="0"/>
                  <a:t>回 打席に立つとき，</a:t>
                </a:r>
                <a:br>
                  <a:rPr lang="en-US" altLang="ja-JP" dirty="0"/>
                </a:br>
                <a:br>
                  <a:rPr lang="en-US" altLang="ja-JP" dirty="0"/>
                </a:br>
                <a:r>
                  <a:rPr lang="en-US" altLang="ja-JP" dirty="0"/>
                  <a:t>3</a:t>
                </a:r>
                <a:r>
                  <a:rPr lang="ja-JP" altLang="en-US" dirty="0"/>
                  <a:t>回ヒットを打つ 確率を求めたい</a:t>
                </a:r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89967FAD-6DCB-6505-7656-46215829273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9" name="グループ化 28">
            <a:extLst>
              <a:ext uri="{FF2B5EF4-FFF2-40B4-BE49-F238E27FC236}">
                <a16:creationId xmlns:a16="http://schemas.microsoft.com/office/drawing/2014/main" id="{DC73B378-C1A5-3B95-E6EE-999FBD73B523}"/>
              </a:ext>
            </a:extLst>
          </p:cNvPr>
          <p:cNvGrpSpPr/>
          <p:nvPr/>
        </p:nvGrpSpPr>
        <p:grpSpPr>
          <a:xfrm>
            <a:off x="3668233" y="3362143"/>
            <a:ext cx="4980663" cy="1103531"/>
            <a:chOff x="3668233" y="3362143"/>
            <a:chExt cx="4980663" cy="1103531"/>
          </a:xfrm>
        </p:grpSpPr>
        <p:sp>
          <p:nvSpPr>
            <p:cNvPr id="5" name="正方形/長方形 4">
              <a:extLst>
                <a:ext uri="{FF2B5EF4-FFF2-40B4-BE49-F238E27FC236}">
                  <a16:creationId xmlns:a16="http://schemas.microsoft.com/office/drawing/2014/main" id="{1B9BFCF7-604E-6A7E-7236-83F97A03F583}"/>
                </a:ext>
              </a:extLst>
            </p:cNvPr>
            <p:cNvSpPr/>
            <p:nvPr/>
          </p:nvSpPr>
          <p:spPr>
            <a:xfrm>
              <a:off x="3668233" y="4008474"/>
              <a:ext cx="1988288" cy="457200"/>
            </a:xfrm>
            <a:prstGeom prst="rect">
              <a:avLst/>
            </a:prstGeom>
            <a:noFill/>
            <a:ln w="28575">
              <a:solidFill>
                <a:srgbClr val="0070C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/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起こる確率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rgbClr val="0070C0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𝜋</m:t>
                      </m:r>
                    </m:oMath>
                  </a14:m>
                  <a:endParaRPr kumimoji="1" lang="en-US" altLang="ja-JP" dirty="0">
                    <a:solidFill>
                      <a:srgbClr val="0070C0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en-US" altLang="ja-JP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dirty="0">
                      <a:solidFill>
                        <a:srgbClr val="0070C0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回の打席で「打つ」確率</a:t>
                  </a:r>
                </a:p>
              </p:txBody>
            </p:sp>
          </mc:Choice>
          <mc:Fallback xmlns="">
            <p:sp>
              <p:nvSpPr>
                <p:cNvPr id="8" name="テキスト ボックス 7">
                  <a:extLst>
                    <a:ext uri="{FF2B5EF4-FFF2-40B4-BE49-F238E27FC236}">
                      <a16:creationId xmlns:a16="http://schemas.microsoft.com/office/drawing/2014/main" id="{C7852731-9D3B-F4C5-5EDF-DB22ED0C269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9650" y="3362143"/>
                  <a:ext cx="2629246" cy="646331"/>
                </a:xfrm>
                <a:prstGeom prst="rect">
                  <a:avLst/>
                </a:prstGeom>
                <a:blipFill>
                  <a:blip r:embed="rId3"/>
                  <a:stretch>
                    <a:fillRect l="-1852" t="-7547" r="-1620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0" name="直線コネクタ 9">
              <a:extLst>
                <a:ext uri="{FF2B5EF4-FFF2-40B4-BE49-F238E27FC236}">
                  <a16:creationId xmlns:a16="http://schemas.microsoft.com/office/drawing/2014/main" id="{4867279B-C9FD-F71F-883F-649E45711527}"/>
                </a:ext>
              </a:extLst>
            </p:cNvPr>
            <p:cNvCxnSpPr>
              <a:stCxn id="8" idx="1"/>
              <a:endCxn id="5" idx="0"/>
            </p:cNvCxnSpPr>
            <p:nvPr/>
          </p:nvCxnSpPr>
          <p:spPr>
            <a:xfrm flipH="1">
              <a:off x="4662377" y="3685309"/>
              <a:ext cx="1357273" cy="323165"/>
            </a:xfrm>
            <a:prstGeom prst="line">
              <a:avLst/>
            </a:prstGeom>
            <a:ln w="28575">
              <a:solidFill>
                <a:srgbClr val="0070C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8" name="グループ化 27">
            <a:extLst>
              <a:ext uri="{FF2B5EF4-FFF2-40B4-BE49-F238E27FC236}">
                <a16:creationId xmlns:a16="http://schemas.microsoft.com/office/drawing/2014/main" id="{5CCBAF1E-BEDE-9B9A-EC8E-B1FC97D38C7F}"/>
              </a:ext>
            </a:extLst>
          </p:cNvPr>
          <p:cNvGrpSpPr/>
          <p:nvPr/>
        </p:nvGrpSpPr>
        <p:grpSpPr>
          <a:xfrm>
            <a:off x="2189345" y="4756297"/>
            <a:ext cx="4211457" cy="973140"/>
            <a:chOff x="2189345" y="4756297"/>
            <a:chExt cx="4211457" cy="973140"/>
          </a:xfrm>
        </p:grpSpPr>
        <p:sp>
          <p:nvSpPr>
            <p:cNvPr id="6" name="正方形/長方形 5">
              <a:extLst>
                <a:ext uri="{FF2B5EF4-FFF2-40B4-BE49-F238E27FC236}">
                  <a16:creationId xmlns:a16="http://schemas.microsoft.com/office/drawing/2014/main" id="{DEEB29A1-6073-F50D-538B-E1308D11B3F2}"/>
                </a:ext>
              </a:extLst>
            </p:cNvPr>
            <p:cNvSpPr/>
            <p:nvPr/>
          </p:nvSpPr>
          <p:spPr>
            <a:xfrm>
              <a:off x="2189345" y="4756297"/>
              <a:ext cx="638916" cy="457200"/>
            </a:xfrm>
            <a:prstGeom prst="rect">
              <a:avLst/>
            </a:prstGeom>
            <a:noFill/>
            <a:ln w="28575">
              <a:solidFill>
                <a:schemeClr val="accent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/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試行回数</a:t>
                  </a:r>
                  <a14:m>
                    <m:oMath xmlns:m="http://schemas.openxmlformats.org/officeDocument/2006/math">
                      <m:r>
                        <a:rPr kumimoji="1"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  <a:ea typeface="BIZ UDPゴシック" panose="020B0400000000000000" pitchFamily="50" charset="-128"/>
                        </a:rPr>
                        <m:t>𝑛</m:t>
                      </m:r>
                    </m:oMath>
                  </a14:m>
                  <a:endParaRPr kumimoji="1" lang="en-US" altLang="ja-JP" dirty="0">
                    <a:solidFill>
                      <a:schemeClr val="accent5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dirty="0">
                      <a:solidFill>
                        <a:schemeClr val="accent5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チャンスの数</a:t>
                  </a:r>
                </a:p>
              </p:txBody>
            </p:sp>
          </mc:Choice>
          <mc:Fallback xmlns="">
            <p:sp>
              <p:nvSpPr>
                <p:cNvPr id="11" name="テキスト ボックス 10">
                  <a:extLst>
                    <a:ext uri="{FF2B5EF4-FFF2-40B4-BE49-F238E27FC236}">
                      <a16:creationId xmlns:a16="http://schemas.microsoft.com/office/drawing/2014/main" id="{B1DD501E-0333-9BDF-8A8E-84DA386761DB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917704" y="5083106"/>
                  <a:ext cx="1483098" cy="646331"/>
                </a:xfrm>
                <a:prstGeom prst="rect">
                  <a:avLst/>
                </a:prstGeom>
                <a:blipFill>
                  <a:blip r:embed="rId4"/>
                  <a:stretch>
                    <a:fillRect l="-3704" t="-7547" r="-3704" b="-15094"/>
                  </a:stretch>
                </a:blipFill>
              </p:spPr>
              <p:txBody>
                <a:bodyPr/>
                <a:lstStyle/>
                <a:p>
                  <a:r>
                    <a:rPr lang="ja-JP" altLang="en-US">
                      <a:noFill/>
                    </a:rPr>
                    <a:t> </a:t>
                  </a:r>
                </a:p>
              </p:txBody>
            </p:sp>
          </mc:Fallback>
        </mc:AlternateContent>
        <p:cxnSp>
          <p:nvCxnSpPr>
            <p:cNvPr id="12" name="直線コネクタ 11">
              <a:extLst>
                <a:ext uri="{FF2B5EF4-FFF2-40B4-BE49-F238E27FC236}">
                  <a16:creationId xmlns:a16="http://schemas.microsoft.com/office/drawing/2014/main" id="{834E9053-0676-A955-F47D-FDFDFDE59EF6}"/>
                </a:ext>
              </a:extLst>
            </p:cNvPr>
            <p:cNvCxnSpPr>
              <a:cxnSpLocks/>
              <a:stCxn id="11" idx="1"/>
            </p:cNvCxnSpPr>
            <p:nvPr/>
          </p:nvCxnSpPr>
          <p:spPr>
            <a:xfrm flipH="1" flipV="1">
              <a:off x="2828261" y="5213497"/>
              <a:ext cx="2089443" cy="192775"/>
            </a:xfrm>
            <a:prstGeom prst="line">
              <a:avLst/>
            </a:prstGeom>
            <a:ln w="28575">
              <a:solidFill>
                <a:schemeClr val="accent5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27" name="グループ化 26">
            <a:extLst>
              <a:ext uri="{FF2B5EF4-FFF2-40B4-BE49-F238E27FC236}">
                <a16:creationId xmlns:a16="http://schemas.microsoft.com/office/drawing/2014/main" id="{6D19F055-1DDD-A294-D922-C0155F933DBD}"/>
              </a:ext>
            </a:extLst>
          </p:cNvPr>
          <p:cNvGrpSpPr/>
          <p:nvPr/>
        </p:nvGrpSpPr>
        <p:grpSpPr>
          <a:xfrm>
            <a:off x="789392" y="5467546"/>
            <a:ext cx="7374173" cy="1348268"/>
            <a:chOff x="789392" y="5467546"/>
            <a:chExt cx="7374173" cy="1348268"/>
          </a:xfrm>
        </p:grpSpPr>
        <p:sp>
          <p:nvSpPr>
            <p:cNvPr id="7" name="正方形/長方形 6">
              <a:extLst>
                <a:ext uri="{FF2B5EF4-FFF2-40B4-BE49-F238E27FC236}">
                  <a16:creationId xmlns:a16="http://schemas.microsoft.com/office/drawing/2014/main" id="{45658168-A733-E104-547B-F4610916FAD5}"/>
                </a:ext>
              </a:extLst>
            </p:cNvPr>
            <p:cNvSpPr/>
            <p:nvPr/>
          </p:nvSpPr>
          <p:spPr>
            <a:xfrm>
              <a:off x="789392" y="5467546"/>
              <a:ext cx="1953808" cy="457200"/>
            </a:xfrm>
            <a:prstGeom prst="rect">
              <a:avLst/>
            </a:prstGeom>
            <a:noFill/>
            <a:ln w="28575">
              <a:solidFill>
                <a:schemeClr val="accent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grpSp>
          <p:nvGrpSpPr>
            <p:cNvPr id="26" name="グループ化 25">
              <a:extLst>
                <a:ext uri="{FF2B5EF4-FFF2-40B4-BE49-F238E27FC236}">
                  <a16:creationId xmlns:a16="http://schemas.microsoft.com/office/drawing/2014/main" id="{9E17342C-689F-45C6-CD66-031AB5F92167}"/>
                </a:ext>
              </a:extLst>
            </p:cNvPr>
            <p:cNvGrpSpPr/>
            <p:nvPr/>
          </p:nvGrpSpPr>
          <p:grpSpPr>
            <a:xfrm>
              <a:off x="1766296" y="5861707"/>
              <a:ext cx="6397269" cy="954107"/>
              <a:chOff x="1766296" y="5861707"/>
              <a:chExt cx="6397269" cy="954107"/>
            </a:xfrm>
          </p:grpSpPr>
          <p:cxnSp>
            <p:nvCxnSpPr>
              <p:cNvPr id="16" name="直線コネクタ 15">
                <a:extLst>
                  <a:ext uri="{FF2B5EF4-FFF2-40B4-BE49-F238E27FC236}">
                    <a16:creationId xmlns:a16="http://schemas.microsoft.com/office/drawing/2014/main" id="{1B26D5B9-AB3F-82AD-DE16-E6E42D9654CE}"/>
                  </a:ext>
                </a:extLst>
              </p:cNvPr>
              <p:cNvCxnSpPr>
                <a:cxnSpLocks/>
                <a:stCxn id="17" idx="1"/>
                <a:endCxn id="7" idx="2"/>
              </p:cNvCxnSpPr>
              <p:nvPr/>
            </p:nvCxnSpPr>
            <p:spPr>
              <a:xfrm flipH="1" flipV="1">
                <a:off x="1766296" y="5924746"/>
                <a:ext cx="430606" cy="414015"/>
              </a:xfrm>
              <a:prstGeom prst="line">
                <a:avLst/>
              </a:prstGeom>
              <a:ln w="28575">
                <a:solidFill>
                  <a:schemeClr val="accent2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25" name="グループ化 24">
                <a:extLst>
                  <a:ext uri="{FF2B5EF4-FFF2-40B4-BE49-F238E27FC236}">
                    <a16:creationId xmlns:a16="http://schemas.microsoft.com/office/drawing/2014/main" id="{5966F12E-1196-AC11-B673-F319E2554993}"/>
                  </a:ext>
                </a:extLst>
              </p:cNvPr>
              <p:cNvGrpSpPr/>
              <p:nvPr/>
            </p:nvGrpSpPr>
            <p:grpSpPr>
              <a:xfrm>
                <a:off x="2196902" y="5861707"/>
                <a:ext cx="5966663" cy="954107"/>
                <a:chOff x="2196902" y="5861707"/>
                <a:chExt cx="5966663" cy="954107"/>
              </a:xfrm>
            </p:grpSpPr>
            <mc:AlternateContent xmlns:mc="http://schemas.openxmlformats.org/markup-compatibility/2006" xmlns:a14="http://schemas.microsoft.com/office/drawing/2010/main">
              <mc:Choice Requires="a14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/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noFill/>
                  </p:spPr>
                  <p:txBody>
                    <a:bodyPr wrap="none" rtlCol="0">
                      <a:spAutoFit/>
                    </a:bodyPr>
                    <a:lstStyle/>
                    <a:p>
                      <a:r>
                        <a:rPr kumimoji="1" lang="ja-JP" altLang="en-US" dirty="0">
                          <a:solidFill>
                            <a:schemeClr val="accent2"/>
                          </a:solidFill>
                          <a:latin typeface="BIZ UDPゴシック" panose="020B0400000000000000" pitchFamily="50" charset="-128"/>
                          <a:ea typeface="BIZ UDPゴシック" panose="020B0400000000000000" pitchFamily="50" charset="-128"/>
                        </a:rPr>
                        <a:t>確率変数</a:t>
                      </a:r>
                      <a14:m>
                        <m:oMath xmlns:m="http://schemas.openxmlformats.org/officeDocument/2006/math">
                          <m:r>
                            <a:rPr kumimoji="1" lang="en-US" altLang="ja-JP" b="0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  <a:ea typeface="BIZ UDPゴシック" panose="020B0400000000000000" pitchFamily="50" charset="-128"/>
                            </a:rPr>
                            <m:t>𝑋</m:t>
                          </m:r>
                        </m:oMath>
                      </a14:m>
                      <a:endParaRPr kumimoji="1" lang="en-US" altLang="ja-JP" dirty="0">
                        <a:solidFill>
                          <a:schemeClr val="accent2"/>
                        </a:solidFill>
                        <a:latin typeface="BIZ UDPゴシック" panose="020B0400000000000000" pitchFamily="50" charset="-128"/>
                        <a:ea typeface="BIZ UDPゴシック" panose="020B0400000000000000" pitchFamily="50" charset="-128"/>
                      </a:endParaRPr>
                    </a:p>
                  </p:txBody>
                </p:sp>
              </mc:Choice>
              <mc:Fallback xmlns="">
                <p:sp>
                  <p:nvSpPr>
                    <p:cNvPr id="17" name="テキスト ボックス 16">
                      <a:extLst>
                        <a:ext uri="{FF2B5EF4-FFF2-40B4-BE49-F238E27FC236}">
                          <a16:creationId xmlns:a16="http://schemas.microsoft.com/office/drawing/2014/main" id="{392AAA7F-47E7-E61E-34DB-31520F0ED472}"/>
                        </a:ext>
                      </a:extLst>
                    </p:cNvPr>
                    <p:cNvSpPr txBox="1">
                      <a:spLocks noRot="1" noChangeAspect="1" noMove="1" noResize="1" noEditPoints="1" noAdjustHandles="1" noChangeArrowheads="1" noChangeShapeType="1" noTextEdit="1"/>
                    </p:cNvSpPr>
                    <p:nvPr/>
                  </p:nvSpPr>
                  <p:spPr>
                    <a:xfrm>
                      <a:off x="2196902" y="6154095"/>
                      <a:ext cx="1262718" cy="369332"/>
                    </a:xfrm>
                    <a:prstGeom prst="rect">
                      <a:avLst/>
                    </a:prstGeom>
                    <a:blipFill>
                      <a:blip r:embed="rId5"/>
                      <a:stretch>
                        <a:fillRect l="-3846" t="-13333" b="-23333"/>
                      </a:stretch>
                    </a:blipFill>
                  </p:spPr>
                  <p:txBody>
                    <a:bodyPr/>
                    <a:lstStyle/>
                    <a:p>
                      <a:r>
                        <a:rPr lang="ja-JP" altLang="en-US">
                          <a:noFill/>
                        </a:rPr>
                        <a:t> </a:t>
                      </a:r>
                    </a:p>
                  </p:txBody>
                </p:sp>
              </mc:Fallback>
            </mc:AlternateContent>
            <p:sp>
              <p:nvSpPr>
                <p:cNvPr id="23" name="テキスト ボックス 22">
                  <a:extLst>
                    <a:ext uri="{FF2B5EF4-FFF2-40B4-BE49-F238E27FC236}">
                      <a16:creationId xmlns:a16="http://schemas.microsoft.com/office/drawing/2014/main" id="{9A5C527F-38E6-5DDD-DB0C-4DEC5959F417}"/>
                    </a:ext>
                  </a:extLst>
                </p:cNvPr>
                <p:cNvSpPr txBox="1"/>
                <p:nvPr/>
              </p:nvSpPr>
              <p:spPr>
                <a:xfrm>
                  <a:off x="4013070" y="5861707"/>
                  <a:ext cx="4150495" cy="954107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結果は「打つ」「打たない」の二択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打席で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回のヒットはない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　・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1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回目の打席の結果は，</a:t>
                  </a:r>
                  <a:r>
                    <a:rPr kumimoji="1" lang="en-US" altLang="ja-JP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2</a:t>
                  </a:r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回目の結果に関係ない</a:t>
                  </a:r>
                  <a:endParaRPr kumimoji="1" lang="en-US" altLang="ja-JP" sz="1400" dirty="0">
                    <a:solidFill>
                      <a:schemeClr val="accent2"/>
                    </a:solidFill>
                    <a:latin typeface="BIZ UDPゴシック" panose="020B0400000000000000" pitchFamily="50" charset="-128"/>
                    <a:ea typeface="BIZ UDPゴシック" panose="020B0400000000000000" pitchFamily="50" charset="-128"/>
                  </a:endParaRPr>
                </a:p>
                <a:p>
                  <a:r>
                    <a:rPr kumimoji="1" lang="ja-JP" altLang="en-US" sz="1400" dirty="0">
                      <a:solidFill>
                        <a:schemeClr val="accent2"/>
                      </a:solidFill>
                      <a:latin typeface="BIZ UDPゴシック" panose="020B0400000000000000" pitchFamily="50" charset="-128"/>
                      <a:ea typeface="BIZ UDPゴシック" panose="020B0400000000000000" pitchFamily="50" charset="-128"/>
                    </a:rPr>
                    <a:t>よって，各試行は独立である</a:t>
                  </a:r>
                </a:p>
              </p:txBody>
            </p:sp>
            <p:sp>
              <p:nvSpPr>
                <p:cNvPr id="24" name="左中かっこ 23">
                  <a:extLst>
                    <a:ext uri="{FF2B5EF4-FFF2-40B4-BE49-F238E27FC236}">
                      <a16:creationId xmlns:a16="http://schemas.microsoft.com/office/drawing/2014/main" id="{E00B2E7D-F350-96AF-D8F1-8D364DD8CFCC}"/>
                    </a:ext>
                  </a:extLst>
                </p:cNvPr>
                <p:cNvSpPr/>
                <p:nvPr/>
              </p:nvSpPr>
              <p:spPr>
                <a:xfrm>
                  <a:off x="3400616" y="5924746"/>
                  <a:ext cx="612454" cy="891068"/>
                </a:xfrm>
                <a:prstGeom prst="leftBrace">
                  <a:avLst/>
                </a:prstGeom>
                <a:ln>
                  <a:solidFill>
                    <a:schemeClr val="accent2"/>
                  </a:solidFill>
                </a:ln>
              </p:spPr>
              <p:style>
                <a:lnRef idx="1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  <p:txBody>
                <a:bodyPr rtlCol="0" anchor="ctr"/>
                <a:lstStyle/>
                <a:p>
                  <a:pPr algn="ctr"/>
                  <a:endParaRPr kumimoji="1" lang="ja-JP" altLang="en-US"/>
                </a:p>
              </p:txBody>
            </p:sp>
          </p:grpSp>
        </p:grpSp>
      </p:grpSp>
    </p:spTree>
    <p:extLst>
      <p:ext uri="{BB962C8B-B14F-4D97-AF65-F5344CB8AC3E}">
        <p14:creationId xmlns:p14="http://schemas.microsoft.com/office/powerpoint/2010/main" val="837063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4FA590-2D3A-B3EA-370E-B8D723EC1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DEFF180-DCBB-C2F3-4A0E-40FF21CF52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打率の事例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9CDBD7DA-67A5-54A4-42FC-17C358FC02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文章より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rgbClr val="0070C0"/>
                    </a:solidFill>
                  </a:rPr>
                  <a:t>起こる確率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b="0" i="1" smtClean="0">
                        <a:solidFill>
                          <a:srgbClr val="0070C0"/>
                        </a:solidFill>
                        <a:latin typeface="Cambria Math" panose="02040503050406030204" pitchFamily="18" charset="0"/>
                      </a:rPr>
                      <m:t>=0.32</m:t>
                    </m:r>
                  </m:oMath>
                </a14:m>
                <a:endParaRPr lang="en-US" altLang="ja-JP" dirty="0">
                  <a:solidFill>
                    <a:srgbClr val="0070C0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accent5"/>
                    </a:solidFill>
                  </a:rPr>
                  <a:t>試行回数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=5</m:t>
                    </m:r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>
                    <a:solidFill>
                      <a:schemeClr val="accent2"/>
                    </a:solidFill>
                  </a:rPr>
                  <a:t>「起こる」回数 </a:t>
                </a:r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accent2"/>
                        </a:solidFill>
                        <a:latin typeface="Cambria Math" panose="02040503050406030204" pitchFamily="18" charset="0"/>
                      </a:rPr>
                      <m:t>=3</m:t>
                    </m:r>
                  </m:oMath>
                </a14:m>
                <a:endParaRPr lang="en-US" altLang="ja-JP" dirty="0"/>
              </a:p>
              <a:p>
                <a:endParaRPr lang="en-US" altLang="ja-JP" dirty="0"/>
              </a:p>
              <a:p>
                <a:r>
                  <a:rPr kumimoji="1" lang="ja-JP" altLang="en-US" dirty="0"/>
                  <a:t>二項分布の確率質量関数に代入して計算する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kumimoji="1"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=3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0.32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0.32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0.68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=0.151519</m:t>
                    </m:r>
                  </m:oMath>
                </a14:m>
                <a:endParaRPr lang="ja-JP" altLang="en-US" dirty="0"/>
              </a:p>
              <a:p>
                <a:pPr lvl="1"/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8DAA89-E9BC-1B50-5B0A-15F6C8F561C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C2B8821-0334-C4BB-BB8D-D0BAB516FF7E}"/>
              </a:ext>
            </a:extLst>
          </p:cNvPr>
          <p:cNvSpPr/>
          <p:nvPr/>
        </p:nvSpPr>
        <p:spPr>
          <a:xfrm>
            <a:off x="2539389" y="4767724"/>
            <a:ext cx="3255354" cy="506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正方形/長方形 5">
            <a:extLst>
              <a:ext uri="{FF2B5EF4-FFF2-40B4-BE49-F238E27FC236}">
                <a16:creationId xmlns:a16="http://schemas.microsoft.com/office/drawing/2014/main" id="{F5ACBF3D-9368-2892-79A9-39DC10856E8A}"/>
              </a:ext>
            </a:extLst>
          </p:cNvPr>
          <p:cNvSpPr/>
          <p:nvPr/>
        </p:nvSpPr>
        <p:spPr>
          <a:xfrm>
            <a:off x="522746" y="5273749"/>
            <a:ext cx="5271997" cy="506025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426222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4C02335-9718-A20F-D284-7612E30FB9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11B7EA1-2C4A-0D15-EABD-3C4EC85F54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6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ja-JP" altLang="en-US" i="1">
                                <a:latin typeface="Cambria Math" panose="02040503050406030204" pitchFamily="18" charset="0"/>
                              </a:rPr>
                              <m:t>回起こる</m:t>
                            </m:r>
                          </m:e>
                        </m:d>
                      </m:e>
                    </m:func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br>
                  <a:rPr lang="en-US" altLang="ja-JP" i="1" dirty="0"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回中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組み合わせ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起こる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  <m:r>
                      <a:rPr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d>
                      <m:dPr>
                        <m:ctrlPr>
                          <a:rPr lang="ja-JP" alt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らない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確率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の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起こらない</m:t>
                        </m:r>
                        <m:r>
                          <a:rPr lang="ja-JP" altLang="en-US" i="1" smtClean="0">
                            <a:latin typeface="Cambria Math" panose="02040503050406030204" pitchFamily="18" charset="0"/>
                          </a:rPr>
                          <m:t>回数</m:t>
                        </m:r>
                        <m:r>
                          <a:rPr lang="ja-JP" altLang="en-US" i="1">
                            <a:latin typeface="Cambria Math" panose="02040503050406030204" pitchFamily="18" charset="0"/>
                          </a:rPr>
                          <m:t>乗</m:t>
                        </m:r>
                      </m:e>
                    </m:d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9E141BC-AABA-A5D6-D816-521E20E4735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1015AC54-9553-F939-7061-CC2B9A4E7150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230365189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0D1258-DC77-DB92-4E71-71D4AE230F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1A5ECDC-534B-6236-6895-48FCD57746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BF0B1E8-7D71-6725-D08C-04B2B639B1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左辺：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</m:oMath>
                </a14:m>
                <a:endParaRPr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lang="ja-JP" altLang="en-US" dirty="0"/>
                  <a:t>が，値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lang="ja-JP" altLang="en-US" dirty="0"/>
                  <a:t>をとる確率</a:t>
                </a: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2514376-E543-56E8-9A81-78E7C2329C0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491360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C28548-31D5-A5C6-1294-D1D0AEE72D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58E23AF-B63D-DDC6-BDF2-6D3A4D229A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E3065216-A703-6B36-C7A4-DDEC63F6CE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8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num>
                      <m:den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回中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回起こる組み合わせ</a:t>
                </a:r>
                <a:endParaRPr kumimoji="1" lang="en-US" altLang="ja-JP" dirty="0"/>
              </a:p>
              <a:p>
                <a:r>
                  <a:rPr kumimoji="1" lang="ja-JP" altLang="en-US" dirty="0"/>
                  <a:t>組み合わせ　</a:t>
                </a:r>
                <a:r>
                  <a:rPr kumimoji="1" lang="en-US" altLang="ja-JP" dirty="0">
                    <a:solidFill>
                      <a:schemeClr val="accent2"/>
                    </a:solidFill>
                  </a:rPr>
                  <a:t>combination</a:t>
                </a:r>
              </a:p>
              <a:p>
                <a:pPr lvl="1"/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</m:sub>
                    </m:sSub>
                    <m:sSub>
                      <m:sSub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5!</m:t>
                        </m:r>
                      </m:num>
                      <m:den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3!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</a:rPr>
                              <m:t>5−3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×4×</m:t>
                        </m:r>
                        <m:r>
                          <a:rPr kumimoji="1" lang="en-US" altLang="ja-JP" b="0" i="1" smtClean="0">
                            <a:highlight>
                              <a:srgbClr val="FFFF00"/>
                            </a:highlight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3×2×1</m:t>
                        </m:r>
                      </m:num>
                      <m:den>
                        <m:d>
                          <m:dPr>
                            <m:ctrlP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kumimoji="1" lang="en-US" altLang="ja-JP" b="0" i="1" smtClean="0">
                                <a:highlight>
                                  <a:srgbClr val="FFFF00"/>
                                </a:highlight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×2×1</m:t>
                            </m:r>
                          </m:e>
                        </m:d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×</m:t>
                        </m:r>
                        <m:d>
                          <m:dPr>
                            <m:ctrlP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2×1</m:t>
                            </m:r>
                          </m:e>
                        </m:d>
                      </m:den>
                    </m:f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=10</m:t>
                    </m:r>
                  </m:oMath>
                </a14:m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!</m:t>
                    </m:r>
                  </m:oMath>
                </a14:m>
                <a:r>
                  <a:rPr kumimoji="1" lang="ja-JP" altLang="en-US" dirty="0"/>
                  <a:t>　：階乗，</a:t>
                </a:r>
                <a:r>
                  <a:rPr kumimoji="1" lang="en-US" altLang="ja-JP" dirty="0"/>
                  <a:t>1</a:t>
                </a:r>
                <a:r>
                  <a:rPr kumimoji="1" lang="ja-JP" altLang="en-US" dirty="0"/>
                  <a:t>から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までの積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0!=1</m:t>
                    </m:r>
                  </m:oMath>
                </a14:m>
                <a:endParaRPr kumimoji="1" lang="ja-JP" altLang="en-US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4A19B79-517D-BDCF-1EEA-02E9916F038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62072611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A49C4D-9A88-327E-0D7B-F3EB5FDA380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2D9746-FA82-32E7-AFDC-A9DA52830D3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二項分布の確率③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6638C128-B739-42EC-2133-47697AF1D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9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二項分布の確率質量関数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func>
                        <m:funcPr>
                          <m:ctrlP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r>
                            <a:rPr kumimoji="1" lang="en-US" altLang="ja-JP" sz="3600" b="1" i="0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𝐏𝐫</m:t>
                          </m:r>
                        </m:fName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𝑿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tx2"/>
                                  </a:solidFill>
                                  <a:latin typeface="Cambria Math" panose="02040503050406030204" pitchFamily="18" charset="0"/>
                                </a:rPr>
                                <m:t>𝒙</m:t>
                              </m:r>
                            </m:e>
                          </m:d>
                        </m:e>
                      </m:func>
                      <m:r>
                        <a:rPr kumimoji="1" lang="en-US" altLang="ja-JP" sz="3600" b="1" i="1" smtClean="0">
                          <a:solidFill>
                            <a:schemeClr val="tx2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</m:sub>
                      </m:sSub>
                      <m:sSub>
                        <m:sSubPr>
                          <m:ctrlP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𝑪</m:t>
                          </m:r>
                        </m:e>
                        <m:sub>
                          <m:r>
                            <a:rPr kumimoji="1" lang="en-US" altLang="ja-JP" sz="3600" b="1" i="1" smtClean="0">
                              <a:solidFill>
                                <a:schemeClr val="tx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b>
                      </m:sSub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  <m:sSup>
                        <m:sSupPr>
                          <m:ctrlP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d>
                            <m:dPr>
                              <m:ctrlP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𝟏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kumimoji="1" lang="en-US" altLang="ja-JP" sz="3600" b="1" i="1" smtClean="0">
                                  <a:solidFill>
                                    <a:schemeClr val="accent2"/>
                                  </a:solidFill>
                                  <a:latin typeface="Cambria Math" panose="02040503050406030204" pitchFamily="18" charset="0"/>
                                </a:rPr>
                                <m:t>𝝅</m:t>
                              </m:r>
                            </m:e>
                          </m:d>
                        </m:e>
                        <m:sup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𝒏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kumimoji="1" lang="en-US" altLang="ja-JP" sz="3600" b="1" i="1" smtClean="0">
                              <a:solidFill>
                                <a:schemeClr val="accent2"/>
                              </a:solidFill>
                              <a:latin typeface="Cambria Math" panose="02040503050406030204" pitchFamily="18" charset="0"/>
                            </a:rPr>
                            <m:t>𝒙</m:t>
                          </m:r>
                        </m:sup>
                      </m:sSup>
                    </m:oMath>
                  </m:oMathPara>
                </a14:m>
                <a:endParaRPr kumimoji="1" lang="en-US" altLang="ja-JP" sz="3600" b="1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kumimoji="1" lang="ja-JP" altLang="en-US" b="0" dirty="0"/>
                  <a:t>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の，起こる回数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endParaRPr kumimoji="1" lang="en-US" altLang="ja-JP" dirty="0"/>
              </a:p>
              <a:p>
                <a:r>
                  <a:rPr kumimoji="1" lang="ja-JP" altLang="en-US" dirty="0"/>
                  <a:t>第</a:t>
                </a:r>
                <a:r>
                  <a:rPr kumimoji="1" lang="en-US" altLang="ja-JP" dirty="0"/>
                  <a:t>3</a:t>
                </a:r>
                <a:r>
                  <a:rPr kumimoji="1" lang="ja-JP" altLang="en-US" dirty="0"/>
                  <a:t>項：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b="0" i="1" smtClean="0">
                                <a:solidFill>
                                  <a:schemeClr val="accent2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solidFill>
                              <a:schemeClr val="accent2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起こらない確率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の，起こらない回数</a:t>
                </a:r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kumimoji="1" lang="ja-JP" altLang="en-US" dirty="0"/>
                  <a:t>乗</a:t>
                </a:r>
                <a:endParaRPr kumimoji="1" lang="en-US" altLang="ja-JP" dirty="0"/>
              </a:p>
              <a:p>
                <a:pPr lvl="1"/>
                <a:r>
                  <a:rPr kumimoji="1" lang="ja-JP" altLang="en-US" dirty="0"/>
                  <a:t>「起こらない」＝「起こる」の余事象</a:t>
                </a:r>
                <a:endParaRPr kumimoji="1" lang="en-US" altLang="ja-JP" dirty="0"/>
              </a:p>
              <a:p>
                <a:pPr lvl="2"/>
                <a:r>
                  <a:rPr lang="en-US" altLang="ja-JP" dirty="0"/>
                  <a:t>100%</a:t>
                </a:r>
                <a:r>
                  <a:rPr lang="ja-JP" altLang="en-US" sz="1600" dirty="0"/>
                  <a:t>（</a:t>
                </a:r>
                <a:r>
                  <a:rPr lang="en-US" altLang="ja-JP" sz="1600" dirty="0"/>
                  <a:t>=1</a:t>
                </a:r>
                <a:r>
                  <a:rPr lang="ja-JP" altLang="en-US" sz="1600" dirty="0"/>
                  <a:t>）</a:t>
                </a:r>
                <a:r>
                  <a:rPr lang="ja-JP" altLang="en-US" dirty="0"/>
                  <a:t>から「起こる確率」を引けば良い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44E54ED-576C-3299-93ED-42706DF6F8A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497784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7E4A0508-3F28-32D2-EF00-3E5805A7F1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二項分布の確率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DFE41C8-3254-0F37-8458-E3A0AEEA3A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二項分布の確率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①試行回数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/>
                  <a:t> と，②起こる確率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/>
                  <a:t> がわかれば確率が計算できる</a:t>
                </a:r>
                <a:endParaRPr kumimoji="1" lang="en-US" altLang="ja-JP" dirty="0"/>
              </a:p>
              <a:p>
                <a:endParaRPr kumimoji="1" lang="en-US" altLang="ja-JP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dirty="0"/>
              </a:p>
              <a:p>
                <a:pPr lvl="1"/>
                <a:r>
                  <a:rPr lang="ja-JP" altLang="en-US" dirty="0"/>
                  <a:t>確率変数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𝑋</m:t>
                    </m:r>
                  </m:oMath>
                </a14:m>
                <a:r>
                  <a:rPr kumimoji="1" lang="ja-JP" altLang="en-US" dirty="0"/>
                  <a:t>は，二項分布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, 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r>
                  <a:rPr kumimoji="1" lang="ja-JP" altLang="en-US" dirty="0"/>
                  <a:t>にしたがう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~</m:t>
                    </m:r>
                  </m:oMath>
                </a14:m>
                <a:r>
                  <a:rPr kumimoji="1" lang="ja-JP" altLang="en-US" dirty="0"/>
                  <a:t>は「したがう」の意味</a:t>
                </a:r>
                <a:endParaRPr kumimoji="1" lang="en-US" altLang="ja-JP" dirty="0"/>
              </a:p>
              <a:p>
                <a:pPr lvl="2"/>
                <a14:m>
                  <m:oMath xmlns:m="http://schemas.openxmlformats.org/officeDocument/2006/math">
                    <m:r>
                      <a:rPr kumimoji="1" lang="en-US" altLang="ja-JP" b="0" i="1" smtClean="0">
                        <a:latin typeface="Cambria Math" panose="02040503050406030204" pitchFamily="18" charset="0"/>
                      </a:rPr>
                      <m:t>𝐵</m:t>
                    </m:r>
                  </m:oMath>
                </a14:m>
                <a:r>
                  <a:rPr kumimoji="1" lang="ja-JP" altLang="en-US" dirty="0"/>
                  <a:t>は「二項分布（</a:t>
                </a:r>
                <a:r>
                  <a:rPr kumimoji="1" lang="en-US" altLang="ja-JP" dirty="0"/>
                  <a:t>Binomial dist.</a:t>
                </a:r>
                <a:r>
                  <a:rPr kumimoji="1" lang="ja-JP" altLang="en-US" dirty="0"/>
                  <a:t>）」の意味</a:t>
                </a:r>
                <a:endParaRPr kumimoji="1"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B688E62E-1BBF-E6B7-1B24-05A9F9BCD66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4084518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28CD20C-B7CB-B4DB-46BB-CE77AB9C02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7584221E-2CC3-28A5-ABA0-AD80ECFEB0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8782493" cy="1368850"/>
          </a:xfrm>
        </p:spPr>
        <p:txBody>
          <a:bodyPr>
            <a:normAutofit/>
          </a:bodyPr>
          <a:lstStyle/>
          <a:p>
            <a:r>
              <a:rPr kumimoji="1" lang="ja-JP" altLang="en-US" dirty="0"/>
              <a:t>２：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確率分布が二項分布に従うときの期待値と分散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1D85B6-775D-D499-0CEE-FD2804A6FF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11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7836240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C220EF-A2F3-1159-202D-2DDC7F9EB9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6AA28D6-E888-6925-9879-21A2DB6A03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二項分布の期待値と分散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91D5F53-B640-7669-70B5-4B319DE771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kumimoji="1" lang="ja-JP" altLang="en-US" dirty="0"/>
                  <a:t>二項分布の期待値</a:t>
                </a:r>
                <a:endParaRPr kumimoji="1"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kumimoji="1"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kumimoji="1"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sz="3600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二項分布の分散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sz="3600" b="1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  <m:d>
                        <m:dPr>
                          <m:ctrlP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𝟏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ja-JP" sz="3600" b="1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𝝅</m:t>
                          </m:r>
                        </m:e>
                      </m:d>
                    </m:oMath>
                  </m:oMathPara>
                </a14:m>
                <a:endParaRPr lang="en-US" altLang="ja-JP" sz="3600" b="1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56151246-74E4-24CF-16AA-5B22AD30FB40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0FA5BDB5-7E0C-212C-D71D-971B2D3E1777}"/>
              </a:ext>
            </a:extLst>
          </p:cNvPr>
          <p:cNvSpPr/>
          <p:nvPr/>
        </p:nvSpPr>
        <p:spPr>
          <a:xfrm>
            <a:off x="0" y="0"/>
            <a:ext cx="1107440" cy="810704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2800" b="1" dirty="0">
                <a:latin typeface="HG丸ｺﾞｼｯｸM-PRO" panose="020F0600000000000000" pitchFamily="50" charset="-128"/>
                <a:ea typeface="HG丸ｺﾞｼｯｸM-PRO" panose="020F0600000000000000" pitchFamily="50" charset="-128"/>
              </a:rPr>
              <a:t>重要</a:t>
            </a:r>
          </a:p>
        </p:txBody>
      </p:sp>
    </p:spTree>
    <p:extLst>
      <p:ext uri="{BB962C8B-B14F-4D97-AF65-F5344CB8AC3E}">
        <p14:creationId xmlns:p14="http://schemas.microsoft.com/office/powerpoint/2010/main" val="388954105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C6BD3A1-EB6A-92E7-E725-8E21E1D74A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二項分布の期待値の導出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F7F2DB42-60E4-EE11-A016-02199486E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13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unc>
                          <m:funcPr>
                            <m:ctrlPr>
                              <a:rPr lang="en-US" altLang="ja-JP" sz="200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altLang="ja-JP" sz="200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f>
                          <m:f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lang="ja-JP" altLang="en-US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kumimoji="1" lang="en-US" altLang="ja-JP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kumimoji="1" lang="en-US" altLang="ja-JP" sz="1600" b="0" i="1" smtClean="0">
                        <a:latin typeface="Cambria Math" panose="02040503050406030204" pitchFamily="18" charset="0"/>
                      </a:rPr>
                      <m:t>−1</m:t>
                    </m:r>
                  </m:oMath>
                </a14:m>
                <a:r>
                  <a:rPr kumimoji="1" lang="ja-JP" altLang="en-US" sz="1600" dirty="0"/>
                  <a:t>とおくと</a:t>
                </a:r>
                <a:endParaRPr kumimoji="1"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d>
                                  <m:dPr>
                                    <m:ctrlP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  <m:r>
                                      <a:rPr lang="en-US" altLang="ja-JP" sz="2000" b="0" i="1" smtClean="0">
                                        <a:latin typeface="Cambria Math" panose="02040503050406030204" pitchFamily="18" charset="0"/>
                                      </a:rPr>
                                      <m:t>−1</m:t>
                                    </m:r>
                                  </m:e>
                                </m:d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′! 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′=0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−1</m:t>
                        </m:r>
                      </m:sup>
                      <m:e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</m:oMath>
                </a14:m>
                <a:endParaRPr lang="en-US" altLang="ja-JP" sz="2000" dirty="0"/>
              </a:p>
              <a:p>
                <a:pPr lvl="1"/>
                <a:r>
                  <a:rPr lang="en-US" altLang="ja-JP" sz="1600" dirty="0"/>
                  <a:t>…</a:t>
                </a:r>
                <a:r>
                  <a:rPr lang="ja-JP" altLang="en-US" sz="1600" dirty="0"/>
                  <a:t>以下同様</a:t>
                </a:r>
              </a:p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ja-JP" altLang="en-US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13B0C9B-6AA4-BD31-2AB2-00B7112E05D6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 t="-8316" b="-126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8177238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834E40-0736-9B1B-A0AE-31A24251E5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CF844C55-BC17-0004-5D00-F53C079D9C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二項分布の分散の導出①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2ED568D-F35C-0386-459F-B86949C449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14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  <a:p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func>
                          <m:funcPr>
                            <m:ctrl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kumimoji="1" lang="en-US" altLang="ja-JP" sz="2000" b="0" i="0" smtClean="0">
                                <a:latin typeface="Cambria Math" panose="02040503050406030204" pitchFamily="18" charset="0"/>
                              </a:rPr>
                              <m:t>Pr</m:t>
                            </m:r>
                          </m:fName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=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func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</m:e>
                    </m:nary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=2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f>
                          <m:fPr>
                            <m:ctrlP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:pPr lvl="1"/>
                <a14:m>
                  <m:oMath xmlns:m="http://schemas.openxmlformats.org/officeDocument/2006/math">
                    <m:sSup>
                      <m:sSupPr>
                        <m:ctrlP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altLang="ja-JP" sz="16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altLang="ja-JP" sz="1600" b="0" i="1" smtClean="0">
                        <a:latin typeface="Cambria Math" panose="02040503050406030204" pitchFamily="18" charset="0"/>
                      </a:rPr>
                      <m:t>−2</m:t>
                    </m:r>
                  </m:oMath>
                </a14:m>
                <a:r>
                  <a:rPr lang="ja-JP" altLang="en-US" sz="1600" dirty="0"/>
                  <a:t>とする</a:t>
                </a:r>
                <a:endParaRPr lang="en-US" altLang="ja-JP" sz="1600" dirty="0"/>
              </a:p>
              <a:p>
                <a14:m>
                  <m:oMath xmlns:m="http://schemas.openxmlformats.org/officeDocument/2006/math">
                    <m:r>
                      <a:rPr lang="en-US" altLang="ja-JP" sz="20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nary>
                      <m:naryPr>
                        <m:chr m:val="∑"/>
                        <m:ctrlPr>
                          <a:rPr lang="en-US" altLang="ja-JP" sz="2000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m:rPr>
                            <m:brk m:alnAt="23"/>
                          </m:rPr>
                          <a:rPr lang="en-US" altLang="ja-JP" sz="20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′</m:t>
                        </m:r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US" altLang="ja-JP" sz="2000" i="1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−2</m:t>
                        </m:r>
                      </m:sup>
                      <m:e>
                        <m:f>
                          <m:f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−2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altLang="ja-JP" sz="2000" b="0" i="1" smtClean="0">
                                    <a:latin typeface="Cambria Math" panose="02040503050406030204" pitchFamily="18" charset="0"/>
                                  </a:rPr>
                                  <m:t>′</m:t>
                                </m:r>
                              </m:e>
                            </m:d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!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′!</m:t>
                            </m:r>
                          </m:den>
                        </m:f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20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r>
                                  <a:rPr lang="en-US" altLang="ja-JP" sz="2000" i="1">
                                    <a:latin typeface="Cambria Math" panose="02040503050406030204" pitchFamily="18" charset="0"/>
                                  </a:rPr>
                                  <m:t>𝜋</m:t>
                                </m:r>
                              </m:e>
                            </m:d>
                          </m:e>
                          <m:sup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−2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sz="2000" b="0" i="1" smtClean="0">
                                <a:latin typeface="Cambria Math" panose="02040503050406030204" pitchFamily="18" charset="0"/>
                              </a:rPr>
                              <m:t>′</m:t>
                            </m:r>
                          </m:sup>
                        </m:sSup>
                      </m:e>
                    </m:nary>
                    <m:r>
                      <a:rPr lang="en-US" altLang="ja-JP" sz="20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i="1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  <a:p>
                <a14:m>
                  <m:oMath xmlns:m="http://schemas.openxmlformats.org/officeDocument/2006/math"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d>
                      <m:d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−1</m:t>
                        </m:r>
                      </m:e>
                    </m:d>
                    <m:sSup>
                      <m:sSupPr>
                        <m:ctrlP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sz="20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D8EEEF04-7E64-00C3-2BB5-E65BC8ECE96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52305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79277F-4D97-1474-2C9B-6B53D24123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F6B6A329-62FF-CED0-23EE-C4A0073C02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(Advanced) </a:t>
            </a:r>
            <a:r>
              <a:rPr kumimoji="1" lang="ja-JP" altLang="en-US" dirty="0"/>
              <a:t>二項分布の分散の導出②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790FAF3B-7B09-6937-B803-AB0209F267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15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𝐸</m:t>
                            </m:r>
                            <m:d>
                              <m:dPr>
                                <m:ctrlP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kumimoji="1" lang="en-US" altLang="ja-JP" sz="2000" b="0" i="1" smtClean="0">
                                    <a:latin typeface="Cambria Math" panose="02040503050406030204" pitchFamily="18" charset="0"/>
                                  </a:rPr>
                                  <m:t>𝑋</m:t>
                                </m:r>
                              </m:e>
                            </m:d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dirty="0"/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−1</m:t>
                            </m:r>
                          </m:e>
                        </m:d>
                        <m:sSup>
                          <m:sSup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  <m:sup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kumimoji="1" lang="en-US" altLang="ja-JP" sz="2000" b="0" i="1" smtClean="0"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+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−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sSup>
                      <m:sSup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  <a:p>
                <a14:m>
                  <m:oMath xmlns:m="http://schemas.openxmlformats.org/officeDocument/2006/math"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kumimoji="1" lang="en-US" altLang="ja-JP" sz="2000" b="0" i="1" smtClean="0"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sz="2000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kumimoji="1" lang="en-US" altLang="ja-JP" sz="2000" b="0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95B5E274-B4F9-F2FE-C178-016DFE2BA0A7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54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6408069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561EAB-0FF0-794B-4D74-C837856E51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テキスト プレースホルダー 1">
            <a:extLst>
              <a:ext uri="{FF2B5EF4-FFF2-40B4-BE49-F238E27FC236}">
                <a16:creationId xmlns:a16="http://schemas.microsoft.com/office/drawing/2014/main" id="{D6FB78C0-FA39-EDA3-234F-27E77C552C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0" y="3128722"/>
            <a:ext cx="7989751" cy="1368850"/>
          </a:xfrm>
        </p:spPr>
        <p:txBody>
          <a:bodyPr/>
          <a:lstStyle/>
          <a:p>
            <a:r>
              <a:rPr kumimoji="1" lang="ja-JP" altLang="en-US" dirty="0"/>
              <a:t>３：</a:t>
            </a:r>
            <a:r>
              <a:rPr lang="ja-JP" altLang="en-US" dirty="0"/>
              <a:t>離散確率分布</a:t>
            </a:r>
            <a:endParaRPr lang="en-US" altLang="ja-JP" dirty="0"/>
          </a:p>
          <a:p>
            <a:r>
              <a:rPr lang="ja-JP" altLang="en-US" dirty="0"/>
              <a:t>　　　ポアソン分布</a:t>
            </a:r>
            <a:endParaRPr kumimoji="1" lang="ja-JP" altLang="en-US" dirty="0"/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A5D2F96-7179-6C3E-BEEA-520AB25C6C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16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89935754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FD3209-D1EE-E183-CA8F-A3AAB8A76D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0714E00-3EE3-92EC-8E6E-48EC12BC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ja-JP" altLang="en-US" dirty="0"/>
              <a:t>ポアソン</a:t>
            </a:r>
            <a:r>
              <a:rPr kumimoji="1" lang="ja-JP" altLang="en-US" dirty="0"/>
              <a:t>分布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F716128-5D26-CDAE-2532-FA3A4AB22B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17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kumimoji="1" lang="ja-JP" altLang="en-US" dirty="0"/>
                  <a:t>ポアソン分布</a:t>
                </a:r>
                <a:endParaRPr kumimoji="1" lang="en-US" altLang="ja-JP" dirty="0"/>
              </a:p>
              <a:p>
                <a:pPr lvl="1"/>
                <a:r>
                  <a:rPr lang="ja-JP" altLang="en-US" dirty="0"/>
                  <a:t>二項分布のひとつ</a:t>
                </a:r>
                <a:endParaRPr kumimoji="1" lang="en-US" altLang="ja-JP" dirty="0"/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起こる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が極端に小さく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，</a:t>
                </a:r>
                <a:br>
                  <a:rPr kumimoji="1" lang="en-US" altLang="ja-JP" dirty="0">
                    <a:solidFill>
                      <a:schemeClr val="tx2"/>
                    </a:solidFill>
                  </a:rPr>
                </a:br>
                <a:r>
                  <a:rPr kumimoji="1" lang="ja-JP" altLang="en-US" dirty="0">
                    <a:solidFill>
                      <a:schemeClr val="tx2"/>
                    </a:solidFill>
                  </a:rPr>
                  <a:t>かつ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試行回数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が十分に大きい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場合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tx2"/>
                    </a:solidFill>
                  </a:rPr>
                  <a:t>厳密には「ある事象が一定の時間内に発生する回数」を表す</a:t>
                </a:r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例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日あたりの死亡事故件数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生産ラインに不良品が混入する件数</a:t>
                </a:r>
                <a:endParaRPr lang="en-US" altLang="ja-JP" dirty="0"/>
              </a:p>
              <a:p>
                <a:pPr lvl="1"/>
                <a:r>
                  <a:rPr lang="en-US" altLang="ja-JP" dirty="0"/>
                  <a:t>1</a:t>
                </a:r>
                <a:r>
                  <a:rPr lang="ja-JP" altLang="en-US" dirty="0"/>
                  <a:t>分間あたりの来店者数</a:t>
                </a:r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619B0004-5CBE-C8E8-BE06-FB2BE9F8CA2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67086508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53AF9DE-59F4-91D0-6A4C-A6D6B3F3699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 dirty="0"/>
              <a:t>ポアソン分布の期待値と分散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7A86320-337D-67F1-62B8-A2D4FFEDC2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18</a:t>
            </a:fld>
            <a:endParaRPr kumimoji="1" lang="ja-JP" alt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ja-JP" altLang="en-US" dirty="0"/>
                  <a:t>二項分布のうち，</a:t>
                </a:r>
                <a:r>
                  <a:rPr kumimoji="1" lang="ja-JP" altLang="en-US" dirty="0"/>
                  <a:t>起こる</a:t>
                </a:r>
                <a:r>
                  <a:rPr kumimoji="1" lang="ja-JP" altLang="en-US" dirty="0">
                    <a:solidFill>
                      <a:schemeClr val="accent5"/>
                    </a:solidFill>
                  </a:rPr>
                  <a:t>確率</a:t>
                </a:r>
                <a14:m>
                  <m:oMath xmlns:m="http://schemas.openxmlformats.org/officeDocument/2006/math">
                    <m:r>
                      <a:rPr kumimoji="1"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r>
                  <a:rPr kumimoji="1" lang="ja-JP" altLang="en-US" dirty="0">
                    <a:solidFill>
                      <a:schemeClr val="accent5"/>
                    </a:solidFill>
                  </a:rPr>
                  <a:t>が極端に小さい</a:t>
                </a:r>
                <a:r>
                  <a:rPr kumimoji="1" lang="ja-JP" altLang="en-US" dirty="0"/>
                  <a:t>場合</a:t>
                </a:r>
                <a:r>
                  <a:rPr lang="ja-JP" altLang="en-US" dirty="0"/>
                  <a:t>の近似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d>
                      <m:dPr>
                        <m:ctrlP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kumimoji="1" lang="en-US" altLang="ja-JP" b="0" i="1" smtClean="0"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  <m:r>
                      <a:rPr kumimoji="1" lang="en-US" altLang="ja-JP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≒1</m:t>
                    </m:r>
                  </m:oMath>
                </a14:m>
                <a:endParaRPr kumimoji="1" lang="en-US" altLang="ja-JP" dirty="0"/>
              </a:p>
              <a:p>
                <a:pPr lvl="1"/>
                <a:endParaRPr lang="en-US" altLang="ja-JP" dirty="0"/>
              </a:p>
              <a:p>
                <a:r>
                  <a:rPr lang="ja-JP" altLang="en-US" dirty="0"/>
                  <a:t>ポアソン分布の期待値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𝑬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lang="en-US" altLang="ja-JP" b="1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  <a:p>
                <a:r>
                  <a:rPr lang="ja-JP" altLang="en-US" dirty="0"/>
                  <a:t>ポアソン分布の分散</a:t>
                </a:r>
                <a:endParaRPr lang="en-US" altLang="ja-JP" dirty="0"/>
              </a:p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𝑽𝒂𝒓</m:t>
                      </m:r>
                      <m:d>
                        <m:dPr>
                          <m:ctrlP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1" i="1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𝑿</m:t>
                          </m:r>
                        </m:e>
                      </m:d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𝒏</m:t>
                      </m:r>
                      <m:r>
                        <a:rPr lang="en-US" altLang="ja-JP" b="1" i="1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𝝅</m:t>
                      </m:r>
                    </m:oMath>
                  </m:oMathPara>
                </a14:m>
                <a:endParaRPr kumimoji="1" lang="en-US" altLang="ja-JP" dirty="0"/>
              </a:p>
            </p:txBody>
          </p:sp>
        </mc:Choice>
        <mc:Fallback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FC0B9A2C-7ADE-6789-1335-62821CB77CE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099" t="-115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87703663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902D5D5-4C19-9890-2B23-22CB15CED80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20C158-ACB3-E1EF-488B-61EE848A6D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en-US" altLang="ja-JP" dirty="0"/>
              <a:t>Summary</a:t>
            </a:r>
            <a:endParaRPr kumimoji="1" lang="ja-JP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:r>
                  <a:rPr lang="ja-JP" altLang="en-US" dirty="0"/>
                  <a:t>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章　第</a:t>
                </a:r>
                <a:r>
                  <a:rPr lang="en-US" altLang="ja-JP" dirty="0"/>
                  <a:t>2</a:t>
                </a:r>
                <a:r>
                  <a:rPr lang="ja-JP" altLang="en-US" dirty="0"/>
                  <a:t>節　確率分布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離散確率分布について学ぶ</a:t>
                </a:r>
                <a:endParaRPr lang="en-US" altLang="ja-JP" dirty="0"/>
              </a:p>
              <a:p>
                <a:pPr lvl="2"/>
                <a:r>
                  <a:rPr lang="ja-JP" altLang="en-US" dirty="0"/>
                  <a:t>二項分布，ポアソン分布</a:t>
                </a:r>
                <a:endParaRPr lang="en-US" altLang="ja-JP" dirty="0"/>
              </a:p>
              <a:p>
                <a:pPr lvl="1"/>
                <a:r>
                  <a:rPr lang="ja-JP" altLang="en-US" dirty="0"/>
                  <a:t>二項分布の確率の計算方法を修得する</a:t>
                </a:r>
                <a:endParaRPr lang="en-US" altLang="ja-JP" dirty="0"/>
              </a:p>
              <a:p>
                <a:pPr lvl="2"/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altLang="ja-JP" b="0" i="0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Pr</m:t>
                        </m:r>
                      </m:fName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𝑋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=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func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sSub>
                      <m:sSub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r>
                              <a:rPr lang="en-US" altLang="ja-JP" b="0" i="1" smtClean="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𝜋</m:t>
                            </m:r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期待値：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𝐸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</m:oMath>
                </a14:m>
                <a:endParaRPr lang="en-US" altLang="ja-JP" dirty="0">
                  <a:solidFill>
                    <a:schemeClr val="accent5"/>
                  </a:solidFill>
                </a:endParaRPr>
              </a:p>
              <a:p>
                <a:pPr lvl="2"/>
                <a:r>
                  <a:rPr lang="ja-JP" altLang="en-US" dirty="0">
                    <a:solidFill>
                      <a:schemeClr val="accent5"/>
                    </a:solidFill>
                  </a:rPr>
                  <a:t>分散：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𝑉𝑎𝑟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1−</m:t>
                        </m:r>
                        <m:r>
                          <a:rPr lang="en-US" altLang="ja-JP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𝜋</m:t>
                        </m:r>
                      </m:e>
                    </m:d>
                  </m:oMath>
                </a14:m>
                <a:endParaRPr lang="ja-JP" altLang="en-US" dirty="0">
                  <a:solidFill>
                    <a:schemeClr val="accent5"/>
                  </a:solidFill>
                </a:endParaRPr>
              </a:p>
            </p:txBody>
          </p:sp>
        </mc:Choice>
        <mc:Fallback xmlns="">
          <p:sp>
            <p:nvSpPr>
              <p:cNvPr id="3" name="コンテンツ プレースホルダー 2">
                <a:extLst>
                  <a:ext uri="{FF2B5EF4-FFF2-40B4-BE49-F238E27FC236}">
                    <a16:creationId xmlns:a16="http://schemas.microsoft.com/office/drawing/2014/main" id="{500A9993-40CE-C98B-497A-776470BC86E1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99" t="-105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71CFF788-67FF-DD1C-CFC5-3556790428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19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52019455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504C514-9B1A-71F2-6A32-0CE28EF16D3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C3A1C05-B7EB-42AD-CBD4-DF1662F5D3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ポアソン</a:t>
            </a:r>
            <a:r>
              <a:rPr kumimoji="1" lang="ja-JP" altLang="en-US" dirty="0"/>
              <a:t>分布の意味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AC67613F-E541-83F7-8423-8E095BCB49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20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4D55B83-7DA7-7A32-0395-0E6A521758DB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fontScale="70000" lnSpcReduction="20000"/>
              </a:bodyPr>
              <a:lstStyle/>
              <a:p>
                <a:r>
                  <a:rPr kumimoji="1" lang="ja-JP" altLang="en-US" dirty="0"/>
                  <a:t>千葉で震度</a:t>
                </a:r>
                <a:r>
                  <a:rPr kumimoji="1" lang="en-US" altLang="ja-JP" dirty="0"/>
                  <a:t>4</a:t>
                </a:r>
                <a:r>
                  <a:rPr kumimoji="1" lang="ja-JP" altLang="en-US" dirty="0"/>
                  <a:t>以上の地震が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日間で</a:t>
                </a:r>
                <a:r>
                  <a:rPr kumimoji="1" lang="en-US" altLang="ja-JP" dirty="0"/>
                  <a:t>2</a:t>
                </a:r>
                <a:r>
                  <a:rPr kumimoji="1" lang="ja-JP" altLang="en-US" dirty="0"/>
                  <a:t>回の割合で起こるものとする</a:t>
                </a:r>
                <a:r>
                  <a:rPr kumimoji="1" lang="en-US" altLang="ja-JP" dirty="0"/>
                  <a:t>(1</a:t>
                </a:r>
                <a:r>
                  <a:rPr kumimoji="1" lang="ja-JP" altLang="en-US" dirty="0"/>
                  <a:t>日あたり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b="0" i="0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den>
                    </m:f>
                  </m:oMath>
                </a14:m>
                <a:r>
                  <a:rPr kumimoji="1" lang="ja-JP" altLang="en-US" dirty="0"/>
                  <a:t>の確率で起こる</a:t>
                </a:r>
                <a:r>
                  <a:rPr kumimoji="1" lang="en-US" altLang="ja-JP" dirty="0"/>
                  <a:t>)</a:t>
                </a:r>
                <a:r>
                  <a:rPr kumimoji="1" lang="ja-JP" altLang="en-US" dirty="0"/>
                  <a:t>．</a:t>
                </a:r>
                <a:r>
                  <a:rPr kumimoji="1" lang="en-US" altLang="ja-JP" dirty="0"/>
                  <a:t>100</a:t>
                </a:r>
                <a:r>
                  <a:rPr kumimoji="1" lang="ja-JP" altLang="en-US" dirty="0"/>
                  <a:t>日間で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ja-JP" altLang="en-US" dirty="0"/>
                  <a:t> 回起こる確率は，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二項分布</a:t>
                </a:r>
                <a:r>
                  <a:rPr lang="ja-JP" altLang="en-US" dirty="0"/>
                  <a:t>とすると</a:t>
                </a:r>
                <a:endParaRPr kumimoji="1"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100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100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lang="ja-JP" altLang="en-US" dirty="0">
                    <a:solidFill>
                      <a:schemeClr val="tx2"/>
                    </a:solidFill>
                  </a:rPr>
                  <a:t>しかし地震は「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日</a:t>
                </a:r>
                <a:r>
                  <a:rPr lang="en-US" altLang="ja-JP" dirty="0"/>
                  <a:t>1</a:t>
                </a:r>
                <a:r>
                  <a:rPr lang="ja-JP" altLang="en-US" dirty="0"/>
                  <a:t>回起きるかどうか</a:t>
                </a:r>
                <a:r>
                  <a:rPr lang="ja-JP" altLang="en-US" dirty="0">
                    <a:solidFill>
                      <a:schemeClr val="tx2"/>
                    </a:solidFill>
                  </a:rPr>
                  <a:t>」という現象ではなく，時々刻々起き得るもの</a:t>
                </a:r>
                <a:endParaRPr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そこで「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日間で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回起きる割合」を固定し，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時間ごとに起きるかどうかと考え直す．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日間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=2400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時間より，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1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時間あたりの地震の起きる確率は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den>
                    </m:f>
                  </m:oMath>
                </a14:m>
                <a:endParaRPr kumimoji="1" lang="en-US" altLang="ja-JP" dirty="0">
                  <a:solidFill>
                    <a:schemeClr val="tx2"/>
                  </a:solidFill>
                </a:endParaRPr>
              </a:p>
              <a:p>
                <a:pPr lvl="1"/>
                <a:r>
                  <a:rPr kumimoji="1" lang="ja-JP" altLang="en-US" dirty="0">
                    <a:solidFill>
                      <a:schemeClr val="tx2"/>
                    </a:solidFill>
                  </a:rPr>
                  <a:t>このとき </a:t>
                </a:r>
                <a:r>
                  <a:rPr kumimoji="1" lang="en-US" altLang="ja-JP" dirty="0">
                    <a:solidFill>
                      <a:schemeClr val="tx2"/>
                    </a:solidFill>
                  </a:rPr>
                  <a:t>2400</a:t>
                </a:r>
                <a:r>
                  <a:rPr kumimoji="1" lang="ja-JP" altLang="en-US" dirty="0">
                    <a:solidFill>
                      <a:schemeClr val="tx2"/>
                    </a:solidFill>
                  </a:rPr>
                  <a:t>時間で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kumimoji="1" lang="en-US" altLang="ja-JP" dirty="0">
                    <a:solidFill>
                      <a:schemeClr val="tx2"/>
                    </a:solidFill>
                  </a:rPr>
                  <a:t> </a:t>
                </a:r>
                <a:r>
                  <a:rPr lang="ja-JP" altLang="en-US" dirty="0"/>
                  <a:t>回地震が起きる確率は，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i="1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e>
                      <m:sub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</m:t>
                        </m:r>
                      </m:sub>
                    </m:sSub>
                    <m:sSub>
                      <m:sSub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b>
                    </m:sSub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  <m:sSup>
                      <m:sSup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f>
                              <m:f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24</m:t>
                                </m:r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00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24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00−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sup>
                    </m:sSup>
                  </m:oMath>
                </a14:m>
                <a:endParaRPr lang="en-US" altLang="ja-JP" dirty="0"/>
              </a:p>
              <a:p>
                <a:r>
                  <a:rPr lang="ja-JP" altLang="en-US" dirty="0"/>
                  <a:t>このように，ある「期間」の現象の発生回数の割合</a:t>
                </a:r>
                <a:r>
                  <a:rPr lang="en-US" altLang="ja-JP" dirty="0"/>
                  <a:t>(</a:t>
                </a:r>
                <a:r>
                  <a:rPr lang="ja-JP" altLang="en-US" dirty="0"/>
                  <a:t>上の例だと</a:t>
                </a:r>
                <a:r>
                  <a:rPr lang="en-US" altLang="ja-JP" dirty="0"/>
                  <a:t>2)</a:t>
                </a:r>
                <a:r>
                  <a:rPr lang="ja-JP" altLang="en-US" dirty="0"/>
                  <a:t>を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ja-JP" altLang="en-US" dirty="0">
                    <a:solidFill>
                      <a:schemeClr val="accent5"/>
                    </a:solidFill>
                  </a:rPr>
                  <a:t> と固定</a:t>
                </a:r>
                <a:r>
                  <a:rPr lang="ja-JP" altLang="en-US" dirty="0"/>
                  <a:t>し，期間の分割数</a:t>
                </a:r>
                <a:r>
                  <a:rPr lang="en-US" altLang="ja-JP" dirty="0"/>
                  <a:t> </a:t>
                </a:r>
                <a14:m>
                  <m:oMath xmlns:m="http://schemas.openxmlformats.org/officeDocument/2006/math"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ja-JP" altLang="en-US" dirty="0"/>
                  <a:t> を </a:t>
                </a:r>
                <a:r>
                  <a:rPr lang="en-US" altLang="ja-JP" dirty="0"/>
                  <a:t>100, 2400, ... </a:t>
                </a:r>
                <a:r>
                  <a:rPr lang="ja-JP" altLang="en-US" dirty="0"/>
                  <a:t>と増やしていくとどうなるか？</a:t>
                </a:r>
                <a:endParaRPr lang="en-US" altLang="ja-JP" dirty="0"/>
              </a:p>
              <a:p>
                <a:pPr lvl="1"/>
                <a14:m>
                  <m:oMath xmlns:m="http://schemas.openxmlformats.org/officeDocument/2006/math">
                    <m:r>
                      <a:rPr lang="en-US" altLang="ja-JP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d>
                      <m:d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𝑋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altLang="ja-JP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 sz="340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 sz="3400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b>
                          <m:sSub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 </m:t>
                            </m:r>
                          </m:e>
                          <m:sub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b>
                        </m:sSub>
                        <m:sSub>
                          <m:sSub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𝐶</m:t>
                            </m:r>
                          </m:e>
                          <m:sub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b>
                        </m:sSub>
                        <m:sSup>
                          <m:sSup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34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f>
                                  <m:fPr>
                                    <m:ctrlP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  <m:sSup>
                          <m:sSup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sz="34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sz="3400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sz="3400" i="1">
                                        <a:solidFill>
                                          <a:schemeClr val="accent5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en-US" altLang="ja-JP" sz="34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f>
                      <m:fPr>
                        <m:ctrlP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sz="3400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sz="3400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r>
                  <a:rPr lang="ja-JP" altLang="en-US" sz="3600" dirty="0">
                    <a:solidFill>
                      <a:schemeClr val="accent5"/>
                    </a:solidFill>
                  </a:rPr>
                  <a:t>    式</a:t>
                </a:r>
                <a:r>
                  <a:rPr lang="en-US" altLang="ja-JP" sz="3600" dirty="0">
                    <a:solidFill>
                      <a:schemeClr val="accent5"/>
                    </a:solidFill>
                  </a:rPr>
                  <a:t>(1)</a:t>
                </a:r>
                <a:r>
                  <a:rPr lang="en-US" altLang="ja-JP" sz="3400" dirty="0"/>
                  <a:t> </a:t>
                </a:r>
              </a:p>
              <a:p>
                <a:pPr marL="324000" lvl="1" indent="0">
                  <a:buNone/>
                </a:pPr>
                <a:r>
                  <a:rPr lang="ja-JP" altLang="en-US" sz="3100" dirty="0"/>
                  <a:t>これがポワソン分布</a:t>
                </a:r>
                <a:r>
                  <a:rPr lang="en-US" altLang="ja-JP" sz="3100" dirty="0"/>
                  <a:t>(Poisson distribution)</a:t>
                </a:r>
                <a:r>
                  <a:rPr lang="ja-JP" altLang="en-US" sz="3100" dirty="0"/>
                  <a:t>である．</a:t>
                </a:r>
                <a:endParaRPr lang="en-US" altLang="ja-JP" sz="3100" dirty="0"/>
              </a:p>
              <a:p>
                <a:pPr marL="324000" lvl="1" indent="0">
                  <a:buNone/>
                </a:pPr>
                <a:r>
                  <a:rPr lang="ja-JP" altLang="en-US" sz="3100" dirty="0">
                    <a:solidFill>
                      <a:schemeClr val="accent5"/>
                    </a:solidFill>
                  </a:rPr>
                  <a:t>二項分布で</a:t>
                </a:r>
                <a:r>
                  <a:rPr lang="en-US" altLang="ja-JP" sz="3200" dirty="0">
                    <a:solidFill>
                      <a:schemeClr val="accent5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𝜋</m:t>
                    </m:r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:=</m:t>
                    </m:r>
                    <m:f>
                      <m:fPr>
                        <m:ctrlP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num>
                      <m:den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  <m:sSub>
                      <m:sSubPr>
                        <m:ctrlP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</m:e>
                      <m:sub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a:rPr lang="en-US" altLang="ja-JP" sz="3200" b="0" i="1" smtClean="0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→∞</m:t>
                        </m:r>
                      </m:sub>
                    </m:sSub>
                    <m:r>
                      <a:rPr lang="en-US" altLang="ja-JP" sz="3200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US" altLang="ja-JP" sz="3200" b="0" i="0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 </m:t>
                    </m:r>
                    <m:r>
                      <a:rPr lang="ja-JP" altLang="en-US" sz="3200" i="1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の</m:t>
                    </m:r>
                  </m:oMath>
                </a14:m>
                <a:r>
                  <a:rPr lang="ja-JP" altLang="en-US" sz="3100" dirty="0">
                    <a:solidFill>
                      <a:schemeClr val="accent5"/>
                    </a:solidFill>
                  </a:rPr>
                  <a:t>場合と見なせる．</a:t>
                </a:r>
                <a:endParaRPr lang="en-US" altLang="ja-JP" sz="3100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24D55B83-7DA7-7A32-0395-0E6A521758DB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549" t="-842" r="-69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415425328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9543F7B-737A-FD29-D8D3-DF49388BDAC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508B1846-1D64-DC13-9B2D-7656658B38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ポアソン</a:t>
            </a:r>
            <a:r>
              <a:rPr kumimoji="1" lang="ja-JP" altLang="en-US" dirty="0"/>
              <a:t>分布の確率質量関数の導出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806C078F-AB4A-E4A5-8320-1E51A82AA4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21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1C493B-0DC3-EB08-F390-498FEE228E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131976" y="933254"/>
                <a:ext cx="9012024" cy="5853626"/>
              </a:xfrm>
            </p:spPr>
            <p:txBody>
              <a:bodyPr>
                <a:normAutofit fontScale="92500"/>
              </a:bodyPr>
              <a:lstStyle/>
              <a:p>
                <a:pPr marL="0" indent="0">
                  <a:buNone/>
                </a:pPr>
                <a14:m>
                  <m:oMathPara xmlns:m="http://schemas.openxmlformats.org/officeDocument/2006/math">
                    <m:oMath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𝑋</m:t>
                          </m:r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=</m:t>
                          </m:r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</m:d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=</m:t>
                      </m:r>
                      <m:func>
                        <m:funcPr>
                          <m:ctrlP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 b="0" i="0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b="0" i="1" smtClean="0">
                              <a:solidFill>
                                <a:schemeClr val="accent5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 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𝐶</m:t>
                              </m:r>
                            </m:e>
                            <m:sub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b>
                          </m:sSub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i="1">
                                      <a:solidFill>
                                        <a:schemeClr val="accent5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i="1">
                                          <a:solidFill>
                                            <a:schemeClr val="accent5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i="1">
                                  <a:solidFill>
                                    <a:schemeClr val="accent5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  <m:r>
                        <a:rPr lang="en-US" altLang="ja-JP" b="0" i="1" smtClean="0">
                          <a:solidFill>
                            <a:schemeClr val="accent5"/>
                          </a:solidFill>
                          <a:latin typeface="Cambria Math" panose="02040503050406030204" pitchFamily="18" charset="0"/>
                        </a:rPr>
                        <m:t>                                          </m:t>
                      </m:r>
                    </m:oMath>
                    <m:oMath>
                      <m:r>
                        <a:rPr lang="en-US" altLang="ja-JP" b="0" i="1" smtClean="0">
                          <a:solidFill>
                            <a:schemeClr val="tx1"/>
                          </a:solidFill>
                          <a:latin typeface="Cambria Math" panose="02040503050406030204" pitchFamily="18" charset="0"/>
                        </a:rPr>
                        <m:t>= </m:t>
                      </m:r>
                      <m:func>
                        <m:funcPr>
                          <m:ctrlP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</m:ctrlPr>
                        </m:funcPr>
                        <m:fName>
                          <m:limLow>
                            <m:limLowPr>
                              <m:ctrl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limLowPr>
                            <m:e>
                              <m:r>
                                <m:rPr>
                                  <m:sty m:val="p"/>
                                </m:rPr>
                                <a:rPr lang="en-US" altLang="ja-JP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lim</m:t>
                              </m:r>
                            </m:e>
                            <m:lim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i="1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→∞</m:t>
                              </m:r>
                            </m:lim>
                          </m:limLow>
                          <m:r>
                            <a:rPr lang="en-US" altLang="ja-JP" i="1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</a:rPr>
                            <m:t> </m:t>
                          </m:r>
                        </m:fName>
                        <m:e>
                          <m:f>
                            <m:f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num>
                            <m:den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</m:d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  <m:sSup>
                            <m:sSup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  <m:sSup>
                            <m:sSupPr>
                              <m:ctrlP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d>
                                <m:dPr>
                                  <m:ctrlP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dPr>
                                <m:e>
                                  <m:r>
                                    <a:rPr lang="en-US" altLang="ja-JP" b="0" i="1" smtClean="0">
                                      <a:solidFill>
                                        <a:schemeClr val="tx1"/>
                                      </a:solidFill>
                                      <a:latin typeface="Cambria Math" panose="02040503050406030204" pitchFamily="18" charset="0"/>
                                    </a:rPr>
                                    <m:t>1−</m:t>
                                  </m:r>
                                  <m:f>
                                    <m:fPr>
                                      <m:ctrlP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</m:ctrlPr>
                                    </m:fPr>
                                    <m:num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𝜆</m:t>
                                      </m:r>
                                    </m:num>
                                    <m:den>
                                      <m:r>
                                        <a:rPr lang="en-US" altLang="ja-JP" b="0" i="1" smtClean="0">
                                          <a:solidFill>
                                            <a:schemeClr val="tx1"/>
                                          </a:solidFill>
                                          <a:latin typeface="Cambria Math" panose="02040503050406030204" pitchFamily="18" charset="0"/>
                                        </a:rPr>
                                        <m:t>𝑛</m:t>
                                      </m:r>
                                    </m:den>
                                  </m:f>
                                </m:e>
                              </m:d>
                            </m:e>
                            <m:sup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−</m:t>
                              </m:r>
                              <m:r>
                                <a:rPr lang="en-US" altLang="ja-JP" b="0" i="1" smtClean="0">
                                  <a:solidFill>
                                    <a:schemeClr val="tx1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</m:sup>
                          </m:sSup>
                        </m:e>
                      </m:func>
                    </m:oMath>
                  </m:oMathPara>
                </a14:m>
                <a:br>
                  <a:rPr lang="en-US" altLang="ja-JP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func>
                      <m:func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sSup>
                              <m:sSupPr>
                                <m:ctrlP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ja-JP" b="0" i="1" smtClean="0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func>
                    <m:func>
                      <m:funcPr>
                        <m:ctrlP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func>
                      <m:funcPr>
                        <m:ctrlP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</m:oMath>
                </a14:m>
                <a:r>
                  <a:rPr lang="en-US" altLang="ja-JP" dirty="0">
                    <a:solidFill>
                      <a:schemeClr val="accent5"/>
                    </a:solidFill>
                  </a:rPr>
                  <a:t>     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(2)</a:t>
                </a:r>
              </a:p>
              <a:p>
                <a:pPr marL="0" indent="0">
                  <a:buNone/>
                </a:pPr>
                <a:r>
                  <a:rPr lang="ja-JP" altLang="en-US" dirty="0"/>
                  <a:t>ここで</a:t>
                </a:r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</m:num>
                          <m:den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!</m:t>
                            </m:r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accent5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d>
                              <m:d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−1</m:t>
                                </m:r>
                              </m:e>
                            </m:d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⋯(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+1)</m:t>
                            </m:r>
                          </m:num>
                          <m:den>
                            <m:sSup>
                              <m:sSupPr>
                                <m:ctrlP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US" altLang="ja-JP" i="1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sup>
                            </m:sSup>
                          </m:den>
                        </m:f>
                      </m:e>
                    </m:func>
                  </m:oMath>
                </a14:m>
                <a:br>
                  <a:rPr lang="en-US" altLang="ja-JP" dirty="0">
                    <a:solidFill>
                      <a:schemeClr val="tx1"/>
                    </a:solidFill>
                  </a:rPr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⋅  ⋯ ⋅</m:t>
                    </m:r>
                    <m:func>
                      <m:funcPr>
                        <m:ctrlP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f>
                          <m:fPr>
                            <m:ctrlP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+1</m:t>
                            </m:r>
                          </m:num>
                          <m:den>
                            <m:r>
                              <a:rPr lang="en-US" altLang="ja-JP" i="1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den>
                        </m:f>
                      </m:e>
                    </m:func>
                  </m:oMath>
                </a14:m>
                <a:br>
                  <a:rPr lang="en-US" altLang="ja-JP" i="1" dirty="0">
                    <a:solidFill>
                      <a:schemeClr val="tx1"/>
                    </a:solidFill>
                    <a:latin typeface="Cambria Math" panose="02040503050406030204" pitchFamily="18" charset="0"/>
                  </a:rPr>
                </a:br>
                <a14:m>
                  <m:oMath xmlns:m="http://schemas.openxmlformats.org/officeDocument/2006/math"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=1⋅1⋅⋯⋅1=</m:t>
                    </m:r>
                    <m:r>
                      <a:rPr lang="en-US" altLang="ja-JP" b="0" i="1" smtClean="0">
                        <a:solidFill>
                          <a:schemeClr val="accent5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kumimoji="1" lang="en-US" altLang="ja-JP" dirty="0">
                  <a:solidFill>
                    <a:schemeClr val="accent5"/>
                  </a:solidFill>
                </a:endParaRPr>
              </a:p>
              <a:p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4F1C493B-0DC3-EB08-F390-498FEE228E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131976" y="933254"/>
                <a:ext cx="9012024" cy="5853626"/>
              </a:xfrm>
              <a:blipFill>
                <a:blip r:embed="rId3"/>
                <a:stretch>
                  <a:fillRect l="-1218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1740167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2A480D-6AA0-3ECA-B3DB-B4B2FE8F9A4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9338AB-9FB1-0B60-7E6D-4F8C4028C8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ja-JP" dirty="0"/>
              <a:t>(</a:t>
            </a:r>
            <a:r>
              <a:rPr lang="ja-JP" altLang="en-US" dirty="0"/>
              <a:t>付録</a:t>
            </a:r>
            <a:r>
              <a:rPr lang="en-US" altLang="ja-JP" dirty="0"/>
              <a:t>)</a:t>
            </a:r>
            <a:r>
              <a:rPr lang="ja-JP" altLang="en-US" dirty="0"/>
              <a:t>ポアソン</a:t>
            </a:r>
            <a:r>
              <a:rPr kumimoji="1" lang="ja-JP" altLang="en-US" dirty="0"/>
              <a:t>分布の確率質量関数の導出</a:t>
            </a:r>
          </a:p>
        </p:txBody>
      </p:sp>
      <p:sp>
        <p:nvSpPr>
          <p:cNvPr id="3" name="スライド番号プレースホルダー 2">
            <a:extLst>
              <a:ext uri="{FF2B5EF4-FFF2-40B4-BE49-F238E27FC236}">
                <a16:creationId xmlns:a16="http://schemas.microsoft.com/office/drawing/2014/main" id="{CEDF2FBC-4336-5B1C-3317-53B5CCD46A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0BA6E0-C4F8-428F-A0C2-6A33D6EAEFEB}" type="slidenum">
              <a:rPr kumimoji="1" lang="ja-JP" altLang="en-US" smtClean="0"/>
              <a:t>22</a:t>
            </a:fld>
            <a:endParaRPr kumimoji="1" lang="ja-JP" altLang="en-US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0425C8D-5B38-709D-7FA0-FC26D38EF6C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chemeClr val="accent1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chemeClr val="accent1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chemeClr val="accent1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accent1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</m:oMath>
                </a14:m>
                <a:r>
                  <a:rPr lang="en-US" altLang="ja-JP" dirty="0">
                    <a:solidFill>
                      <a:schemeClr val="tx1"/>
                    </a:solidFill>
                  </a:rPr>
                  <a:t> (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微分</a:t>
                </a:r>
                <a:r>
                  <a:rPr lang="ja-JP" altLang="en-US" dirty="0"/>
                  <a:t>積分</a:t>
                </a:r>
                <a:r>
                  <a:rPr lang="ja-JP" altLang="en-US" dirty="0">
                    <a:solidFill>
                      <a:schemeClr val="tx1"/>
                    </a:solidFill>
                  </a:rPr>
                  <a:t>応用で示した</a:t>
                </a:r>
                <a:r>
                  <a:rPr lang="en-US" altLang="ja-JP" dirty="0">
                    <a:solidFill>
                      <a:schemeClr val="tx1"/>
                    </a:solidFill>
                  </a:rPr>
                  <a:t>)</a:t>
                </a:r>
                <a:endParaRPr lang="en-US" altLang="ja-JP" dirty="0"/>
              </a:p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limLow>
                          <m:limLowPr>
                            <m:ctrl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limLowPr>
                          <m:e>
                            <m:r>
                              <m:rPr>
                                <m:sty m:val="p"/>
                              </m:rPr>
                              <a:rPr lang="en-US" altLang="ja-JP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lim</m:t>
                            </m:r>
                          </m:e>
                          <m:lim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→∞</m:t>
                            </m:r>
                          </m:lim>
                        </m:limLow>
                        <m:r>
                          <a:rPr lang="en-US" altLang="ja-JP" i="1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</a:rPr>
                          <m:t> </m:t>
                        </m:r>
                      </m:fName>
                      <m:e>
                        <m:sSup>
                          <m:sSupPr>
                            <m:ctrlP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d>
                              <m:dPr>
                                <m:ctrlP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US" altLang="ja-JP" i="1">
                                    <a:solidFill>
                                      <a:srgbClr val="00B050"/>
                                    </a:solidFill>
                                    <a:latin typeface="Cambria Math" panose="02040503050406030204" pitchFamily="18" charset="0"/>
                                  </a:rPr>
                                  <m:t>1−</m:t>
                                </m:r>
                                <m:f>
                                  <m:fPr>
                                    <m:ctrlP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𝜆</m:t>
                                    </m:r>
                                  </m:num>
                                  <m:den>
                                    <m:r>
                                      <a:rPr lang="en-US" altLang="ja-JP" i="1">
                                        <a:solidFill>
                                          <a:srgbClr val="00B05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𝑛</m:t>
                                    </m:r>
                                  </m:den>
                                </m:f>
                              </m:e>
                            </m:d>
                          </m:e>
                          <m:sup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altLang="ja-JP" i="1">
                                <a:solidFill>
                                  <a:srgbClr val="00B050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e>
                    </m:func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sSupPr>
                        <m:ctrlP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ctrlP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altLang="ja-JP" b="0" i="1" smtClean="0">
                                <a:solidFill>
                                  <a:schemeClr val="tx1"/>
                                </a:solidFill>
                                <a:latin typeface="Cambria Math" panose="02040503050406030204" pitchFamily="18" charset="0"/>
                              </a:rPr>
                              <m:t>1−</m:t>
                            </m:r>
                            <m:limLow>
                              <m:limLowPr>
                                <m:ctrlPr>
                                  <a:rPr lang="en-US" altLang="ja-JP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limLowPr>
                              <m:e>
                                <m:r>
                                  <m:rPr>
                                    <m:sty m:val="p"/>
                                  </m:rPr>
                                  <a:rPr lang="en-US" altLang="ja-JP" b="0" i="0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lim</m:t>
                                </m:r>
                              </m:e>
                              <m:li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→∞</m:t>
                                </m:r>
                              </m:lim>
                            </m:limLow>
                            <m:f>
                              <m:fPr>
                                <m:ctrlP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𝜆</m:t>
                                </m:r>
                              </m:num>
                              <m:den>
                                <m:r>
                                  <a:rPr lang="en-US" altLang="ja-JP" b="0" i="1" smtClean="0">
                                    <a:solidFill>
                                      <a:schemeClr val="tx1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a:rPr lang="en-US" altLang="ja-JP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altLang="ja-JP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endParaRPr lang="en-US" altLang="ja-JP" dirty="0"/>
              </a:p>
              <a:p>
                <a:pPr marL="0" indent="0">
                  <a:buNone/>
                </a:pPr>
                <a:r>
                  <a:rPr lang="ja-JP" altLang="en-US" dirty="0"/>
                  <a:t>以上を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(2)</a:t>
                </a:r>
                <a:r>
                  <a:rPr lang="ja-JP" altLang="en-US" dirty="0"/>
                  <a:t>に代入</a:t>
                </a:r>
                <a:br>
                  <a:rPr lang="en-US" altLang="ja-JP" dirty="0">
                    <a:solidFill>
                      <a:schemeClr val="tx1"/>
                    </a:solidFill>
                  </a:rPr>
                </a:br>
                <a:endParaRPr lang="en-US" altLang="ja-JP" dirty="0">
                  <a:solidFill>
                    <a:schemeClr val="tx1"/>
                  </a:solidFill>
                </a:endParaRPr>
              </a:p>
              <a:p>
                <a:pPr marL="0" indent="0">
                  <a:buNone/>
                </a:pPr>
                <a:r>
                  <a:rPr lang="ja-JP" altLang="en-US" dirty="0">
                    <a:solidFill>
                      <a:schemeClr val="accent5"/>
                    </a:solidFill>
                  </a:rPr>
                  <a:t>              式</a:t>
                </a:r>
                <a:r>
                  <a:rPr lang="en-US" altLang="ja-JP" dirty="0">
                    <a:solidFill>
                      <a:schemeClr val="accent5"/>
                    </a:solidFill>
                  </a:rPr>
                  <a:t>(2)</a:t>
                </a:r>
                <a:r>
                  <a:rPr lang="ja-JP" altLang="en-US" dirty="0">
                    <a:solidFill>
                      <a:schemeClr val="accent5"/>
                    </a:solidFill>
                  </a:rPr>
                  <a:t> </a:t>
                </a:r>
                <a14:m>
                  <m:oMath xmlns:m="http://schemas.openxmlformats.org/officeDocument/2006/math">
                    <m:r>
                      <a:rPr lang="en-US" altLang="ja-JP" i="1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ja-JP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⋅1⋅</m:t>
                    </m:r>
                    <m:sSup>
                      <m:sSupPr>
                        <m:ctrlPr>
                          <a:rPr lang="en-US" altLang="ja-JP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US" altLang="ja-JP" b="0" i="1" smtClean="0"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r>
                      <a:rPr lang="en-US" altLang="ja-JP" b="0" i="1" smtClean="0">
                        <a:latin typeface="Cambria Math" panose="02040503050406030204" pitchFamily="18" charset="0"/>
                      </a:rPr>
                      <m:t>⋅1=</m:t>
                    </m:r>
                    <m:sSup>
                      <m:sSup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𝜆</m:t>
                        </m:r>
                      </m:sup>
                    </m:sSup>
                    <m:f>
                      <m:fPr>
                        <m:ctrlP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𝜆</m:t>
                            </m:r>
                          </m:e>
                          <m:sup>
                            <m:r>
                              <a:rPr lang="en-US" altLang="ja-JP" i="1">
                                <a:solidFill>
                                  <a:schemeClr val="accent5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sup>
                        </m:sSup>
                      </m:num>
                      <m:den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altLang="ja-JP" i="1">
                            <a:solidFill>
                              <a:schemeClr val="accent5"/>
                            </a:solidFill>
                            <a:latin typeface="Cambria Math" panose="02040503050406030204" pitchFamily="18" charset="0"/>
                          </a:rPr>
                          <m:t>!</m:t>
                        </m:r>
                      </m:den>
                    </m:f>
                  </m:oMath>
                </a14:m>
                <a:endParaRPr lang="en-US" altLang="ja-JP" dirty="0"/>
              </a:p>
            </p:txBody>
          </p:sp>
        </mc:Choice>
        <mc:Fallback xmlns="">
          <p:sp>
            <p:nvSpPr>
              <p:cNvPr id="4" name="コンテンツ プレースホルダー 3">
                <a:extLst>
                  <a:ext uri="{FF2B5EF4-FFF2-40B4-BE49-F238E27FC236}">
                    <a16:creationId xmlns:a16="http://schemas.microsoft.com/office/drawing/2014/main" id="{C0425C8D-5B38-709D-7FA0-FC26D38EF6C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44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731486898"/>
      </p:ext>
    </p:extLst>
  </p:cSld>
  <p:clrMapOvr>
    <a:masterClrMapping/>
  </p:clrMapOvr>
</p:sld>
</file>

<file path=ppt/theme/theme1.xml><?xml version="1.0" encoding="utf-8"?>
<a:theme xmlns:a="http://schemas.openxmlformats.org/drawingml/2006/main" name="配当">
  <a:themeElements>
    <a:clrScheme name="Santorini">
      <a:dk1>
        <a:sysClr val="windowText" lastClr="000000"/>
      </a:dk1>
      <a:lt1>
        <a:srgbClr val="FEFDFC"/>
      </a:lt1>
      <a:dk2>
        <a:srgbClr val="3D3D3D"/>
      </a:dk2>
      <a:lt2>
        <a:srgbClr val="E6EAEB"/>
      </a:lt2>
      <a:accent1>
        <a:srgbClr val="0065B2"/>
      </a:accent1>
      <a:accent2>
        <a:srgbClr val="68A5DA"/>
      </a:accent2>
      <a:accent3>
        <a:srgbClr val="C19969"/>
      </a:accent3>
      <a:accent4>
        <a:srgbClr val="C8BCA1"/>
      </a:accent4>
      <a:accent5>
        <a:srgbClr val="DC077F"/>
      </a:accent5>
      <a:accent6>
        <a:srgbClr val="FCE5E2"/>
      </a:accent6>
      <a:hlink>
        <a:srgbClr val="B9C3C9"/>
      </a:hlink>
      <a:folHlink>
        <a:srgbClr val="B9C3C9"/>
      </a:folHlink>
    </a:clrScheme>
    <a:fontScheme name="配当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配当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ividend" id="{9697A71B-4AB7-4A1A-BD5B-BB2D22835B57}" vid="{66F1C100-1D2B-4BEA-AD01-C4F230B3B965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游ゴシック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TM03457464[[fn=配当]]</Template>
  <TotalTime>1772</TotalTime>
  <Words>1216</Words>
  <Application>Microsoft Office PowerPoint</Application>
  <PresentationFormat>画面に合わせる (4:3)</PresentationFormat>
  <Paragraphs>192</Paragraphs>
  <Slides>22</Slides>
  <Notes>6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8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22</vt:i4>
      </vt:variant>
    </vt:vector>
  </HeadingPairs>
  <TitlesOfParts>
    <vt:vector size="31" baseType="lpstr">
      <vt:lpstr>BIZ UDPゴシック</vt:lpstr>
      <vt:lpstr>HG丸ｺﾞｼｯｸM-PRO</vt:lpstr>
      <vt:lpstr>Meiryo UI</vt:lpstr>
      <vt:lpstr>游ゴシック</vt:lpstr>
      <vt:lpstr>Cambria Math</vt:lpstr>
      <vt:lpstr>Impact</vt:lpstr>
      <vt:lpstr>Wingdings</vt:lpstr>
      <vt:lpstr>Wingdings 2</vt:lpstr>
      <vt:lpstr>配当</vt:lpstr>
      <vt:lpstr>確率分布：離散確率分布(後半)</vt:lpstr>
      <vt:lpstr>今日の目標</vt:lpstr>
      <vt:lpstr>PowerPoint プレゼンテーション</vt:lpstr>
      <vt:lpstr>二項分布</vt:lpstr>
      <vt:lpstr>打率の事例</vt:lpstr>
      <vt:lpstr>二項分布の確率</vt:lpstr>
      <vt:lpstr>二項分布の確率①</vt:lpstr>
      <vt:lpstr>二項分布の確率②</vt:lpstr>
      <vt:lpstr>二項分布の確率③</vt:lpstr>
      <vt:lpstr>二項分布の確率</vt:lpstr>
      <vt:lpstr>PowerPoint プレゼンテーション</vt:lpstr>
      <vt:lpstr>二項分布の期待値と分散</vt:lpstr>
      <vt:lpstr>(Advanced) 二項分布の期待値の導出</vt:lpstr>
      <vt:lpstr>(Advanced) 二項分布の分散の導出①</vt:lpstr>
      <vt:lpstr>(Advanced) 二項分布の分散の導出②</vt:lpstr>
      <vt:lpstr>PowerPoint プレゼンテーション</vt:lpstr>
      <vt:lpstr>ポアソン分布</vt:lpstr>
      <vt:lpstr>ポアソン分布の期待値と分散</vt:lpstr>
      <vt:lpstr>Summary</vt:lpstr>
      <vt:lpstr>(付録)ポアソン分布の意味</vt:lpstr>
      <vt:lpstr>(付録)ポアソン分布の確率質量関数の導出</vt:lpstr>
      <vt:lpstr>(付録)ポアソン分布の確率質量関数の導出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Maria Ikegawa</dc:creator>
  <cp:lastModifiedBy>津村幸治</cp:lastModifiedBy>
  <cp:revision>188</cp:revision>
  <dcterms:created xsi:type="dcterms:W3CDTF">2025-03-03T09:28:12Z</dcterms:created>
  <dcterms:modified xsi:type="dcterms:W3CDTF">2026-09-13T17:50:13Z</dcterms:modified>
</cp:coreProperties>
</file>