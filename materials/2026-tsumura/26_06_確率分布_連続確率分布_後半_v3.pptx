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544" r:id="rId5"/>
    <p:sldId id="641" r:id="rId6"/>
    <p:sldId id="273" r:id="rId7"/>
    <p:sldId id="642" r:id="rId8"/>
    <p:sldId id="630" r:id="rId9"/>
    <p:sldId id="615" r:id="rId10"/>
    <p:sldId id="616" r:id="rId11"/>
    <p:sldId id="644" r:id="rId12"/>
    <p:sldId id="594" r:id="rId13"/>
    <p:sldId id="619" r:id="rId14"/>
    <p:sldId id="291" r:id="rId15"/>
    <p:sldId id="624" r:id="rId16"/>
    <p:sldId id="623" r:id="rId17"/>
    <p:sldId id="620" r:id="rId18"/>
    <p:sldId id="621" r:id="rId19"/>
    <p:sldId id="622" r:id="rId20"/>
    <p:sldId id="297" r:id="rId21"/>
    <p:sldId id="625" r:id="rId22"/>
    <p:sldId id="298" r:id="rId23"/>
    <p:sldId id="626" r:id="rId24"/>
    <p:sldId id="643" r:id="rId25"/>
  </p:sldIdLst>
  <p:sldSz cx="9144000" cy="6858000" type="screen4x3"/>
  <p:notesSz cx="6858000" cy="9144000"/>
  <p:embeddedFontLst>
    <p:embeddedFont>
      <p:font typeface="BIZ UDPゴシック" panose="020B0400000000000000" pitchFamily="34" charset="-128"/>
      <p:regular r:id="rId27"/>
      <p:bold r:id="rId28"/>
    </p:embeddedFont>
    <p:embeddedFont>
      <p:font typeface="Cambria Math" panose="02040503050406030204" pitchFamily="18" charset="0"/>
      <p:regular r:id="rId29"/>
    </p:embeddedFont>
    <p:embeddedFont>
      <p:font typeface="Gill Sans" panose="020B0604020202020204" charset="0"/>
      <p:regular r:id="rId30"/>
      <p:bold r:id="rId31"/>
    </p:embeddedFont>
    <p:embeddedFont>
      <p:font typeface="HG丸ｺﾞｼｯｸM-PRO" panose="020F0600000000000000" pitchFamily="34" charset="-128"/>
      <p:regular r:id="rId32"/>
    </p:embeddedFont>
    <p:embeddedFont>
      <p:font typeface="Impact" panose="020B0806030902050204" pitchFamily="3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G6+0Yz9Vk0AgsMeOrAJsj9E+T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BA7C6B-2C5A-4B46-9B24-1202DAD5BCDC}">
  <a:tblStyle styleId="{B3BA7C6B-2C5A-4B46-9B24-1202DAD5BCD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AF2"/>
          </a:solidFill>
        </a:fill>
      </a:tcStyle>
    </a:wholeTbl>
    <a:band1H>
      <a:tcTxStyle/>
      <a:tcStyle>
        <a:tcBdr/>
        <a:fill>
          <a:solidFill>
            <a:srgbClr val="CAD2E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2E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2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※非常にコンテンツが多いので，様子を見ながら適宜2コマに分けてください．</a:t>
            </a:r>
            <a:endParaRPr/>
          </a:p>
        </p:txBody>
      </p:sp>
      <p:sp>
        <p:nvSpPr>
          <p:cNvPr id="65" name="Google Shape;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589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8AA7EB6F-B32D-7BC6-E422-5750CDF94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>
            <a:extLst>
              <a:ext uri="{FF2B5EF4-FFF2-40B4-BE49-F238E27FC236}">
                <a16:creationId xmlns:a16="http://schemas.microsoft.com/office/drawing/2014/main" id="{6014901A-8D42-F9B4-93AC-74D760D4D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:notes">
            <a:extLst>
              <a:ext uri="{FF2B5EF4-FFF2-40B4-BE49-F238E27FC236}">
                <a16:creationId xmlns:a16="http://schemas.microsoft.com/office/drawing/2014/main" id="{441DE995-2837-8330-5472-F2D09E49A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537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2AD49AC4-4B94-C1C4-0367-D5AF549F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>
            <a:extLst>
              <a:ext uri="{FF2B5EF4-FFF2-40B4-BE49-F238E27FC236}">
                <a16:creationId xmlns:a16="http://schemas.microsoft.com/office/drawing/2014/main" id="{F3ECF495-8DD3-6DED-F998-6A7B38FD5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0:notes">
            <a:extLst>
              <a:ext uri="{FF2B5EF4-FFF2-40B4-BE49-F238E27FC236}">
                <a16:creationId xmlns:a16="http://schemas.microsoft.com/office/drawing/2014/main" id="{33313104-31C0-9E89-3D64-3D3170157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1622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419D-9376-0107-0BDA-A1A96A89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103928-8324-ABAC-4691-5EB215920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05DB76-33AD-EC23-F7E4-6780E10B7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EF0D1B-B34C-164F-53E5-D972A4870F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8250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0829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85EE4FBA-DAB5-7ADB-AE27-FCBE2E08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65069048-8DA9-0BE1-F69F-E1ABA072B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>
            <a:extLst>
              <a:ext uri="{FF2B5EF4-FFF2-40B4-BE49-F238E27FC236}">
                <a16:creationId xmlns:a16="http://schemas.microsoft.com/office/drawing/2014/main" id="{EB372F30-D7FF-3740-635D-53F74BFB5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6582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今日の目標">
  <p:cSld name="今日の目標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◆"/>
              <a:defRPr/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Font typeface="Noto Sans Symbols"/>
              <a:buChar char="✔"/>
              <a:defRPr/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660"/>
              <a:buNone/>
              <a:defRPr sz="2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1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2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4663281" y="953677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4"/>
          </p:nvPr>
        </p:nvSpPr>
        <p:spPr>
          <a:xfrm>
            <a:off x="131975" y="953676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の比較">
  <p:cSld name="図表の比較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131182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4663283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>
  <p:cSld name="タイトル付きの図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>
            <a:spLocks noGrp="1"/>
          </p:cNvSpPr>
          <p:nvPr>
            <p:ph type="pic" idx="2"/>
          </p:nvPr>
        </p:nvSpPr>
        <p:spPr>
          <a:xfrm>
            <a:off x="235670" y="810704"/>
            <a:ext cx="8672660" cy="4798244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>
            <a:off x="235669" y="5670223"/>
            <a:ext cx="8672660" cy="10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5795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51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70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ja-JP" dirty="0"/>
              <a:t>統計学　#0</a:t>
            </a:r>
            <a:r>
              <a:rPr lang="en-US" altLang="ja-JP" dirty="0"/>
              <a:t>6</a:t>
            </a:r>
            <a:endParaRPr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確率分布：連続</a:t>
            </a:r>
            <a:r>
              <a:rPr lang="ja-JP"/>
              <a:t>確率分布</a:t>
            </a:r>
            <a:r>
              <a:rPr lang="ja-JP" altLang="en-US"/>
              <a:t> 後半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今日の目標</a:t>
            </a: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altLang="en-US" dirty="0"/>
              <a:t>標本と標本平均の性質・中心極限定理</a:t>
            </a:r>
            <a:endParaRPr lang="en-US" altLang="ja-JP"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t分布とその特徴について理解する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カイ二乗分布とその特徴について理解する</a:t>
            </a:r>
            <a:endParaRPr dirty="0"/>
          </a:p>
        </p:txBody>
      </p:sp>
      <p:sp>
        <p:nvSpPr>
          <p:cNvPr id="75" name="Google Shape;75;p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１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</a:t>
            </a:r>
            <a:r>
              <a:rPr lang="ja-JP" altLang="en-US" dirty="0"/>
              <a:t>標本</a:t>
            </a:r>
            <a:endParaRPr dirty="0"/>
          </a:p>
        </p:txBody>
      </p:sp>
      <p:sp>
        <p:nvSpPr>
          <p:cNvPr id="360" name="Google Shape;360;p3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04530-AD0C-28F5-2E74-7C215C22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推測統計学のプロセス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A61FF7-A43D-F0BD-2A79-4921FA5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1AB72C-E4E8-32F8-A322-716C9497BB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</a:rPr>
              <a:t>推測統計学　</a:t>
            </a:r>
            <a:r>
              <a:rPr lang="en-US" altLang="ja-JP" dirty="0">
                <a:solidFill>
                  <a:schemeClr val="accent2"/>
                </a:solidFill>
              </a:rPr>
              <a:t>inferential statistics</a:t>
            </a: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母集団からランダムに抽出した</a:t>
            </a:r>
            <a:r>
              <a:rPr lang="ja-JP" altLang="en-US" b="1" dirty="0">
                <a:solidFill>
                  <a:schemeClr val="accent5"/>
                </a:solidFill>
              </a:rPr>
              <a:t>標本を利用</a:t>
            </a:r>
            <a:r>
              <a:rPr lang="ja-JP" altLang="en-US" dirty="0">
                <a:solidFill>
                  <a:schemeClr val="tx1"/>
                </a:solidFill>
              </a:rPr>
              <a:t>して，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b="1" dirty="0">
                <a:solidFill>
                  <a:schemeClr val="accent5"/>
                </a:solidFill>
              </a:rPr>
              <a:t>母集団の未知の特性値</a:t>
            </a:r>
            <a:r>
              <a:rPr lang="ja-JP" altLang="en-US" dirty="0">
                <a:solidFill>
                  <a:schemeClr val="tx1"/>
                </a:solidFill>
              </a:rPr>
              <a:t>（平均値や分散など）を</a:t>
            </a:r>
            <a:r>
              <a:rPr lang="ja-JP" altLang="en-US" b="1" dirty="0">
                <a:solidFill>
                  <a:schemeClr val="accent5"/>
                </a:solidFill>
              </a:rPr>
              <a:t>推測</a:t>
            </a:r>
            <a:r>
              <a:rPr lang="ja-JP" altLang="en-US" dirty="0">
                <a:solidFill>
                  <a:schemeClr val="tx1"/>
                </a:solidFill>
              </a:rPr>
              <a:t>していく方法</a:t>
            </a:r>
            <a:endParaRPr lang="en-US" altLang="ja-JP" dirty="0">
              <a:solidFill>
                <a:schemeClr val="tx1"/>
              </a:solidFill>
            </a:endParaRPr>
          </a:p>
          <a:p>
            <a:pPr lvl="2"/>
            <a:r>
              <a:rPr kumimoji="1" lang="ja-JP" altLang="en-US" dirty="0">
                <a:solidFill>
                  <a:schemeClr val="tx1"/>
                </a:solidFill>
              </a:rPr>
              <a:t>母集団すべてに調査を行い，データを取得することが難しいため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SpPr/>
          <p:nvPr/>
        </p:nvSpPr>
        <p:spPr>
          <a:xfrm>
            <a:off x="1587500" y="1161460"/>
            <a:ext cx="1968500" cy="1943100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SpPr/>
          <p:nvPr/>
        </p:nvSpPr>
        <p:spPr>
          <a:xfrm>
            <a:off x="5537200" y="1161460"/>
            <a:ext cx="2019300" cy="2019300"/>
          </a:xfrm>
          <a:prstGeom prst="ellipse">
            <a:avLst/>
          </a:prstGeom>
          <a:noFill/>
          <a:ln>
            <a:solidFill>
              <a:sysClr val="windowText" lastClr="0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SpPr/>
          <p:nvPr/>
        </p:nvSpPr>
        <p:spPr>
          <a:xfrm>
            <a:off x="1749425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母集団の特性値</a:t>
            </a:r>
            <a:endParaRPr kumimoji="1" lang="en-US" altLang="ja-JP" sz="1400" dirty="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平均・分散など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SpPr/>
          <p:nvPr/>
        </p:nvSpPr>
        <p:spPr>
          <a:xfrm>
            <a:off x="5721350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標本の推定量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0000000-0008-0000-0000-000009000000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2571750" y="3104560"/>
            <a:ext cx="15875" cy="695325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0000000-0008-0000-0000-00000C000000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559550" y="2690222"/>
            <a:ext cx="4763" cy="1109663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BEF6E616-D040-C3B1-0A4B-779E35794DC8}"/>
              </a:ext>
            </a:extLst>
          </p:cNvPr>
          <p:cNvGrpSpPr/>
          <p:nvPr/>
        </p:nvGrpSpPr>
        <p:grpSpPr>
          <a:xfrm>
            <a:off x="3556000" y="1557459"/>
            <a:ext cx="2451100" cy="695325"/>
            <a:chOff x="4619625" y="1786649"/>
            <a:chExt cx="2451100" cy="695325"/>
          </a:xfrm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00000000-0008-0000-0000-000008000000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4619625" y="2362200"/>
              <a:ext cx="2451100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7">
              <a:extLst>
                <a:ext uri="{FF2B5EF4-FFF2-40B4-BE49-F238E27FC236}">
                  <a16:creationId xmlns:a16="http://schemas.microsoft.com/office/drawing/2014/main" id="{00000000-0008-0000-0000-000012000000}"/>
                </a:ext>
              </a:extLst>
            </p:cNvPr>
            <p:cNvSpPr txBox="1"/>
            <p:nvPr/>
          </p:nvSpPr>
          <p:spPr>
            <a:xfrm>
              <a:off x="4900743" y="1786649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無作為抽出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63D6071-726B-7E14-E5B2-B52BBCB65FDB}"/>
              </a:ext>
            </a:extLst>
          </p:cNvPr>
          <p:cNvGrpSpPr/>
          <p:nvPr/>
        </p:nvGrpSpPr>
        <p:grpSpPr>
          <a:xfrm>
            <a:off x="3425825" y="3631527"/>
            <a:ext cx="2295525" cy="695325"/>
            <a:chOff x="4489450" y="3860717"/>
            <a:chExt cx="2295525" cy="695325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0000000-0008-0000-0000-00000F000000}"/>
                </a:ext>
              </a:extLst>
            </p:cNvPr>
            <p:cNvCxnSpPr>
              <a:cxnSpLocks/>
              <a:stCxn id="12" idx="1"/>
              <a:endCxn id="11" idx="3"/>
            </p:cNvCxnSpPr>
            <p:nvPr/>
          </p:nvCxnSpPr>
          <p:spPr>
            <a:xfrm flipH="1">
              <a:off x="4489450" y="4424363"/>
              <a:ext cx="2295525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テキスト ボックス 6">
              <a:extLst>
                <a:ext uri="{FF2B5EF4-FFF2-40B4-BE49-F238E27FC236}">
                  <a16:creationId xmlns:a16="http://schemas.microsoft.com/office/drawing/2014/main" id="{10097B8C-2A05-44ED-8ED3-C698495B0B29}"/>
                </a:ext>
              </a:extLst>
            </p:cNvPr>
            <p:cNvSpPr txBox="1"/>
            <p:nvPr/>
          </p:nvSpPr>
          <p:spPr>
            <a:xfrm>
              <a:off x="4921232" y="3860717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推測</a:t>
              </a:r>
            </a:p>
          </p:txBody>
        </p:sp>
      </p:grpSp>
      <p:sp>
        <p:nvSpPr>
          <p:cNvPr id="35" name="楕円 34">
            <a:extLst>
              <a:ext uri="{FF2B5EF4-FFF2-40B4-BE49-F238E27FC236}">
                <a16:creationId xmlns:a16="http://schemas.microsoft.com/office/drawing/2014/main" id="{8AFF1FC0-D64C-6526-A4B8-3857BE5B442F}"/>
              </a:ext>
            </a:extLst>
          </p:cNvPr>
          <p:cNvSpPr/>
          <p:nvPr/>
        </p:nvSpPr>
        <p:spPr>
          <a:xfrm>
            <a:off x="6007100" y="1575797"/>
            <a:ext cx="1114425" cy="1114425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</a:t>
            </a:r>
          </a:p>
        </p:txBody>
      </p:sp>
      <p:sp>
        <p:nvSpPr>
          <p:cNvPr id="7" name="Google Shape;89;p4">
            <a:extLst>
              <a:ext uri="{FF2B5EF4-FFF2-40B4-BE49-F238E27FC236}">
                <a16:creationId xmlns:a16="http://schemas.microsoft.com/office/drawing/2014/main" id="{36748E7B-DC87-6300-94DC-870404DA286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復習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122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16FF7-792D-B0AC-13F1-66035A63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標本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D5A4EC-7E7B-7187-A45F-9FBCEF15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209700" indent="-342900"/>
                <a:r>
                  <a:rPr kumimoji="1" lang="ja-JP" altLang="en-US" dirty="0">
                    <a:solidFill>
                      <a:schemeClr val="tx1"/>
                    </a:solidFill>
                  </a:rPr>
                  <a:t>標本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 母集団から無作為に抽出されたデータ</a:t>
                </a:r>
                <a:endParaRPr lang="en-US" altLang="ja-JP" b="0" i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ja-JP" sz="2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2800" dirty="0">
                    <a:solidFill>
                      <a:schemeClr val="tx1"/>
                    </a:solidFill>
                  </a:rPr>
                  <a:t>: </a:t>
                </a:r>
                <a:r>
                  <a:rPr kumimoji="1" lang="ja-JP" altLang="en-US" sz="2800" dirty="0">
                    <a:solidFill>
                      <a:schemeClr val="tx1"/>
                    </a:solidFill>
                  </a:rPr>
                  <a:t>標本集合</a:t>
                </a:r>
                <a:endParaRPr kumimoji="1" lang="en-US" altLang="ja-JP" sz="2800" dirty="0">
                  <a:solidFill>
                    <a:schemeClr val="tx1"/>
                  </a:solidFill>
                </a:endParaRPr>
              </a:p>
              <a:p>
                <a:pPr marL="324000" lvl="1" indent="0">
                  <a:buNone/>
                </a:pPr>
                <a:endParaRPr kumimoji="1" lang="en-US" altLang="ja-JP" sz="2800" dirty="0">
                  <a:solidFill>
                    <a:schemeClr val="tx1"/>
                  </a:solidFill>
                </a:endParaRPr>
              </a:p>
              <a:p>
                <a:pPr marL="209700" indent="-342900"/>
                <a:r>
                  <a:rPr kumimoji="1" lang="ja-JP" altLang="en-US" dirty="0">
                    <a:solidFill>
                      <a:schemeClr val="tx1"/>
                    </a:solidFill>
                  </a:rPr>
                  <a:t>標本平均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</a:rPr>
                  <a:t> (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標本データの算術平均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209700" indent="-342900"/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209700" indent="-342900"/>
                <a:r>
                  <a:rPr lang="ja-JP" altLang="en-US" dirty="0"/>
                  <a:t>偏差二乗和</a:t>
                </a:r>
                <a:r>
                  <a:rPr lang="en-US" altLang="ja-JP" dirty="0"/>
                  <a:t>: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209700" indent="-342900"/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209700" indent="-342900"/>
                <a:r>
                  <a:rPr lang="ja-JP" altLang="en-US" dirty="0">
                    <a:solidFill>
                      <a:schemeClr val="tx1"/>
                    </a:solidFill>
                  </a:rPr>
                  <a:t>標本分散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20015" indent="0">
                  <a:buNone/>
                </a:pPr>
                <a:r>
                  <a:rPr lang="en-US" altLang="ja-JP" dirty="0">
                    <a:solidFill>
                      <a:schemeClr val="tx1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個のデータ（標本）の標本分散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とは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400" dirty="0"/>
              </a:p>
              <a:p>
                <a:pPr marL="324000" lvl="1" indent="0">
                  <a:buNone/>
                </a:pP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324000" lvl="1" indent="0">
                  <a:buNone/>
                </a:pPr>
                <a:endParaRPr kumimoji="1" lang="en-US" altLang="ja-JP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43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02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中心極限定理</a:t>
            </a:r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6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Google Shape;233;p1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-3191" y="933254"/>
                <a:ext cx="9147196" cy="5788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06000" lvl="0" indent="-306000" algn="l" rtl="0">
                  <a:spcBef>
                    <a:spcPts val="0"/>
                  </a:spcBef>
                  <a:spcAft>
                    <a:spcPts val="0"/>
                  </a:spcAft>
                  <a:buSzPts val="2660"/>
                  <a:buChar char="■"/>
                </a:pPr>
                <a:r>
                  <a:rPr lang="ja-JP" altLang="en-US" dirty="0"/>
                  <a:t>中心極限定理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central limit theorem</a:t>
                </a:r>
                <a:endParaRPr lang="ja-JP" altLang="en-US" dirty="0"/>
              </a:p>
              <a:p>
                <a:pPr marL="630000" lvl="1" indent="-30600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Char char="✔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母集団は母数の母平均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の分布とする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630000" lvl="1" indent="-30600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Char char="✔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その母集団から無作為に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個の標本を得る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630000" lvl="1" indent="-306000">
                  <a:spcBef>
                    <a:spcPts val="1080"/>
                  </a:spcBef>
                  <a:buSzPts val="2280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その標本の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標本平均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と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母平均の誤差</a:t>
                </a:r>
                <a:r>
                  <a:rPr lang="ja-JP" altLang="en-US" dirty="0"/>
                  <a:t>の確率分布が，</a:t>
                </a:r>
                <a:br>
                  <a:rPr lang="ja-JP" altLang="en-US" dirty="0"/>
                </a:br>
                <a:r>
                  <a:rPr lang="ja-JP" altLang="en-US" dirty="0"/>
                  <a:t>標本の大きさ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を大きくすると，期待値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の正規分布に近づく</a:t>
                </a:r>
              </a:p>
              <a:p>
                <a:pPr marL="324000" lvl="1" indent="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None/>
                </a:pPr>
                <a:r>
                  <a:rPr lang="ja-JP" altLang="en-US" dirty="0"/>
                  <a:t>　より具体的には</a:t>
                </a:r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ja-JP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あるいは</m:t>
                      </m:r>
                      <m:r>
                        <a:rPr lang="ja-JP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同値</m:t>
                      </m:r>
                      <m:r>
                        <a:rPr lang="ja-JP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で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ja-JP" altLang="en-US" sz="2000" dirty="0">
                  <a:solidFill>
                    <a:schemeClr val="accent2"/>
                  </a:solidFill>
                </a:endParaRPr>
              </a:p>
              <a:p>
                <a:pPr marL="306000" lvl="0" indent="-306000" algn="l" rtl="0">
                  <a:spcBef>
                    <a:spcPts val="1000"/>
                  </a:spcBef>
                  <a:spcAft>
                    <a:spcPts val="0"/>
                  </a:spcAft>
                  <a:buSzPts val="1900"/>
                  <a:buChar char="■"/>
                </a:pPr>
                <a:r>
                  <a:rPr lang="ja-JP" altLang="en-US" sz="2000" dirty="0">
                    <a:solidFill>
                      <a:schemeClr val="tx1"/>
                    </a:solidFill>
                  </a:rPr>
                  <a:t>（参考）大数の法則</a:t>
                </a:r>
              </a:p>
              <a:p>
                <a:pPr marL="630000" lvl="1" indent="-306000">
                  <a:spcBef>
                    <a:spcPts val="960"/>
                  </a:spcBef>
                </a:pPr>
                <a:r>
                  <a:rPr lang="ja-JP" altLang="en-US" sz="1800" dirty="0">
                    <a:solidFill>
                      <a:schemeClr val="tx1"/>
                    </a:solidFill>
                  </a:rPr>
                  <a:t>試行回数</a:t>
                </a:r>
                <a14:m>
                  <m:oMath xmlns:m="http://schemas.openxmlformats.org/officeDocument/2006/math">
                    <m:r>
                      <a:rPr lang="ja-JP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1800" dirty="0">
                    <a:solidFill>
                      <a:schemeClr val="tx1"/>
                    </a:solidFill>
                  </a:rPr>
                  <a:t>を増やすと標本平均の分散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1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ja-JP" altLang="en-US" sz="1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1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1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ja-JP" altLang="en-US" sz="1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ja-JP" altLang="en-US" sz="1800" dirty="0">
                    <a:solidFill>
                      <a:schemeClr val="tx1"/>
                    </a:solidFill>
                  </a:rPr>
                  <a:t> は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0</a:t>
                </a:r>
                <a:r>
                  <a:rPr lang="ja-JP" altLang="en-US" sz="1800" dirty="0">
                    <a:solidFill>
                      <a:schemeClr val="tx1"/>
                    </a:solidFill>
                  </a:rPr>
                  <a:t>に近づく</a:t>
                </a:r>
              </a:p>
              <a:p>
                <a:pPr marL="630000" lvl="1" indent="-306000">
                  <a:spcBef>
                    <a:spcPts val="960"/>
                  </a:spcBef>
                </a:pPr>
                <a:r>
                  <a:rPr lang="ja-JP" altLang="en-US" sz="1800" dirty="0">
                    <a:solidFill>
                      <a:schemeClr val="tx1"/>
                    </a:solidFill>
                  </a:rPr>
                  <a:t>よって標本平均が母平均に収束する</a:t>
                </a:r>
              </a:p>
              <a:p>
                <a:pPr marL="630000" lvl="1" indent="-306000" algn="l" rtl="0">
                  <a:spcBef>
                    <a:spcPts val="960"/>
                  </a:spcBef>
                  <a:spcAft>
                    <a:spcPts val="0"/>
                  </a:spcAft>
                  <a:buSzPts val="1710"/>
                  <a:buChar char="✔"/>
                </a:pPr>
                <a:r>
                  <a:rPr lang="ja-JP" altLang="en-US" sz="1800" dirty="0">
                    <a:solidFill>
                      <a:schemeClr val="tx1"/>
                    </a:solidFill>
                  </a:rPr>
                  <a:t>標本平均が母平均の良い推定量であることを示す</a:t>
                </a:r>
              </a:p>
            </p:txBody>
          </p:sp>
        </mc:Choice>
        <mc:Fallback xmlns="">
          <p:sp>
            <p:nvSpPr>
              <p:cNvPr id="233" name="Google Shape;233;p1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3191" y="933254"/>
                <a:ext cx="9147196" cy="5788057"/>
              </a:xfrm>
              <a:prstGeom prst="rect">
                <a:avLst/>
              </a:prstGeom>
              <a:blipFill>
                <a:blip r:embed="rId3"/>
                <a:stretch>
                  <a:fillRect l="-1133" t="-1158" r="-4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Google Shape;234;p18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17F328CB-D10B-327B-18D7-73C9BAE5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>
            <a:extLst>
              <a:ext uri="{FF2B5EF4-FFF2-40B4-BE49-F238E27FC236}">
                <a16:creationId xmlns:a16="http://schemas.microsoft.com/office/drawing/2014/main" id="{5FD28AF8-CA32-5DDF-A27B-0BEF93479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altLang="en-US" dirty="0"/>
              <a:t>正規分布の標本</a:t>
            </a:r>
            <a:endParaRPr dirty="0"/>
          </a:p>
        </p:txBody>
      </p:sp>
      <p:sp>
        <p:nvSpPr>
          <p:cNvPr id="232" name="Google Shape;232;p18">
            <a:extLst>
              <a:ext uri="{FF2B5EF4-FFF2-40B4-BE49-F238E27FC236}">
                <a16:creationId xmlns:a16="http://schemas.microsoft.com/office/drawing/2014/main" id="{9A4DE978-D4FE-DC6A-BFE6-E366D9F540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7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Google Shape;233;p18">
                <a:extLst>
                  <a:ext uri="{FF2B5EF4-FFF2-40B4-BE49-F238E27FC236}">
                    <a16:creationId xmlns:a16="http://schemas.microsoft.com/office/drawing/2014/main" id="{8CE267E1-8092-A943-6A2B-BD22C141AE3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31976" y="933254"/>
                <a:ext cx="8880049" cy="5788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630000" lvl="1" indent="-30600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Char char="✔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母集団は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正規分布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に従うものとする．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324000" lvl="1" indent="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None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　　つまり母平均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の正規分布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630000" lvl="1" indent="-30600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Char char="✔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その母集団から無作為に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個の標本を得る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630000" lvl="1" indent="-306000">
                  <a:spcBef>
                    <a:spcPts val="1080"/>
                  </a:spcBef>
                  <a:buSzPts val="2280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その標本の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標本平均は正規分布</a:t>
                </a:r>
                <a:r>
                  <a:rPr lang="ja-JP" altLang="en-US" dirty="0"/>
                  <a:t>になる</a:t>
                </a:r>
                <a:endParaRPr lang="en-US" altLang="ja-JP" dirty="0"/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:r>
                  <a:rPr lang="ja-JP" altLang="en-US" dirty="0"/>
                  <a:t>  （近似ではなく任意の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/>
                  <a:t>の場合で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厳密に正規分布</a:t>
                </a:r>
                <a:r>
                  <a:rPr lang="ja-JP" altLang="en-US" dirty="0"/>
                  <a:t>になる）</a:t>
                </a:r>
                <a:endParaRPr lang="en-US" altLang="ja-JP" dirty="0"/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:br>
                  <a:rPr lang="ja-JP" altLang="en-US" dirty="0"/>
                </a:br>
                <a:r>
                  <a:rPr lang="ja-JP" altLang="en-US" dirty="0"/>
                  <a:t>    具体的には</a:t>
                </a:r>
                <a:endParaRPr lang="en-US" altLang="ja-JP" dirty="0"/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ja-JP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あるいは</m:t>
                      </m:r>
                      <m:r>
                        <a:rPr lang="ja-JP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同値</m:t>
                      </m:r>
                      <m:r>
                        <a:rPr lang="ja-JP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で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ja-JP" sz="2000" dirty="0">
                  <a:solidFill>
                    <a:schemeClr val="accent2"/>
                  </a:solidFill>
                </a:endParaRPr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:r>
                  <a:rPr lang="en-US" altLang="ja-JP" dirty="0">
                    <a:solidFill>
                      <a:schemeClr val="tx1"/>
                    </a:solidFill>
                  </a:rPr>
                  <a:t>    (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導出は第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8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回で示す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)</a:t>
                </a:r>
                <a:endParaRPr lang="en-US" altLang="ja-JP" dirty="0"/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:endParaRPr lang="ja-JP" alt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233" name="Google Shape;233;p18">
                <a:extLst>
                  <a:ext uri="{FF2B5EF4-FFF2-40B4-BE49-F238E27FC236}">
                    <a16:creationId xmlns:a16="http://schemas.microsoft.com/office/drawing/2014/main" id="{8CE267E1-8092-A943-6A2B-BD22C141AE3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1976" y="933254"/>
                <a:ext cx="8880049" cy="5788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Google Shape;234;p18">
            <a:extLst>
              <a:ext uri="{FF2B5EF4-FFF2-40B4-BE49-F238E27FC236}">
                <a16:creationId xmlns:a16="http://schemas.microsoft.com/office/drawing/2014/main" id="{F150B93B-428E-5194-1EE1-844FFCEADE4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590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C0C342B3-B2A3-2B3D-3E7D-26A73F83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>
            <a:extLst>
              <a:ext uri="{FF2B5EF4-FFF2-40B4-BE49-F238E27FC236}">
                <a16:creationId xmlns:a16="http://schemas.microsoft.com/office/drawing/2014/main" id="{C42F2691-133A-4F72-2FD0-DF464BAE9E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１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</a:t>
            </a:r>
            <a:r>
              <a:rPr lang="en-US" altLang="ja-JP" dirty="0"/>
              <a:t>t</a:t>
            </a:r>
            <a:r>
              <a:rPr lang="ja-JP" dirty="0"/>
              <a:t>分布</a:t>
            </a:r>
            <a:endParaRPr dirty="0"/>
          </a:p>
        </p:txBody>
      </p:sp>
      <p:sp>
        <p:nvSpPr>
          <p:cNvPr id="360" name="Google Shape;360;p30">
            <a:extLst>
              <a:ext uri="{FF2B5EF4-FFF2-40B4-BE49-F238E27FC236}">
                <a16:creationId xmlns:a16="http://schemas.microsoft.com/office/drawing/2014/main" id="{875BA507-CCD1-13C5-EEAC-8BA65BB58A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982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3C77-A569-994C-68E1-8AFD666A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EDE42A-C665-8E3B-A638-8A4751C9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EBAA2B-945B-837C-C23B-255381D2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ja-JP" altLang="en-US" dirty="0">
                    <a:solidFill>
                      <a:schemeClr val="accent5"/>
                    </a:solidFill>
                  </a:rPr>
                  <a:t>母集団は正規分布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とする→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標本平均も正規分布 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標準正規分布に従う確率変数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に変換する（標準化）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母分散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と母分散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が既知なら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が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計算できる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が未知の場合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の代わりに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標本不偏分散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を使って標準化する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6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sz="2600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sz="2600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ja-JP" sz="26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</m:t>
                                  </m:r>
                                  <m:r>
                                    <a:rPr lang="ja-JP" altLang="en-US" sz="2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不偏分散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は標準正規分布ではなく，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に従う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5" b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AFFB51-1BB7-A388-0C18-F44A761F12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61002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E72E04-1D50-D919-AE8C-B54DA68E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自由度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6147C0C-1E8D-43DC-890E-A7E1F3609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8344D26-CC64-6439-E75F-03D641AECD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自由度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degree of freedom</a:t>
                </a:r>
              </a:p>
              <a:p>
                <a:pPr lvl="1"/>
                <a:r>
                  <a:rPr lang="ja-JP" altLang="en-US" dirty="0"/>
                  <a:t>自由に動くことができる変数の数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 個の変数が満たす等式の数を </a:t>
                </a:r>
                <a14:m>
                  <m:oMath xmlns:m="http://schemas.openxmlformats.org/officeDocument/2006/math">
                    <m:r>
                      <a:rPr kumimoji="1" lang="en-US" altLang="ja-JP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dirty="0"/>
                  <a:t> とする 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その場合の</a:t>
                </a:r>
                <a:r>
                  <a:rPr lang="ja-JP" altLang="en-US" b="0" dirty="0"/>
                  <a:t>自由度は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つのデータ：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これらの平均値が </a:t>
                </a:r>
                <a:r>
                  <a:rPr lang="en-US" altLang="ja-JP" dirty="0"/>
                  <a:t>2 </a:t>
                </a:r>
                <a:r>
                  <a:rPr lang="ja-JP" altLang="en-US" dirty="0"/>
                  <a:t>だとわかっているとする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b="0" dirty="0"/>
                  <a:t>つまり</a:t>
                </a:r>
                <a14:m>
                  <m:oMath xmlns:m="http://schemas.openxmlformats.org/officeDocument/2006/math"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このときデータ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dirty="0"/>
                  <a:t>の自由度は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i="1">
                            <a:latin typeface="Cambria Math" panose="02040503050406030204" pitchFamily="18" charset="0"/>
                          </a:rPr>
                          <m:t>4−1</m:t>
                        </m:r>
                      </m:e>
                    </m:d>
                    <m:r>
                      <a:rPr kumimoji="1" lang="en-US" altLang="ja-JP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つまり</a:t>
                </a:r>
                <a14:m>
                  <m:oMath xmlns:m="http://schemas.openxmlformats.org/officeDocument/2006/math">
                    <m:r>
                      <a:rPr kumimoji="1" lang="en-US" altLang="ja-JP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ja-JP" altLang="en-US" dirty="0"/>
                  <a:t>個のデータの値が決定すれば残り</a:t>
                </a:r>
                <a14:m>
                  <m:oMath xmlns:m="http://schemas.openxmlformats.org/officeDocument/2006/math"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ja-JP" altLang="en-US" dirty="0"/>
                  <a:t>個のデータの値も決定する．つまり自由度は</a:t>
                </a:r>
                <a14:m>
                  <m:oMath xmlns:m="http://schemas.openxmlformats.org/officeDocument/2006/math">
                    <m:r>
                      <a:rPr kumimoji="1" lang="en-US" altLang="ja-JP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kumimoji="1"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8344D26-CC64-6439-E75F-03D641AEC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514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62AB4-387C-BEC7-42C2-6FF2395D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8C88B1-C8AE-96A5-D13B-987F90F6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445338-E428-364D-7E9E-7B0B4C30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である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個の標本データ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を考える．データは標本平均が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となる等式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個を満たす必要があるので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．</a:t>
                </a:r>
                <a:endParaRPr lang="en-US" altLang="ja-JP" dirty="0"/>
              </a:p>
              <a:p>
                <a:pPr marL="577215" lvl="1" indent="0">
                  <a:buNone/>
                </a:pPr>
                <a:r>
                  <a:rPr lang="ja-JP" altLang="en-US" dirty="0"/>
                  <a:t>　その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を</m:t>
                    </m:r>
                  </m:oMath>
                </a14:m>
                <a:r>
                  <a:rPr lang="ja-JP" altLang="en-US" dirty="0"/>
                  <a:t>用いた偏差二乗和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も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標本不偏分散とは，偏差二乗和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を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577215" lvl="1" indent="0">
                  <a:buNone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で割ったもの．つまり</a:t>
                </a:r>
                <a:endParaRPr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期待値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  ←これ重要！ この理由により未知の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の代わりに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 を用いる．第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8</a:t>
                </a:r>
                <a:r>
                  <a:rPr lang="ja-JP" altLang="en-US">
                    <a:solidFill>
                      <a:srgbClr val="FF0000"/>
                    </a:solidFill>
                  </a:rPr>
                  <a:t>回で詳しく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説明する</a:t>
                </a:r>
                <a:endParaRPr lang="en-US" altLang="ja-JP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  <a:blipFill>
                <a:blip r:embed="rId3"/>
                <a:stretch>
                  <a:fillRect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/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0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sz="2000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000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sz="20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0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sz="2000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000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000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ja-JP" alt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ja-JP" alt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元のデータ</m:t>
                                  </m:r>
                                  <m:r>
                                    <a:rPr lang="en-US" altLang="ja-JP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ja-JP" alt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標本平均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ja-JP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偏差</m:t>
                      </m:r>
                      <m:r>
                        <a:rPr lang="ja-JP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二乗和</m:t>
                      </m:r>
                    </m:oMath>
                  </m:oMathPara>
                </a14:m>
                <a:endParaRPr lang="en-US" altLang="ja-JP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523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E0365-685E-93F5-0D41-2A906769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7C3806-4910-9B7C-6EAE-7633E618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B692CE-6B5C-C5A6-373F-53227B1A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A4EFB94-5D9D-1916-D721-A669BB418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839" y="933254"/>
                <a:ext cx="9049281" cy="5788057"/>
              </a:xfrm>
            </p:spPr>
            <p:txBody>
              <a:bodyPr>
                <a:normAutofit/>
              </a:bodyPr>
              <a:lstStyle/>
              <a:p>
                <a:r>
                  <a:rPr lang="en-US" altLang="ja-JP" sz="2400" dirty="0">
                    <a:solidFill>
                      <a:schemeClr val="tx1"/>
                    </a:solidFill>
                  </a:rPr>
                  <a:t>t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Student’s t-distribution</a:t>
                </a:r>
              </a:p>
              <a:p>
                <a:pPr lvl="1"/>
                <a:r>
                  <a:rPr lang="ja-JP" altLang="en-US" sz="2000" dirty="0"/>
                  <a:t>母分散が未知の場合の，母平均に対する標本平均の，</a:t>
                </a:r>
                <a:br>
                  <a:rPr lang="en-US" altLang="ja-JP" sz="2000" dirty="0"/>
                </a:br>
                <a:r>
                  <a:rPr lang="ja-JP" altLang="en-US" sz="2000" dirty="0"/>
                  <a:t>標準化された距離を表す分布</a:t>
                </a:r>
                <a:endParaRPr lang="en-US" altLang="ja-JP" sz="2000" dirty="0"/>
              </a:p>
              <a:p>
                <a:pPr lvl="2"/>
                <a:r>
                  <a:rPr lang="ja-JP" altLang="en-US" sz="1600" dirty="0"/>
                  <a:t>標準化された距離：母分散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600" dirty="0"/>
                  <a:t>の代わりに，</a:t>
                </a:r>
                <a:r>
                  <a:rPr lang="ja-JP" altLang="en-US" sz="1600" dirty="0">
                    <a:solidFill>
                      <a:schemeClr val="accent5"/>
                    </a:solidFill>
                  </a:rPr>
                  <a:t>標本不偏分散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16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16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sz="1600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600" dirty="0"/>
                  <a:t>を利用して標準化する</a:t>
                </a:r>
                <a:endParaRPr lang="en-US" altLang="ja-JP" sz="1600" dirty="0"/>
              </a:p>
              <a:p>
                <a:pPr lvl="1"/>
                <a:r>
                  <a:rPr lang="ja-JP" altLang="en-US" sz="2000" dirty="0"/>
                  <a:t>自由度によって形状が変わる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自由度が大きくなるほど，標準正規分布に近似</a:t>
                </a:r>
                <a:r>
                  <a:rPr lang="ja-JP" altLang="en-US" sz="2000" dirty="0"/>
                  <a:t>する</a:t>
                </a:r>
                <a:endParaRPr kumimoji="1" lang="en-US" altLang="ja-JP" sz="2000" dirty="0"/>
              </a:p>
              <a:p>
                <a:endParaRPr kumimoji="1" lang="en-US" altLang="ja-JP" sz="1600" dirty="0"/>
              </a:p>
              <a:p>
                <a:r>
                  <a:rPr kumimoji="1" lang="ja-JP" altLang="en-US" sz="1600" dirty="0"/>
                  <a:t>確率密度関数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𝜈𝜋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d>
                      <m:d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den>
                        </m:f>
                      </m:e>
                    </m:d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sz="1400" dirty="0"/>
              </a:p>
              <a:p>
                <a:r>
                  <a:rPr kumimoji="1" lang="ja-JP" altLang="en-US" sz="1600" dirty="0"/>
                  <a:t>期待値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sz="1400" dirty="0"/>
              </a:p>
              <a:p>
                <a:r>
                  <a:rPr lang="ja-JP" altLang="en-US" sz="1600" dirty="0"/>
                  <a:t>分散</a:t>
                </a:r>
                <a:endParaRPr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kumimoji="1" lang="en-US" altLang="ja-JP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 1&lt;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ja-JP" sz="1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A4EFB94-5D9D-1916-D721-A669BB418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39" y="933254"/>
                <a:ext cx="9049281" cy="57880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図 11">
            <a:extLst>
              <a:ext uri="{FF2B5EF4-FFF2-40B4-BE49-F238E27FC236}">
                <a16:creationId xmlns:a16="http://schemas.microsoft.com/office/drawing/2014/main" id="{C1116F43-DFDD-4919-CC03-B49F76EAD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861" y="3689499"/>
            <a:ext cx="5279664" cy="316850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C6BBF2A-23FB-B84D-4F90-E28ED7E9E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5861" y="3689499"/>
            <a:ext cx="5281200" cy="316942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E7256504-74C2-8D97-E910-09A46EBB8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5861" y="3674436"/>
            <a:ext cx="5281200" cy="316942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4B6EA1C-5641-97BF-211F-D483E693D3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800" y="3689038"/>
            <a:ext cx="5281200" cy="316942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DA36580-B7B7-9C71-0A2A-A05F4154A2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2800" y="3689038"/>
            <a:ext cx="5281200" cy="316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1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4E92-4B3E-00DA-CC1F-4F34E86C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96FF7-4982-3E5E-5667-B1CCBF6E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分布の形状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AF410D-52F0-1AD5-DCDE-179A9515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4D8B51-52E2-F992-1F7B-BDD30EDD7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sz="2400" dirty="0">
                    <a:solidFill>
                      <a:schemeClr val="tx1"/>
                    </a:solidFill>
                  </a:rPr>
                  <a:t>t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分布の形状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左右対称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によって形状が変わる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自由度が大きくなるほど，標準正規分布に近似</a:t>
                </a:r>
                <a:r>
                  <a:rPr lang="ja-JP" altLang="en-US" sz="2000" dirty="0"/>
                  <a:t>する</a:t>
                </a:r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4D8B51-52E2-F992-1F7B-BDD30EDD7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図 11">
            <a:extLst>
              <a:ext uri="{FF2B5EF4-FFF2-40B4-BE49-F238E27FC236}">
                <a16:creationId xmlns:a16="http://schemas.microsoft.com/office/drawing/2014/main" id="{FD5AD3B5-ED57-8208-358D-48FA3A096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000" y="2958332"/>
            <a:ext cx="6498000" cy="3899666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8D084A7-C24B-81D7-AF8E-2C7FC187E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000" y="2958334"/>
            <a:ext cx="6498000" cy="389966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2E36B58-4ED6-0AFD-22CE-7B4B4E47B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000" y="2958334"/>
            <a:ext cx="6498000" cy="389966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953AD96-4C61-DF60-9C89-871FB6F3F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000" y="2958333"/>
            <a:ext cx="6498000" cy="389966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C52D9B1-2272-4A2D-BE08-5F38463D3D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754" y="2959700"/>
            <a:ext cx="6496493" cy="389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２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</a:t>
            </a:r>
            <a:r>
              <a:rPr lang="en-US" altLang="ja-JP" dirty="0"/>
              <a:t>t</a:t>
            </a:r>
            <a:r>
              <a:rPr lang="ja-JP" dirty="0"/>
              <a:t>分布表の読み方</a:t>
            </a:r>
            <a:endParaRPr dirty="0"/>
          </a:p>
        </p:txBody>
      </p:sp>
      <p:sp>
        <p:nvSpPr>
          <p:cNvPr id="413" name="Google Shape;413;p3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ED54A-F250-BC97-CE75-497DD5D3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5FD8A4-269E-B9AE-0553-6CEA5EAC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分布表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38AA20-817C-D3D8-4C40-500158FC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D156C40-C6D5-7E1A-6A41-EB9158711C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dirty="0"/>
                  <a:t>t</a:t>
                </a:r>
                <a:r>
                  <a:rPr lang="ja-JP" altLang="en-US" dirty="0"/>
                  <a:t>分布表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の，上側確率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に対応する</a:t>
                </a:r>
                <a:br>
                  <a:rPr lang="en-US" altLang="ja-JP" dirty="0"/>
                </a:br>
                <a:r>
                  <a:rPr lang="ja-JP" altLang="en-US" dirty="0">
                    <a:solidFill>
                      <a:schemeClr val="tx1"/>
                    </a:solidFill>
                  </a:rPr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ja-JP" altLang="en-US" sz="1800" dirty="0">
                    <a:solidFill>
                      <a:schemeClr val="tx1"/>
                    </a:solidFill>
                  </a:rPr>
                  <a:t>（横軸の値）</a:t>
                </a:r>
                <a:r>
                  <a:rPr lang="ja-JP" altLang="en-US" dirty="0"/>
                  <a:t>を表にしたもの</a:t>
                </a:r>
              </a:p>
              <a:p>
                <a:pPr lvl="1"/>
                <a:r>
                  <a:rPr lang="en-US" altLang="ja-JP" dirty="0"/>
                  <a:t>pp.203</a:t>
                </a:r>
                <a:r>
                  <a:rPr lang="ja-JP" altLang="en-US" dirty="0"/>
                  <a:t>参照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D156C40-C6D5-7E1A-6A41-EB9158711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2D9F17EE-D66A-4905-AD50-5001FF2F6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335" y="2397679"/>
            <a:ext cx="5961600" cy="35777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B045855-3B45-E785-0192-64160A3D82C8}"/>
                  </a:ext>
                </a:extLst>
              </p:cNvPr>
              <p:cNvSpPr txBox="1"/>
              <p:nvPr/>
            </p:nvSpPr>
            <p:spPr>
              <a:xfrm>
                <a:off x="8431880" y="5598835"/>
                <a:ext cx="4591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B045855-3B45-E785-0192-64160A3D8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880" y="5598835"/>
                <a:ext cx="4591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0A46ACBA-A17C-9B8D-8209-E86AD42FFE4E}"/>
                  </a:ext>
                </a:extLst>
              </p:cNvPr>
              <p:cNvSpPr txBox="1"/>
              <p:nvPr/>
            </p:nvSpPr>
            <p:spPr>
              <a:xfrm>
                <a:off x="6151090" y="6179936"/>
                <a:ext cx="198823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800" b="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kumimoji="1" lang="en-US" altLang="ja-JP" sz="18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sz="18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（表中）</a:t>
                </a: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0A46ACBA-A17C-9B8D-8209-E86AD42FF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090" y="6179936"/>
                <a:ext cx="1988237" cy="646331"/>
              </a:xfrm>
              <a:prstGeom prst="rect">
                <a:avLst/>
              </a:prstGeom>
              <a:blipFill>
                <a:blip r:embed="rId5"/>
                <a:stretch>
                  <a:fillRect l="-2454" t="-7547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45A1FEA-FFD1-6345-CF7A-2805F5768541}"/>
                  </a:ext>
                </a:extLst>
              </p:cNvPr>
              <p:cNvSpPr txBox="1"/>
              <p:nvPr/>
            </p:nvSpPr>
            <p:spPr>
              <a:xfrm>
                <a:off x="7713061" y="3965642"/>
                <a:ext cx="12418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800" b="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上側確率</a:t>
                </a:r>
                <a14:m>
                  <m:oMath xmlns:m="http://schemas.openxmlformats.org/officeDocument/2006/math">
                    <m:r>
                      <a:rPr kumimoji="1" lang="en-US" altLang="ja-JP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kumimoji="1" lang="en-US" altLang="ja-JP" sz="1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sz="18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（表頭）</a:t>
                </a: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45A1FEA-FFD1-6345-CF7A-2805F5768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061" y="3965642"/>
                <a:ext cx="1241878" cy="646331"/>
              </a:xfrm>
              <a:prstGeom prst="rect">
                <a:avLst/>
              </a:prstGeom>
              <a:blipFill>
                <a:blip r:embed="rId6"/>
                <a:stretch>
                  <a:fillRect l="-3922" t="-7547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BD518D5-192B-1591-F41D-BF3E0131D33B}"/>
              </a:ext>
            </a:extLst>
          </p:cNvPr>
          <p:cNvCxnSpPr>
            <a:cxnSpLocks/>
          </p:cNvCxnSpPr>
          <p:nvPr/>
        </p:nvCxnSpPr>
        <p:spPr>
          <a:xfrm flipH="1">
            <a:off x="7357731" y="4625272"/>
            <a:ext cx="781596" cy="887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AB52337-37B2-F64C-D036-06A72858FFA7}"/>
              </a:ext>
            </a:extLst>
          </p:cNvPr>
          <p:cNvCxnSpPr>
            <a:cxnSpLocks/>
          </p:cNvCxnSpPr>
          <p:nvPr/>
        </p:nvCxnSpPr>
        <p:spPr>
          <a:xfrm flipV="1">
            <a:off x="7219638" y="5588202"/>
            <a:ext cx="0" cy="581101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B7BA39FD-D81F-8985-0FB8-D7270CEDA8B4}"/>
              </a:ext>
            </a:extLst>
          </p:cNvPr>
          <p:cNvGrpSpPr/>
          <p:nvPr/>
        </p:nvGrpSpPr>
        <p:grpSpPr>
          <a:xfrm>
            <a:off x="2171904" y="3827282"/>
            <a:ext cx="2697996" cy="923330"/>
            <a:chOff x="2171904" y="3827282"/>
            <a:chExt cx="2697996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FABFA0A-0168-0B1F-9879-602487D3335B}"/>
                    </a:ext>
                  </a:extLst>
                </p:cNvPr>
                <p:cNvSpPr txBox="1"/>
                <p:nvPr/>
              </p:nvSpPr>
              <p:spPr>
                <a:xfrm>
                  <a:off x="2171904" y="3827282"/>
                  <a:ext cx="1879361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自由度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</m:oMath>
                  </a14:m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によって</a:t>
                  </a:r>
                  <a:endParaRPr kumimoji="1" lang="en-US" altLang="ja-JP" sz="1800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形が変わる</a:t>
                  </a:r>
                  <a:endParaRPr kumimoji="1" lang="en-US" altLang="ja-JP" sz="1800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（表側）</a:t>
                  </a:r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FABFA0A-0168-0B1F-9879-602487D33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1904" y="3827282"/>
                  <a:ext cx="1879361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89" t="-5298" r="-2589" b="-1059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BE44B2F1-B208-5CB7-FB10-B5356F4076F4}"/>
                </a:ext>
              </a:extLst>
            </p:cNvPr>
            <p:cNvCxnSpPr>
              <a:cxnSpLocks/>
            </p:cNvCxnSpPr>
            <p:nvPr/>
          </p:nvCxnSpPr>
          <p:spPr>
            <a:xfrm>
              <a:off x="3842445" y="4354697"/>
              <a:ext cx="1027455" cy="15502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992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8C0B07-BEBC-80AD-DA39-46C5E65C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標準正規分布表との違い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8DD895C-26B8-6625-1968-E63F22F7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F1880B8E-BACC-ED60-4F0B-6DD684DFF2C6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90305" y="2349000"/>
              <a:ext cx="8163390" cy="216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390">
                      <a:extLst>
                        <a:ext uri="{9D8B030D-6E8A-4147-A177-3AD203B41FA5}">
                          <a16:colId xmlns:a16="http://schemas.microsoft.com/office/drawing/2014/main" val="2581201769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070593642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85845420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標準正規分布表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88548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自由度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𝜈</m:t>
                              </m:r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158078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上側確率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632705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上側確率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パーセント点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𝜈</m:t>
                                  </m:r>
                                </m:e>
                              </m:d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07083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F1880B8E-BACC-ED60-4F0B-6DD684DFF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6834797"/>
                  </p:ext>
                </p:extLst>
              </p:nvPr>
            </p:nvGraphicFramePr>
            <p:xfrm>
              <a:off x="490305" y="2349000"/>
              <a:ext cx="8163390" cy="216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390">
                      <a:extLst>
                        <a:ext uri="{9D8B030D-6E8A-4147-A177-3AD203B41FA5}">
                          <a16:colId xmlns:a16="http://schemas.microsoft.com/office/drawing/2014/main" val="2581201769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070593642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85845420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標準正規分布表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88548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904" t="-101124" r="-677" b="-2168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158078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904" t="-203409" r="-677" b="-1193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632705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904" t="-300000" r="-100677" b="-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904" t="-300000" r="-677" b="-17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07083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75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5512-AC21-3CC4-C5B4-83F89992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B1EEB-3180-2A4B-2627-E1CFF0CA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081344-3926-EE0E-CF28-3DCB54DF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8526B53-41C3-5705-F67B-A89E7170C2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）自由度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kumimoji="1" lang="ja-JP" altLang="en-US" sz="2400" dirty="0"/>
                  <a:t>，上側確率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kumimoji="1" lang="ja-JP" altLang="en-US" sz="2400" dirty="0"/>
                  <a:t>のときの</a:t>
                </a:r>
                <a:br>
                  <a:rPr kumimoji="1" lang="en-US" altLang="ja-JP" sz="2400" dirty="0"/>
                </a:br>
                <a:r>
                  <a:rPr kumimoji="1" lang="ja-JP" altLang="en-US" sz="24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表側から，自由度</a:t>
                </a:r>
                <a:r>
                  <a:rPr lang="en-US" altLang="ja-JP" sz="2000" dirty="0"/>
                  <a:t>20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/>
                  <a:t>手順②　表頭から，上側確率</a:t>
                </a:r>
                <a:r>
                  <a:rPr kumimoji="1" lang="en-US" altLang="ja-JP" sz="2000" dirty="0"/>
                  <a:t>0.025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0" smtClean="0">
                        <a:latin typeface="Cambria Math" panose="02040503050406030204" pitchFamily="18" charset="0"/>
                      </a:rPr>
                      <m:t>2.0860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8526B53-41C3-5705-F67B-A89E7170C2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EADCBE17-C86A-5E35-018E-05F92319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697" y="3119890"/>
            <a:ext cx="5422606" cy="3254287"/>
          </a:xfrm>
          <a:prstGeom prst="rect">
            <a:avLst/>
          </a:prstGeom>
        </p:spPr>
      </p:pic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94D2C2F-D545-2EB9-0C9B-7BB240DD35F4}"/>
              </a:ext>
            </a:extLst>
          </p:cNvPr>
          <p:cNvGrpSpPr/>
          <p:nvPr/>
        </p:nvGrpSpPr>
        <p:grpSpPr>
          <a:xfrm>
            <a:off x="5986132" y="4519602"/>
            <a:ext cx="2750131" cy="1405144"/>
            <a:chOff x="5986132" y="4519602"/>
            <a:chExt cx="2750131" cy="1405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E98F927B-BB89-C00A-9B1C-95F363CA05BC}"/>
                    </a:ext>
                  </a:extLst>
                </p:cNvPr>
                <p:cNvSpPr txBox="1"/>
                <p:nvPr/>
              </p:nvSpPr>
              <p:spPr>
                <a:xfrm>
                  <a:off x="6631969" y="4519602"/>
                  <a:ext cx="210429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800" b="0" dirty="0">
                      <a:solidFill>
                        <a:schemeClr val="tx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上側確率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a14:m>
                  <a:endParaRPr kumimoji="1" lang="en-US" altLang="ja-JP" sz="1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tx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（表頭，手順②）</a:t>
                  </a: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E98F927B-BB89-C00A-9B1C-95F363CA0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69" y="4519602"/>
                  <a:ext cx="2104294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609" t="-66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C0730F5C-1EF1-96EA-3D4C-63A39D4D44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242E6A1-AD22-953C-2DED-435E94BF3C37}"/>
              </a:ext>
            </a:extLst>
          </p:cNvPr>
          <p:cNvGrpSpPr/>
          <p:nvPr/>
        </p:nvGrpSpPr>
        <p:grpSpPr>
          <a:xfrm>
            <a:off x="5890437" y="5996295"/>
            <a:ext cx="3178995" cy="768880"/>
            <a:chOff x="5890437" y="5996295"/>
            <a:chExt cx="3178995" cy="7688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221750A-863B-AA02-9D68-D88DF2012D0B}"/>
                    </a:ext>
                  </a:extLst>
                </p:cNvPr>
                <p:cNvSpPr txBox="1"/>
                <p:nvPr/>
              </p:nvSpPr>
              <p:spPr>
                <a:xfrm>
                  <a:off x="6631969" y="6118844"/>
                  <a:ext cx="243746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パーセント点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a14:m>
                  <a:endParaRPr kumimoji="1" lang="en-US" altLang="ja-JP" sz="18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（表中）</a:t>
                  </a: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221750A-863B-AA02-9D68-D88DF2012D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69" y="6118844"/>
                  <a:ext cx="2437463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2250" t="-7547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114C9BF-57C5-61E8-F65E-FA6B18CC5A80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5890437" y="5996295"/>
              <a:ext cx="741532" cy="445715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F03D656-BF0F-1F9C-DE71-493D43C2AC61}"/>
              </a:ext>
            </a:extLst>
          </p:cNvPr>
          <p:cNvGrpSpPr/>
          <p:nvPr/>
        </p:nvGrpSpPr>
        <p:grpSpPr>
          <a:xfrm>
            <a:off x="1293299" y="3773951"/>
            <a:ext cx="2768527" cy="767503"/>
            <a:chOff x="1293299" y="3773951"/>
            <a:chExt cx="2768527" cy="7675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76EF39-D81D-411B-976A-592BDBD224E7}"/>
                    </a:ext>
                  </a:extLst>
                </p:cNvPr>
                <p:cNvSpPr txBox="1"/>
                <p:nvPr/>
              </p:nvSpPr>
              <p:spPr>
                <a:xfrm>
                  <a:off x="1293299" y="3773951"/>
                  <a:ext cx="202042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自由度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</m:oMath>
                  </a14:m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の形</a:t>
                  </a:r>
                  <a:endParaRPr kumimoji="1" lang="en-US" altLang="ja-JP" sz="1800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（表側，手順①）</a:t>
                  </a: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76EF39-D81D-411B-976A-592BDBD224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99" y="3773951"/>
                  <a:ext cx="2020425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2410" t="-6604" r="-241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F7F3A1B7-BEF7-E4DF-3BC3-BDC5842395FA}"/>
                </a:ext>
              </a:extLst>
            </p:cNvPr>
            <p:cNvCxnSpPr>
              <a:cxnSpLocks/>
            </p:cNvCxnSpPr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910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2FEB-956F-F1C1-38DF-311CD6D1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C5C48-DB68-424A-581F-0A61A567A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（補足１）</a:t>
            </a:r>
            <a:r>
              <a:rPr lang="en-US" altLang="ja-JP" dirty="0"/>
              <a:t>t</a:t>
            </a:r>
            <a:r>
              <a:rPr kumimoji="1" lang="ja-JP" altLang="en-US" dirty="0"/>
              <a:t>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B233102-C39C-3BDA-A7E6-2E74B886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96E7D4-25B7-AA6D-9F5C-912B04A8C6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/>
                  <a:t>例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）自由度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ja-JP" altLang="en-US" sz="2400" dirty="0"/>
                  <a:t>，上側確率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ja-JP" altLang="en-US" sz="2400" dirty="0"/>
                  <a:t>のときの</a:t>
                </a:r>
                <a:br>
                  <a:rPr lang="en-US" altLang="ja-JP" sz="2400" dirty="0"/>
                </a:br>
                <a:r>
                  <a:rPr lang="ja-JP" altLang="en-US" sz="24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lang="ja-JP" altLang="en-US" sz="2400" dirty="0"/>
                  <a:t>を求めたい</a:t>
                </a:r>
                <a:endParaRPr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手順①　表側から，自由度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20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手順②　表頭から，上側確率</a:t>
                </a:r>
                <a:r>
                  <a:rPr lang="en-US" altLang="ja-JP" sz="2000" dirty="0"/>
                  <a:t>0.025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>
                        <a:latin typeface="Cambria Math" panose="02040503050406030204" pitchFamily="18" charset="0"/>
                      </a:rPr>
                      <m:t>2.0860</m:t>
                    </m:r>
                  </m:oMath>
                </a14:m>
                <a:r>
                  <a:rPr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96E7D4-25B7-AA6D-9F5C-912B04A8C6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A99E19FC-DBC0-F9EE-DF88-B8371CF91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284" y="3054155"/>
            <a:ext cx="45214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33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2E386-845C-F411-4F6E-30223B2B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A7BA8-7349-46FB-6C0B-17790B08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（補足２）</a:t>
            </a:r>
            <a:r>
              <a:rPr lang="en-US" altLang="ja-JP" dirty="0"/>
              <a:t>t</a:t>
            </a:r>
            <a:r>
              <a:rPr kumimoji="1" lang="ja-JP" altLang="en-US" dirty="0"/>
              <a:t>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B18146F-5B52-FC32-5F08-0A78879C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57B2D-5D64-5AA0-E607-9CAFADD96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/>
                  <a:t>例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）自由度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ja-JP" altLang="en-US" sz="2400" dirty="0"/>
                  <a:t>，上側確率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ja-JP" altLang="en-US" sz="2400" dirty="0"/>
                  <a:t>のときの</a:t>
                </a:r>
                <a:br>
                  <a:rPr lang="en-US" altLang="ja-JP" sz="2400" dirty="0"/>
                </a:br>
                <a:r>
                  <a:rPr lang="ja-JP" altLang="en-US" sz="24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lang="ja-JP" altLang="en-US" sz="2400" dirty="0"/>
                  <a:t>を求めたい</a:t>
                </a:r>
                <a:endParaRPr lang="en-US" altLang="ja-JP" sz="2400" dirty="0"/>
              </a:p>
              <a:p>
                <a:pPr lvl="1"/>
                <a:r>
                  <a:rPr lang="ja-JP" altLang="en-US" sz="2000" dirty="0"/>
                  <a:t>手順①　表側から，自由度</a:t>
                </a:r>
                <a:r>
                  <a:rPr lang="en-US" altLang="ja-JP" sz="2000" dirty="0"/>
                  <a:t>20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手順②　表頭から，上側確率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0.025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>
                        <a:latin typeface="Cambria Math" panose="02040503050406030204" pitchFamily="18" charset="0"/>
                      </a:rPr>
                      <m:t>2.0860</m:t>
                    </m:r>
                  </m:oMath>
                </a14:m>
                <a:r>
                  <a:rPr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57B2D-5D64-5AA0-E607-9CAFADD96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FA1574D9-02E0-D494-0767-50570C350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284" y="3054155"/>
            <a:ext cx="45214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42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altLang="ja-JP" dirty="0"/>
              <a:t>t</a:t>
            </a:r>
            <a:r>
              <a:rPr lang="ja-JP" dirty="0"/>
              <a:t>分布表の読み方④</a:t>
            </a:r>
            <a:endParaRPr dirty="0"/>
          </a:p>
        </p:txBody>
      </p:sp>
      <p:sp>
        <p:nvSpPr>
          <p:cNvPr id="475" name="Google Shape;475;p4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20</a:t>
            </a:fld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48" t="-4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477" name="Google Shape;477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5238" y="3827282"/>
            <a:ext cx="4573524" cy="2744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" name="Google Shape;478;p42"/>
          <p:cNvGrpSpPr/>
          <p:nvPr/>
        </p:nvGrpSpPr>
        <p:grpSpPr>
          <a:xfrm>
            <a:off x="5497060" y="6118844"/>
            <a:ext cx="3523479" cy="646331"/>
            <a:chOff x="5497060" y="6118844"/>
            <a:chExt cx="3523479" cy="646331"/>
          </a:xfrm>
        </p:grpSpPr>
        <p:sp>
          <p:nvSpPr>
            <p:cNvPr id="479" name="Google Shape;479;p42"/>
            <p:cNvSpPr txBox="1"/>
            <p:nvPr/>
          </p:nvSpPr>
          <p:spPr>
            <a:xfrm>
              <a:off x="6680860" y="6118844"/>
              <a:ext cx="2339679" cy="64633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l="-2082" t="-7545" b="-1509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80" name="Google Shape;480;p42"/>
            <p:cNvCxnSpPr>
              <a:stCxn id="479" idx="1"/>
            </p:cNvCxnSpPr>
            <p:nvPr/>
          </p:nvCxnSpPr>
          <p:spPr>
            <a:xfrm rot="10800000">
              <a:off x="5497060" y="6262610"/>
              <a:ext cx="1183800" cy="17940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1" name="Google Shape;481;p42"/>
          <p:cNvGrpSpPr/>
          <p:nvPr/>
        </p:nvGrpSpPr>
        <p:grpSpPr>
          <a:xfrm>
            <a:off x="5654154" y="4750820"/>
            <a:ext cx="2567325" cy="1405144"/>
            <a:chOff x="5986132" y="4519602"/>
            <a:chExt cx="2567325" cy="1405144"/>
          </a:xfrm>
        </p:grpSpPr>
        <p:sp>
          <p:nvSpPr>
            <p:cNvPr id="482" name="Google Shape;482;p42"/>
            <p:cNvSpPr txBox="1"/>
            <p:nvPr/>
          </p:nvSpPr>
          <p:spPr>
            <a:xfrm>
              <a:off x="6631969" y="4519602"/>
              <a:ext cx="1921488" cy="64633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2530" t="-6601" b="-1509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83" name="Google Shape;483;p42"/>
            <p:cNvCxnSpPr/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4" name="Google Shape;484;p42"/>
          <p:cNvGrpSpPr/>
          <p:nvPr/>
        </p:nvGrpSpPr>
        <p:grpSpPr>
          <a:xfrm>
            <a:off x="1240136" y="4421211"/>
            <a:ext cx="2768527" cy="767503"/>
            <a:chOff x="1293299" y="3773951"/>
            <a:chExt cx="2768527" cy="767503"/>
          </a:xfrm>
        </p:grpSpPr>
        <p:sp>
          <p:nvSpPr>
            <p:cNvPr id="485" name="Google Shape;485;p42"/>
            <p:cNvSpPr txBox="1"/>
            <p:nvPr/>
          </p:nvSpPr>
          <p:spPr>
            <a:xfrm>
              <a:off x="1293299" y="3773951"/>
              <a:ext cx="2020426" cy="64633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l="-2408" t="-6601" r="-2409" b="-1509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86" name="Google Shape;486;p42"/>
            <p:cNvCxnSpPr/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noFill/>
            <a:ln w="12700" cap="rnd" cmpd="sng">
              <a:solidFill>
                <a:srgbClr val="F083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7" name="Google Shape;487;p42"/>
          <p:cNvGrpSpPr/>
          <p:nvPr/>
        </p:nvGrpSpPr>
        <p:grpSpPr>
          <a:xfrm>
            <a:off x="276675" y="5420684"/>
            <a:ext cx="3218260" cy="735280"/>
            <a:chOff x="5530910" y="4655987"/>
            <a:chExt cx="3218260" cy="735280"/>
          </a:xfrm>
        </p:grpSpPr>
        <p:sp>
          <p:nvSpPr>
            <p:cNvPr id="488" name="Google Shape;488;p42"/>
            <p:cNvSpPr txBox="1"/>
            <p:nvPr/>
          </p:nvSpPr>
          <p:spPr>
            <a:xfrm>
              <a:off x="5530910" y="4655987"/>
              <a:ext cx="21483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 b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左右で同じ面積</a:t>
              </a:r>
              <a:endParaRPr sz="18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（手順②）</a:t>
              </a:r>
              <a:endParaRPr/>
            </a:p>
          </p:txBody>
        </p:sp>
        <p:cxnSp>
          <p:nvCxnSpPr>
            <p:cNvPr id="489" name="Google Shape;489;p42"/>
            <p:cNvCxnSpPr/>
            <p:nvPr/>
          </p:nvCxnSpPr>
          <p:spPr>
            <a:xfrm>
              <a:off x="7125565" y="5147050"/>
              <a:ext cx="1623605" cy="244217"/>
            </a:xfrm>
            <a:prstGeom prst="straightConnector1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490" name="Google Shape;490;p42"/>
          <p:cNvSpPr txBox="1"/>
          <p:nvPr/>
        </p:nvSpPr>
        <p:spPr>
          <a:xfrm>
            <a:off x="4181075" y="5559183"/>
            <a:ext cx="78098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F565-D014-2D3B-9BD9-62D4147C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248DD-F22F-5F38-6CB5-F944A83E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</a:t>
            </a:r>
            <a:r>
              <a:rPr kumimoji="1" lang="ja-JP" altLang="en-US" dirty="0"/>
              <a:t>分布表の読み方④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FDC970-C4F6-748A-DE59-6B000E94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30869F7-ED0F-1230-A1E5-17C69CECB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000" dirty="0"/>
                  <a:t>例</a:t>
                </a:r>
                <a:r>
                  <a:rPr kumimoji="1" lang="en-US" altLang="ja-JP" sz="2000" dirty="0"/>
                  <a:t>2</a:t>
                </a:r>
                <a:r>
                  <a:rPr kumimoji="1" lang="ja-JP" altLang="en-US" sz="2000" dirty="0"/>
                  <a:t>）</a:t>
                </a:r>
                <a:r>
                  <a:rPr lang="ja-JP" altLang="en-US" sz="2000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ja-JP" altLang="en-US" sz="2000" dirty="0"/>
                  <a:t>のとき，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ja-JP" altLang="en-US" sz="2000" dirty="0"/>
                  <a:t>となる</a:t>
                </a:r>
                <a:br>
                  <a:rPr lang="en-US" altLang="ja-JP" sz="2000" dirty="0"/>
                </a:br>
                <a:r>
                  <a:rPr lang="ja-JP" altLang="en-US" sz="20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ja-JP" altLang="en-US" sz="2000" dirty="0"/>
                  <a:t>を求めたい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手順①　確率の合計は</a:t>
                </a:r>
                <a:r>
                  <a:rPr lang="en-US" altLang="ja-JP" sz="2000" dirty="0"/>
                  <a:t>1</a:t>
                </a:r>
                <a:r>
                  <a:rPr lang="ja-JP" altLang="en-US" sz="2000" dirty="0"/>
                  <a:t>なので，両端の確率の合計は</a:t>
                </a:r>
                <a:r>
                  <a:rPr lang="en-US" altLang="ja-JP" sz="2000" dirty="0"/>
                  <a:t>0.1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1−0.90=0.10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手順②　</a:t>
                </a:r>
                <a:r>
                  <a:rPr lang="en-US" altLang="ja-JP" sz="2000" dirty="0"/>
                  <a:t>t</a:t>
                </a:r>
                <a:r>
                  <a:rPr lang="ja-JP" altLang="en-US" sz="2000" dirty="0"/>
                  <a:t>分布は左右対称なので，左端と右端の面積は等しい</a:t>
                </a:r>
                <a:endParaRPr lang="en-US" altLang="ja-JP" sz="2000" dirty="0"/>
              </a:p>
              <a:p>
                <a:pPr lvl="2"/>
                <a:r>
                  <a:rPr lang="ja-JP" altLang="en-US" sz="1600" b="0" dirty="0"/>
                  <a:t>上側確率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×0.1=0.05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手順③　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ja-JP" altLang="en-US" sz="2000" dirty="0"/>
                  <a:t>を表から読み取る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30869F7-ED0F-1230-A1E5-17C69CECB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 t="-4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28507B03-68D2-4A99-A2FA-3F218073A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238" y="3827282"/>
            <a:ext cx="4573524" cy="2744724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B8CD6AD-C63D-125E-7F91-794CCA832D0E}"/>
              </a:ext>
            </a:extLst>
          </p:cNvPr>
          <p:cNvGrpSpPr/>
          <p:nvPr/>
        </p:nvGrpSpPr>
        <p:grpSpPr>
          <a:xfrm>
            <a:off x="5497033" y="6118844"/>
            <a:ext cx="3523506" cy="646331"/>
            <a:chOff x="5497033" y="6118844"/>
            <a:chExt cx="352350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5AF2064-CF99-2BDB-CB7B-786C8308DD20}"/>
                    </a:ext>
                  </a:extLst>
                </p:cNvPr>
                <p:cNvSpPr txBox="1"/>
                <p:nvPr/>
              </p:nvSpPr>
              <p:spPr>
                <a:xfrm>
                  <a:off x="6680860" y="6118844"/>
                  <a:ext cx="233967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パーセント点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a14:m>
                  <a:endParaRPr kumimoji="1" lang="en-US" altLang="ja-JP" sz="18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（表中）</a:t>
                  </a: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5AF2064-CF99-2BDB-CB7B-786C8308D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0860" y="6118844"/>
                  <a:ext cx="2339679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083" t="-7547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F2517951-3333-46FE-4A12-2AB56E77D5F9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5497033" y="6262577"/>
              <a:ext cx="1183827" cy="179433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491A7A9-C559-811B-28CD-FEC3E912CBE0}"/>
              </a:ext>
            </a:extLst>
          </p:cNvPr>
          <p:cNvGrpSpPr/>
          <p:nvPr/>
        </p:nvGrpSpPr>
        <p:grpSpPr>
          <a:xfrm>
            <a:off x="5654154" y="4750820"/>
            <a:ext cx="2567325" cy="1405144"/>
            <a:chOff x="5986132" y="4519602"/>
            <a:chExt cx="2567325" cy="1405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14FCF82-1800-EAB9-B87B-3695B539FD17}"/>
                    </a:ext>
                  </a:extLst>
                </p:cNvPr>
                <p:cNvSpPr txBox="1"/>
                <p:nvPr/>
              </p:nvSpPr>
              <p:spPr>
                <a:xfrm>
                  <a:off x="6631969" y="4519602"/>
                  <a:ext cx="192148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800" b="0" dirty="0">
                      <a:solidFill>
                        <a:schemeClr val="tx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両端の合計は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</m:oMath>
                  </a14:m>
                  <a:endParaRPr kumimoji="1" lang="en-US" altLang="ja-JP" sz="1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tx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（手順①）</a:t>
                  </a:r>
                  <a:endParaRPr kumimoji="1" lang="ja-JP" altLang="en-US" sz="1800" dirty="0">
                    <a:solidFill>
                      <a:schemeClr val="tx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14FCF82-1800-EAB9-B87B-3695B539FD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69" y="4519602"/>
                  <a:ext cx="1921488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2532" t="-66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01894C4-89F6-6431-04DE-BD6499CA9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0C0D2BCA-7006-2D4D-EDE7-5821308740FA}"/>
              </a:ext>
            </a:extLst>
          </p:cNvPr>
          <p:cNvGrpSpPr/>
          <p:nvPr/>
        </p:nvGrpSpPr>
        <p:grpSpPr>
          <a:xfrm>
            <a:off x="1240136" y="4421211"/>
            <a:ext cx="2768527" cy="767503"/>
            <a:chOff x="1293299" y="3773951"/>
            <a:chExt cx="2768527" cy="7675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97D490E-A92E-3655-BEA7-5EDFCF84375C}"/>
                    </a:ext>
                  </a:extLst>
                </p:cNvPr>
                <p:cNvSpPr txBox="1"/>
                <p:nvPr/>
              </p:nvSpPr>
              <p:spPr>
                <a:xfrm>
                  <a:off x="1293299" y="3773951"/>
                  <a:ext cx="202042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自由度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a14:m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の形</a:t>
                  </a:r>
                  <a:endParaRPr kumimoji="1" lang="en-US" altLang="ja-JP" sz="1800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（表側）</a:t>
                  </a:r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97D490E-A92E-3655-BEA7-5EDFCF8437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99" y="3773951"/>
                  <a:ext cx="2020426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2410" t="-6604" r="-241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1B47330F-3B23-3ED3-2A01-38726CC3AF4F}"/>
                </a:ext>
              </a:extLst>
            </p:cNvPr>
            <p:cNvCxnSpPr>
              <a:cxnSpLocks/>
            </p:cNvCxnSpPr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D4007E65-5E3A-704F-5E0B-C6E9DFDA4CCF}"/>
              </a:ext>
            </a:extLst>
          </p:cNvPr>
          <p:cNvGrpSpPr/>
          <p:nvPr/>
        </p:nvGrpSpPr>
        <p:grpSpPr>
          <a:xfrm>
            <a:off x="276675" y="5420684"/>
            <a:ext cx="3218260" cy="735280"/>
            <a:chOff x="5530910" y="4655987"/>
            <a:chExt cx="3218260" cy="735280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FD428E9-4A48-1216-919F-C904BC7998ED}"/>
                </a:ext>
              </a:extLst>
            </p:cNvPr>
            <p:cNvSpPr txBox="1"/>
            <p:nvPr/>
          </p:nvSpPr>
          <p:spPr>
            <a:xfrm>
              <a:off x="5530910" y="4655987"/>
              <a:ext cx="17748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b="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左右で同じ面積</a:t>
              </a:r>
              <a:endParaRPr kumimoji="1" lang="en-US" altLang="ja-JP" sz="18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sz="18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（手順②）</a:t>
              </a:r>
            </a:p>
          </p:txBody>
        </p: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E39185A8-2F6F-F3B0-A0BC-17EBD7887188}"/>
                </a:ext>
              </a:extLst>
            </p:cNvPr>
            <p:cNvCxnSpPr>
              <a:cxnSpLocks/>
            </p:cNvCxnSpPr>
            <p:nvPr/>
          </p:nvCxnSpPr>
          <p:spPr>
            <a:xfrm>
              <a:off x="7125565" y="5147050"/>
              <a:ext cx="1623605" cy="2442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0ADD9DF-6FE3-6485-2D8E-E8498162E119}"/>
              </a:ext>
            </a:extLst>
          </p:cNvPr>
          <p:cNvSpPr txBox="1"/>
          <p:nvPr/>
        </p:nvSpPr>
        <p:spPr>
          <a:xfrm>
            <a:off x="4181075" y="5559183"/>
            <a:ext cx="7809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0.90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090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3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３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カイ二乗分布</a:t>
            </a:r>
            <a:endParaRPr dirty="0"/>
          </a:p>
        </p:txBody>
      </p:sp>
      <p:sp>
        <p:nvSpPr>
          <p:cNvPr id="496" name="Google Shape;496;p4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E26A-539F-9D5C-CED8-CBBA6B7C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D9DB48-93BC-5D23-A597-F5A4C0FA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カイ二乗分布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D789CA7-CEFE-986E-19C9-E3A466C3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FED9AC-6A5C-EC22-C360-7C0D56A0A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カイ二乗分布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chi-squared distribution</a:t>
                </a:r>
              </a:p>
              <a:p>
                <a:pPr lvl="1"/>
                <a:r>
                  <a:rPr lang="ja-JP" altLang="en-US" sz="2000" dirty="0"/>
                  <a:t>独立に標準正規分布に従う確率変数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の平方和を表す分布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左右非対称</a:t>
                </a:r>
                <a:r>
                  <a:rPr lang="ja-JP" altLang="en-US" sz="2000" dirty="0"/>
                  <a:t>．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自由度が大きくなるほど，左右対称になっていく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FED9AC-6A5C-EC22-C360-7C0D56A0A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図 9">
            <a:extLst>
              <a:ext uri="{FF2B5EF4-FFF2-40B4-BE49-F238E27FC236}">
                <a16:creationId xmlns:a16="http://schemas.microsoft.com/office/drawing/2014/main" id="{8E96D235-B428-D5FD-D9DC-464935969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800" y="3688576"/>
            <a:ext cx="5281200" cy="316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BADF27D9-ACB9-FD49-EB32-B7512269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C5239E05-714D-0927-DEE6-896E999FA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altLang="ja-JP" dirty="0"/>
              <a:t>Summary</a:t>
            </a:r>
            <a:endParaRPr dirty="0"/>
          </a:p>
        </p:txBody>
      </p:sp>
      <p:sp>
        <p:nvSpPr>
          <p:cNvPr id="74" name="Google Shape;74;p2">
            <a:extLst>
              <a:ext uri="{FF2B5EF4-FFF2-40B4-BE49-F238E27FC236}">
                <a16:creationId xmlns:a16="http://schemas.microsoft.com/office/drawing/2014/main" id="{20A1ED86-219E-CF81-C077-CEFBF5B66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altLang="en-US" dirty="0"/>
              <a:t>標本と標本平均の性質・中心極限定理</a:t>
            </a:r>
            <a:endParaRPr lang="en-US" altLang="ja-JP"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t分布とその特徴について理解する</a:t>
            </a:r>
            <a:endParaRPr lang="en-US" altLang="ja-JP" dirty="0"/>
          </a:p>
          <a:p>
            <a:pPr marL="1087200" lvl="2" indent="-306000">
              <a:spcBef>
                <a:spcPts val="1080"/>
              </a:spcBef>
            </a:pPr>
            <a:r>
              <a:rPr lang="ja-JP" altLang="en-US" dirty="0">
                <a:solidFill>
                  <a:schemeClr val="accent5"/>
                </a:solidFill>
              </a:rPr>
              <a:t>自由度が大きくなると，標準正規分布に近似する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カイ二乗分布とその特徴について理解する</a:t>
            </a:r>
            <a:endParaRPr lang="en-US" altLang="ja-JP" dirty="0"/>
          </a:p>
          <a:p>
            <a:pPr marL="1087200" lvl="2" indent="-306000">
              <a:spcBef>
                <a:spcPts val="1080"/>
              </a:spcBef>
            </a:pPr>
            <a:r>
              <a:rPr lang="ja-JP" altLang="en-US" dirty="0"/>
              <a:t>左右非対称，自由度が大きくなると左右対称に近づく</a:t>
            </a:r>
            <a:endParaRPr lang="en-US" altLang="ja-JP" dirty="0"/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96BF9781-0569-65AA-0E5A-50C2D0A440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922641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rgbClr val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1451</Words>
  <Application>Microsoft Office PowerPoint</Application>
  <PresentationFormat>画面に合わせる (4:3)</PresentationFormat>
  <Paragraphs>225</Paragraphs>
  <Slides>24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32" baseType="lpstr">
      <vt:lpstr>HG丸ｺﾞｼｯｸM-PRO</vt:lpstr>
      <vt:lpstr>Arial</vt:lpstr>
      <vt:lpstr>Impact</vt:lpstr>
      <vt:lpstr>Noto Sans Symbols</vt:lpstr>
      <vt:lpstr>BIZ UDPゴシック</vt:lpstr>
      <vt:lpstr>Cambria Math</vt:lpstr>
      <vt:lpstr>Gill Sans</vt:lpstr>
      <vt:lpstr>配当</vt:lpstr>
      <vt:lpstr>確率分布：連続確率分布 後半</vt:lpstr>
      <vt:lpstr>今日の目標</vt:lpstr>
      <vt:lpstr>PowerPoint プレゼンテーション</vt:lpstr>
      <vt:lpstr>推測統計学のプロセス</vt:lpstr>
      <vt:lpstr>標本 </vt:lpstr>
      <vt:lpstr>中心極限定理</vt:lpstr>
      <vt:lpstr>正規分布の標本</vt:lpstr>
      <vt:lpstr>PowerPoint プレゼンテーション</vt:lpstr>
      <vt:lpstr>t分布</vt:lpstr>
      <vt:lpstr>自由度</vt:lpstr>
      <vt:lpstr>標本不偏分散</vt:lpstr>
      <vt:lpstr>t分布</vt:lpstr>
      <vt:lpstr>t分布の形状</vt:lpstr>
      <vt:lpstr>PowerPoint プレゼンテーション</vt:lpstr>
      <vt:lpstr>t分布表</vt:lpstr>
      <vt:lpstr>標準正規分布表との違い</vt:lpstr>
      <vt:lpstr>t分布表の読み方①</vt:lpstr>
      <vt:lpstr>（補足１）t分布表の読み方①</vt:lpstr>
      <vt:lpstr>（補足２）t分布表の読み方①</vt:lpstr>
      <vt:lpstr>t分布表の読み方④</vt:lpstr>
      <vt:lpstr>t分布表の読み方④</vt:lpstr>
      <vt:lpstr>PowerPoint プレゼンテーション</vt:lpstr>
      <vt:lpstr>カイ二乗分布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Ikegawa</dc:creator>
  <cp:lastModifiedBy>津村幸治</cp:lastModifiedBy>
  <cp:revision>73</cp:revision>
  <dcterms:created xsi:type="dcterms:W3CDTF">2025-03-03T09:28:12Z</dcterms:created>
  <dcterms:modified xsi:type="dcterms:W3CDTF">2026-09-16T17:03:14Z</dcterms:modified>
</cp:coreProperties>
</file>