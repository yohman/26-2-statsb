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25"/>
  </p:notesMasterIdLst>
  <p:sldIdLst>
    <p:sldId id="256" r:id="rId2"/>
    <p:sldId id="257" r:id="rId3"/>
    <p:sldId id="258" r:id="rId4"/>
    <p:sldId id="575" r:id="rId5"/>
    <p:sldId id="555" r:id="rId6"/>
    <p:sldId id="556" r:id="rId7"/>
    <p:sldId id="557" r:id="rId8"/>
    <p:sldId id="558" r:id="rId9"/>
    <p:sldId id="559" r:id="rId10"/>
    <p:sldId id="560" r:id="rId11"/>
    <p:sldId id="561" r:id="rId12"/>
    <p:sldId id="562" r:id="rId13"/>
    <p:sldId id="563" r:id="rId14"/>
    <p:sldId id="564" r:id="rId15"/>
    <p:sldId id="572" r:id="rId16"/>
    <p:sldId id="566" r:id="rId17"/>
    <p:sldId id="568" r:id="rId18"/>
    <p:sldId id="569" r:id="rId19"/>
    <p:sldId id="574" r:id="rId20"/>
    <p:sldId id="573" r:id="rId21"/>
    <p:sldId id="262" r:id="rId22"/>
    <p:sldId id="577" r:id="rId23"/>
    <p:sldId id="576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9946" autoAdjust="0"/>
  </p:normalViewPr>
  <p:slideViewPr>
    <p:cSldViewPr snapToGrid="0">
      <p:cViewPr varScale="1">
        <p:scale>
          <a:sx n="94" d="100"/>
          <a:sy n="94" d="100"/>
        </p:scale>
        <p:origin x="80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6469C-FEAD-4C5E-BA2E-E52844FEB7B7}" type="datetimeFigureOut">
              <a:rPr kumimoji="1" lang="ja-JP" altLang="en-US" smtClean="0"/>
              <a:t>2026/9/14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3683A-688A-4D33-8DCE-739EA7585F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9790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9687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/>
              <a:t>※</a:t>
            </a:r>
            <a:r>
              <a:rPr kumimoji="1" lang="ja-JP" altLang="en-US" dirty="0"/>
              <a:t>初学者には難易度が高いので，基本は取り扱わなくて良いです．</a:t>
            </a:r>
          </a:p>
          <a:p>
            <a:r>
              <a:rPr kumimoji="1" lang="ja-JP" altLang="en-US" dirty="0"/>
              <a:t>時間が余ったときや積分が必修の分野用に．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79354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1588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cap="all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3E1437F2-D6CA-45FF-8DAA-99CA93A9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</p:spPr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791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の目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ja-JP" altLang="en-US" dirty="0"/>
              <a:t>今日の目標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017840-59E2-D4E8-707A-9929D1883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>
              <a:buFont typeface="Wingdings" panose="05000000000000000000" pitchFamily="2" charset="2"/>
              <a:buChar char="u"/>
              <a:defRPr/>
            </a:lvl1pPr>
            <a:lvl2pPr marL="630000" indent="-306000">
              <a:buFont typeface="Wingdings" panose="05000000000000000000" pitchFamily="2" charset="2"/>
              <a:buChar char="ü"/>
              <a:defRPr/>
            </a:lvl2pPr>
            <a:lvl3pPr marL="900000" indent="-270000">
              <a:buFont typeface="Wingdings" panose="05000000000000000000" pitchFamily="2" charset="2"/>
              <a:buChar char="Ø"/>
              <a:defRPr/>
            </a:lvl3pPr>
            <a:lvl4pPr marL="1242000" indent="-234000">
              <a:buFont typeface="Wingdings" panose="05000000000000000000" pitchFamily="2" charset="2"/>
              <a:buChar char="Ø"/>
              <a:defRPr/>
            </a:lvl4pPr>
            <a:lvl5pPr marL="1602000" indent="-234000"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4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6722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00474C3-AA0B-4FE8-59A5-59C737C3C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89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85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1" y="953677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F0919C9-51B3-2D74-45D7-B85C57516E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975" y="953676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04168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2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8B8C6B5F-5F35-CD0D-73A3-108E527DA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63283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94193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181" y="953677"/>
            <a:ext cx="8880843" cy="384456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4941215"/>
            <a:ext cx="8880843" cy="1789523"/>
          </a:xfrm>
        </p:spPr>
        <p:txBody>
          <a:bodyPr>
            <a:no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09747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41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9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5670" y="810704"/>
            <a:ext cx="8672660" cy="479824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669" y="5670223"/>
            <a:ext cx="8672660" cy="103223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5E52FEF1-33FB-A31C-3BA8-FE7978A3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33730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  <a:ea typeface="Meiryo UI" panose="020B0604030504040204" pitchFamily="50" charset="-128"/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192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32" r:id="rId4"/>
    <p:sldLayoutId id="2147483725" r:id="rId5"/>
    <p:sldLayoutId id="2147483733" r:id="rId6"/>
    <p:sldLayoutId id="2147483734" r:id="rId7"/>
    <p:sldLayoutId id="2147483735" r:id="rId8"/>
    <p:sldLayoutId id="2147483726" r:id="rId9"/>
    <p:sldLayoutId id="2147483727" r:id="rId10"/>
    <p:sldLayoutId id="214748372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kumimoji="1" sz="3200" b="0" kern="1200" cap="all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ü"/>
        <a:defRPr kumimoji="1" sz="24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20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字幕 1">
            <a:extLst>
              <a:ext uri="{FF2B5EF4-FFF2-40B4-BE49-F238E27FC236}">
                <a16:creationId xmlns:a16="http://schemas.microsoft.com/office/drawing/2014/main" id="{34E62EDF-23B0-0FF7-CCAE-3A62D57648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統計学　</a:t>
            </a:r>
            <a:r>
              <a:rPr kumimoji="1" lang="en-US" altLang="ja-JP" dirty="0"/>
              <a:t>#02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8E8BC8D-F503-6C63-21CA-5EDB859CD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ja-JP" altLang="en-US" dirty="0"/>
              <a:t>確率分布：離散確率分布</a:t>
            </a:r>
            <a:r>
              <a:rPr lang="en-US" altLang="ja-JP" dirty="0"/>
              <a:t>(</a:t>
            </a:r>
            <a:r>
              <a:rPr lang="ja-JP" altLang="en-US" dirty="0"/>
              <a:t>前半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8988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61E6B7-FCCA-E994-1F6B-EDDE43CEB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今日の目標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B4E2AA-11BC-DBCD-1944-8884E00DB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第</a:t>
            </a:r>
            <a:r>
              <a:rPr lang="en-US" altLang="ja-JP" dirty="0"/>
              <a:t>2</a:t>
            </a:r>
            <a:r>
              <a:rPr kumimoji="1" lang="ja-JP" altLang="en-US" dirty="0"/>
              <a:t>章　第</a:t>
            </a:r>
            <a:r>
              <a:rPr kumimoji="1" lang="en-US" altLang="ja-JP" dirty="0"/>
              <a:t>2</a:t>
            </a:r>
            <a:r>
              <a:rPr kumimoji="1" lang="ja-JP" altLang="en-US" dirty="0"/>
              <a:t>節　確率分布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確率変数について理解する</a:t>
            </a:r>
            <a:endParaRPr kumimoji="1" lang="en-US" altLang="ja-JP" dirty="0"/>
          </a:p>
          <a:p>
            <a:pPr lvl="1"/>
            <a:r>
              <a:rPr lang="ja-JP" altLang="en-US" dirty="0"/>
              <a:t>期待値について理解する</a:t>
            </a:r>
            <a:endParaRPr kumimoji="1" lang="en-US" altLang="ja-JP" dirty="0"/>
          </a:p>
          <a:p>
            <a:pPr lvl="1"/>
            <a:r>
              <a:rPr lang="ja-JP" altLang="en-US" dirty="0"/>
              <a:t>離散確率分布について学ぶ</a:t>
            </a:r>
            <a:endParaRPr lang="en-US" altLang="ja-JP" dirty="0"/>
          </a:p>
          <a:p>
            <a:pPr lvl="1"/>
            <a:r>
              <a:rPr kumimoji="1" lang="ja-JP" altLang="en-US" dirty="0"/>
              <a:t>二項分布の確率の計算方法を修得する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BA058F-E2A2-1400-D4A6-569AA67B3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934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D06A07B-DDC8-C45B-FB89-CD7BDEA9B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r>
              <a:rPr kumimoji="1" lang="ja-JP" altLang="en-US" dirty="0"/>
              <a:t>：確率変数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FD3DE08-EB3F-124A-27D5-4B18AD60D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6743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EB655-39A8-D4EE-BCB8-356EE8550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1D35BE-B79E-A581-D955-08C22D0DF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確率変数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481C92B-22AF-F5DF-4267-9C5F181CA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AB0EBD88-291F-D279-38C1-D8E933AD25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kumimoji="1" lang="ja-JP" altLang="en-US" dirty="0">
                    <a:solidFill>
                      <a:schemeClr val="accent5"/>
                    </a:solidFill>
                  </a:rPr>
                  <a:t>確率変数</a:t>
                </a:r>
                <a:r>
                  <a:rPr kumimoji="1" lang="ja-JP" altLang="en-US" dirty="0"/>
                  <a:t>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random variable</a:t>
                </a:r>
              </a:p>
              <a:p>
                <a:pPr lvl="1"/>
                <a:r>
                  <a:rPr kumimoji="1" lang="ja-JP" altLang="en-US" dirty="0"/>
                  <a:t>観測値に確率が対応している変数</a:t>
                </a:r>
                <a:endParaRPr kumimoji="1" lang="en-US" altLang="ja-JP" dirty="0"/>
              </a:p>
              <a:p>
                <a:r>
                  <a:rPr lang="ja-JP" altLang="en-US" dirty="0"/>
                  <a:t>例：サイコロの出た目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dirty="0"/>
                  <a:t>がとる可能性のある値：</a:t>
                </a:r>
                <a:r>
                  <a:rPr lang="en-US" altLang="ja-JP" dirty="0"/>
                  <a:t>1,2,3,4,5,6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dirty="0"/>
                  <a:t>がいくつになるかは，実際にサイコロを振らないとわからない</a:t>
                </a:r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chemeClr val="accent5"/>
                    </a:solidFill>
                  </a:rPr>
                  <a:t>偶然性を伴う</a:t>
                </a:r>
                <a:r>
                  <a:rPr lang="ja-JP" altLang="en-US" dirty="0"/>
                  <a:t>事象</a:t>
                </a:r>
                <a:endParaRPr lang="en-US" altLang="ja-JP" dirty="0"/>
              </a:p>
              <a:p>
                <a:r>
                  <a:rPr lang="en-US" altLang="ja-JP" dirty="0">
                    <a:solidFill>
                      <a:schemeClr val="tx1"/>
                    </a:solidFill>
                  </a:rPr>
                  <a:t>5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回くじを引いて当たりが出る本数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altLang="ja-JP" dirty="0">
                  <a:solidFill>
                    <a:schemeClr val="tx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がとる可能性のある値：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0,1,2,3,4,5</a:t>
                </a:r>
              </a:p>
              <a:p>
                <a:r>
                  <a:rPr lang="ja-JP" altLang="en-US" dirty="0">
                    <a:solidFill>
                      <a:schemeClr val="tx1"/>
                    </a:solidFill>
                  </a:rPr>
                  <a:t>表に「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1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」，</a:t>
                </a:r>
                <a:r>
                  <a:rPr lang="ja-JP" altLang="en-US" dirty="0"/>
                  <a:t>裏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に「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-1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」と書かれている札を投げたときに出た数字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altLang="ja-JP" dirty="0">
                  <a:solidFill>
                    <a:schemeClr val="tx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がとる可能性のある値：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1,-1</a:t>
                </a:r>
                <a:endParaRPr lang="en-US" altLang="ja-JP" dirty="0"/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AB0EBD88-291F-D279-38C1-D8E933AD25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99" t="-1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284430E-E08B-8D68-FAC5-B2ED1005EE40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1699393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AC97D-0FF2-6B04-252A-0645A04A1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275170D-C312-A9F5-82D7-010D5D820B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２</a:t>
            </a:r>
            <a:r>
              <a:rPr kumimoji="1" lang="ja-JP" altLang="en-US" dirty="0"/>
              <a:t>：期待値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D3DEBA4-C5B3-C992-DFD9-44B8AFA87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4429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E07F50-DCEA-AA50-CC7A-B1C5799E0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期待値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39FF2FE-D8A4-659D-052B-CF2613E4E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DECEADF-41DD-96AE-25B0-FF11DF1C29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kumimoji="1" lang="ja-JP" altLang="en-US" b="1" dirty="0">
                    <a:solidFill>
                      <a:schemeClr val="accent5"/>
                    </a:solidFill>
                  </a:rPr>
                  <a:t>期待値</a:t>
                </a:r>
                <a:endParaRPr kumimoji="1" lang="en-US" altLang="ja-JP" b="1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lang="ja-JP" altLang="en-US" dirty="0"/>
                  <a:t>確率変数のとる値に，対応する確率の重み付けをした加重平均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確率変数と確率の積和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離散確率分布の場合：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func>
                              <m:funcPr>
                                <m:ctrlPr>
                                  <a:rPr kumimoji="1" lang="en-US" altLang="ja-JP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1" lang="en-US" altLang="ja-JP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Pr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</m:e>
                        </m:d>
                      </m:e>
                    </m:nary>
                  </m:oMath>
                </a14:m>
                <a:endParaRPr kumimoji="1" lang="en-US" altLang="ja-JP" dirty="0"/>
              </a:p>
              <a:p>
                <a:r>
                  <a:rPr lang="ja-JP" altLang="en-US" dirty="0"/>
                  <a:t>サイコロの目の例</a:t>
                </a:r>
                <a:endParaRPr lang="en-US" altLang="ja-JP" dirty="0"/>
              </a:p>
              <a:p>
                <a:pPr lvl="1"/>
                <a:endParaRPr lang="en-US" altLang="ja-JP" dirty="0"/>
              </a:p>
              <a:p>
                <a:pPr lvl="1"/>
                <a:endParaRPr lang="en-US" altLang="ja-JP" dirty="0"/>
              </a:p>
              <a:p>
                <a:pPr lvl="1"/>
                <a:endParaRPr lang="en-US" altLang="ja-JP" dirty="0"/>
              </a:p>
              <a:p>
                <a:pPr lvl="1"/>
                <a:endParaRPr lang="en-US" altLang="ja-JP" dirty="0"/>
              </a:p>
              <a:p>
                <a:pPr lvl="1"/>
                <a:endParaRPr lang="en-US" altLang="ja-JP" dirty="0"/>
              </a:p>
              <a:p>
                <a:pPr lvl="1"/>
                <a:r>
                  <a:rPr lang="ja-JP" altLang="en-US" dirty="0"/>
                  <a:t>期待値：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=3.5</m:t>
                    </m:r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DECEADF-41DD-96AE-25B0-FF11DF1C29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 4">
                <a:extLst>
                  <a:ext uri="{FF2B5EF4-FFF2-40B4-BE49-F238E27FC236}">
                    <a16:creationId xmlns:a16="http://schemas.microsoft.com/office/drawing/2014/main" id="{137A4CCD-2F7F-7E78-20A7-FB2A56A0E5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1401701"/>
                  </p:ext>
                </p:extLst>
              </p:nvPr>
            </p:nvGraphicFramePr>
            <p:xfrm>
              <a:off x="3217276" y="3083004"/>
              <a:ext cx="5709684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03604">
                      <a:extLst>
                        <a:ext uri="{9D8B030D-6E8A-4147-A177-3AD203B41FA5}">
                          <a16:colId xmlns:a16="http://schemas.microsoft.com/office/drawing/2014/main" val="481832015"/>
                        </a:ext>
                      </a:extLst>
                    </a:gridCol>
                    <a:gridCol w="2782080">
                      <a:extLst>
                        <a:ext uri="{9D8B030D-6E8A-4147-A177-3AD203B41FA5}">
                          <a16:colId xmlns:a16="http://schemas.microsoft.com/office/drawing/2014/main" val="3892244785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971856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確率変数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b="1" i="1" smtClean="0">
                                      <a:latin typeface="Cambria Math" panose="02040503050406030204" pitchFamily="18" charset="0"/>
                                      <a:ea typeface="BIZ UDPゴシック" panose="020B0400000000000000" pitchFamily="50" charset="-128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b="1" i="1" smtClean="0">
                                      <a:latin typeface="Cambria Math" panose="02040503050406030204" pitchFamily="18" charset="0"/>
                                      <a:ea typeface="BIZ UDPゴシック" panose="020B0400000000000000" pitchFamily="50" charset="-128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kumimoji="1" lang="en-US" altLang="ja-JP" b="1" i="1" smtClean="0">
                                      <a:latin typeface="Cambria Math" panose="02040503050406030204" pitchFamily="18" charset="0"/>
                                      <a:ea typeface="BIZ UDPゴシック" panose="020B0400000000000000" pitchFamily="50" charset="-128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その目が出る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確率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1" i="1" smtClean="0">
                                  <a:latin typeface="Cambria Math" panose="02040503050406030204" pitchFamily="18" charset="0"/>
                                  <a:ea typeface="BIZ UDPゴシック" panose="020B0400000000000000" pitchFamily="50" charset="-128"/>
                                </a:rPr>
                                <m:t>𝑷𝒓</m:t>
                              </m:r>
                              <m:d>
                                <m:dPr>
                                  <m:ctrlPr>
                                    <a:rPr kumimoji="1" lang="en-US" altLang="ja-JP" b="1" i="1" smtClean="0">
                                      <a:latin typeface="Cambria Math" panose="02040503050406030204" pitchFamily="18" charset="0"/>
                                      <a:ea typeface="BIZ UDPゴシック" panose="020B0400000000000000" pitchFamily="50" charset="-128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ja-JP" b="1" i="1" smtClean="0">
                                          <a:latin typeface="Cambria Math" panose="02040503050406030204" pitchFamily="18" charset="0"/>
                                          <a:ea typeface="BIZ UDPゴシック" panose="020B0400000000000000" pitchFamily="50" charset="-128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b="1" i="1" smtClean="0">
                                          <a:latin typeface="Cambria Math" panose="02040503050406030204" pitchFamily="18" charset="0"/>
                                          <a:ea typeface="BIZ UDPゴシック" panose="020B0400000000000000" pitchFamily="50" charset="-128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kumimoji="1" lang="en-US" altLang="ja-JP" b="1" i="1" smtClean="0">
                                          <a:latin typeface="Cambria Math" panose="02040503050406030204" pitchFamily="18" charset="0"/>
                                          <a:ea typeface="BIZ UDPゴシック" panose="020B0400000000000000" pitchFamily="50" charset="-128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𝑷𝒓</m:t>
                                </m:r>
                                <m:d>
                                  <m:dPr>
                                    <m:ctrlP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kumimoji="1" lang="en-US" altLang="ja-JP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𝑿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78891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536117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2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2/6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80692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3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3/6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102488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4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4/6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2526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5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5/6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0962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6/6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524578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 4">
                <a:extLst>
                  <a:ext uri="{FF2B5EF4-FFF2-40B4-BE49-F238E27FC236}">
                    <a16:creationId xmlns:a16="http://schemas.microsoft.com/office/drawing/2014/main" id="{137A4CCD-2F7F-7E78-20A7-FB2A56A0E5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1401701"/>
                  </p:ext>
                </p:extLst>
              </p:nvPr>
            </p:nvGraphicFramePr>
            <p:xfrm>
              <a:off x="3217276" y="3083004"/>
              <a:ext cx="5709684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03604">
                      <a:extLst>
                        <a:ext uri="{9D8B030D-6E8A-4147-A177-3AD203B41FA5}">
                          <a16:colId xmlns:a16="http://schemas.microsoft.com/office/drawing/2014/main" val="481832015"/>
                        </a:ext>
                      </a:extLst>
                    </a:gridCol>
                    <a:gridCol w="2782080">
                      <a:extLst>
                        <a:ext uri="{9D8B030D-6E8A-4147-A177-3AD203B41FA5}">
                          <a16:colId xmlns:a16="http://schemas.microsoft.com/office/drawing/2014/main" val="3892244785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971856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433" t="-11475" r="-307792" b="-6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50766" t="-11475" r="-55580" b="-6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275600" t="-11475" r="-1600" b="-6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78891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536117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2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2/6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80692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3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3/6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102488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4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4/6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2526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5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5/6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0962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6/6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524578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75703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E4C76E-0036-64B9-932D-3F4C366D7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[AL] </a:t>
            </a:r>
            <a:r>
              <a:rPr kumimoji="1" lang="ja-JP" altLang="en-US" dirty="0"/>
              <a:t>考えてみよう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AC9E6BD-1D3A-885A-EC98-5789B0F0D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7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F7A804C-3103-03CD-BF8F-7DE20968DF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kumimoji="1" lang="en-US" altLang="ja-JP" dirty="0"/>
                  <a:t>4</a:t>
                </a:r>
                <a:r>
                  <a:rPr kumimoji="1" lang="ja-JP" altLang="en-US" dirty="0"/>
                  <a:t>択問題</a:t>
                </a:r>
                <a:r>
                  <a:rPr kumimoji="1" lang="en-US" altLang="ja-JP" dirty="0"/>
                  <a:t>(</a:t>
                </a:r>
                <a:r>
                  <a:rPr kumimoji="1" lang="ja-JP" altLang="en-US" dirty="0"/>
                  <a:t>全部で</a:t>
                </a:r>
                <a:r>
                  <a:rPr kumimoji="1" lang="en-US" altLang="ja-JP" dirty="0"/>
                  <a:t>10</a:t>
                </a:r>
                <a:r>
                  <a:rPr kumimoji="1" lang="ja-JP" altLang="en-US" dirty="0"/>
                  <a:t>問</a:t>
                </a:r>
                <a:r>
                  <a:rPr kumimoji="1" lang="en-US" altLang="ja-JP" dirty="0"/>
                  <a:t>)</a:t>
                </a:r>
                <a:r>
                  <a:rPr kumimoji="1" lang="ja-JP" altLang="en-US" dirty="0"/>
                  <a:t>の試験問題の得点の期待値</a:t>
                </a:r>
                <a:endParaRPr kumimoji="1" lang="en-US" altLang="ja-JP" dirty="0"/>
              </a:p>
              <a:p>
                <a:pPr lvl="1"/>
                <a:r>
                  <a:rPr lang="en-US" altLang="ja-JP" dirty="0"/>
                  <a:t>4</a:t>
                </a:r>
                <a:r>
                  <a:rPr lang="ja-JP" altLang="en-US" dirty="0"/>
                  <a:t>択のうち，どれが正解かの確率は一定　→　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各問の得点は同じ　→　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問</a:t>
                </a:r>
                <a:r>
                  <a:rPr kumimoji="1" lang="en-US" altLang="ja-JP" dirty="0"/>
                  <a:t>10</a:t>
                </a:r>
                <a:r>
                  <a:rPr kumimoji="1" lang="ja-JP" altLang="en-US" dirty="0"/>
                  <a:t>点</a:t>
                </a:r>
                <a:r>
                  <a:rPr kumimoji="1" lang="en-US" altLang="ja-JP" dirty="0"/>
                  <a:t>×10</a:t>
                </a:r>
                <a:r>
                  <a:rPr kumimoji="1" lang="ja-JP" altLang="en-US" dirty="0"/>
                  <a:t>問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すべて</a:t>
                </a:r>
                <a:r>
                  <a:rPr lang="en-US" altLang="ja-JP" dirty="0"/>
                  <a:t>[1]</a:t>
                </a:r>
                <a:r>
                  <a:rPr lang="ja-JP" altLang="en-US" dirty="0"/>
                  <a:t>をマークしたときの，期待値</a:t>
                </a:r>
                <a:r>
                  <a:rPr lang="ja-JP" altLang="en-US" sz="1800" dirty="0"/>
                  <a:t>（見込みの点数）</a:t>
                </a:r>
                <a:r>
                  <a:rPr lang="ja-JP" altLang="en-US" dirty="0"/>
                  <a:t>はいくつ？</a:t>
                </a:r>
                <a:endParaRPr lang="en-US" altLang="ja-JP" dirty="0"/>
              </a:p>
              <a:p>
                <a:pPr lvl="1"/>
                <a:endParaRPr lang="en-US" altLang="ja-JP" dirty="0"/>
              </a:p>
              <a:p>
                <a:pPr lvl="1"/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kumimoji="1" lang="en-US" altLang="ja-JP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kumimoji="1" lang="en-US" altLang="ja-JP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kumimoji="1"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×10=</m:t>
                      </m:r>
                      <m:f>
                        <m:f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</m:t>
                          </m:r>
                        </m:num>
                        <m:den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kumimoji="1"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=25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F7A804C-3103-03CD-BF8F-7DE20968DF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DBCCFCE3-4A1E-859D-7418-6FAB8B9BD383}"/>
              </a:ext>
            </a:extLst>
          </p:cNvPr>
          <p:cNvGrpSpPr/>
          <p:nvPr/>
        </p:nvGrpSpPr>
        <p:grpSpPr>
          <a:xfrm>
            <a:off x="2262076" y="3429000"/>
            <a:ext cx="1395523" cy="745809"/>
            <a:chOff x="2272709" y="3121784"/>
            <a:chExt cx="1395523" cy="745809"/>
          </a:xfrm>
        </p:grpSpPr>
        <p:sp>
          <p:nvSpPr>
            <p:cNvPr id="5" name="右中かっこ 4">
              <a:extLst>
                <a:ext uri="{FF2B5EF4-FFF2-40B4-BE49-F238E27FC236}">
                  <a16:creationId xmlns:a16="http://schemas.microsoft.com/office/drawing/2014/main" id="{793D6B84-035B-F191-74DC-6CB91ABE2F9E}"/>
                </a:ext>
              </a:extLst>
            </p:cNvPr>
            <p:cNvSpPr/>
            <p:nvPr/>
          </p:nvSpPr>
          <p:spPr>
            <a:xfrm rot="16200000">
              <a:off x="2751174" y="2950535"/>
              <a:ext cx="438593" cy="1395523"/>
            </a:xfrm>
            <a:prstGeom prst="rightBrac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E889D94D-7F11-A7B3-BA24-57B055534910}"/>
                    </a:ext>
                  </a:extLst>
                </p:cNvPr>
                <p:cNvSpPr txBox="1"/>
                <p:nvPr/>
              </p:nvSpPr>
              <p:spPr>
                <a:xfrm>
                  <a:off x="2680326" y="3121784"/>
                  <a:ext cx="58028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ja-JP" altLang="en-US" sz="240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問</m:t>
                        </m:r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kumimoji="1" lang="ja-JP" altLang="en-US" sz="24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</mc:Choice>
          <mc:Fallback xmlns="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E889D94D-7F11-A7B3-BA24-57B0555349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0326" y="3121784"/>
                  <a:ext cx="580287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14737" t="-3333" r="-9474" b="-2833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D0733E59-BFE0-4249-3877-9B180340AD68}"/>
              </a:ext>
            </a:extLst>
          </p:cNvPr>
          <p:cNvGrpSpPr/>
          <p:nvPr/>
        </p:nvGrpSpPr>
        <p:grpSpPr>
          <a:xfrm>
            <a:off x="4090880" y="3425427"/>
            <a:ext cx="1395523" cy="745809"/>
            <a:chOff x="2272709" y="3121784"/>
            <a:chExt cx="1395523" cy="745809"/>
          </a:xfrm>
        </p:grpSpPr>
        <p:sp>
          <p:nvSpPr>
            <p:cNvPr id="10" name="右中かっこ 9">
              <a:extLst>
                <a:ext uri="{FF2B5EF4-FFF2-40B4-BE49-F238E27FC236}">
                  <a16:creationId xmlns:a16="http://schemas.microsoft.com/office/drawing/2014/main" id="{FA60175E-3D82-6151-006B-093F8FFA1B63}"/>
                </a:ext>
              </a:extLst>
            </p:cNvPr>
            <p:cNvSpPr/>
            <p:nvPr/>
          </p:nvSpPr>
          <p:spPr>
            <a:xfrm rot="16200000">
              <a:off x="2751174" y="2950535"/>
              <a:ext cx="438593" cy="1395523"/>
            </a:xfrm>
            <a:prstGeom prst="rightBrac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D1D81F7C-50A5-E0DC-4D88-D5A3596519CA}"/>
                    </a:ext>
                  </a:extLst>
                </p:cNvPr>
                <p:cNvSpPr txBox="1"/>
                <p:nvPr/>
              </p:nvSpPr>
              <p:spPr>
                <a:xfrm>
                  <a:off x="2680326" y="3121784"/>
                  <a:ext cx="58028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ja-JP" altLang="en-US" sz="240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問</m:t>
                        </m:r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kumimoji="1" lang="ja-JP" altLang="en-US" sz="24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</mc:Choice>
          <mc:Fallback xmlns="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D1D81F7C-50A5-E0DC-4D88-D5A3596519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0326" y="3121784"/>
                  <a:ext cx="580287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14737" t="-3333" r="-9474" b="-30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74C78E93-2C59-7685-F86D-1223311089FD}"/>
              </a:ext>
            </a:extLst>
          </p:cNvPr>
          <p:cNvGrpSpPr/>
          <p:nvPr/>
        </p:nvGrpSpPr>
        <p:grpSpPr>
          <a:xfrm>
            <a:off x="5919682" y="3421854"/>
            <a:ext cx="1395523" cy="745809"/>
            <a:chOff x="2272709" y="3121784"/>
            <a:chExt cx="1395523" cy="745809"/>
          </a:xfrm>
        </p:grpSpPr>
        <p:sp>
          <p:nvSpPr>
            <p:cNvPr id="13" name="右中かっこ 12">
              <a:extLst>
                <a:ext uri="{FF2B5EF4-FFF2-40B4-BE49-F238E27FC236}">
                  <a16:creationId xmlns:a16="http://schemas.microsoft.com/office/drawing/2014/main" id="{A34A1203-B0C5-6F4F-93DD-58CE424876AC}"/>
                </a:ext>
              </a:extLst>
            </p:cNvPr>
            <p:cNvSpPr/>
            <p:nvPr/>
          </p:nvSpPr>
          <p:spPr>
            <a:xfrm rot="16200000">
              <a:off x="2751174" y="2950535"/>
              <a:ext cx="438593" cy="1395523"/>
            </a:xfrm>
            <a:prstGeom prst="rightBrac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52262B61-BA04-C41D-210B-379FE252A9B5}"/>
                    </a:ext>
                  </a:extLst>
                </p:cNvPr>
                <p:cNvSpPr txBox="1"/>
                <p:nvPr/>
              </p:nvSpPr>
              <p:spPr>
                <a:xfrm>
                  <a:off x="2680326" y="3121784"/>
                  <a:ext cx="58028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ja-JP" altLang="en-US" sz="240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問</m:t>
                        </m:r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kumimoji="1" lang="ja-JP" altLang="en-US" sz="24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</mc:Choice>
          <mc:Fallback xmlns=""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52262B61-BA04-C41D-210B-379FE252A9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0326" y="3121784"/>
                  <a:ext cx="580287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14737" t="-1639" r="-9474" b="-2786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6BD0DB99-E447-5C89-16F4-68080FE6619E}"/>
              </a:ext>
            </a:extLst>
          </p:cNvPr>
          <p:cNvGrpSpPr/>
          <p:nvPr/>
        </p:nvGrpSpPr>
        <p:grpSpPr>
          <a:xfrm>
            <a:off x="1705967" y="4174810"/>
            <a:ext cx="1253869" cy="1328306"/>
            <a:chOff x="1705967" y="4174810"/>
            <a:chExt cx="1253869" cy="1328306"/>
          </a:xfrm>
        </p:grpSpPr>
        <p:grpSp>
          <p:nvGrpSpPr>
            <p:cNvPr id="18" name="グループ化 17">
              <a:extLst>
                <a:ext uri="{FF2B5EF4-FFF2-40B4-BE49-F238E27FC236}">
                  <a16:creationId xmlns:a16="http://schemas.microsoft.com/office/drawing/2014/main" id="{26ED7B48-F820-6066-ED04-90652645DB3E}"/>
                </a:ext>
              </a:extLst>
            </p:cNvPr>
            <p:cNvGrpSpPr/>
            <p:nvPr/>
          </p:nvGrpSpPr>
          <p:grpSpPr>
            <a:xfrm>
              <a:off x="2445488" y="4174810"/>
              <a:ext cx="467833" cy="1024511"/>
              <a:chOff x="2445488" y="4174810"/>
              <a:chExt cx="467833" cy="1024511"/>
            </a:xfrm>
          </p:grpSpPr>
          <p:sp>
            <p:nvSpPr>
              <p:cNvPr id="15" name="正方形/長方形 14">
                <a:extLst>
                  <a:ext uri="{FF2B5EF4-FFF2-40B4-BE49-F238E27FC236}">
                    <a16:creationId xmlns:a16="http://schemas.microsoft.com/office/drawing/2014/main" id="{F8A561A7-AA0F-D149-C99A-B9D92AD2E9DE}"/>
                  </a:ext>
                </a:extLst>
              </p:cNvPr>
              <p:cNvSpPr/>
              <p:nvPr/>
            </p:nvSpPr>
            <p:spPr>
              <a:xfrm>
                <a:off x="2445488" y="4174810"/>
                <a:ext cx="467833" cy="567311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17" name="直線矢印コネクタ 16">
                <a:extLst>
                  <a:ext uri="{FF2B5EF4-FFF2-40B4-BE49-F238E27FC236}">
                    <a16:creationId xmlns:a16="http://schemas.microsoft.com/office/drawing/2014/main" id="{4FEC6D27-C138-B76C-6300-04A70D9F03EF}"/>
                  </a:ext>
                </a:extLst>
              </p:cNvPr>
              <p:cNvCxnSpPr>
                <a:stCxn id="15" idx="2"/>
              </p:cNvCxnSpPr>
              <p:nvPr/>
            </p:nvCxnSpPr>
            <p:spPr>
              <a:xfrm flipH="1">
                <a:off x="2445488" y="4742121"/>
                <a:ext cx="233917" cy="457200"/>
              </a:xfrm>
              <a:prstGeom prst="straightConnector1">
                <a:avLst/>
              </a:prstGeom>
              <a:ln w="28575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E795A491-64E5-FEE0-60EA-7705DA5A0518}"/>
                </a:ext>
              </a:extLst>
            </p:cNvPr>
            <p:cNvSpPr txBox="1"/>
            <p:nvPr/>
          </p:nvSpPr>
          <p:spPr>
            <a:xfrm>
              <a:off x="1705967" y="5133784"/>
              <a:ext cx="12538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>
                  <a:solidFill>
                    <a:schemeClr val="accent2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問</a:t>
              </a:r>
              <a:r>
                <a:rPr kumimoji="1" lang="en-US" altLang="ja-JP" dirty="0">
                  <a:solidFill>
                    <a:schemeClr val="accent2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1</a:t>
              </a:r>
              <a:r>
                <a:rPr kumimoji="1" lang="ja-JP" altLang="en-US" dirty="0">
                  <a:solidFill>
                    <a:schemeClr val="accent2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の得点</a:t>
              </a:r>
            </a:p>
          </p:txBody>
        </p:sp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F04C4B2F-069D-18E3-EACD-613D0765BD70}"/>
              </a:ext>
            </a:extLst>
          </p:cNvPr>
          <p:cNvGrpSpPr/>
          <p:nvPr/>
        </p:nvGrpSpPr>
        <p:grpSpPr>
          <a:xfrm>
            <a:off x="3224320" y="4105548"/>
            <a:ext cx="2144522" cy="1402716"/>
            <a:chOff x="2543837" y="4112695"/>
            <a:chExt cx="2144522" cy="1402716"/>
          </a:xfrm>
        </p:grpSpPr>
        <p:grpSp>
          <p:nvGrpSpPr>
            <p:cNvPr id="22" name="グループ化 21">
              <a:extLst>
                <a:ext uri="{FF2B5EF4-FFF2-40B4-BE49-F238E27FC236}">
                  <a16:creationId xmlns:a16="http://schemas.microsoft.com/office/drawing/2014/main" id="{1A50002C-252E-E65D-15F2-71C7CAFA5F8E}"/>
                </a:ext>
              </a:extLst>
            </p:cNvPr>
            <p:cNvGrpSpPr/>
            <p:nvPr/>
          </p:nvGrpSpPr>
          <p:grpSpPr>
            <a:xfrm>
              <a:off x="2543837" y="4112695"/>
              <a:ext cx="433279" cy="1069363"/>
              <a:chOff x="2543837" y="4112695"/>
              <a:chExt cx="433279" cy="1069363"/>
            </a:xfrm>
          </p:grpSpPr>
          <p:sp>
            <p:nvSpPr>
              <p:cNvPr id="24" name="正方形/長方形 23">
                <a:extLst>
                  <a:ext uri="{FF2B5EF4-FFF2-40B4-BE49-F238E27FC236}">
                    <a16:creationId xmlns:a16="http://schemas.microsoft.com/office/drawing/2014/main" id="{148C33B7-21E1-BD52-24F2-DF2EABA2AEEC}"/>
                  </a:ext>
                </a:extLst>
              </p:cNvPr>
              <p:cNvSpPr/>
              <p:nvPr/>
            </p:nvSpPr>
            <p:spPr>
              <a:xfrm>
                <a:off x="2543837" y="4112695"/>
                <a:ext cx="295984" cy="817327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25" name="直線矢印コネクタ 24">
                <a:extLst>
                  <a:ext uri="{FF2B5EF4-FFF2-40B4-BE49-F238E27FC236}">
                    <a16:creationId xmlns:a16="http://schemas.microsoft.com/office/drawing/2014/main" id="{24CE5CCC-70B4-CB0F-6381-9C65C02FA01B}"/>
                  </a:ext>
                </a:extLst>
              </p:cNvPr>
              <p:cNvCxnSpPr>
                <a:cxnSpLocks/>
                <a:stCxn id="24" idx="2"/>
              </p:cNvCxnSpPr>
              <p:nvPr/>
            </p:nvCxnSpPr>
            <p:spPr>
              <a:xfrm>
                <a:off x="2691829" y="4930022"/>
                <a:ext cx="285287" cy="252036"/>
              </a:xfrm>
              <a:prstGeom prst="straightConnector1">
                <a:avLst/>
              </a:prstGeom>
              <a:ln w="28575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6BF1C3F4-3E4C-C210-9728-447DA670BE3F}"/>
                </a:ext>
              </a:extLst>
            </p:cNvPr>
            <p:cNvSpPr txBox="1"/>
            <p:nvPr/>
          </p:nvSpPr>
          <p:spPr>
            <a:xfrm>
              <a:off x="2756420" y="5146079"/>
              <a:ext cx="19319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>
                  <a:solidFill>
                    <a:schemeClr val="accent2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問</a:t>
              </a:r>
              <a:r>
                <a:rPr kumimoji="1" lang="en-US" altLang="ja-JP" dirty="0">
                  <a:solidFill>
                    <a:schemeClr val="accent2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1</a:t>
              </a:r>
              <a:r>
                <a:rPr kumimoji="1" lang="ja-JP" altLang="en-US" dirty="0">
                  <a:solidFill>
                    <a:schemeClr val="accent2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が当たる確率</a:t>
              </a:r>
            </a:p>
          </p:txBody>
        </p:sp>
      </p:grp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0EB700B2-42B1-D48A-C074-E444551AF5FB}"/>
              </a:ext>
            </a:extLst>
          </p:cNvPr>
          <p:cNvSpPr/>
          <p:nvPr/>
        </p:nvSpPr>
        <p:spPr>
          <a:xfrm>
            <a:off x="2262076" y="3798332"/>
            <a:ext cx="5978157" cy="14009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9B9494B2-F5FB-E6C1-F9E0-61B1FE63A98B}"/>
              </a:ext>
            </a:extLst>
          </p:cNvPr>
          <p:cNvSpPr/>
          <p:nvPr/>
        </p:nvSpPr>
        <p:spPr>
          <a:xfrm>
            <a:off x="2262075" y="5575799"/>
            <a:ext cx="4065223" cy="8862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1890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E288A9-ED90-D85E-B81D-886E1183F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(Advanced) </a:t>
            </a:r>
            <a:r>
              <a:rPr kumimoji="1" lang="ja-JP" altLang="en-US" dirty="0"/>
              <a:t>積分の計算練習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88EACDD-4C75-2337-90C3-E4450EE3F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3416A057-A8F7-681F-782D-5AFDEDE589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連続確率変数の場合の期待値：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1" lang="ja-JP" altLang="en-US" dirty="0"/>
                  <a:t>は確率密度関数</a:t>
                </a:r>
                <a:endParaRPr kumimoji="1" lang="en-US" altLang="ja-JP" dirty="0"/>
              </a:p>
              <a:p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kumimoji="1" lang="ja-JP" altLang="en-US" dirty="0"/>
                  <a:t> において，確率変数 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≤6</m:t>
                    </m:r>
                  </m:oMath>
                </a14:m>
                <a:r>
                  <a:rPr kumimoji="1" lang="ja-JP" altLang="en-US" dirty="0"/>
                  <a:t> のとき</a:t>
                </a:r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𝑥𝑓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f>
                          <m:f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ⅆ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["/>
                            <m:endChr m:val="]"/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bSup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3416A057-A8F7-681F-782D-5AFDEDE589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99" t="-31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3312506A-280E-DE21-E336-8771449C0524}"/>
              </a:ext>
            </a:extLst>
          </p:cNvPr>
          <p:cNvGrpSpPr/>
          <p:nvPr/>
        </p:nvGrpSpPr>
        <p:grpSpPr>
          <a:xfrm>
            <a:off x="2392326" y="3040473"/>
            <a:ext cx="5422604" cy="1573618"/>
            <a:chOff x="2392326" y="3040473"/>
            <a:chExt cx="5422604" cy="15736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フローチャート: 処理 4">
                  <a:extLst>
                    <a:ext uri="{FF2B5EF4-FFF2-40B4-BE49-F238E27FC236}">
                      <a16:creationId xmlns:a16="http://schemas.microsoft.com/office/drawing/2014/main" id="{4C103D29-2394-4A78-094B-E2047C5B1A3D}"/>
                    </a:ext>
                  </a:extLst>
                </p:cNvPr>
                <p:cNvSpPr/>
                <p:nvPr/>
              </p:nvSpPr>
              <p:spPr>
                <a:xfrm>
                  <a:off x="3976576" y="3040473"/>
                  <a:ext cx="3838354" cy="1573618"/>
                </a:xfrm>
                <a:prstGeom prst="flowChartProcess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nary>
                          <m:naryPr>
                            <m:limLoc m:val="undOvr"/>
                            <m:subHide m:val="on"/>
                            <m:supHide m:val="on"/>
                            <m:ctrlPr>
                              <a:rPr kumimoji="1" lang="ja-JP" altLang="en-US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𝑥𝑓</m:t>
                            </m:r>
                            <m:d>
                              <m:dPr>
                                <m:ctrlP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ⅆ</m:t>
                            </m:r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nary>
                        <m:r>
                          <a:rPr kumimoji="1" lang="en-US" altLang="ja-JP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limLoc m:val="undOvr"/>
                            <m:subHide m:val="on"/>
                            <m:supHide m:val="on"/>
                            <m:ctrlP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f>
                              <m:fPr>
                                <m:ctrlP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ⅆ</m:t>
                            </m:r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nary>
                        <m:r>
                          <a:rPr kumimoji="1" lang="en-US" altLang="ja-JP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nary>
                          <m:naryPr>
                            <m:limLoc m:val="undOvr"/>
                            <m:subHide m:val="on"/>
                            <m:supHide m:val="on"/>
                            <m:ctrlP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ⅆ</m:t>
                            </m:r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nary>
                        <m:r>
                          <a:rPr kumimoji="1" lang="en-US" altLang="ja-JP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a:rPr kumimoji="1" lang="en-US" altLang="ja-JP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kumimoji="1" lang="en-US" altLang="ja-JP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oMath>
                    </m:oMathPara>
                  </a14:m>
                  <a:endParaRPr kumimoji="1" lang="ja-JP" alt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フローチャート: 処理 4">
                  <a:extLst>
                    <a:ext uri="{FF2B5EF4-FFF2-40B4-BE49-F238E27FC236}">
                      <a16:creationId xmlns:a16="http://schemas.microsoft.com/office/drawing/2014/main" id="{4C103D29-2394-4A78-094B-E2047C5B1A3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6576" y="3040473"/>
                  <a:ext cx="3838354" cy="1573618"/>
                </a:xfrm>
                <a:prstGeom prst="flowChartProcess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直線矢印コネクタ 7">
              <a:extLst>
                <a:ext uri="{FF2B5EF4-FFF2-40B4-BE49-F238E27FC236}">
                  <a16:creationId xmlns:a16="http://schemas.microsoft.com/office/drawing/2014/main" id="{08CE979B-4386-21F1-909F-9368608879C3}"/>
                </a:ext>
              </a:extLst>
            </p:cNvPr>
            <p:cNvCxnSpPr>
              <a:stCxn id="5" idx="1"/>
            </p:cNvCxnSpPr>
            <p:nvPr/>
          </p:nvCxnSpPr>
          <p:spPr>
            <a:xfrm flipH="1">
              <a:off x="2392326" y="3827282"/>
              <a:ext cx="1584250" cy="1492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A3AB2663-91ED-ECE2-9F16-AA4C6D1DDDCB}"/>
              </a:ext>
            </a:extLst>
          </p:cNvPr>
          <p:cNvGrpSpPr/>
          <p:nvPr/>
        </p:nvGrpSpPr>
        <p:grpSpPr>
          <a:xfrm>
            <a:off x="1892595" y="4880892"/>
            <a:ext cx="4221126" cy="935117"/>
            <a:chOff x="1892595" y="4880892"/>
            <a:chExt cx="4221126" cy="9351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フローチャート: 処理 5">
                  <a:extLst>
                    <a:ext uri="{FF2B5EF4-FFF2-40B4-BE49-F238E27FC236}">
                      <a16:creationId xmlns:a16="http://schemas.microsoft.com/office/drawing/2014/main" id="{6BB7968D-0F3E-4F2B-ED67-24AE93764F13}"/>
                    </a:ext>
                  </a:extLst>
                </p:cNvPr>
                <p:cNvSpPr/>
                <p:nvPr/>
              </p:nvSpPr>
              <p:spPr>
                <a:xfrm>
                  <a:off x="3976576" y="4880892"/>
                  <a:ext cx="2137145" cy="935117"/>
                </a:xfrm>
                <a:prstGeom prst="flowChartProcess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kumimoji="1" lang="en-US" altLang="ja-JP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kumimoji="1" lang="en-US" altLang="ja-JP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kumimoji="1" lang="en-US" altLang="ja-JP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bSup>
                        <m:r>
                          <a:rPr kumimoji="1" lang="en-US" altLang="ja-JP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sup>
                                <m: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  <m:r>
                          <a:rPr kumimoji="1" lang="en-US" altLang="ja-JP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sup>
                                <m: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oMath>
                    </m:oMathPara>
                  </a14:m>
                  <a:endParaRPr kumimoji="1" lang="ja-JP" alt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フローチャート: 処理 5">
                  <a:extLst>
                    <a:ext uri="{FF2B5EF4-FFF2-40B4-BE49-F238E27FC236}">
                      <a16:creationId xmlns:a16="http://schemas.microsoft.com/office/drawing/2014/main" id="{6BB7968D-0F3E-4F2B-ED67-24AE93764F1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6576" y="4880892"/>
                  <a:ext cx="2137145" cy="935117"/>
                </a:xfrm>
                <a:prstGeom prst="flowChartProcess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直線矢印コネクタ 10">
              <a:extLst>
                <a:ext uri="{FF2B5EF4-FFF2-40B4-BE49-F238E27FC236}">
                  <a16:creationId xmlns:a16="http://schemas.microsoft.com/office/drawing/2014/main" id="{D4A4A066-04E3-5935-FAB1-D20EF675F0BD}"/>
                </a:ext>
              </a:extLst>
            </p:cNvPr>
            <p:cNvCxnSpPr>
              <a:cxnSpLocks/>
              <a:stCxn id="6" idx="1"/>
            </p:cNvCxnSpPr>
            <p:nvPr/>
          </p:nvCxnSpPr>
          <p:spPr>
            <a:xfrm flipH="1" flipV="1">
              <a:off x="1892595" y="5220586"/>
              <a:ext cx="2083981" cy="1278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82DCB85-6E78-13DE-F9E6-FD547B766DBD}"/>
              </a:ext>
            </a:extLst>
          </p:cNvPr>
          <p:cNvSpPr/>
          <p:nvPr/>
        </p:nvSpPr>
        <p:spPr>
          <a:xfrm>
            <a:off x="507705" y="3614789"/>
            <a:ext cx="1884622" cy="7339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D0FD4CC0-132A-63C4-09CA-31E8A7BC8B85}"/>
              </a:ext>
            </a:extLst>
          </p:cNvPr>
          <p:cNvSpPr/>
          <p:nvPr/>
        </p:nvSpPr>
        <p:spPr>
          <a:xfrm>
            <a:off x="507703" y="4417966"/>
            <a:ext cx="2083981" cy="8665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E7DA8AF-2F35-C8C4-2FD4-6043FF63478B}"/>
              </a:ext>
            </a:extLst>
          </p:cNvPr>
          <p:cNvSpPr/>
          <p:nvPr/>
        </p:nvSpPr>
        <p:spPr>
          <a:xfrm>
            <a:off x="507703" y="5347892"/>
            <a:ext cx="1161609" cy="4681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8085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F776F-AC53-65B0-1D62-14B20FD80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F4ED18F-86E6-6608-FE61-D4B45772C0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３：</a:t>
            </a:r>
            <a:r>
              <a:rPr lang="ja-JP" altLang="en-US" dirty="0"/>
              <a:t>確率分布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E7B8BA9-7F4C-0994-DB5C-4063CA3E5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4177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51E794-AA5C-EBF5-F842-F187C4CEC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確率分布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2CE30BB-D09A-C351-533C-429C6F006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10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CED93B9-D58F-D635-2B79-A46C795B9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b="1" dirty="0">
                <a:solidFill>
                  <a:schemeClr val="accent5"/>
                </a:solidFill>
              </a:rPr>
              <a:t>確率分布</a:t>
            </a:r>
            <a:r>
              <a:rPr kumimoji="1" lang="ja-JP" altLang="en-US" dirty="0"/>
              <a:t>　</a:t>
            </a:r>
            <a:r>
              <a:rPr kumimoji="1" lang="en-US" altLang="ja-JP" dirty="0">
                <a:solidFill>
                  <a:schemeClr val="accent2"/>
                </a:solidFill>
              </a:rPr>
              <a:t>probability distribution</a:t>
            </a:r>
          </a:p>
          <a:p>
            <a:pPr lvl="1"/>
            <a:r>
              <a:rPr lang="ja-JP" altLang="en-US" dirty="0"/>
              <a:t>確率変数に対して，それぞれの値をとる確率全体を表すもの</a:t>
            </a:r>
            <a:endParaRPr lang="en-US" altLang="ja-JP" dirty="0"/>
          </a:p>
          <a:p>
            <a:pPr lvl="1"/>
            <a:r>
              <a:rPr kumimoji="1" lang="ja-JP" altLang="en-US" dirty="0">
                <a:solidFill>
                  <a:schemeClr val="accent5"/>
                </a:solidFill>
              </a:rPr>
              <a:t>確率変数が，ある値となる確率を与える関数</a:t>
            </a:r>
            <a:endParaRPr kumimoji="1" lang="en-US" altLang="ja-JP" dirty="0">
              <a:solidFill>
                <a:schemeClr val="accent5"/>
              </a:solidFill>
            </a:endParaRPr>
          </a:p>
          <a:p>
            <a:pPr lvl="1"/>
            <a:r>
              <a:rPr lang="ja-JP" altLang="en-US" dirty="0"/>
              <a:t>離散確率分布と連続確率分布がある</a:t>
            </a:r>
            <a:endParaRPr kumimoji="1" lang="en-US" altLang="ja-JP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58A6991-167D-3104-D4F0-862C248101B6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1894453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DF7A22-C5B7-8A99-E380-552F200B4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離散確率分布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47314CE-9906-A292-74CC-40C46A8F4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11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41D5212-D2CF-6B8F-E721-9854D3EEC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b="1" dirty="0">
                <a:solidFill>
                  <a:schemeClr val="accent5"/>
                </a:solidFill>
              </a:rPr>
              <a:t>離散確率分布</a:t>
            </a:r>
            <a:r>
              <a:rPr lang="ja-JP" altLang="en-US" dirty="0"/>
              <a:t>　</a:t>
            </a:r>
            <a:r>
              <a:rPr lang="en-US" altLang="ja-JP" dirty="0">
                <a:solidFill>
                  <a:schemeClr val="accent2"/>
                </a:solidFill>
              </a:rPr>
              <a:t>discrete probability distribution</a:t>
            </a:r>
          </a:p>
          <a:p>
            <a:pPr lvl="1"/>
            <a:r>
              <a:rPr lang="en-US" altLang="ja-JP" dirty="0"/>
              <a:t>0</a:t>
            </a:r>
            <a:r>
              <a:rPr lang="ja-JP" altLang="en-US" dirty="0"/>
              <a:t>でない確率をとる確率変数の値が取り得る範囲</a:t>
            </a:r>
            <a:r>
              <a:rPr lang="ja-JP" altLang="en-US" sz="1800" dirty="0"/>
              <a:t>（値域）</a:t>
            </a:r>
            <a:r>
              <a:rPr lang="ja-JP" altLang="en-US" dirty="0"/>
              <a:t>が</a:t>
            </a:r>
            <a:br>
              <a:rPr lang="en-US" altLang="ja-JP" dirty="0"/>
            </a:br>
            <a:r>
              <a:rPr lang="ja-JP" altLang="en-US" dirty="0"/>
              <a:t>加算個である確率分布</a:t>
            </a:r>
            <a:endParaRPr lang="en-US" altLang="ja-JP" dirty="0"/>
          </a:p>
          <a:p>
            <a:pPr lvl="1"/>
            <a:r>
              <a:rPr lang="ja-JP" altLang="en-US" dirty="0">
                <a:solidFill>
                  <a:schemeClr val="accent5"/>
                </a:solidFill>
              </a:rPr>
              <a:t>確率変数が離散変数</a:t>
            </a:r>
            <a:r>
              <a:rPr lang="ja-JP" altLang="en-US" dirty="0"/>
              <a:t>である場合</a:t>
            </a:r>
          </a:p>
          <a:p>
            <a:endParaRPr kumimoji="1" lang="en-US" altLang="ja-JP" dirty="0"/>
          </a:p>
          <a:p>
            <a:r>
              <a:rPr kumimoji="1" lang="ja-JP" altLang="en-US" dirty="0"/>
              <a:t>離散変数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中間の値が存在しない変数</a:t>
            </a:r>
            <a:endParaRPr kumimoji="1" lang="en-US" altLang="ja-JP" dirty="0"/>
          </a:p>
          <a:p>
            <a:pPr lvl="1"/>
            <a:r>
              <a:rPr lang="ja-JP" altLang="en-US" dirty="0"/>
              <a:t>通常は整数値のみをとる</a:t>
            </a:r>
            <a:endParaRPr lang="en-US" altLang="ja-JP" dirty="0"/>
          </a:p>
          <a:p>
            <a:pPr lvl="2"/>
            <a:r>
              <a:rPr kumimoji="1" lang="ja-JP" altLang="en-US" dirty="0"/>
              <a:t>サイコロの目，人数，など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29D1630-D0F5-ABE2-5BCC-B16D841C6453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  <p:grpSp>
        <p:nvGrpSpPr>
          <p:cNvPr id="60" name="グループ化 59">
            <a:extLst>
              <a:ext uri="{FF2B5EF4-FFF2-40B4-BE49-F238E27FC236}">
                <a16:creationId xmlns:a16="http://schemas.microsoft.com/office/drawing/2014/main" id="{AB4EEFE4-9182-801A-A6CE-F9E6FA21BC4A}"/>
              </a:ext>
            </a:extLst>
          </p:cNvPr>
          <p:cNvGrpSpPr/>
          <p:nvPr/>
        </p:nvGrpSpPr>
        <p:grpSpPr>
          <a:xfrm>
            <a:off x="5220586" y="2229780"/>
            <a:ext cx="3359888" cy="2204271"/>
            <a:chOff x="5103628" y="1857640"/>
            <a:chExt cx="3359888" cy="2204271"/>
          </a:xfrm>
        </p:grpSpPr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48AAF6A7-D5CA-1F99-6D4B-3C4851B942DF}"/>
                </a:ext>
              </a:extLst>
            </p:cNvPr>
            <p:cNvCxnSpPr/>
            <p:nvPr/>
          </p:nvCxnSpPr>
          <p:spPr>
            <a:xfrm>
              <a:off x="5103628" y="3668233"/>
              <a:ext cx="3359888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" name="グループ化 58">
              <a:extLst>
                <a:ext uri="{FF2B5EF4-FFF2-40B4-BE49-F238E27FC236}">
                  <a16:creationId xmlns:a16="http://schemas.microsoft.com/office/drawing/2014/main" id="{E7CF3C02-7BCB-A03E-3687-882A6A38449A}"/>
                </a:ext>
              </a:extLst>
            </p:cNvPr>
            <p:cNvGrpSpPr/>
            <p:nvPr/>
          </p:nvGrpSpPr>
          <p:grpSpPr>
            <a:xfrm>
              <a:off x="5170201" y="1857640"/>
              <a:ext cx="3027726" cy="2204271"/>
              <a:chOff x="5170201" y="1857640"/>
              <a:chExt cx="3027726" cy="2204271"/>
            </a:xfrm>
          </p:grpSpPr>
          <p:grpSp>
            <p:nvGrpSpPr>
              <p:cNvPr id="15" name="グループ化 14">
                <a:extLst>
                  <a:ext uri="{FF2B5EF4-FFF2-40B4-BE49-F238E27FC236}">
                    <a16:creationId xmlns:a16="http://schemas.microsoft.com/office/drawing/2014/main" id="{0FCFE5D5-F789-0FFA-AB42-A55183B81F49}"/>
                  </a:ext>
                </a:extLst>
              </p:cNvPr>
              <p:cNvGrpSpPr/>
              <p:nvPr/>
            </p:nvGrpSpPr>
            <p:grpSpPr>
              <a:xfrm>
                <a:off x="5170201" y="2477251"/>
                <a:ext cx="606256" cy="1584660"/>
                <a:chOff x="5170201" y="2477251"/>
                <a:chExt cx="606256" cy="1584660"/>
              </a:xfrm>
            </p:grpSpPr>
            <p:grpSp>
              <p:nvGrpSpPr>
                <p:cNvPr id="12" name="グループ化 11">
                  <a:extLst>
                    <a:ext uri="{FF2B5EF4-FFF2-40B4-BE49-F238E27FC236}">
                      <a16:creationId xmlns:a16="http://schemas.microsoft.com/office/drawing/2014/main" id="{21D5D60E-5228-D8F5-D248-2637A1FBCA5F}"/>
                    </a:ext>
                  </a:extLst>
                </p:cNvPr>
                <p:cNvGrpSpPr/>
                <p:nvPr/>
              </p:nvGrpSpPr>
              <p:grpSpPr>
                <a:xfrm>
                  <a:off x="5386866" y="2858755"/>
                  <a:ext cx="172926" cy="895941"/>
                  <a:chOff x="5386866" y="2858755"/>
                  <a:chExt cx="172926" cy="895941"/>
                </a:xfrm>
              </p:grpSpPr>
              <p:cxnSp>
                <p:nvCxnSpPr>
                  <p:cNvPr id="9" name="直線コネクタ 8">
                    <a:extLst>
                      <a:ext uri="{FF2B5EF4-FFF2-40B4-BE49-F238E27FC236}">
                        <a16:creationId xmlns:a16="http://schemas.microsoft.com/office/drawing/2014/main" id="{424C8329-EA43-689D-B047-53CB03524DBB}"/>
                      </a:ext>
                    </a:extLst>
                  </p:cNvPr>
                  <p:cNvCxnSpPr>
                    <a:cxnSpLocks/>
                    <a:stCxn id="11" idx="4"/>
                    <a:endCxn id="10" idx="0"/>
                  </p:cNvCxnSpPr>
                  <p:nvPr/>
                </p:nvCxnSpPr>
                <p:spPr>
                  <a:xfrm>
                    <a:off x="5473329" y="3031681"/>
                    <a:ext cx="0" cy="550089"/>
                  </a:xfrm>
                  <a:prstGeom prst="line">
                    <a:avLst/>
                  </a:prstGeom>
                  <a:ln w="28575">
                    <a:solidFill>
                      <a:schemeClr val="accent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" name="楕円 9">
                    <a:extLst>
                      <a:ext uri="{FF2B5EF4-FFF2-40B4-BE49-F238E27FC236}">
                        <a16:creationId xmlns:a16="http://schemas.microsoft.com/office/drawing/2014/main" id="{FE705B3C-1592-3BA8-422E-EBAF0E9A8191}"/>
                      </a:ext>
                    </a:extLst>
                  </p:cNvPr>
                  <p:cNvSpPr/>
                  <p:nvPr/>
                </p:nvSpPr>
                <p:spPr>
                  <a:xfrm>
                    <a:off x="5386866" y="3581770"/>
                    <a:ext cx="172926" cy="172926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11" name="楕円 10">
                    <a:extLst>
                      <a:ext uri="{FF2B5EF4-FFF2-40B4-BE49-F238E27FC236}">
                        <a16:creationId xmlns:a16="http://schemas.microsoft.com/office/drawing/2014/main" id="{DD710A21-BB21-DC34-6AD1-10BFF872B871}"/>
                      </a:ext>
                    </a:extLst>
                  </p:cNvPr>
                  <p:cNvSpPr/>
                  <p:nvPr/>
                </p:nvSpPr>
                <p:spPr>
                  <a:xfrm>
                    <a:off x="5386866" y="2858755"/>
                    <a:ext cx="172926" cy="17292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  <p:sp>
              <p:nvSpPr>
                <p:cNvPr id="13" name="テキスト ボックス 12">
                  <a:extLst>
                    <a:ext uri="{FF2B5EF4-FFF2-40B4-BE49-F238E27FC236}">
                      <a16:creationId xmlns:a16="http://schemas.microsoft.com/office/drawing/2014/main" id="{1A7AAABB-6A2F-2646-E35D-7CC6AE01F4DC}"/>
                    </a:ext>
                  </a:extLst>
                </p:cNvPr>
                <p:cNvSpPr txBox="1"/>
                <p:nvPr/>
              </p:nvSpPr>
              <p:spPr>
                <a:xfrm>
                  <a:off x="5308059" y="3692579"/>
                  <a:ext cx="3305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dirty="0">
                      <a:solidFill>
                        <a:schemeClr val="accent1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1</a:t>
                  </a:r>
                  <a:endParaRPr kumimoji="1" lang="ja-JP" altLang="en-US" dirty="0">
                    <a:solidFill>
                      <a:schemeClr val="accent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61F2FDA8-8411-EB08-9CC3-56F9AB4BE970}"/>
                    </a:ext>
                  </a:extLst>
                </p:cNvPr>
                <p:cNvSpPr txBox="1"/>
                <p:nvPr/>
              </p:nvSpPr>
              <p:spPr>
                <a:xfrm>
                  <a:off x="5170201" y="2477251"/>
                  <a:ext cx="60625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dirty="0">
                      <a:solidFill>
                        <a:schemeClr val="accent1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0.3</a:t>
                  </a:r>
                  <a:endParaRPr kumimoji="1" lang="ja-JP" altLang="en-US" dirty="0">
                    <a:solidFill>
                      <a:schemeClr val="accent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</p:grpSp>
          <p:grpSp>
            <p:nvGrpSpPr>
              <p:cNvPr id="16" name="グループ化 15">
                <a:extLst>
                  <a:ext uri="{FF2B5EF4-FFF2-40B4-BE49-F238E27FC236}">
                    <a16:creationId xmlns:a16="http://schemas.microsoft.com/office/drawing/2014/main" id="{5592BAED-7D7E-91B9-93DD-7F952B05B659}"/>
                  </a:ext>
                </a:extLst>
              </p:cNvPr>
              <p:cNvGrpSpPr/>
              <p:nvPr/>
            </p:nvGrpSpPr>
            <p:grpSpPr>
              <a:xfrm>
                <a:off x="5772044" y="2784466"/>
                <a:ext cx="606256" cy="1275378"/>
                <a:chOff x="5163152" y="2786533"/>
                <a:chExt cx="606256" cy="1275378"/>
              </a:xfrm>
            </p:grpSpPr>
            <p:grpSp>
              <p:nvGrpSpPr>
                <p:cNvPr id="17" name="グループ化 16">
                  <a:extLst>
                    <a:ext uri="{FF2B5EF4-FFF2-40B4-BE49-F238E27FC236}">
                      <a16:creationId xmlns:a16="http://schemas.microsoft.com/office/drawing/2014/main" id="{5E86F980-70CF-43D5-8DA5-C31E9713736B}"/>
                    </a:ext>
                  </a:extLst>
                </p:cNvPr>
                <p:cNvGrpSpPr/>
                <p:nvPr/>
              </p:nvGrpSpPr>
              <p:grpSpPr>
                <a:xfrm>
                  <a:off x="5381177" y="3132032"/>
                  <a:ext cx="178615" cy="622664"/>
                  <a:chOff x="5381177" y="3132032"/>
                  <a:chExt cx="178615" cy="622664"/>
                </a:xfrm>
              </p:grpSpPr>
              <p:cxnSp>
                <p:nvCxnSpPr>
                  <p:cNvPr id="20" name="直線コネクタ 19">
                    <a:extLst>
                      <a:ext uri="{FF2B5EF4-FFF2-40B4-BE49-F238E27FC236}">
                        <a16:creationId xmlns:a16="http://schemas.microsoft.com/office/drawing/2014/main" id="{2806E7CA-516B-435C-619E-4BF6BB0C56DE}"/>
                      </a:ext>
                    </a:extLst>
                  </p:cNvPr>
                  <p:cNvCxnSpPr>
                    <a:cxnSpLocks/>
                    <a:stCxn id="22" idx="4"/>
                    <a:endCxn id="21" idx="0"/>
                  </p:cNvCxnSpPr>
                  <p:nvPr/>
                </p:nvCxnSpPr>
                <p:spPr>
                  <a:xfrm>
                    <a:off x="5467640" y="3304958"/>
                    <a:ext cx="5689" cy="276812"/>
                  </a:xfrm>
                  <a:prstGeom prst="line">
                    <a:avLst/>
                  </a:prstGeom>
                  <a:ln w="28575">
                    <a:solidFill>
                      <a:schemeClr val="accent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1" name="楕円 20">
                    <a:extLst>
                      <a:ext uri="{FF2B5EF4-FFF2-40B4-BE49-F238E27FC236}">
                        <a16:creationId xmlns:a16="http://schemas.microsoft.com/office/drawing/2014/main" id="{81156A56-F949-8B5B-3F7B-431175A0A427}"/>
                      </a:ext>
                    </a:extLst>
                  </p:cNvPr>
                  <p:cNvSpPr/>
                  <p:nvPr/>
                </p:nvSpPr>
                <p:spPr>
                  <a:xfrm>
                    <a:off x="5386866" y="3581770"/>
                    <a:ext cx="172926" cy="172926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2" name="楕円 21">
                    <a:extLst>
                      <a:ext uri="{FF2B5EF4-FFF2-40B4-BE49-F238E27FC236}">
                        <a16:creationId xmlns:a16="http://schemas.microsoft.com/office/drawing/2014/main" id="{20CFD3C3-5F67-0DD4-40BD-D01E0429FCD7}"/>
                      </a:ext>
                    </a:extLst>
                  </p:cNvPr>
                  <p:cNvSpPr/>
                  <p:nvPr/>
                </p:nvSpPr>
                <p:spPr>
                  <a:xfrm>
                    <a:off x="5381177" y="3132032"/>
                    <a:ext cx="172926" cy="17292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  <p:sp>
              <p:nvSpPr>
                <p:cNvPr id="18" name="テキスト ボックス 17">
                  <a:extLst>
                    <a:ext uri="{FF2B5EF4-FFF2-40B4-BE49-F238E27FC236}">
                      <a16:creationId xmlns:a16="http://schemas.microsoft.com/office/drawing/2014/main" id="{A78B1464-E12B-2246-A30F-357715400149}"/>
                    </a:ext>
                  </a:extLst>
                </p:cNvPr>
                <p:cNvSpPr txBox="1"/>
                <p:nvPr/>
              </p:nvSpPr>
              <p:spPr>
                <a:xfrm>
                  <a:off x="5308059" y="3692579"/>
                  <a:ext cx="3593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dirty="0">
                      <a:solidFill>
                        <a:schemeClr val="accent1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2</a:t>
                  </a:r>
                  <a:endParaRPr kumimoji="1" lang="ja-JP" altLang="en-US" dirty="0">
                    <a:solidFill>
                      <a:schemeClr val="accent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53A87A07-F39E-CB26-7C77-C0D01723A24D}"/>
                    </a:ext>
                  </a:extLst>
                </p:cNvPr>
                <p:cNvSpPr txBox="1"/>
                <p:nvPr/>
              </p:nvSpPr>
              <p:spPr>
                <a:xfrm>
                  <a:off x="5163152" y="2786533"/>
                  <a:ext cx="60625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dirty="0">
                      <a:solidFill>
                        <a:schemeClr val="accent1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0.2</a:t>
                  </a:r>
                  <a:endParaRPr kumimoji="1" lang="ja-JP" altLang="en-US" dirty="0">
                    <a:solidFill>
                      <a:schemeClr val="accent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</p:grpSp>
          <p:grpSp>
            <p:nvGrpSpPr>
              <p:cNvPr id="30" name="グループ化 29">
                <a:extLst>
                  <a:ext uri="{FF2B5EF4-FFF2-40B4-BE49-F238E27FC236}">
                    <a16:creationId xmlns:a16="http://schemas.microsoft.com/office/drawing/2014/main" id="{892AED9B-58C1-FF3E-74A2-56F75AA43354}"/>
                  </a:ext>
                </a:extLst>
              </p:cNvPr>
              <p:cNvGrpSpPr/>
              <p:nvPr/>
            </p:nvGrpSpPr>
            <p:grpSpPr>
              <a:xfrm>
                <a:off x="6387984" y="1857640"/>
                <a:ext cx="606256" cy="2202204"/>
                <a:chOff x="5170201" y="1859707"/>
                <a:chExt cx="606256" cy="2202204"/>
              </a:xfrm>
            </p:grpSpPr>
            <p:grpSp>
              <p:nvGrpSpPr>
                <p:cNvPr id="31" name="グループ化 30">
                  <a:extLst>
                    <a:ext uri="{FF2B5EF4-FFF2-40B4-BE49-F238E27FC236}">
                      <a16:creationId xmlns:a16="http://schemas.microsoft.com/office/drawing/2014/main" id="{FD0C6250-63FE-4297-F843-CAE89E4AB457}"/>
                    </a:ext>
                  </a:extLst>
                </p:cNvPr>
                <p:cNvGrpSpPr/>
                <p:nvPr/>
              </p:nvGrpSpPr>
              <p:grpSpPr>
                <a:xfrm>
                  <a:off x="5386866" y="2227044"/>
                  <a:ext cx="172926" cy="1527652"/>
                  <a:chOff x="5386866" y="2227044"/>
                  <a:chExt cx="172926" cy="1527652"/>
                </a:xfrm>
              </p:grpSpPr>
              <p:cxnSp>
                <p:nvCxnSpPr>
                  <p:cNvPr id="34" name="直線コネクタ 33">
                    <a:extLst>
                      <a:ext uri="{FF2B5EF4-FFF2-40B4-BE49-F238E27FC236}">
                        <a16:creationId xmlns:a16="http://schemas.microsoft.com/office/drawing/2014/main" id="{3B5B9B63-7403-112E-37EA-FF68B1291274}"/>
                      </a:ext>
                    </a:extLst>
                  </p:cNvPr>
                  <p:cNvCxnSpPr>
                    <a:cxnSpLocks/>
                    <a:stCxn id="36" idx="4"/>
                    <a:endCxn id="35" idx="0"/>
                  </p:cNvCxnSpPr>
                  <p:nvPr/>
                </p:nvCxnSpPr>
                <p:spPr>
                  <a:xfrm>
                    <a:off x="5473329" y="2399970"/>
                    <a:ext cx="0" cy="1181800"/>
                  </a:xfrm>
                  <a:prstGeom prst="line">
                    <a:avLst/>
                  </a:prstGeom>
                  <a:ln w="28575">
                    <a:solidFill>
                      <a:schemeClr val="accent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5" name="楕円 34">
                    <a:extLst>
                      <a:ext uri="{FF2B5EF4-FFF2-40B4-BE49-F238E27FC236}">
                        <a16:creationId xmlns:a16="http://schemas.microsoft.com/office/drawing/2014/main" id="{B7F49FB9-B14C-2D91-0CFF-741241AA3B35}"/>
                      </a:ext>
                    </a:extLst>
                  </p:cNvPr>
                  <p:cNvSpPr/>
                  <p:nvPr/>
                </p:nvSpPr>
                <p:spPr>
                  <a:xfrm>
                    <a:off x="5386866" y="3581770"/>
                    <a:ext cx="172926" cy="172926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36" name="楕円 35">
                    <a:extLst>
                      <a:ext uri="{FF2B5EF4-FFF2-40B4-BE49-F238E27FC236}">
                        <a16:creationId xmlns:a16="http://schemas.microsoft.com/office/drawing/2014/main" id="{5A87278F-E5D6-0D75-1C90-60CD133793F3}"/>
                      </a:ext>
                    </a:extLst>
                  </p:cNvPr>
                  <p:cNvSpPr/>
                  <p:nvPr/>
                </p:nvSpPr>
                <p:spPr>
                  <a:xfrm>
                    <a:off x="5386866" y="2227044"/>
                    <a:ext cx="172926" cy="17292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  <p:sp>
              <p:nvSpPr>
                <p:cNvPr id="32" name="テキスト ボックス 31">
                  <a:extLst>
                    <a:ext uri="{FF2B5EF4-FFF2-40B4-BE49-F238E27FC236}">
                      <a16:creationId xmlns:a16="http://schemas.microsoft.com/office/drawing/2014/main" id="{C559C9CE-EDF9-79D0-45A7-F8A4327B0BA9}"/>
                    </a:ext>
                  </a:extLst>
                </p:cNvPr>
                <p:cNvSpPr txBox="1"/>
                <p:nvPr/>
              </p:nvSpPr>
              <p:spPr>
                <a:xfrm>
                  <a:off x="5308059" y="3692579"/>
                  <a:ext cx="3593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dirty="0">
                      <a:solidFill>
                        <a:schemeClr val="accent1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3</a:t>
                  </a:r>
                  <a:endParaRPr kumimoji="1" lang="ja-JP" altLang="en-US" dirty="0">
                    <a:solidFill>
                      <a:schemeClr val="accent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DCE3547B-D59C-F370-48F6-B3EE9BF568D8}"/>
                    </a:ext>
                  </a:extLst>
                </p:cNvPr>
                <p:cNvSpPr txBox="1"/>
                <p:nvPr/>
              </p:nvSpPr>
              <p:spPr>
                <a:xfrm>
                  <a:off x="5170201" y="1859707"/>
                  <a:ext cx="60625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dirty="0">
                      <a:solidFill>
                        <a:schemeClr val="accent1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0.5</a:t>
                  </a:r>
                  <a:endParaRPr kumimoji="1" lang="ja-JP" altLang="en-US" dirty="0">
                    <a:solidFill>
                      <a:schemeClr val="accent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</p:grpSp>
          <p:grpSp>
            <p:nvGrpSpPr>
              <p:cNvPr id="44" name="グループ化 43">
                <a:extLst>
                  <a:ext uri="{FF2B5EF4-FFF2-40B4-BE49-F238E27FC236}">
                    <a16:creationId xmlns:a16="http://schemas.microsoft.com/office/drawing/2014/main" id="{C5141C35-66D7-8759-9CD4-8849F4BD19A0}"/>
                  </a:ext>
                </a:extLst>
              </p:cNvPr>
              <p:cNvGrpSpPr/>
              <p:nvPr/>
            </p:nvGrpSpPr>
            <p:grpSpPr>
              <a:xfrm>
                <a:off x="7591671" y="2473416"/>
                <a:ext cx="606256" cy="1584660"/>
                <a:chOff x="5170201" y="2477251"/>
                <a:chExt cx="606256" cy="1584660"/>
              </a:xfrm>
            </p:grpSpPr>
            <p:grpSp>
              <p:nvGrpSpPr>
                <p:cNvPr id="45" name="グループ化 44">
                  <a:extLst>
                    <a:ext uri="{FF2B5EF4-FFF2-40B4-BE49-F238E27FC236}">
                      <a16:creationId xmlns:a16="http://schemas.microsoft.com/office/drawing/2014/main" id="{4D21FD3C-16F4-0420-07E4-11E5A5D265EB}"/>
                    </a:ext>
                  </a:extLst>
                </p:cNvPr>
                <p:cNvGrpSpPr/>
                <p:nvPr/>
              </p:nvGrpSpPr>
              <p:grpSpPr>
                <a:xfrm>
                  <a:off x="5386866" y="2858755"/>
                  <a:ext cx="172926" cy="895941"/>
                  <a:chOff x="5386866" y="2858755"/>
                  <a:chExt cx="172926" cy="895941"/>
                </a:xfrm>
              </p:grpSpPr>
              <p:cxnSp>
                <p:nvCxnSpPr>
                  <p:cNvPr id="48" name="直線コネクタ 47">
                    <a:extLst>
                      <a:ext uri="{FF2B5EF4-FFF2-40B4-BE49-F238E27FC236}">
                        <a16:creationId xmlns:a16="http://schemas.microsoft.com/office/drawing/2014/main" id="{8D7C9D9B-0358-3209-A237-0BFD059DBBFD}"/>
                      </a:ext>
                    </a:extLst>
                  </p:cNvPr>
                  <p:cNvCxnSpPr/>
                  <p:nvPr/>
                </p:nvCxnSpPr>
                <p:spPr>
                  <a:xfrm>
                    <a:off x="5475767" y="2945219"/>
                    <a:ext cx="0" cy="723014"/>
                  </a:xfrm>
                  <a:prstGeom prst="line">
                    <a:avLst/>
                  </a:prstGeom>
                  <a:ln w="28575">
                    <a:solidFill>
                      <a:schemeClr val="accent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9" name="楕円 48">
                    <a:extLst>
                      <a:ext uri="{FF2B5EF4-FFF2-40B4-BE49-F238E27FC236}">
                        <a16:creationId xmlns:a16="http://schemas.microsoft.com/office/drawing/2014/main" id="{0E6C1F06-302D-D6C0-8365-17613CA42C6B}"/>
                      </a:ext>
                    </a:extLst>
                  </p:cNvPr>
                  <p:cNvSpPr/>
                  <p:nvPr/>
                </p:nvSpPr>
                <p:spPr>
                  <a:xfrm>
                    <a:off x="5386866" y="3581770"/>
                    <a:ext cx="172926" cy="172926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50" name="楕円 49">
                    <a:extLst>
                      <a:ext uri="{FF2B5EF4-FFF2-40B4-BE49-F238E27FC236}">
                        <a16:creationId xmlns:a16="http://schemas.microsoft.com/office/drawing/2014/main" id="{3B7A725C-CA0D-6EB2-130E-44CAEFFE82F8}"/>
                      </a:ext>
                    </a:extLst>
                  </p:cNvPr>
                  <p:cNvSpPr/>
                  <p:nvPr/>
                </p:nvSpPr>
                <p:spPr>
                  <a:xfrm>
                    <a:off x="5386866" y="2858755"/>
                    <a:ext cx="172926" cy="17292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  <p:sp>
              <p:nvSpPr>
                <p:cNvPr id="46" name="テキスト ボックス 45">
                  <a:extLst>
                    <a:ext uri="{FF2B5EF4-FFF2-40B4-BE49-F238E27FC236}">
                      <a16:creationId xmlns:a16="http://schemas.microsoft.com/office/drawing/2014/main" id="{814D2B95-8891-514E-1857-D6E0EA488E44}"/>
                    </a:ext>
                  </a:extLst>
                </p:cNvPr>
                <p:cNvSpPr txBox="1"/>
                <p:nvPr/>
              </p:nvSpPr>
              <p:spPr>
                <a:xfrm>
                  <a:off x="5308059" y="3692579"/>
                  <a:ext cx="3593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dirty="0">
                      <a:solidFill>
                        <a:schemeClr val="accent1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5</a:t>
                  </a:r>
                  <a:endParaRPr kumimoji="1" lang="ja-JP" altLang="en-US" dirty="0">
                    <a:solidFill>
                      <a:schemeClr val="accent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  <p:sp>
              <p:nvSpPr>
                <p:cNvPr id="47" name="テキスト ボックス 46">
                  <a:extLst>
                    <a:ext uri="{FF2B5EF4-FFF2-40B4-BE49-F238E27FC236}">
                      <a16:creationId xmlns:a16="http://schemas.microsoft.com/office/drawing/2014/main" id="{DFEAC2C2-A6EE-E0CB-CBDE-BC83A6ABC6B0}"/>
                    </a:ext>
                  </a:extLst>
                </p:cNvPr>
                <p:cNvSpPr txBox="1"/>
                <p:nvPr/>
              </p:nvSpPr>
              <p:spPr>
                <a:xfrm>
                  <a:off x="5170201" y="2477251"/>
                  <a:ext cx="60625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dirty="0">
                      <a:solidFill>
                        <a:schemeClr val="accent1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0.3</a:t>
                  </a:r>
                  <a:endParaRPr kumimoji="1" lang="ja-JP" altLang="en-US" dirty="0">
                    <a:solidFill>
                      <a:schemeClr val="accent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615081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9C0DD-EA13-4DFB-A6B9-0DE729112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895FA8-0113-78D2-87B4-F834290CF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連続確率分布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BD79CA6-F10C-B8BC-1B03-AA59D7880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12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14E1D21-A962-F0B2-83BD-487B6A359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b="1" dirty="0">
                <a:solidFill>
                  <a:schemeClr val="accent5"/>
                </a:solidFill>
              </a:rPr>
              <a:t>連続確率分布</a:t>
            </a:r>
            <a:r>
              <a:rPr lang="ja-JP" altLang="en-US" dirty="0"/>
              <a:t>　</a:t>
            </a:r>
            <a:r>
              <a:rPr lang="en-US" altLang="ja-JP" dirty="0">
                <a:solidFill>
                  <a:schemeClr val="accent2"/>
                </a:solidFill>
              </a:rPr>
              <a:t>continuous probability distribution</a:t>
            </a:r>
          </a:p>
          <a:p>
            <a:pPr lvl="1"/>
            <a:r>
              <a:rPr lang="ja-JP" altLang="en-US" dirty="0"/>
              <a:t>累積確率分布関数が連続な確率分布</a:t>
            </a:r>
            <a:endParaRPr lang="en-US" altLang="ja-JP" dirty="0"/>
          </a:p>
          <a:p>
            <a:pPr lvl="1"/>
            <a:r>
              <a:rPr lang="ja-JP" altLang="en-US" dirty="0">
                <a:solidFill>
                  <a:schemeClr val="accent5"/>
                </a:solidFill>
              </a:rPr>
              <a:t>確率変数が連続変数</a:t>
            </a:r>
            <a:r>
              <a:rPr lang="ja-JP" altLang="en-US" dirty="0"/>
              <a:t>である場合</a:t>
            </a:r>
          </a:p>
          <a:p>
            <a:endParaRPr kumimoji="1" lang="en-US" altLang="ja-JP" dirty="0"/>
          </a:p>
          <a:p>
            <a:r>
              <a:rPr kumimoji="1" lang="ja-JP" altLang="en-US" dirty="0"/>
              <a:t>連続変数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連続的で，</a:t>
            </a:r>
            <a:br>
              <a:rPr kumimoji="1" lang="en-US" altLang="ja-JP" dirty="0"/>
            </a:br>
            <a:r>
              <a:rPr kumimoji="1" lang="ja-JP" altLang="en-US" dirty="0"/>
              <a:t>無限に中間の値が存在する変数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重さ，温度，距離，など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C3C2569-9907-54D0-C8C4-2009EB528F14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D9C68BB6-B94A-FE81-75F0-67DE1E781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8688" y="2152334"/>
            <a:ext cx="3823336" cy="2294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976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84388-0A7B-B766-92A3-AD5CE5293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E2BE8A5-5FF8-F89E-4FE2-2D8BFBC03A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４：</a:t>
            </a:r>
            <a:r>
              <a:rPr lang="ja-JP" altLang="en-US" dirty="0"/>
              <a:t>離散確率分布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54A92F3-BEFE-3151-A1AD-B371138D8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6061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9CE7E-2364-819F-D9B6-6C58475A9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D2A833-BD82-6571-D990-597AA1597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離散確率分布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3BE2AF6-5911-A0A5-F11B-6A118A53D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CC560C5-83D4-7DCA-3512-6697EEB13A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ja-JP" altLang="en-US" b="1" dirty="0">
                    <a:solidFill>
                      <a:schemeClr val="accent5"/>
                    </a:solidFill>
                  </a:rPr>
                  <a:t>離散確率分布</a:t>
                </a:r>
                <a:r>
                  <a:rPr lang="ja-JP" altLang="en-US" dirty="0"/>
                  <a:t>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discrete probability distribution</a:t>
                </a:r>
              </a:p>
              <a:p>
                <a:pPr lvl="1"/>
                <a:r>
                  <a:rPr lang="ja-JP" altLang="en-US" dirty="0">
                    <a:solidFill>
                      <a:schemeClr val="accent5"/>
                    </a:solidFill>
                  </a:rPr>
                  <a:t>確率変数が離散変数</a:t>
                </a:r>
                <a:r>
                  <a:rPr lang="ja-JP" altLang="en-US" dirty="0"/>
                  <a:t>である場合</a:t>
                </a:r>
              </a:p>
              <a:p>
                <a:endParaRPr kumimoji="1" lang="en-US" altLang="ja-JP" dirty="0"/>
              </a:p>
              <a:p>
                <a:r>
                  <a:rPr kumimoji="1" lang="ja-JP" altLang="en-US" dirty="0"/>
                  <a:t>二項分布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binomial distribution</a:t>
                </a:r>
              </a:p>
              <a:p>
                <a:pPr lvl="1"/>
                <a:r>
                  <a:rPr lang="ja-JP" altLang="en-US" dirty="0"/>
                  <a:t>成功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確率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dirty="0"/>
                  <a:t>で，成功か失敗のいずれかの結果となる試行を，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独立に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回</a:t>
                </a:r>
                <a:r>
                  <a:rPr kumimoji="1" lang="ja-JP" altLang="en-US" dirty="0"/>
                  <a:t>行った時の，成功回数を確率変数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dirty="0"/>
                  <a:t>とする確率分布</a:t>
                </a:r>
                <a:endParaRPr kumimoji="1" lang="en-US" altLang="ja-JP" dirty="0"/>
              </a:p>
              <a:p>
                <a:r>
                  <a:rPr lang="ja-JP" altLang="en-US" dirty="0"/>
                  <a:t>ベルヌーイ分布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Bernoulli distribution</a:t>
                </a:r>
                <a:endParaRPr kumimoji="1" lang="en-US" altLang="ja-JP" dirty="0">
                  <a:solidFill>
                    <a:schemeClr val="accent2"/>
                  </a:solidFill>
                </a:endParaRPr>
              </a:p>
              <a:p>
                <a:pPr lvl="1"/>
                <a:r>
                  <a:rPr kumimoji="1" lang="ja-JP" altLang="en-US" dirty="0"/>
                  <a:t>確率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dirty="0"/>
                  <a:t>で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，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kumimoji="1" lang="ja-JP" altLang="en-US" dirty="0"/>
                  <a:t>で</a:t>
                </a:r>
                <a:r>
                  <a:rPr kumimoji="1" lang="en-US" altLang="ja-JP" dirty="0"/>
                  <a:t>0</a:t>
                </a:r>
                <a:r>
                  <a:rPr kumimoji="1" lang="ja-JP" altLang="en-US" dirty="0"/>
                  <a:t>をとる確率分布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二項分布の特殊型（試行回数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ja-JP" altLang="en-US" dirty="0"/>
                  <a:t>のみ）</a:t>
                </a:r>
                <a:endParaRPr lang="en-US" altLang="ja-JP" dirty="0"/>
              </a:p>
              <a:p>
                <a:r>
                  <a:rPr kumimoji="1" lang="ja-JP" altLang="en-US" dirty="0"/>
                  <a:t>ポアソン分布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Poisson distribution</a:t>
                </a:r>
              </a:p>
              <a:p>
                <a:pPr lvl="1"/>
                <a:r>
                  <a:rPr kumimoji="1" lang="ja-JP" altLang="en-US" dirty="0"/>
                  <a:t>ある事象が一定の時間内に発生する回数を表す確率分布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二項分布のうち，起こる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確率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が限りなく小さい</a:t>
                </a:r>
                <a:r>
                  <a:rPr kumimoji="1" lang="ja-JP" altLang="en-US" dirty="0"/>
                  <a:t>とき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CC560C5-83D4-7DCA-3512-6697EEB13A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2" t="-157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4120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423EB-8AE7-89CB-C123-2DFEC88E2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7D272C-E715-18A6-3A94-A8E3599CF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離散確率分布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1088F7A-6F20-23ED-62B8-A87A4B4A0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15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C588787-4DB1-9E6F-0D54-8CA5547D8A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幾何分布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geometric distribution</a:t>
                </a:r>
              </a:p>
              <a:p>
                <a:pPr lvl="1"/>
                <a:r>
                  <a:rPr lang="ja-JP" altLang="en-US" dirty="0"/>
                  <a:t>ベルヌーイ試行を繰り返して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①初めて成功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する</a:t>
                </a:r>
                <a:r>
                  <a:rPr lang="ja-JP" altLang="en-US" dirty="0"/>
                  <a:t>までの試行回数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dirty="0"/>
                  <a:t>の分布　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={1, 2, …}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kumimoji="1" lang="ja-JP" altLang="en-US" dirty="0"/>
                  <a:t>②初めて成功するまでに失敗した試行回数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kumimoji="1" lang="ja-JP" altLang="en-US" dirty="0"/>
                  <a:t>の分布　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={0,1,2,…}</m:t>
                    </m:r>
                  </m:oMath>
                </a14:m>
                <a:endParaRPr kumimoji="1" lang="en-US" altLang="ja-JP" dirty="0"/>
              </a:p>
              <a:p>
                <a:r>
                  <a:rPr lang="ja-JP" altLang="en-US" dirty="0"/>
                  <a:t>負の二項分布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negative binomial distribution</a:t>
                </a:r>
                <a:endParaRPr kumimoji="1" lang="en-US" altLang="ja-JP" dirty="0">
                  <a:solidFill>
                    <a:schemeClr val="accent2"/>
                  </a:solidFill>
                </a:endParaRPr>
              </a:p>
              <a:p>
                <a:pPr lvl="1"/>
                <a:r>
                  <a:rPr lang="ja-JP" altLang="en-US" dirty="0"/>
                  <a:t>成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功確率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で，成</a:t>
                </a:r>
                <a:r>
                  <a:rPr lang="ja-JP" altLang="en-US" dirty="0"/>
                  <a:t>功か失敗のいずれかの結果となる試行を，</a:t>
                </a:r>
                <a:br>
                  <a:rPr lang="en-US" altLang="ja-JP" dirty="0"/>
                </a:b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ja-JP" altLang="en-US" dirty="0"/>
                  <a:t>回の成功が起こるまで続けた場合の，失敗回数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dirty="0"/>
                  <a:t>の分布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二項分布：コインを</a:t>
                </a:r>
                <a:r>
                  <a:rPr kumimoji="1" lang="en-US" altLang="ja-JP" dirty="0"/>
                  <a:t>5</a:t>
                </a:r>
                <a:r>
                  <a:rPr kumimoji="1" lang="ja-JP" altLang="en-US" dirty="0"/>
                  <a:t>回</a:t>
                </a:r>
                <a:r>
                  <a:rPr kumimoji="1" lang="ja-JP" altLang="en-US" sz="1900" dirty="0"/>
                  <a:t>（</a:t>
                </a:r>
                <a14:m>
                  <m:oMath xmlns:m="http://schemas.openxmlformats.org/officeDocument/2006/math">
                    <m:r>
                      <a:rPr kumimoji="1" lang="en-US" altLang="ja-JP" sz="19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sz="1900" dirty="0"/>
                  <a:t>）</a:t>
                </a:r>
                <a:r>
                  <a:rPr kumimoji="1" lang="ja-JP" altLang="en-US" dirty="0"/>
                  <a:t>を投げたときに，表が出る回数</a:t>
                </a:r>
                <a:r>
                  <a:rPr kumimoji="1" lang="ja-JP" altLang="en-US" sz="1900" dirty="0"/>
                  <a:t>（</a:t>
                </a:r>
                <a14:m>
                  <m:oMath xmlns:m="http://schemas.openxmlformats.org/officeDocument/2006/math">
                    <m:r>
                      <a:rPr kumimoji="1" lang="en-US" altLang="ja-JP" sz="19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sz="1900" dirty="0"/>
                  <a:t>）</a:t>
                </a:r>
                <a:endParaRPr kumimoji="1" lang="en-US" altLang="ja-JP" sz="1900" dirty="0"/>
              </a:p>
              <a:p>
                <a:pPr lvl="1"/>
                <a:r>
                  <a:rPr lang="ja-JP" altLang="en-US" dirty="0"/>
                  <a:t>負の二項分布：</a:t>
                </a:r>
                <a:r>
                  <a:rPr lang="en-US" altLang="ja-JP" dirty="0"/>
                  <a:t>5</a:t>
                </a:r>
                <a:r>
                  <a:rPr lang="ja-JP" altLang="en-US" dirty="0"/>
                  <a:t>回</a:t>
                </a:r>
                <a:r>
                  <a:rPr lang="ja-JP" altLang="en-US" sz="1900" dirty="0"/>
                  <a:t>（</a:t>
                </a:r>
                <a14:m>
                  <m:oMath xmlns:m="http://schemas.openxmlformats.org/officeDocument/2006/math">
                    <m:r>
                      <a:rPr lang="en-US" altLang="ja-JP" sz="19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ja-JP" altLang="en-US" sz="1900" dirty="0"/>
                  <a:t>）</a:t>
                </a:r>
                <a:r>
                  <a:rPr lang="ja-JP" altLang="en-US" dirty="0"/>
                  <a:t>表が出るまでコインを投げ続けたときに，</a:t>
                </a:r>
                <a:br>
                  <a:rPr lang="en-US" altLang="ja-JP" dirty="0"/>
                </a:br>
                <a:r>
                  <a:rPr lang="ja-JP" altLang="en-US" dirty="0"/>
                  <a:t>裏が出る回数</a:t>
                </a:r>
                <a:r>
                  <a:rPr lang="ja-JP" altLang="en-US" sz="1900" dirty="0"/>
                  <a:t>（</a:t>
                </a:r>
                <a14:m>
                  <m:oMath xmlns:m="http://schemas.openxmlformats.org/officeDocument/2006/math">
                    <m:r>
                      <a:rPr lang="en-US" altLang="ja-JP" sz="19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sz="1900" dirty="0"/>
                  <a:t>）</a:t>
                </a:r>
                <a:endParaRPr lang="en-US" altLang="ja-JP" dirty="0"/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C588787-4DB1-9E6F-0D54-8CA5547D8A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1326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AF6182-AA5F-26C3-15E4-73E9C47C7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(Advanced) </a:t>
            </a:r>
            <a:r>
              <a:rPr lang="ja-JP" altLang="en-US" dirty="0"/>
              <a:t>二項分布の特徴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6CB85EB-4C39-0C42-1D6F-5EE3B856B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16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F698851E-53B8-B274-5E6F-703DB8DADF7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586930312"/>
                  </p:ext>
                </p:extLst>
              </p:nvPr>
            </p:nvGraphicFramePr>
            <p:xfrm>
              <a:off x="131763" y="933450"/>
              <a:ext cx="8880474" cy="54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1074">
                      <a:extLst>
                        <a:ext uri="{9D8B030D-6E8A-4147-A177-3AD203B41FA5}">
                          <a16:colId xmlns:a16="http://schemas.microsoft.com/office/drawing/2014/main" val="4287716507"/>
                        </a:ext>
                      </a:extLst>
                    </a:gridCol>
                    <a:gridCol w="6779400">
                      <a:extLst>
                        <a:ext uri="{9D8B030D-6E8A-4147-A177-3AD203B41FA5}">
                          <a16:colId xmlns:a16="http://schemas.microsoft.com/office/drawing/2014/main" val="811103721"/>
                        </a:ext>
                      </a:extLst>
                    </a:gridCol>
                  </a:tblGrid>
                  <a:tr h="900000">
                    <a:tc gridSpan="2"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【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二項分布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】</a:t>
                          </a:r>
                        </a:p>
                        <a:p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成功確率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BIZ UDPゴシック" panose="020B0400000000000000" pitchFamily="50" charset="-128"/>
                                </a:rPr>
                                <m:t>𝜋</m:t>
                              </m:r>
                            </m:oMath>
                          </a14:m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で，成功か失敗のいずれかの結果となる試行を，</a:t>
                          </a:r>
                          <a:b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独立に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BIZ UDPゴシック" panose="020B0400000000000000" pitchFamily="50" charset="-128"/>
                                </a:rPr>
                                <m:t>𝑛</m:t>
                              </m:r>
                            </m:oMath>
                          </a14:m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回行った時の，成功回数を確率変数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BIZ UDPゴシック" panose="020B0400000000000000" pitchFamily="50" charset="-128"/>
                                </a:rPr>
                                <m:t>𝑋</m:t>
                              </m:r>
                            </m:oMath>
                          </a14:m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とする確率分布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81323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①母数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≥0</m:t>
                              </m:r>
                            </m:oMath>
                          </a14:m>
                          <a:r>
                            <a:rPr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　：試行回数</a:t>
                          </a:r>
                          <a:r>
                            <a:rPr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（実数）</a:t>
                          </a:r>
                          <a:endParaRPr lang="en-US" altLang="ja-JP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≤1</m:t>
                              </m:r>
                            </m:oMath>
                          </a14:m>
                          <a:r>
                            <a:rPr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　：成功確率</a:t>
                          </a:r>
                          <a:r>
                            <a:rPr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（実数）</a:t>
                          </a:r>
                          <a:endParaRPr lang="en-US" altLang="ja-JP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29039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②確率質量関数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>
                                <m:func>
                                  <m:funcPr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kumimoji="1" lang="en-US" altLang="ja-JP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kumimoji="1" lang="en-US" altLang="ja-JP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Pr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p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834695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③累積分布関数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⌊"/>
                                        <m:endChr m:val="⌋"/>
                                        <m:ctrlP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e>
                                      <m:sub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</m:nary>
                                <m:sSup>
                                  <m:sSup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p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032621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④期待値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009000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⑤分散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𝑉𝑎𝑟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kumimoji="1" lang="ja-JP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1012476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F698851E-53B8-B274-5E6F-703DB8DADF7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586930312"/>
                  </p:ext>
                </p:extLst>
              </p:nvPr>
            </p:nvGraphicFramePr>
            <p:xfrm>
              <a:off x="131763" y="933450"/>
              <a:ext cx="8880474" cy="54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1074">
                      <a:extLst>
                        <a:ext uri="{9D8B030D-6E8A-4147-A177-3AD203B41FA5}">
                          <a16:colId xmlns:a16="http://schemas.microsoft.com/office/drawing/2014/main" val="4287716507"/>
                        </a:ext>
                      </a:extLst>
                    </a:gridCol>
                    <a:gridCol w="6779400">
                      <a:extLst>
                        <a:ext uri="{9D8B030D-6E8A-4147-A177-3AD203B41FA5}">
                          <a16:colId xmlns:a16="http://schemas.microsoft.com/office/drawing/2014/main" val="811103721"/>
                        </a:ext>
                      </a:extLst>
                    </a:gridCol>
                  </a:tblGrid>
                  <a:tr h="914400">
                    <a:tc gridSpan="2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9" t="-2667" r="-274" b="-494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81323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①母数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104054" r="-359" b="-400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29039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②確率質量関数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204054" r="-359" b="-300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834695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③累積分布関数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306122" r="-359" b="-2027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032621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④期待値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403378" r="-359" b="-1013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009000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⑤分散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503378" r="-359" b="-13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012476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34708286-2687-0A7F-6662-DB4436675770}"/>
                  </a:ext>
                </a:extLst>
              </p:cNvPr>
              <p:cNvSpPr txBox="1"/>
              <p:nvPr/>
            </p:nvSpPr>
            <p:spPr>
              <a:xfrm>
                <a:off x="131763" y="6334780"/>
                <a:ext cx="636661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②確率質量関数：　</a:t>
                </a:r>
                <a14:m>
                  <m:oMath xmlns:m="http://schemas.openxmlformats.org/officeDocument/2006/math"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となるような確率についての関数</a:t>
                </a:r>
                <a:endParaRPr kumimoji="1"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③累積分布関数：　確率変数が特定の値</a:t>
                </a:r>
                <a14:m>
                  <m:oMath xmlns:m="http://schemas.openxmlformats.org/officeDocument/2006/math">
                    <m:r>
                      <a:rPr lang="en-US" altLang="ja-JP" sz="1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以下となる確率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4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4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func>
                  </m:oMath>
                </a14:m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を表す関数</a:t>
                </a:r>
                <a:endParaRPr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34708286-2687-0A7F-6662-DB4436675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63" y="6334780"/>
                <a:ext cx="6366615" cy="523220"/>
              </a:xfrm>
              <a:prstGeom prst="rect">
                <a:avLst/>
              </a:prstGeom>
              <a:blipFill>
                <a:blip r:embed="rId3"/>
                <a:stretch>
                  <a:fillRect l="-287" t="-4651" b="-930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77239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8B7AE-D4D1-9880-C836-0F8686575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E67388-47ED-5931-45BC-2A22AE558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(Advanced) </a:t>
            </a:r>
            <a:r>
              <a:rPr lang="ja-JP" altLang="en-US" dirty="0"/>
              <a:t>ベルヌーイ分布の特徴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939DD8D-2D0E-EAE9-1A2F-C736349C8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17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611D5CA2-7C75-84EC-B7BF-CB18D79FE4A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48982063"/>
                  </p:ext>
                </p:extLst>
              </p:nvPr>
            </p:nvGraphicFramePr>
            <p:xfrm>
              <a:off x="131763" y="933450"/>
              <a:ext cx="8880474" cy="54671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1074">
                      <a:extLst>
                        <a:ext uri="{9D8B030D-6E8A-4147-A177-3AD203B41FA5}">
                          <a16:colId xmlns:a16="http://schemas.microsoft.com/office/drawing/2014/main" val="4287716507"/>
                        </a:ext>
                      </a:extLst>
                    </a:gridCol>
                    <a:gridCol w="6779400">
                      <a:extLst>
                        <a:ext uri="{9D8B030D-6E8A-4147-A177-3AD203B41FA5}">
                          <a16:colId xmlns:a16="http://schemas.microsoft.com/office/drawing/2014/main" val="811103721"/>
                        </a:ext>
                      </a:extLst>
                    </a:gridCol>
                  </a:tblGrid>
                  <a:tr h="900000">
                    <a:tc gridSpan="2"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【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ベルヌーイ分布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】</a:t>
                          </a: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確率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oMath>
                          </a14:m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で</a:t>
                          </a:r>
                          <a:r>
                            <a:rPr kumimoji="1" lang="en-US" altLang="ja-JP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</a:t>
                          </a:r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oMath>
                          </a14:m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で</a:t>
                          </a:r>
                          <a:r>
                            <a:rPr kumimoji="1" lang="en-US" altLang="ja-JP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0</a:t>
                          </a:r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をとる確率分布</a:t>
                          </a:r>
                          <a:endParaRPr kumimoji="1" lang="en-US" altLang="ja-JP" b="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81323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①母数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0&lt;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&lt;1</m:t>
                              </m:r>
                            </m:oMath>
                          </a14:m>
                          <a:r>
                            <a:rPr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　：成功確率</a:t>
                          </a:r>
                          <a:r>
                            <a:rPr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（実数）</a:t>
                          </a:r>
                          <a:endParaRPr lang="en-US" altLang="ja-JP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29039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②確率質量関数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>
                                <m:func>
                                  <m:funcPr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kumimoji="1" lang="en-US" altLang="ja-JP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kumimoji="1" lang="en-US" altLang="ja-JP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Pr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,          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𝑓𝑜𝑟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e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&amp;1−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,  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𝑓𝑜𝑟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=0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834695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③累積分布関数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0,  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𝑓𝑜𝑟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&lt;0</m:t>
                                        </m:r>
                                      </m:e>
                                      <m:e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  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𝑓𝑜𝑟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0≤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&lt;1</m:t>
                                        </m:r>
                                      </m:e>
                                      <m:e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1,  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𝑓𝑜𝑟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≥1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032621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④期待値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009000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⑤分散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𝑉𝑎𝑟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kumimoji="1" lang="ja-JP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1012476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611D5CA2-7C75-84EC-B7BF-CB18D79FE4A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48982063"/>
                  </p:ext>
                </p:extLst>
              </p:nvPr>
            </p:nvGraphicFramePr>
            <p:xfrm>
              <a:off x="131763" y="933450"/>
              <a:ext cx="8880474" cy="54671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1074">
                      <a:extLst>
                        <a:ext uri="{9D8B030D-6E8A-4147-A177-3AD203B41FA5}">
                          <a16:colId xmlns:a16="http://schemas.microsoft.com/office/drawing/2014/main" val="4287716507"/>
                        </a:ext>
                      </a:extLst>
                    </a:gridCol>
                    <a:gridCol w="6779400">
                      <a:extLst>
                        <a:ext uri="{9D8B030D-6E8A-4147-A177-3AD203B41FA5}">
                          <a16:colId xmlns:a16="http://schemas.microsoft.com/office/drawing/2014/main" val="811103721"/>
                        </a:ext>
                      </a:extLst>
                    </a:gridCol>
                  </a:tblGrid>
                  <a:tr h="900000">
                    <a:tc gridSpan="2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9" t="-676" r="-274" b="-50810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81323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①母数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101361" r="-359" b="-4115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29039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②確率質量関数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200000" r="-359" b="-3087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8346954"/>
                      </a:ext>
                    </a:extLst>
                  </a:tr>
                  <a:tr h="967169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③累積分布関数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279245" r="-359" b="-1874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032621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④期待値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410204" r="-359" b="-1027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009000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⑤分散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506757" r="-359" b="-20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012476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920ECCC2-B948-31D5-5AD5-C233A5288703}"/>
                  </a:ext>
                </a:extLst>
              </p:cNvPr>
              <p:cNvSpPr txBox="1"/>
              <p:nvPr/>
            </p:nvSpPr>
            <p:spPr>
              <a:xfrm>
                <a:off x="131763" y="6334780"/>
                <a:ext cx="636661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②確率質量関数：　</a:t>
                </a:r>
                <a14:m>
                  <m:oMath xmlns:m="http://schemas.openxmlformats.org/officeDocument/2006/math"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となるような確率についての関数</a:t>
                </a:r>
                <a:endParaRPr kumimoji="1"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③累積分布関数：　確率変数が特定の値</a:t>
                </a:r>
                <a14:m>
                  <m:oMath xmlns:m="http://schemas.openxmlformats.org/officeDocument/2006/math">
                    <m:r>
                      <a:rPr lang="en-US" altLang="ja-JP" sz="1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以下となる確率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4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4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func>
                  </m:oMath>
                </a14:m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を表す関数</a:t>
                </a:r>
                <a:endParaRPr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920ECCC2-B948-31D5-5AD5-C233A5288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63" y="6334780"/>
                <a:ext cx="6366615" cy="523220"/>
              </a:xfrm>
              <a:prstGeom prst="rect">
                <a:avLst/>
              </a:prstGeom>
              <a:blipFill>
                <a:blip r:embed="rId3"/>
                <a:stretch>
                  <a:fillRect l="-287" t="-4651" b="-930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99609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05874-70A7-5CBC-46ED-2B2842FCD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4178A6-F263-4F0E-C216-DA2ED12CB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(Advanced) </a:t>
            </a:r>
            <a:r>
              <a:rPr lang="ja-JP" altLang="en-US" dirty="0"/>
              <a:t>ポアソン分布の特徴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F2B3F43-845C-0252-919E-ACCDCAC7E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18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EBDC388D-E6F3-86AD-9593-6211F3C35BA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552312346"/>
                  </p:ext>
                </p:extLst>
              </p:nvPr>
            </p:nvGraphicFramePr>
            <p:xfrm>
              <a:off x="131763" y="933450"/>
              <a:ext cx="8880474" cy="540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1074">
                      <a:extLst>
                        <a:ext uri="{9D8B030D-6E8A-4147-A177-3AD203B41FA5}">
                          <a16:colId xmlns:a16="http://schemas.microsoft.com/office/drawing/2014/main" val="4287716507"/>
                        </a:ext>
                      </a:extLst>
                    </a:gridCol>
                    <a:gridCol w="6779400">
                      <a:extLst>
                        <a:ext uri="{9D8B030D-6E8A-4147-A177-3AD203B41FA5}">
                          <a16:colId xmlns:a16="http://schemas.microsoft.com/office/drawing/2014/main" val="811103721"/>
                        </a:ext>
                      </a:extLst>
                    </a:gridCol>
                  </a:tblGrid>
                  <a:tr h="900000">
                    <a:tc gridSpan="2"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【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ポアソン分布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】</a:t>
                          </a:r>
                        </a:p>
                        <a:p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ある事象が一定の時間内に発生する回数を表す確率分布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81323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①母数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oMath>
                          </a14:m>
                          <a:r>
                            <a:rPr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　：母平均</a:t>
                          </a:r>
                          <a:endParaRPr lang="en-US" altLang="ja-JP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29039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②確率質量関数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>
                                <m:func>
                                  <m:funcPr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kumimoji="1" lang="en-US" altLang="ja-JP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kumimoji="1" lang="en-US" altLang="ja-JP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Pr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p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!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834695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③累積分布関数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sup>
                                </m:sSup>
                                <m:nary>
                                  <m:naryPr>
                                    <m:chr m:val="∑"/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⌊"/>
                                        <m:endChr m:val="⌋"/>
                                        <m:ctrlP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sup>
                                  <m:e>
                                    <m:f>
                                      <m:fPr>
                                        <m:ctrlP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altLang="ja-JP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ja-JP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ja-JP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!</m:t>
                                        </m:r>
                                      </m:den>
                                    </m:f>
                                  </m:e>
                                </m:nary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     </m:t>
                                </m:r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𝑓𝑜𝑟</m:t>
                                </m:r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≥0</m:t>
                                </m:r>
                              </m:oMath>
                            </m:oMathPara>
                          </a14:m>
                          <a:endParaRPr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032621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④期待値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009000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⑤分散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𝑉𝑎𝑟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oMath>
                            </m:oMathPara>
                          </a14:m>
                          <a:endParaRPr kumimoji="1" lang="ja-JP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1012476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EBDC388D-E6F3-86AD-9593-6211F3C35BA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552312346"/>
                  </p:ext>
                </p:extLst>
              </p:nvPr>
            </p:nvGraphicFramePr>
            <p:xfrm>
              <a:off x="131763" y="933450"/>
              <a:ext cx="8880474" cy="540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1074">
                      <a:extLst>
                        <a:ext uri="{9D8B030D-6E8A-4147-A177-3AD203B41FA5}">
                          <a16:colId xmlns:a16="http://schemas.microsoft.com/office/drawing/2014/main" val="4287716507"/>
                        </a:ext>
                      </a:extLst>
                    </a:gridCol>
                    <a:gridCol w="6779400">
                      <a:extLst>
                        <a:ext uri="{9D8B030D-6E8A-4147-A177-3AD203B41FA5}">
                          <a16:colId xmlns:a16="http://schemas.microsoft.com/office/drawing/2014/main" val="811103721"/>
                        </a:ext>
                      </a:extLst>
                    </a:gridCol>
                  </a:tblGrid>
                  <a:tr h="900000">
                    <a:tc gridSpan="2"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【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ポアソン分布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】</a:t>
                          </a:r>
                        </a:p>
                        <a:p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ある事象が一定の時間内に発生する回数を表す確率分布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81323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①母数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087" t="-101361" r="-359" b="-4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29039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②確率質量関数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087" t="-200000" r="-359" b="-3013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834695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③累積分布関数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087" t="-300000" r="-359" b="-2013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032621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④期待値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087" t="-402721" r="-359" b="-1027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009000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⑤分散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087" t="-499324" r="-359" b="-20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012476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A05DF17A-D54C-085E-CB29-9AC4703B4F5F}"/>
                  </a:ext>
                </a:extLst>
              </p:cNvPr>
              <p:cNvSpPr txBox="1"/>
              <p:nvPr/>
            </p:nvSpPr>
            <p:spPr>
              <a:xfrm>
                <a:off x="131763" y="6334780"/>
                <a:ext cx="636661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②確率質量関数：　</a:t>
                </a:r>
                <a14:m>
                  <m:oMath xmlns:m="http://schemas.openxmlformats.org/officeDocument/2006/math"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となるような確率についての関数</a:t>
                </a:r>
                <a:endParaRPr kumimoji="1"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③累積分布関数：　確率変数が特定の値</a:t>
                </a:r>
                <a14:m>
                  <m:oMath xmlns:m="http://schemas.openxmlformats.org/officeDocument/2006/math">
                    <m:r>
                      <a:rPr lang="en-US" altLang="ja-JP" sz="1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以下となる確率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4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4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func>
                  </m:oMath>
                </a14:m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を表す関数</a:t>
                </a:r>
                <a:endParaRPr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A05DF17A-D54C-085E-CB29-9AC4703B4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63" y="6334780"/>
                <a:ext cx="6366615" cy="523220"/>
              </a:xfrm>
              <a:prstGeom prst="rect">
                <a:avLst/>
              </a:prstGeom>
              <a:blipFill>
                <a:blip r:embed="rId4"/>
                <a:stretch>
                  <a:fillRect l="-287" t="-4651" b="-930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88713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EBF1C-6EDE-B9B3-0194-5DFD591E1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ECA1C75-C7F8-721C-0956-B46813900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19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927B9608-CC7B-D4D5-2173-D70146DAAF6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415543603"/>
                  </p:ext>
                </p:extLst>
              </p:nvPr>
            </p:nvGraphicFramePr>
            <p:xfrm>
              <a:off x="131763" y="933450"/>
              <a:ext cx="8880474" cy="54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1074">
                      <a:extLst>
                        <a:ext uri="{9D8B030D-6E8A-4147-A177-3AD203B41FA5}">
                          <a16:colId xmlns:a16="http://schemas.microsoft.com/office/drawing/2014/main" val="4287716507"/>
                        </a:ext>
                      </a:extLst>
                    </a:gridCol>
                    <a:gridCol w="6779400">
                      <a:extLst>
                        <a:ext uri="{9D8B030D-6E8A-4147-A177-3AD203B41FA5}">
                          <a16:colId xmlns:a16="http://schemas.microsoft.com/office/drawing/2014/main" val="811103721"/>
                        </a:ext>
                      </a:extLst>
                    </a:gridCol>
                  </a:tblGrid>
                  <a:tr h="900000">
                    <a:tc gridSpan="2"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【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幾何分布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】</a:t>
                          </a:r>
                        </a:p>
                        <a:p>
                          <a:r>
                            <a:rPr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ベルヌーイ試行を繰り返して</a:t>
                          </a:r>
                          <a:endParaRPr lang="en-US" altLang="ja-JP" b="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  <a:p>
                          <a:r>
                            <a:rPr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①初めて成功させるまでの試行回数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の分布　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={1, 2, …}</m:t>
                              </m:r>
                            </m:oMath>
                          </a14:m>
                          <a:endParaRPr kumimoji="1" lang="en-US" altLang="ja-JP" b="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81323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①母数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0&lt;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&lt;1</m:t>
                              </m:r>
                            </m:oMath>
                          </a14:m>
                          <a:r>
                            <a:rPr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　：成功確率</a:t>
                          </a:r>
                          <a:endParaRPr lang="en-US" altLang="ja-JP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29039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②確率質量関数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>
                                <m:func>
                                  <m:funcPr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kumimoji="1" lang="en-US" altLang="ja-JP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kumimoji="1" lang="en-US" altLang="ja-JP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Pr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834695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③累積分布関数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=1−</m:t>
                                </m:r>
                                <m:sSup>
                                  <m:sSup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032621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④期待値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009000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⑤分散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𝑉𝑎𝑟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p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kumimoji="1" lang="ja-JP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1012476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927B9608-CC7B-D4D5-2173-D70146DAAF6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415543603"/>
                  </p:ext>
                </p:extLst>
              </p:nvPr>
            </p:nvGraphicFramePr>
            <p:xfrm>
              <a:off x="131763" y="933450"/>
              <a:ext cx="8880474" cy="54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1074">
                      <a:extLst>
                        <a:ext uri="{9D8B030D-6E8A-4147-A177-3AD203B41FA5}">
                          <a16:colId xmlns:a16="http://schemas.microsoft.com/office/drawing/2014/main" val="4287716507"/>
                        </a:ext>
                      </a:extLst>
                    </a:gridCol>
                    <a:gridCol w="6779400">
                      <a:extLst>
                        <a:ext uri="{9D8B030D-6E8A-4147-A177-3AD203B41FA5}">
                          <a16:colId xmlns:a16="http://schemas.microsoft.com/office/drawing/2014/main" val="811103721"/>
                        </a:ext>
                      </a:extLst>
                    </a:gridCol>
                  </a:tblGrid>
                  <a:tr h="914400">
                    <a:tc gridSpan="2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9" t="-2667" r="-274" b="-494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81323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①母数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104054" r="-359" b="-400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29039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②確率質量関数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204054" r="-359" b="-300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834695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③累積分布関数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306122" r="-359" b="-2027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032621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④期待値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403378" r="-359" b="-1013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009000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⑤分散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503378" r="-359" b="-13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012476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9DD253E7-56E3-533F-13BD-46A34DFD518F}"/>
                  </a:ext>
                </a:extLst>
              </p:cNvPr>
              <p:cNvSpPr txBox="1"/>
              <p:nvPr/>
            </p:nvSpPr>
            <p:spPr>
              <a:xfrm>
                <a:off x="131763" y="6334780"/>
                <a:ext cx="636661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②確率質量関数：　</a:t>
                </a:r>
                <a14:m>
                  <m:oMath xmlns:m="http://schemas.openxmlformats.org/officeDocument/2006/math"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となるような確率についての関数</a:t>
                </a:r>
                <a:endParaRPr kumimoji="1"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③累積分布関数：　確率変数が特定の値</a:t>
                </a:r>
                <a14:m>
                  <m:oMath xmlns:m="http://schemas.openxmlformats.org/officeDocument/2006/math">
                    <m:r>
                      <a:rPr lang="en-US" altLang="ja-JP" sz="1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以下となる確率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4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4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func>
                  </m:oMath>
                </a14:m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を表す関数</a:t>
                </a:r>
                <a:endParaRPr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9DD253E7-56E3-533F-13BD-46A34DFD5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63" y="6334780"/>
                <a:ext cx="6366615" cy="523220"/>
              </a:xfrm>
              <a:prstGeom prst="rect">
                <a:avLst/>
              </a:prstGeom>
              <a:blipFill>
                <a:blip r:embed="rId3"/>
                <a:stretch>
                  <a:fillRect l="-287" t="-4651" b="-930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タイトル 1">
            <a:extLst>
              <a:ext uri="{FF2B5EF4-FFF2-40B4-BE49-F238E27FC236}">
                <a16:creationId xmlns:a16="http://schemas.microsoft.com/office/drawing/2014/main" id="{AB1E832B-DCB2-0779-6058-5D9334886CC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8334000" cy="81070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kumimoji="1" sz="3200" b="0" kern="1200" cap="all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eaLnBrk="1" hangingPunct="1">
              <a:defRPr kumimoji="1">
                <a:solidFill>
                  <a:schemeClr val="tx2"/>
                </a:solidFill>
              </a:defRPr>
            </a:lvl2pPr>
            <a:lvl3pPr eaLnBrk="1" hangingPunct="1">
              <a:defRPr kumimoji="1">
                <a:solidFill>
                  <a:schemeClr val="tx2"/>
                </a:solidFill>
              </a:defRPr>
            </a:lvl3pPr>
            <a:lvl4pPr eaLnBrk="1" hangingPunct="1">
              <a:defRPr kumimoji="1">
                <a:solidFill>
                  <a:schemeClr val="tx2"/>
                </a:solidFill>
              </a:defRPr>
            </a:lvl4pPr>
            <a:lvl5pPr eaLnBrk="1" hangingPunct="1">
              <a:defRPr kumimoji="1">
                <a:solidFill>
                  <a:schemeClr val="tx2"/>
                </a:solidFill>
              </a:defRPr>
            </a:lvl5pPr>
            <a:lvl6pPr eaLnBrk="1" hangingPunct="1">
              <a:defRPr kumimoji="1">
                <a:solidFill>
                  <a:schemeClr val="tx2"/>
                </a:solidFill>
              </a:defRPr>
            </a:lvl6pPr>
            <a:lvl7pPr eaLnBrk="1" hangingPunct="1">
              <a:defRPr kumimoji="1">
                <a:solidFill>
                  <a:schemeClr val="tx2"/>
                </a:solidFill>
              </a:defRPr>
            </a:lvl7pPr>
            <a:lvl8pPr eaLnBrk="1" hangingPunct="1">
              <a:defRPr kumimoji="1">
                <a:solidFill>
                  <a:schemeClr val="tx2"/>
                </a:solidFill>
              </a:defRPr>
            </a:lvl8pPr>
            <a:lvl9pPr eaLnBrk="1" hangingPunct="1">
              <a:defRPr kumimoji="1">
                <a:solidFill>
                  <a:schemeClr val="tx2"/>
                </a:solidFill>
              </a:defRPr>
            </a:lvl9pPr>
          </a:lstStyle>
          <a:p>
            <a:r>
              <a:rPr lang="en-US" altLang="ja-JP"/>
              <a:t>(Advanced) </a:t>
            </a:r>
            <a:r>
              <a:rPr lang="ja-JP" altLang="en-US"/>
              <a:t>幾何分布の特徴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818422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FD6D5-A15C-2EC3-CBC8-AF328201E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53283B-EC50-9AA9-477B-BB3A3C211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(Advanced) </a:t>
            </a:r>
            <a:r>
              <a:rPr lang="ja-JP" altLang="en-US" dirty="0"/>
              <a:t>負の二項分布の特徴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6697918-E714-E515-92B1-E995170C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20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36FC7A2F-0143-AB3F-B48C-92E490EB8DC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567569219"/>
                  </p:ext>
                </p:extLst>
              </p:nvPr>
            </p:nvGraphicFramePr>
            <p:xfrm>
              <a:off x="131763" y="933450"/>
              <a:ext cx="8880474" cy="54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1074">
                      <a:extLst>
                        <a:ext uri="{9D8B030D-6E8A-4147-A177-3AD203B41FA5}">
                          <a16:colId xmlns:a16="http://schemas.microsoft.com/office/drawing/2014/main" val="4287716507"/>
                        </a:ext>
                      </a:extLst>
                    </a:gridCol>
                    <a:gridCol w="6779400">
                      <a:extLst>
                        <a:ext uri="{9D8B030D-6E8A-4147-A177-3AD203B41FA5}">
                          <a16:colId xmlns:a16="http://schemas.microsoft.com/office/drawing/2014/main" val="811103721"/>
                        </a:ext>
                      </a:extLst>
                    </a:gridCol>
                  </a:tblGrid>
                  <a:tr h="900000">
                    <a:tc gridSpan="2"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【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負の二項分布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】</a:t>
                          </a:r>
                        </a:p>
                        <a:p>
                          <a:r>
                            <a:rPr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ベルヌーイ試行を繰り返して成功確率</a:t>
                          </a:r>
                          <a14:m>
                            <m:oMath xmlns:m="http://schemas.openxmlformats.org/officeDocument/2006/math"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BIZ UDPゴシック" panose="020B0400000000000000" pitchFamily="50" charset="-128"/>
                                </a:rPr>
                                <m:t>𝜋</m:t>
                              </m:r>
                            </m:oMath>
                          </a14:m>
                          <a:r>
                            <a:rPr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で，成功か失敗のいずれかの結果となる試行を，</a:t>
                          </a:r>
                          <a:br>
                            <a:rPr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14:m>
                            <m:oMath xmlns:m="http://schemas.openxmlformats.org/officeDocument/2006/math"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BIZ UDPゴシック" panose="020B0400000000000000" pitchFamily="50" charset="-128"/>
                                </a:rPr>
                                <m:t>𝑟</m:t>
                              </m:r>
                            </m:oMath>
                          </a14:m>
                          <a:r>
                            <a:rPr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回の成功が起こるまで続けた場合の，失敗回数</a:t>
                          </a:r>
                          <a14:m>
                            <m:oMath xmlns:m="http://schemas.openxmlformats.org/officeDocument/2006/math"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BIZ UDPゴシック" panose="020B0400000000000000" pitchFamily="50" charset="-128"/>
                                </a:rPr>
                                <m:t>𝑋</m:t>
                              </m:r>
                            </m:oMath>
                          </a14:m>
                          <a:r>
                            <a:rPr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の分布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81323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①母数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oMath>
                          </a14:m>
                          <a:r>
                            <a:rPr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　：試行をやめるまでの成功回数</a:t>
                          </a:r>
                          <a:endParaRPr lang="en-US" altLang="ja-JP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0≤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BIZ UDPゴシック" panose="020B0400000000000000" pitchFamily="50" charset="-128"/>
                                </a:rPr>
                                <m:t>𝜋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≤1</m:t>
                              </m:r>
                            </m:oMath>
                          </a14:m>
                          <a:r>
                            <a:rPr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　：成功確率</a:t>
                          </a:r>
                          <a:endParaRPr lang="en-US" altLang="ja-JP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29039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②確率質量関数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>
                                <m:func>
                                  <m:funcPr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kumimoji="1" lang="en-US" altLang="ja-JP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kumimoji="1" lang="en-US" altLang="ja-JP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Pr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p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834695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③累積分布関数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⌊"/>
                                        <m:endChr m:val="⌋"/>
                                        <m:ctrlP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</m:sup>
                                  <m:e>
                                    <m:sSub>
                                      <m:sSub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sSup>
                                      <m:sSup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kumimoji="1"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kumimoji="1"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1−</m:t>
                                            </m:r>
                                            <m:r>
                                              <a:rPr kumimoji="1"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p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p>
                                    </m:sSup>
                                  </m:e>
                                </m:nary>
                              </m:oMath>
                            </m:oMathPara>
                          </a14:m>
                          <a:endParaRPr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032621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④期待値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009000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⑤分散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𝑉𝑎𝑟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</m:d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p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kumimoji="1" lang="ja-JP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1012476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36FC7A2F-0143-AB3F-B48C-92E490EB8DC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567569219"/>
                  </p:ext>
                </p:extLst>
              </p:nvPr>
            </p:nvGraphicFramePr>
            <p:xfrm>
              <a:off x="131763" y="933450"/>
              <a:ext cx="8880474" cy="54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1074">
                      <a:extLst>
                        <a:ext uri="{9D8B030D-6E8A-4147-A177-3AD203B41FA5}">
                          <a16:colId xmlns:a16="http://schemas.microsoft.com/office/drawing/2014/main" val="4287716507"/>
                        </a:ext>
                      </a:extLst>
                    </a:gridCol>
                    <a:gridCol w="6779400">
                      <a:extLst>
                        <a:ext uri="{9D8B030D-6E8A-4147-A177-3AD203B41FA5}">
                          <a16:colId xmlns:a16="http://schemas.microsoft.com/office/drawing/2014/main" val="811103721"/>
                        </a:ext>
                      </a:extLst>
                    </a:gridCol>
                  </a:tblGrid>
                  <a:tr h="914400">
                    <a:tc gridSpan="2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9" t="-2667" r="-274" b="-494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81323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①母数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104054" r="-359" b="-400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29039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②確率質量関数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204054" r="-359" b="-300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834695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③累積分布関数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306122" r="-359" b="-2027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032621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④期待値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403378" r="-359" b="-1013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009000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⑤分散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503378" r="-359" b="-13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012476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A907D6B9-F973-C58D-8E99-BB951FE98E7B}"/>
                  </a:ext>
                </a:extLst>
              </p:cNvPr>
              <p:cNvSpPr txBox="1"/>
              <p:nvPr/>
            </p:nvSpPr>
            <p:spPr>
              <a:xfrm>
                <a:off x="131763" y="6334780"/>
                <a:ext cx="636661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②確率質量関数：　</a:t>
                </a:r>
                <a14:m>
                  <m:oMath xmlns:m="http://schemas.openxmlformats.org/officeDocument/2006/math"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となるような確率についての関数</a:t>
                </a:r>
                <a:endParaRPr kumimoji="1"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③累積分布関数：　確率変数が特定の値</a:t>
                </a:r>
                <a14:m>
                  <m:oMath xmlns:m="http://schemas.openxmlformats.org/officeDocument/2006/math">
                    <m:r>
                      <a:rPr lang="en-US" altLang="ja-JP" sz="1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以下となる確率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4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4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func>
                  </m:oMath>
                </a14:m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を表す関数</a:t>
                </a:r>
                <a:endParaRPr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A907D6B9-F973-C58D-8E99-BB951FE98E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63" y="6334780"/>
                <a:ext cx="6366615" cy="523220"/>
              </a:xfrm>
              <a:prstGeom prst="rect">
                <a:avLst/>
              </a:prstGeom>
              <a:blipFill>
                <a:blip r:embed="rId3"/>
                <a:stretch>
                  <a:fillRect l="-287" t="-4651" b="-930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06568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D5D5-4C19-9890-2B23-22CB15CE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0C158-ACB3-E1EF-488B-61EE848A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0A9993-40CE-C98B-497A-776470BC8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第</a:t>
            </a:r>
            <a:r>
              <a:rPr lang="en-US" altLang="ja-JP" dirty="0"/>
              <a:t>2</a:t>
            </a:r>
            <a:r>
              <a:rPr lang="ja-JP" altLang="en-US" dirty="0"/>
              <a:t>章　第</a:t>
            </a:r>
            <a:r>
              <a:rPr lang="en-US" altLang="ja-JP" dirty="0"/>
              <a:t>2</a:t>
            </a:r>
            <a:r>
              <a:rPr lang="ja-JP" altLang="en-US" dirty="0"/>
              <a:t>節　確率分布</a:t>
            </a:r>
            <a:endParaRPr lang="en-US" altLang="ja-JP" dirty="0"/>
          </a:p>
          <a:p>
            <a:pPr lvl="1"/>
            <a:r>
              <a:rPr lang="ja-JP" altLang="en-US" dirty="0"/>
              <a:t>確率変数について理解する</a:t>
            </a:r>
            <a:endParaRPr lang="en-US" altLang="ja-JP" dirty="0"/>
          </a:p>
          <a:p>
            <a:pPr lvl="2"/>
            <a:r>
              <a:rPr lang="ja-JP" altLang="en-US" dirty="0"/>
              <a:t>確率変数：観測値に確率が対応している変数</a:t>
            </a:r>
            <a:endParaRPr lang="en-US" altLang="ja-JP" dirty="0"/>
          </a:p>
          <a:p>
            <a:pPr lvl="1"/>
            <a:r>
              <a:rPr lang="ja-JP" altLang="en-US" dirty="0"/>
              <a:t>期待値について理解する</a:t>
            </a:r>
            <a:endParaRPr lang="en-US" altLang="ja-JP" dirty="0"/>
          </a:p>
          <a:p>
            <a:pPr lvl="2"/>
            <a:r>
              <a:rPr lang="ja-JP" altLang="en-US" dirty="0"/>
              <a:t>期待値：確率変数と確率の積和</a:t>
            </a:r>
            <a:endParaRPr lang="en-US" altLang="ja-JP" dirty="0"/>
          </a:p>
          <a:p>
            <a:pPr lvl="1"/>
            <a:endParaRPr lang="ja-JP" altLang="en-US" dirty="0">
              <a:solidFill>
                <a:schemeClr val="accent5"/>
              </a:solidFill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CFF788-67FF-DD1C-CFC5-35567904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1945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57B39-78AA-7D68-5CD3-5D5498B53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3428A4-91EF-7882-4DCD-096FD2A46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付録</a:t>
            </a:r>
            <a:r>
              <a:rPr lang="en-US" altLang="ja-JP" dirty="0"/>
              <a:t>) </a:t>
            </a:r>
            <a:r>
              <a:rPr lang="ja-JP" altLang="en-US" dirty="0"/>
              <a:t>確率空間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0FDC5BB8-B0A2-9DB0-C883-0B9E3572B7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/>
                  <a:t>確率空間とは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altLang="ja-JP" dirty="0"/>
                  <a:t>: </a:t>
                </a:r>
                <a:r>
                  <a:rPr lang="ja-JP" altLang="en-US" dirty="0"/>
                  <a:t>標本空間，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ja-JP" altLang="en-US" dirty="0"/>
                  <a:t> の要素は根本事象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ja-JP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ja-JP" altLang="en-US" dirty="0"/>
                  <a:t>上の完全加法族 </a:t>
                </a:r>
                <a:r>
                  <a:rPr lang="en-US" altLang="ja-JP" dirty="0"/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ja-JP" altLang="en-US" dirty="0"/>
                  <a:t>の部分集合族</a:t>
                </a:r>
                <a:r>
                  <a:rPr lang="en-US" altLang="ja-JP" dirty="0"/>
                  <a:t>(</a:t>
                </a:r>
                <a:r>
                  <a:rPr lang="ja-JP" altLang="en-US" dirty="0"/>
                  <a:t>部分集合の全て</a:t>
                </a:r>
                <a:r>
                  <a:rPr lang="en-US" altLang="ja-JP" dirty="0"/>
                  <a:t>))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i="1" dirty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ja-JP" dirty="0"/>
                  <a:t>: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ja-JP" altLang="en-US" dirty="0"/>
                  <a:t>上の確率測度</a:t>
                </a:r>
                <a:endParaRPr lang="en-US" altLang="ja-JP" dirty="0"/>
              </a:p>
              <a:p>
                <a:pPr marL="324000" lvl="1" indent="0">
                  <a:buNone/>
                </a:pPr>
                <a:r>
                  <a:rPr lang="ja-JP" altLang="en-US" b="0" dirty="0"/>
                  <a:t>　</a:t>
                </a:r>
                <a14:m>
                  <m:oMath xmlns:m="http://schemas.openxmlformats.org/officeDocument/2006/math">
                    <m:r>
                      <a:rPr lang="en-US" altLang="ja-JP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ja-JP" b="0" i="0" dirty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ja-JP" dirty="0"/>
                  <a:t>: 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確率空間</a:t>
                </a:r>
                <a:r>
                  <a:rPr lang="en-US" altLang="ja-JP" dirty="0">
                    <a:solidFill>
                      <a:schemeClr val="accent5"/>
                    </a:solidFill>
                  </a:rPr>
                  <a:t> 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(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この三つ組を確率空間と呼ぶ）</a:t>
                </a:r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324000" lvl="1" indent="0">
                  <a:buNone/>
                </a:pPr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lang="ja-JP" altLang="en-US" dirty="0"/>
                  <a:t>サイコロの例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={1, 2, 3, 4, 5, 6}</m:t>
                    </m:r>
                  </m:oMath>
                </a14:m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0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0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0" smtClean="0"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</m:d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0" smtClean="0">
                            <a:latin typeface="Cambria Math" panose="02040503050406030204" pitchFamily="18" charset="0"/>
                          </a:rPr>
                          <m:t>1,3</m:t>
                        </m:r>
                      </m:e>
                    </m:d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,…,</m:t>
                    </m:r>
                    <m:d>
                      <m:dPr>
                        <m:begChr m:val="{"/>
                        <m:endChr m:val="}"/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0" smtClean="0">
                            <a:latin typeface="Cambria Math" panose="02040503050406030204" pitchFamily="18" charset="0"/>
                          </a:rPr>
                          <m:t>2,3</m:t>
                        </m:r>
                      </m:e>
                    </m:d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0" smtClean="0">
                            <a:latin typeface="Cambria Math" panose="02040503050406030204" pitchFamily="18" charset="0"/>
                          </a:rPr>
                          <m:t>2,4</m:t>
                        </m:r>
                      </m:e>
                    </m:d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,…,{1, 2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, 3, 4, 5, 6}</m:t>
                    </m:r>
                  </m:oMath>
                </a14:m>
                <a:r>
                  <a:rPr lang="en-US" altLang="ja-JP" dirty="0"/>
                  <a:t>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ja-JP" b="0" i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b="0" i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ja-JP" b="0" i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</m:d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, …,</m:t>
                    </m:r>
                    <m:r>
                      <a:rPr lang="en-US" altLang="ja-JP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ja-JP" b="0" i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0" smtClean="0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altLang="ja-JP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</m:d>
                    <m:r>
                      <a:rPr lang="en-US" altLang="ja-JP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, …</m:t>
                    </m:r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0FDC5BB8-B0A2-9DB0-C883-0B9E3572B7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 r="-13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C722546-AF36-9142-B063-D256472D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12487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B329F-7856-1050-4E98-E6F08C896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081130-BAB5-EFD8-00A1-C520657E9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付録</a:t>
            </a:r>
            <a:r>
              <a:rPr lang="en-US" altLang="ja-JP" dirty="0"/>
              <a:t>) </a:t>
            </a:r>
            <a:r>
              <a:rPr lang="ja-JP" altLang="en-US" dirty="0"/>
              <a:t>確率空間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BA570257-A4E2-7621-2759-283748AA03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/>
                  <a:t>確率変数とは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ja-JP" dirty="0"/>
                  <a:t>: 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確率変数</a:t>
                </a:r>
                <a:r>
                  <a:rPr lang="en-US" altLang="ja-JP" dirty="0"/>
                  <a:t>(</a:t>
                </a:r>
                <a:r>
                  <a:rPr lang="ja-JP" altLang="en-US" dirty="0"/>
                  <a:t>大文字で表す</a:t>
                </a:r>
                <a:r>
                  <a:rPr lang="en-US" altLang="ja-JP" dirty="0"/>
                  <a:t>)</a:t>
                </a:r>
                <a:r>
                  <a:rPr lang="ja-JP" altLang="en-US" dirty="0"/>
                  <a:t>，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関数</a:t>
                </a:r>
                <a:r>
                  <a:rPr lang="ja-JP" altLang="en-US" dirty="0"/>
                  <a:t>であり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ja-JP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ja-JP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(=</m:t>
                    </m:r>
                    <m:r>
                      <m:rPr>
                        <m:sty m:val="p"/>
                      </m:rPr>
                      <a:rPr lang="en-US" altLang="ja-JP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ja-JP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, …) </m:t>
                    </m:r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ja-JP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altLang="ja-JP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ja-JP" i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ja-JP" dirty="0"/>
                  <a:t>: 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実現値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(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小文字で表す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)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と呼ばれる</a:t>
                </a:r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324000" lvl="1" indent="0">
                  <a:buNone/>
                </a:pPr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lang="ja-JP" altLang="en-US" dirty="0"/>
                  <a:t>サイコロの例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=1,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=2,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=3, …</m:t>
                    </m:r>
                  </m:oMath>
                </a14:m>
                <a:endParaRPr lang="en-US" altLang="ja-JP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)=1,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)=2,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)=3, …</m:t>
                    </m:r>
                  </m:oMath>
                </a14:m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, …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({</m:t>
                        </m:r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})=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, …</m:t>
                    </m:r>
                  </m:oMath>
                </a14:m>
                <a:endParaRPr lang="en-US" altLang="ja-JP" dirty="0"/>
              </a:p>
              <a:p>
                <a:pPr lvl="2"/>
                <a:r>
                  <a:rPr lang="ja-JP" altLang="en-US" dirty="0"/>
                  <a:t>サイコロの出る目を確率変数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とすると，実際にサイコロを振るまでは値は定まらない．サイコロを振ると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ja-JP" altLang="en-US" dirty="0"/>
                  <a:t> の要素の一つ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ja-JP" altLang="en-US" dirty="0"/>
                  <a:t> が選ばれ，実現値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が定まる．</a:t>
                </a:r>
                <a:endParaRPr lang="en-US" altLang="ja-JP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BA570257-A4E2-7621-2759-283748AA03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42F149C-3AF3-4DE1-0332-600657FB9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520743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Santorini">
      <a:dk1>
        <a:sysClr val="windowText" lastClr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配当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配当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TM03457464[[fn=配当]]</Template>
  <TotalTime>1769</TotalTime>
  <Words>1804</Words>
  <Application>Microsoft Office PowerPoint</Application>
  <PresentationFormat>画面に合わせる (4:3)</PresentationFormat>
  <Paragraphs>268</Paragraphs>
  <Slides>23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23</vt:i4>
      </vt:variant>
    </vt:vector>
  </HeadingPairs>
  <TitlesOfParts>
    <vt:vector size="32" baseType="lpstr">
      <vt:lpstr>BIZ UDPゴシック</vt:lpstr>
      <vt:lpstr>HG丸ｺﾞｼｯｸM-PRO</vt:lpstr>
      <vt:lpstr>Meiryo UI</vt:lpstr>
      <vt:lpstr>游ゴシック</vt:lpstr>
      <vt:lpstr>Cambria Math</vt:lpstr>
      <vt:lpstr>Impact</vt:lpstr>
      <vt:lpstr>Wingdings</vt:lpstr>
      <vt:lpstr>Wingdings 2</vt:lpstr>
      <vt:lpstr>配当</vt:lpstr>
      <vt:lpstr>確率分布：離散確率分布(前半)</vt:lpstr>
      <vt:lpstr>今日の目標</vt:lpstr>
      <vt:lpstr>PowerPoint プレゼンテーション</vt:lpstr>
      <vt:lpstr>確率変数</vt:lpstr>
      <vt:lpstr>PowerPoint プレゼンテーション</vt:lpstr>
      <vt:lpstr>期待値</vt:lpstr>
      <vt:lpstr>[AL] 考えてみよう</vt:lpstr>
      <vt:lpstr>(Advanced) 積分の計算練習</vt:lpstr>
      <vt:lpstr>PowerPoint プレゼンテーション</vt:lpstr>
      <vt:lpstr>確率分布</vt:lpstr>
      <vt:lpstr>離散確率分布</vt:lpstr>
      <vt:lpstr>連続確率分布</vt:lpstr>
      <vt:lpstr>PowerPoint プレゼンテーション</vt:lpstr>
      <vt:lpstr>離散確率分布</vt:lpstr>
      <vt:lpstr>離散確率分布</vt:lpstr>
      <vt:lpstr>(Advanced) 二項分布の特徴</vt:lpstr>
      <vt:lpstr>(Advanced) ベルヌーイ分布の特徴</vt:lpstr>
      <vt:lpstr>(Advanced) ポアソン分布の特徴</vt:lpstr>
      <vt:lpstr>PowerPoint プレゼンテーション</vt:lpstr>
      <vt:lpstr>(Advanced) 負の二項分布の特徴</vt:lpstr>
      <vt:lpstr>Summary</vt:lpstr>
      <vt:lpstr>(付録) 確率空間</vt:lpstr>
      <vt:lpstr>(付録) 確率空間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Ikegawa</dc:creator>
  <cp:lastModifiedBy>津村幸治</cp:lastModifiedBy>
  <cp:revision>167</cp:revision>
  <dcterms:created xsi:type="dcterms:W3CDTF">2025-03-03T09:28:12Z</dcterms:created>
  <dcterms:modified xsi:type="dcterms:W3CDTF">2026-09-13T17:43:41Z</dcterms:modified>
</cp:coreProperties>
</file>