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257" r:id="rId3"/>
    <p:sldId id="575" r:id="rId4"/>
    <p:sldId id="576" r:id="rId5"/>
    <p:sldId id="578" r:id="rId6"/>
    <p:sldId id="577" r:id="rId7"/>
    <p:sldId id="579" r:id="rId8"/>
    <p:sldId id="580" r:id="rId9"/>
    <p:sldId id="581" r:id="rId10"/>
    <p:sldId id="582" r:id="rId11"/>
    <p:sldId id="584" r:id="rId12"/>
    <p:sldId id="585" r:id="rId13"/>
    <p:sldId id="567" r:id="rId14"/>
    <p:sldId id="570" r:id="rId15"/>
    <p:sldId id="571" r:id="rId16"/>
    <p:sldId id="586" r:id="rId17"/>
    <p:sldId id="587" r:id="rId18"/>
    <p:sldId id="588" r:id="rId19"/>
    <p:sldId id="262" r:id="rId20"/>
    <p:sldId id="589" r:id="rId21"/>
    <p:sldId id="590" r:id="rId22"/>
    <p:sldId id="59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98" d="100"/>
          <a:sy n="98" d="100"/>
        </p:scale>
        <p:origin x="6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892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00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A761-3DFE-A7C8-72FA-E831D028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F9B242-3517-B1DF-71FA-09844452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B89F2B-5B31-6249-6183-E0D8B927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C25B0C-7F63-62BD-5BC6-28F59BF9F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434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4656-5B4C-5ACC-01F1-C6C9F6C7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7AC0E6-22FB-FEE9-7775-85287893C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BFB20D-1D1C-EF60-A343-FB7BB4B9F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EEA1D-8BFA-CAD0-C999-FECCD2C52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後半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１：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が十分に大きい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r>
                  <a:rPr lang="ja-JP" altLang="en-US" dirty="0"/>
                  <a:t>の近似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C514-9B1A-71F2-6A32-0CE28EF1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A1C05-B7EB-42AD-CBD4-DF1662F5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分布の意味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67613F-E541-83F7-8423-8E095BCB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ja-JP" altLang="en-US" dirty="0"/>
                  <a:t>千葉で震度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以上の地震が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回の割合で起こるものとする</a:t>
                </a:r>
                <a:r>
                  <a:rPr kumimoji="1" lang="en-US" altLang="ja-JP" dirty="0"/>
                  <a:t>(1</a:t>
                </a:r>
                <a:r>
                  <a:rPr kumimoji="1" lang="ja-JP" altLang="en-US" dirty="0"/>
                  <a:t>日あたり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1" lang="ja-JP" altLang="en-US" dirty="0"/>
                  <a:t>の確率で起こる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．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 回起こる確率は，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二項分布</a:t>
                </a:r>
                <a:r>
                  <a:rPr lang="ja-JP" altLang="en-US" dirty="0"/>
                  <a:t>とすると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しかし地震は「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日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回起きるかどうか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」という現象ではなく，時々刻々起き得るもの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そこで「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日間で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回起きる割合」を固定し，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時間ごとに起きるかどうかと考え直す．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=2400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時間より，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時間あたりの地震の起きる確率は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このとき 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 </a:t>
                </a:r>
                <a:r>
                  <a:rPr lang="ja-JP" altLang="en-US" dirty="0"/>
                  <a:t>回地震が起きる確率は，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r>
                  <a:rPr lang="ja-JP" altLang="en-US" dirty="0"/>
                  <a:t>このように，ある「期間」の現象の発生回数の割合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上の例だと</a:t>
                </a:r>
                <a:r>
                  <a:rPr lang="en-US" altLang="ja-JP" dirty="0"/>
                  <a:t>2)</a:t>
                </a:r>
                <a:r>
                  <a:rPr lang="ja-JP" altLang="en-US" dirty="0"/>
                  <a:t>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 と固定</a:t>
                </a:r>
                <a:r>
                  <a:rPr lang="ja-JP" altLang="en-US" dirty="0"/>
                  <a:t>し，期間の分割数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を </a:t>
                </a:r>
                <a:r>
                  <a:rPr lang="en-US" altLang="ja-JP" dirty="0"/>
                  <a:t>100, 2400, ... </a:t>
                </a:r>
                <a:r>
                  <a:rPr lang="ja-JP" altLang="en-US" dirty="0"/>
                  <a:t>と増やしていくとどうなるか？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sz="3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ja-JP" altLang="en-US" sz="3600" dirty="0">
                    <a:solidFill>
                      <a:schemeClr val="accent5"/>
                    </a:solidFill>
                  </a:rPr>
                  <a:t>    式</a:t>
                </a:r>
                <a:r>
                  <a:rPr lang="en-US" altLang="ja-JP" sz="3600" dirty="0">
                    <a:solidFill>
                      <a:schemeClr val="accent5"/>
                    </a:solidFill>
                  </a:rPr>
                  <a:t>(1)</a:t>
                </a:r>
                <a:r>
                  <a:rPr lang="en-US" altLang="ja-JP" sz="3400" dirty="0"/>
                  <a:t> </a:t>
                </a:r>
              </a:p>
              <a:p>
                <a:pPr marL="324000" lvl="1" indent="0">
                  <a:buNone/>
                </a:pPr>
                <a:r>
                  <a:rPr lang="ja-JP" altLang="en-US" sz="3100" dirty="0"/>
                  <a:t>これがポワソン分布</a:t>
                </a:r>
                <a:r>
                  <a:rPr lang="en-US" altLang="ja-JP" sz="3100" dirty="0"/>
                  <a:t>(Poisson distribution)</a:t>
                </a:r>
                <a:r>
                  <a:rPr lang="ja-JP" altLang="en-US" sz="3100" dirty="0"/>
                  <a:t>である．</a:t>
                </a:r>
                <a:endParaRPr lang="en-US" altLang="ja-JP" sz="3100" dirty="0"/>
              </a:p>
              <a:p>
                <a:pPr marL="324000" lvl="1" indent="0">
                  <a:buNone/>
                </a:pPr>
                <a:r>
                  <a:rPr lang="ja-JP" altLang="en-US" sz="3100" dirty="0">
                    <a:solidFill>
                      <a:schemeClr val="accent5"/>
                    </a:solidFill>
                  </a:rPr>
                  <a:t>二項分布で</a:t>
                </a:r>
                <a:r>
                  <a:rPr lang="en-US" altLang="ja-JP" sz="3200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>
                      <m:sSub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32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3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3100" dirty="0">
                    <a:solidFill>
                      <a:schemeClr val="accent5"/>
                    </a:solidFill>
                  </a:rPr>
                  <a:t>場合と見なせる．</a:t>
                </a:r>
                <a:endParaRPr lang="en-US" altLang="ja-JP" sz="3100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42" r="-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25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3F7B-737A-FD29-D8D3-DF49388B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B1846-1D64-DC13-9B2D-7656658B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6C078F-AB4A-E4A5-8320-1E51A82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ここで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⋯(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  ⋯ 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b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=1⋅1⋅⋯⋅1=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  <a:blipFill>
                <a:blip r:embed="rId3"/>
                <a:stretch>
                  <a:fillRect l="-12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0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480D-6AA0-3ECA-B3DB-B4B2FE8F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338AB-9FB1-0B60-7E6D-4F8C402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F2FBC-4336-5B1C-3317-53B5CCD4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微分</a:t>
                </a:r>
                <a:r>
                  <a:rPr lang="ja-JP" altLang="en-US" dirty="0"/>
                  <a:t>積分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応用で示した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limLow>
                              <m:limLowPr>
                                <m:ctrl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以上を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/>
                  <a:t>に代入</a:t>
                </a:r>
                <a:br>
                  <a:rPr lang="en-US" altLang="ja-JP" dirty="0">
                    <a:solidFill>
                      <a:schemeClr val="tx1"/>
                    </a:solidFill>
                  </a:rPr>
                </a:b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accent5"/>
                    </a:solidFill>
                  </a:rPr>
                  <a:t>              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⋅1⋅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⋅1=</m:t>
                    </m:r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486898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1774</TotalTime>
  <Words>1216</Words>
  <Application>Microsoft Office PowerPoint</Application>
  <PresentationFormat>画面に合わせる (4:3)</PresentationFormat>
  <Paragraphs>192</Paragraphs>
  <Slides>22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確率分布：離散確率分布(後半)</vt:lpstr>
      <vt:lpstr>今日の目標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  <vt:lpstr>(付録)ポアソン分布の意味</vt:lpstr>
      <vt:lpstr>(付録)ポアソン分布の確率質量関数の導出</vt:lpstr>
      <vt:lpstr>(付録)ポアソン分布の確率質量関数の導出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190</cp:revision>
  <dcterms:created xsi:type="dcterms:W3CDTF">2025-03-03T09:28:12Z</dcterms:created>
  <dcterms:modified xsi:type="dcterms:W3CDTF">2026-10-06T13:46:57Z</dcterms:modified>
</cp:coreProperties>
</file>