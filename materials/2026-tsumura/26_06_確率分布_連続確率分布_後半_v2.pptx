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544" r:id="rId5"/>
    <p:sldId id="641" r:id="rId6"/>
    <p:sldId id="273" r:id="rId7"/>
    <p:sldId id="642" r:id="rId8"/>
    <p:sldId id="630" r:id="rId9"/>
    <p:sldId id="615" r:id="rId10"/>
    <p:sldId id="616" r:id="rId11"/>
    <p:sldId id="644" r:id="rId12"/>
    <p:sldId id="594" r:id="rId13"/>
    <p:sldId id="619" r:id="rId14"/>
    <p:sldId id="291" r:id="rId15"/>
    <p:sldId id="624" r:id="rId16"/>
    <p:sldId id="623" r:id="rId17"/>
    <p:sldId id="620" r:id="rId18"/>
    <p:sldId id="621" r:id="rId19"/>
    <p:sldId id="622" r:id="rId20"/>
    <p:sldId id="297" r:id="rId21"/>
    <p:sldId id="625" r:id="rId22"/>
    <p:sldId id="298" r:id="rId23"/>
    <p:sldId id="626" r:id="rId24"/>
    <p:sldId id="643" r:id="rId25"/>
  </p:sldIdLst>
  <p:sldSz cx="9144000" cy="6858000" type="screen4x3"/>
  <p:notesSz cx="6858000" cy="9144000"/>
  <p:embeddedFontLst>
    <p:embeddedFont>
      <p:font typeface="BIZ UDPゴシック" panose="020B0400000000000000" pitchFamily="34" charset="-128"/>
      <p:regular r:id="rId27"/>
      <p:bold r:id="rId28"/>
    </p:embeddedFont>
    <p:embeddedFont>
      <p:font typeface="Cambria Math" panose="02040503050406030204" pitchFamily="18" charset="0"/>
      <p:regular r:id="rId29"/>
    </p:embeddedFont>
    <p:embeddedFont>
      <p:font typeface="Gill Sans" panose="020B0604020202020204" charset="0"/>
      <p:regular r:id="rId30"/>
      <p:bold r:id="rId31"/>
    </p:embeddedFont>
    <p:embeddedFont>
      <p:font typeface="HG丸ｺﾞｼｯｸM-PRO" panose="020F0600000000000000" pitchFamily="34" charset="-128"/>
      <p:regular r:id="rId32"/>
    </p:embeddedFont>
    <p:embeddedFont>
      <p:font typeface="Impact" panose="020B0806030902050204" pitchFamily="3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DF88A-5C83-4083-A369-80C43B15D049}" v="3" dt="2026-08-31T10:26:51.082"/>
  </p1510:revLst>
</p1510:revInfo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undo custSel modSld">
      <pc:chgData name="須永大介" userId="afee7028-08f7-45fb-b56f-efe6c4357b09" providerId="ADAL" clId="{3322EB53-9E6C-499E-B527-F2AD79E593A6}" dt="2026-08-31T10:30:21.162" v="9" actId="20577"/>
      <pc:docMkLst>
        <pc:docMk/>
      </pc:docMkLst>
      <pc:sldChg chg="modSp mod">
        <pc:chgData name="須永大介" userId="afee7028-08f7-45fb-b56f-efe6c4357b09" providerId="ADAL" clId="{3322EB53-9E6C-499E-B527-F2AD79E593A6}" dt="2026-08-31T10:30:21.162" v="9" actId="20577"/>
        <pc:sldMkLst>
          <pc:docMk/>
          <pc:sldMk cId="0" sldId="256"/>
        </pc:sldMkLst>
        <pc:spChg chg="mod">
          <ac:chgData name="須永大介" userId="afee7028-08f7-45fb-b56f-efe6c4357b09" providerId="ADAL" clId="{3322EB53-9E6C-499E-B527-F2AD79E593A6}" dt="2026-08-31T10:30:21.162" v="9" actId="20577"/>
          <ac:spMkLst>
            <pc:docMk/>
            <pc:sldMk cId="0" sldId="256"/>
            <ac:spMk id="67" creationId="{00000000-0000-0000-0000-000000000000}"/>
          </ac:spMkLst>
        </pc:spChg>
      </pc:sldChg>
      <pc:sldChg chg="addSp modSp">
        <pc:chgData name="須永大介" userId="afee7028-08f7-45fb-b56f-efe6c4357b09" providerId="ADAL" clId="{3322EB53-9E6C-499E-B527-F2AD79E593A6}" dt="2026-08-31T10:26:51.082" v="2"/>
        <pc:sldMkLst>
          <pc:docMk/>
          <pc:sldMk cId="0" sldId="303"/>
        </pc:sldMkLst>
        <pc:spChg chg="add mod">
          <ac:chgData name="須永大介" userId="afee7028-08f7-45fb-b56f-efe6c4357b09" providerId="ADAL" clId="{3322EB53-9E6C-499E-B527-F2AD79E593A6}" dt="2026-08-31T10:22:19.894" v="0"/>
          <ac:spMkLst>
            <pc:docMk/>
            <pc:sldMk cId="0" sldId="303"/>
            <ac:spMk id="4" creationId="{00000000-0000-0000-0000-000000000000}"/>
          </ac:spMkLst>
        </pc:spChg>
        <pc:spChg chg="add mod">
          <ac:chgData name="須永大介" userId="afee7028-08f7-45fb-b56f-efe6c4357b09" providerId="ADAL" clId="{3322EB53-9E6C-499E-B527-F2AD79E593A6}" dt="2026-08-31T10:23:28.591" v="1"/>
          <ac:spMkLst>
            <pc:docMk/>
            <pc:sldMk cId="0" sldId="303"/>
            <ac:spMk id="5" creationId="{B681A043-561F-6618-4713-88B472C29F70}"/>
          </ac:spMkLst>
        </pc:spChg>
        <pc:spChg chg="add mod">
          <ac:chgData name="須永大介" userId="afee7028-08f7-45fb-b56f-efe6c4357b09" providerId="ADAL" clId="{3322EB53-9E6C-499E-B527-F2AD79E593A6}" dt="2026-08-31T10:26:51.082" v="2"/>
          <ac:spMkLst>
            <pc:docMk/>
            <pc:sldMk cId="0" sldId="30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8AA7EB6F-B32D-7BC6-E422-5750CDF9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>
            <a:extLst>
              <a:ext uri="{FF2B5EF4-FFF2-40B4-BE49-F238E27FC236}">
                <a16:creationId xmlns:a16="http://schemas.microsoft.com/office/drawing/2014/main" id="{6014901A-8D42-F9B4-93AC-74D760D4D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>
            <a:extLst>
              <a:ext uri="{FF2B5EF4-FFF2-40B4-BE49-F238E27FC236}">
                <a16:creationId xmlns:a16="http://schemas.microsoft.com/office/drawing/2014/main" id="{441DE995-2837-8330-5472-F2D09E49A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3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2AD49AC4-4B94-C1C4-0367-D5AF549F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>
            <a:extLst>
              <a:ext uri="{FF2B5EF4-FFF2-40B4-BE49-F238E27FC236}">
                <a16:creationId xmlns:a16="http://schemas.microsoft.com/office/drawing/2014/main" id="{F3ECF495-8DD3-6DED-F998-6A7B38FD5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:notes">
            <a:extLst>
              <a:ext uri="{FF2B5EF4-FFF2-40B4-BE49-F238E27FC236}">
                <a16:creationId xmlns:a16="http://schemas.microsoft.com/office/drawing/2014/main" id="{33313104-31C0-9E89-3D64-3D3170157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62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19D-9376-0107-0BDA-A1A96A89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03928-8324-ABAC-4691-5EB215920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05DB76-33AD-EC23-F7E4-6780E10B7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F0D1B-B34C-164F-53E5-D972A487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250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082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85EE4FBA-DAB5-7ADB-AE27-FCBE2E08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65069048-8DA9-0BE1-F69F-E1ABA072B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>
            <a:extLst>
              <a:ext uri="{FF2B5EF4-FFF2-40B4-BE49-F238E27FC236}">
                <a16:creationId xmlns:a16="http://schemas.microsoft.com/office/drawing/2014/main" id="{EB372F30-D7FF-3740-635D-53F74BFB5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58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5795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70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6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</a:t>
            </a:r>
            <a:r>
              <a:rPr lang="ja-JP"/>
              <a:t>確率分布</a:t>
            </a:r>
            <a:r>
              <a:rPr lang="ja-JP" altLang="en-US"/>
              <a:t> 後半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altLang="en-US" dirty="0"/>
              <a:t>標本と標本平均の性質・中心極限定理</a:t>
            </a:r>
            <a:endParaRPr lang="en-US" altLang="ja-JP"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t分布とその特徴について理解する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カイ二乗分布とその特徴について理解する</a:t>
            </a: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ja-JP" altLang="en-US" dirty="0"/>
              <a:t>標本</a:t>
            </a:r>
            <a:endParaRPr dirty="0"/>
          </a:p>
        </p:txBody>
      </p:sp>
      <p:sp>
        <p:nvSpPr>
          <p:cNvPr id="360" name="Google Shape;360;p3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4530-AD0C-28F5-2E74-7C215C2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A61FF7-A43D-F0BD-2A79-4921FA5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1AB72C-E4E8-32F8-A322-716C9497BB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推測統計学　</a:t>
            </a:r>
            <a:r>
              <a:rPr lang="en-US" altLang="ja-JP" dirty="0">
                <a:solidFill>
                  <a:schemeClr val="accent2"/>
                </a:solidFill>
              </a:rPr>
              <a:t>inferential statistics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母集団からランダムに抽出した</a:t>
            </a:r>
            <a:r>
              <a:rPr lang="ja-JP" altLang="en-US" b="1" dirty="0">
                <a:solidFill>
                  <a:schemeClr val="accent5"/>
                </a:solidFill>
              </a:rPr>
              <a:t>標本を利用</a:t>
            </a:r>
            <a:r>
              <a:rPr lang="ja-JP" altLang="en-US" dirty="0">
                <a:solidFill>
                  <a:schemeClr val="tx1"/>
                </a:solidFill>
              </a:rPr>
              <a:t>して，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母集団の未知の特性値</a:t>
            </a:r>
            <a:r>
              <a:rPr lang="ja-JP" altLang="en-US" dirty="0">
                <a:solidFill>
                  <a:schemeClr val="tx1"/>
                </a:solidFill>
              </a:rPr>
              <a:t>（平均値や分散など）を</a:t>
            </a:r>
            <a:r>
              <a:rPr lang="ja-JP" altLang="en-US" b="1" dirty="0">
                <a:solidFill>
                  <a:schemeClr val="accent5"/>
                </a:solidFill>
              </a:rPr>
              <a:t>推測</a:t>
            </a:r>
            <a:r>
              <a:rPr lang="ja-JP" altLang="en-US" dirty="0">
                <a:solidFill>
                  <a:schemeClr val="tx1"/>
                </a:solidFill>
              </a:rPr>
              <a:t>していく方法</a:t>
            </a:r>
            <a:endParaRPr lang="en-US" altLang="ja-JP" dirty="0">
              <a:solidFill>
                <a:schemeClr val="tx1"/>
              </a:solidFill>
            </a:endParaRPr>
          </a:p>
          <a:p>
            <a:pPr lvl="2"/>
            <a:r>
              <a:rPr kumimoji="1" lang="ja-JP" altLang="en-US" dirty="0">
                <a:solidFill>
                  <a:schemeClr val="tx1"/>
                </a:solidFill>
              </a:rPr>
              <a:t>母集団すべてに調査を行い，データを取得することが難しいため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1587500" y="1161460"/>
            <a:ext cx="1968500" cy="1943100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5537200" y="1161460"/>
            <a:ext cx="2019300" cy="2019300"/>
          </a:xfrm>
          <a:prstGeom prst="ellipse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1749425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母集団の特性値</a:t>
            </a:r>
            <a:endParaRPr kumimoji="1" lang="en-US" altLang="ja-JP" sz="1400" dirty="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平均・分散など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5721350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標本の推定量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2571750" y="3104560"/>
            <a:ext cx="15875" cy="695325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559550" y="2690222"/>
            <a:ext cx="4763" cy="1109663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EF6E616-D040-C3B1-0A4B-779E35794DC8}"/>
              </a:ext>
            </a:extLst>
          </p:cNvPr>
          <p:cNvGrpSpPr/>
          <p:nvPr/>
        </p:nvGrpSpPr>
        <p:grpSpPr>
          <a:xfrm>
            <a:off x="3556000" y="1557459"/>
            <a:ext cx="2451100" cy="695325"/>
            <a:chOff x="4619625" y="1786649"/>
            <a:chExt cx="2451100" cy="695325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0000000-0008-0000-0000-00000800000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19625" y="2362200"/>
              <a:ext cx="2451100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7">
              <a:extLst>
                <a:ext uri="{FF2B5EF4-FFF2-40B4-BE49-F238E27FC236}">
                  <a16:creationId xmlns:a16="http://schemas.microsoft.com/office/drawing/2014/main" id="{00000000-0008-0000-0000-000012000000}"/>
                </a:ext>
              </a:extLst>
            </p:cNvPr>
            <p:cNvSpPr txBox="1"/>
            <p:nvPr/>
          </p:nvSpPr>
          <p:spPr>
            <a:xfrm>
              <a:off x="4900743" y="1786649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無作為抽出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63D6071-726B-7E14-E5B2-B52BBCB65FDB}"/>
              </a:ext>
            </a:extLst>
          </p:cNvPr>
          <p:cNvGrpSpPr/>
          <p:nvPr/>
        </p:nvGrpSpPr>
        <p:grpSpPr>
          <a:xfrm>
            <a:off x="3425825" y="3631527"/>
            <a:ext cx="2295525" cy="695325"/>
            <a:chOff x="4489450" y="3860717"/>
            <a:chExt cx="2295525" cy="69532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0000000-0008-0000-0000-00000F000000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4489450" y="4424363"/>
              <a:ext cx="2295525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6">
              <a:extLst>
                <a:ext uri="{FF2B5EF4-FFF2-40B4-BE49-F238E27FC236}">
                  <a16:creationId xmlns:a16="http://schemas.microsoft.com/office/drawing/2014/main" id="{10097B8C-2A05-44ED-8ED3-C698495B0B29}"/>
                </a:ext>
              </a:extLst>
            </p:cNvPr>
            <p:cNvSpPr txBox="1"/>
            <p:nvPr/>
          </p:nvSpPr>
          <p:spPr>
            <a:xfrm>
              <a:off x="4921232" y="3860717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推測</a:t>
              </a:r>
            </a:p>
          </p:txBody>
        </p:sp>
      </p:grpSp>
      <p:sp>
        <p:nvSpPr>
          <p:cNvPr id="35" name="楕円 34">
            <a:extLst>
              <a:ext uri="{FF2B5EF4-FFF2-40B4-BE49-F238E27FC236}">
                <a16:creationId xmlns:a16="http://schemas.microsoft.com/office/drawing/2014/main" id="{8AFF1FC0-D64C-6526-A4B8-3857BE5B442F}"/>
              </a:ext>
            </a:extLst>
          </p:cNvPr>
          <p:cNvSpPr/>
          <p:nvPr/>
        </p:nvSpPr>
        <p:spPr>
          <a:xfrm>
            <a:off x="6007100" y="1575797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</a:t>
            </a:r>
          </a:p>
        </p:txBody>
      </p:sp>
      <p:sp>
        <p:nvSpPr>
          <p:cNvPr id="7" name="Google Shape;89;p4">
            <a:extLst>
              <a:ext uri="{FF2B5EF4-FFF2-40B4-BE49-F238E27FC236}">
                <a16:creationId xmlns:a16="http://schemas.microsoft.com/office/drawing/2014/main" id="{36748E7B-DC87-6300-94DC-870404DA286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1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標本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 母集団から無作為に抽出されたデータ</a:t>
                </a:r>
                <a:endParaRPr lang="en-US" altLang="ja-JP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ja-JP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 dirty="0">
                    <a:solidFill>
                      <a:schemeClr val="tx1"/>
                    </a:solidFill>
                  </a:rPr>
                  <a:t>: </a:t>
                </a:r>
                <a:r>
                  <a:rPr kumimoji="1" lang="ja-JP" altLang="en-US" sz="2800" dirty="0">
                    <a:solidFill>
                      <a:schemeClr val="tx1"/>
                    </a:solidFill>
                  </a:rPr>
                  <a:t>標本集合</a:t>
                </a: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sz="2800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kumimoji="1" lang="ja-JP" altLang="en-US" dirty="0">
                    <a:solidFill>
                      <a:schemeClr val="tx1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:</a:t>
                </a:r>
                <a:r>
                  <a:rPr lang="ja-JP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標本データの算術平均</a:t>
                </a:r>
                <a:r>
                  <a:rPr kumimoji="1" lang="en-US" altLang="ja-JP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/>
                  <a:t>偏差二乗和</a:t>
                </a:r>
                <a:r>
                  <a:rPr lang="en-US" altLang="ja-JP" dirty="0"/>
                  <a:t>: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209700" indent="-342900"/>
                <a:r>
                  <a:rPr lang="ja-JP" altLang="en-US" dirty="0">
                    <a:solidFill>
                      <a:schemeClr val="tx1"/>
                    </a:solidFill>
                  </a:rPr>
                  <a:t>標本分散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20015" indent="0">
                  <a:buNone/>
                </a:pPr>
                <a:r>
                  <a:rPr lang="en-US" altLang="ja-JP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とは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kumimoji="1"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43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中心極限定理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Google Shape;233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-3191" y="933254"/>
                <a:ext cx="9147196" cy="5788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06000" lvl="0" indent="-306000" algn="l" rtl="0">
                  <a:spcBef>
                    <a:spcPts val="0"/>
                  </a:spcBef>
                  <a:spcAft>
                    <a:spcPts val="0"/>
                  </a:spcAft>
                  <a:buSzPts val="2660"/>
                  <a:buChar char="■"/>
                </a:pPr>
                <a:r>
                  <a:rPr lang="ja-JP" altLang="en-US" dirty="0"/>
                  <a:t>中心極限定理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central limit theorem</a:t>
                </a:r>
                <a:endParaRPr lang="ja-JP" altLang="en-US" dirty="0"/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母集団は母数の母平均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の分布とする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その母集団から無作為に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個の標本を得る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>
                  <a:spcBef>
                    <a:spcPts val="1080"/>
                  </a:spcBef>
                  <a:buSzPts val="2280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その標本の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母平均の誤差</a:t>
                </a:r>
                <a:r>
                  <a:rPr lang="ja-JP" altLang="en-US" dirty="0"/>
                  <a:t>の確率分布が，</a:t>
                </a:r>
                <a:br>
                  <a:rPr lang="ja-JP" altLang="en-US" dirty="0"/>
                </a:br>
                <a:r>
                  <a:rPr lang="ja-JP" altLang="en-US" dirty="0"/>
                  <a:t>標本の大きさ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を大きくすると，期待値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の正規分布に近づく</a:t>
                </a:r>
              </a:p>
              <a:p>
                <a:pPr marL="324000" lvl="1" indent="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None/>
                </a:pPr>
                <a:r>
                  <a:rPr lang="ja-JP" altLang="en-US" dirty="0"/>
                  <a:t>　より具体的には</a:t>
                </a:r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あるいは</m:t>
                      </m:r>
                      <m:r>
                        <a:rPr lang="ja-JP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同値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で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ja-JP" altLang="en-US" sz="2000" dirty="0">
                  <a:solidFill>
                    <a:schemeClr val="accent2"/>
                  </a:solidFill>
                </a:endParaRPr>
              </a:p>
              <a:p>
                <a:pPr marL="306000" lvl="0" indent="-306000" algn="l" rtl="0">
                  <a:spcBef>
                    <a:spcPts val="1000"/>
                  </a:spcBef>
                  <a:spcAft>
                    <a:spcPts val="0"/>
                  </a:spcAft>
                  <a:buSzPts val="1900"/>
                  <a:buChar char="■"/>
                </a:pPr>
                <a:r>
                  <a:rPr lang="ja-JP" altLang="en-US" sz="2000" dirty="0">
                    <a:solidFill>
                      <a:schemeClr val="tx1"/>
                    </a:solidFill>
                  </a:rPr>
                  <a:t>（参考）大数の法則</a:t>
                </a:r>
              </a:p>
              <a:p>
                <a:pPr marL="630000" lvl="1" indent="-306000">
                  <a:spcBef>
                    <a:spcPts val="960"/>
                  </a:spcBef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lang="ja-JP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を増やすと標本平均の分散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1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ja-JP" altLang="en-US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1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ja-JP" altLang="en-US" sz="1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 は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0</a:t>
                </a:r>
                <a:r>
                  <a:rPr lang="ja-JP" altLang="en-US" sz="1800" dirty="0">
                    <a:solidFill>
                      <a:schemeClr val="tx1"/>
                    </a:solidFill>
                  </a:rPr>
                  <a:t>に近づく</a:t>
                </a:r>
              </a:p>
              <a:p>
                <a:pPr marL="630000" lvl="1" indent="-306000">
                  <a:spcBef>
                    <a:spcPts val="960"/>
                  </a:spcBef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よって標本平均が母平均に収束する</a:t>
                </a:r>
              </a:p>
              <a:p>
                <a:pPr marL="630000" lvl="1" indent="-306000" algn="l" rtl="0">
                  <a:spcBef>
                    <a:spcPts val="960"/>
                  </a:spcBef>
                  <a:spcAft>
                    <a:spcPts val="0"/>
                  </a:spcAft>
                  <a:buSzPts val="1710"/>
                  <a:buChar char="✔"/>
                </a:pPr>
                <a:r>
                  <a:rPr lang="ja-JP" altLang="en-US" sz="1800" dirty="0">
                    <a:solidFill>
                      <a:schemeClr val="tx1"/>
                    </a:solidFill>
                  </a:rPr>
                  <a:t>標本平均が母平均の良い推定量であることを示す</a:t>
                </a:r>
              </a:p>
            </p:txBody>
          </p:sp>
        </mc:Choice>
        <mc:Fallback>
          <p:sp>
            <p:nvSpPr>
              <p:cNvPr id="233" name="Google Shape;233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3191" y="933254"/>
                <a:ext cx="9147196" cy="5788057"/>
              </a:xfrm>
              <a:prstGeom prst="rect">
                <a:avLst/>
              </a:prstGeom>
              <a:blipFill>
                <a:blip r:embed="rId3"/>
                <a:stretch>
                  <a:fillRect l="-1133" t="-1158" r="-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Google Shape;234;p18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17F328CB-D10B-327B-18D7-73C9BAE5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>
            <a:extLst>
              <a:ext uri="{FF2B5EF4-FFF2-40B4-BE49-F238E27FC236}">
                <a16:creationId xmlns:a16="http://schemas.microsoft.com/office/drawing/2014/main" id="{5FD28AF8-CA32-5DDF-A27B-0BEF93479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altLang="en-US" dirty="0"/>
              <a:t>正規分布の標本</a:t>
            </a:r>
            <a:endParaRPr dirty="0"/>
          </a:p>
        </p:txBody>
      </p: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9A4DE978-D4FE-DC6A-BFE6-E366D9F540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Google Shape;233;p18">
                <a:extLst>
                  <a:ext uri="{FF2B5EF4-FFF2-40B4-BE49-F238E27FC236}">
                    <a16:creationId xmlns:a16="http://schemas.microsoft.com/office/drawing/2014/main" id="{8CE267E1-8092-A943-6A2B-BD22C141AE3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1976" y="933254"/>
                <a:ext cx="8880049" cy="5788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母集団は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に従うものとする．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324000" lvl="1" indent="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　　つまり母平均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,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の正規分布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 algn="l" rtl="0">
                  <a:spcBef>
                    <a:spcPts val="1080"/>
                  </a:spcBef>
                  <a:spcAft>
                    <a:spcPts val="0"/>
                  </a:spcAft>
                  <a:buSzPts val="2280"/>
                  <a:buChar char="✔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その母集団から無作為に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個の標本を得る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630000" lvl="1" indent="-306000">
                  <a:spcBef>
                    <a:spcPts val="1080"/>
                  </a:spcBef>
                  <a:buSzPts val="2280"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その標本の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標本平均は正規分布</a:t>
                </a:r>
                <a:r>
                  <a:rPr lang="ja-JP" altLang="en-US" dirty="0"/>
                  <a:t>になる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r>
                  <a:rPr lang="ja-JP" altLang="en-US" dirty="0"/>
                  <a:t>  （近似ではなく任意の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の場合で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厳密に正規分布</a:t>
                </a:r>
                <a:r>
                  <a:rPr lang="ja-JP" altLang="en-US" dirty="0"/>
                  <a:t>になる）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:br>
                  <a:rPr lang="ja-JP" altLang="en-US" dirty="0"/>
                </a:br>
                <a:r>
                  <a:rPr lang="ja-JP" altLang="en-US" dirty="0"/>
                  <a:t>    具体的には</a:t>
                </a:r>
                <a:endParaRPr lang="en-US" altLang="ja-JP" dirty="0"/>
              </a:p>
              <a:p>
                <a:pPr marL="324000" lvl="1" indent="0">
                  <a:spcBef>
                    <a:spcPts val="1080"/>
                  </a:spcBef>
                  <a:buSzPts val="228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あるいは</m:t>
                      </m:r>
                      <m:r>
                        <a:rPr lang="ja-JP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同値</m:t>
                      </m:r>
                      <m:r>
                        <a:rPr lang="ja-JP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で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ja-JP" alt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33" name="Google Shape;233;p18">
                <a:extLst>
                  <a:ext uri="{FF2B5EF4-FFF2-40B4-BE49-F238E27FC236}">
                    <a16:creationId xmlns:a16="http://schemas.microsoft.com/office/drawing/2014/main" id="{8CE267E1-8092-A943-6A2B-BD22C141AE3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1976" y="933254"/>
                <a:ext cx="8880049" cy="5788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Google Shape;234;p18">
            <a:extLst>
              <a:ext uri="{FF2B5EF4-FFF2-40B4-BE49-F238E27FC236}">
                <a16:creationId xmlns:a16="http://schemas.microsoft.com/office/drawing/2014/main" id="{F150B93B-428E-5194-1EE1-844FFCEADE4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590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C0C342B3-B2A3-2B3D-3E7D-26A73F83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>
            <a:extLst>
              <a:ext uri="{FF2B5EF4-FFF2-40B4-BE49-F238E27FC236}">
                <a16:creationId xmlns:a16="http://schemas.microsoft.com/office/drawing/2014/main" id="{C42F2691-133A-4F72-2FD0-DF464BAE9E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en-US" altLang="ja-JP" dirty="0"/>
              <a:t>t</a:t>
            </a:r>
            <a:r>
              <a:rPr lang="ja-JP" dirty="0"/>
              <a:t>分布</a:t>
            </a:r>
            <a:endParaRPr dirty="0"/>
          </a:p>
        </p:txBody>
      </p:sp>
      <p:sp>
        <p:nvSpPr>
          <p:cNvPr id="360" name="Google Shape;360;p30">
            <a:extLst>
              <a:ext uri="{FF2B5EF4-FFF2-40B4-BE49-F238E27FC236}">
                <a16:creationId xmlns:a16="http://schemas.microsoft.com/office/drawing/2014/main" id="{875BA507-CCD1-13C5-EEAC-8BA65BB58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982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母集団は正規分布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とする→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標本平均も正規分布 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に変換する（標準化）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が既知なら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計算できる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が未知の場合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の代わりに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6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5" b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AFFB51-1BB7-A388-0C18-F44A761F12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1002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72E04-1D50-D919-AE8C-B54DA68E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自由度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147C0C-1E8D-43DC-890E-A7E1F360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自由度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degree of freedom</a:t>
                </a:r>
              </a:p>
              <a:p>
                <a:pPr lvl="1"/>
                <a:r>
                  <a:rPr lang="ja-JP" altLang="en-US" dirty="0"/>
                  <a:t>自由に動くことができる変数の数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個の変数が満たす等式の数を 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dirty="0"/>
                  <a:t> とする 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その場合の</a:t>
                </a:r>
                <a:r>
                  <a:rPr lang="ja-JP" altLang="en-US" b="0" dirty="0"/>
                  <a:t>自由度は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つのデータ：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これらの平均値が </a:t>
                </a:r>
                <a:r>
                  <a:rPr lang="en-US" altLang="ja-JP" dirty="0"/>
                  <a:t>2 </a:t>
                </a:r>
                <a:r>
                  <a:rPr lang="ja-JP" altLang="en-US" dirty="0"/>
                  <a:t>だとわかっているとする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このときデータ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dirty="0"/>
                  <a:t>の自由度は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i="1">
                            <a:latin typeface="Cambria Math" panose="02040503050406030204" pitchFamily="18" charset="0"/>
                          </a:rPr>
                          <m:t>4−1</m:t>
                        </m:r>
                      </m:e>
                    </m:d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ja-JP" altLang="en-US" dirty="0"/>
                  <a:t>個のデータの値が決定すれば残り</a:t>
                </a:r>
                <a14:m>
                  <m:oMath xmlns:m="http://schemas.openxmlformats.org/officeDocument/2006/math">
                    <m:r>
                      <a:rPr kumimoji="1" lang="en-US" altLang="ja-JP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ja-JP" altLang="en-US" dirty="0"/>
                  <a:t>個のデータの値も決定する．つまり自由度は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51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2AB4-387C-BEC7-42C2-6FF239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88B1-C8AE-96A5-D13B-987F90F6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45338-E428-364D-7E9E-7B0B4C3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である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個の標本データ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を考える．データは標本平均が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となる等式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個を満たす必要があるので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．</a:t>
                </a:r>
                <a:endParaRPr lang="en-US" altLang="ja-JP" dirty="0"/>
              </a:p>
              <a:p>
                <a:pPr marL="577215" lvl="1" indent="0">
                  <a:buNone/>
                </a:pPr>
                <a:r>
                  <a:rPr lang="ja-JP" altLang="en-US" dirty="0"/>
                  <a:t>　その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dirty="0"/>
                  <a:t>用いた偏差二乗和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も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標本不偏分散とは，偏差二乗和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で割ったもの．つまり</a:t>
                </a:r>
                <a:endParaRPr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期待値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　←これ重要！ 次回詳しく説明する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  <a:blipFill>
                <a:blip r:embed="rId3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/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000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0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0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000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ja-JP" alt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ja-JP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偏差</m:t>
                      </m:r>
                      <m:r>
                        <a:rPr lang="ja-JP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二乗和</m:t>
                      </m:r>
                    </m:oMath>
                  </m:oMathPara>
                </a14:m>
                <a:endParaRPr lang="en-US" altLang="ja-JP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52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0365-685E-93F5-0D41-2A906769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C3806-4910-9B7C-6EAE-7633E618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B692CE-6B5C-C5A6-373F-53227B1A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39" y="933254"/>
                <a:ext cx="9049281" cy="5788057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Student’s t-distribution</a:t>
                </a:r>
              </a:p>
              <a:p>
                <a:pPr lvl="1"/>
                <a:r>
                  <a:rPr lang="ja-JP" altLang="en-US" sz="2000" dirty="0"/>
                  <a:t>母分散が未知の場合の，母平均に対する標本平均の，</a:t>
                </a:r>
                <a:br>
                  <a:rPr lang="en-US" altLang="ja-JP" sz="2000" dirty="0"/>
                </a:br>
                <a:r>
                  <a:rPr lang="ja-JP" altLang="en-US" sz="2000" dirty="0"/>
                  <a:t>標準化された距離を表す分布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標準化された距離：母分散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600" dirty="0"/>
                  <a:t>の代わりに，</a:t>
                </a:r>
                <a:r>
                  <a:rPr lang="ja-JP" altLang="en-US" sz="1600" dirty="0">
                    <a:solidFill>
                      <a:schemeClr val="accent5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16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1600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1600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600" dirty="0"/>
                  <a:t>を利用して標準化する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自由度によって形状が変わる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  <a:p>
                <a:endParaRPr kumimoji="1" lang="en-US" altLang="ja-JP" sz="1600" dirty="0"/>
              </a:p>
              <a:p>
                <a:r>
                  <a:rPr kumimoji="1" lang="ja-JP" altLang="en-US" sz="1600" dirty="0"/>
                  <a:t>確率密度関数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𝜈𝜋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1400" dirty="0"/>
              </a:p>
              <a:p>
                <a:r>
                  <a:rPr kumimoji="1" lang="ja-JP" altLang="en-US" sz="1600" dirty="0"/>
                  <a:t>期待値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sz="1400" dirty="0"/>
              </a:p>
              <a:p>
                <a:r>
                  <a:rPr lang="ja-JP" altLang="en-US" sz="1600" dirty="0"/>
                  <a:t>分散</a:t>
                </a:r>
                <a:endParaRPr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kumimoji="1" lang="en-US" altLang="ja-JP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1&lt;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ja-JP" sz="1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39" y="933254"/>
                <a:ext cx="9049281" cy="57880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C1116F43-DFDD-4919-CC03-B49F76EAD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61" y="3689499"/>
            <a:ext cx="5279664" cy="316850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C6BBF2A-23FB-B84D-4F90-E28ED7E9E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861" y="3689499"/>
            <a:ext cx="5281200" cy="316942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7256504-74C2-8D97-E910-09A46EBB8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861" y="3674436"/>
            <a:ext cx="5281200" cy="31694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4B6EA1C-5641-97BF-211F-D483E693D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DA36580-B7B7-9C71-0A2A-A05F4154A2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1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4E92-4B3E-00DA-CC1F-4F34E86C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96FF7-4982-3E5E-5667-B1CCBF6E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分布の形状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AF410D-52F0-1AD5-DCDE-179A951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1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分布の形状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FD5AD3B5-ED57-8208-358D-48FA3A09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00" y="2958332"/>
            <a:ext cx="6498000" cy="389966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8D084A7-C24B-81D7-AF8E-2C7FC187E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2E36B58-4ED6-0AFD-22CE-7B4B4E47B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953AD96-4C61-DF60-9C89-871FB6F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000" y="2958333"/>
            <a:ext cx="6498000" cy="389966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52D9B1-2272-4A2D-BE08-5F38463D3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754" y="2959700"/>
            <a:ext cx="6496493" cy="38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２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</a:t>
            </a:r>
            <a:r>
              <a:rPr lang="en-US" altLang="ja-JP" dirty="0"/>
              <a:t>t</a:t>
            </a:r>
            <a:r>
              <a:rPr lang="ja-JP" dirty="0"/>
              <a:t>分布表の読み方</a:t>
            </a:r>
            <a:endParaRPr dirty="0"/>
          </a:p>
        </p:txBody>
      </p:sp>
      <p:sp>
        <p:nvSpPr>
          <p:cNvPr id="413" name="Google Shape;413;p3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D54A-F250-BC97-CE75-497DD5D3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5FD8A4-269E-B9AE-0553-6CEA5EA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38AA20-817C-D3D8-4C40-500158FC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/>
                  <a:t>t</a:t>
                </a:r>
                <a:r>
                  <a:rPr lang="ja-JP" altLang="en-US" dirty="0"/>
                  <a:t>分布表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の，上側確率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に対応する</a:t>
                </a:r>
                <a:br>
                  <a:rPr lang="en-US" altLang="ja-JP" dirty="0"/>
                </a:br>
                <a:r>
                  <a:rPr lang="ja-JP" altLang="en-US" dirty="0">
                    <a:solidFill>
                      <a:schemeClr val="tx1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ja-JP" altLang="en-US" sz="1800" dirty="0">
                    <a:solidFill>
                      <a:schemeClr val="tx1"/>
                    </a:solidFill>
                  </a:rPr>
                  <a:t>（横軸の値）</a:t>
                </a:r>
                <a:r>
                  <a:rPr lang="ja-JP" altLang="en-US" dirty="0"/>
                  <a:t>を表にしたもの</a:t>
                </a:r>
              </a:p>
              <a:p>
                <a:pPr lvl="1"/>
                <a:r>
                  <a:rPr lang="en-US" altLang="ja-JP" dirty="0"/>
                  <a:t>pp.203</a:t>
                </a:r>
                <a:r>
                  <a:rPr lang="ja-JP" altLang="en-US" dirty="0"/>
                  <a:t>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2D9F17EE-D66A-4905-AD50-5001FF2F6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35" y="2397679"/>
            <a:ext cx="5961600" cy="35777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/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/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800" b="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kumimoji="1" lang="en-US" altLang="ja-JP" sz="18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（表中）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blipFill>
                <a:blip r:embed="rId5"/>
                <a:stretch>
                  <a:fillRect l="-2454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/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800" b="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上側確率</a:t>
                </a:r>
                <a14:m>
                  <m:oMath xmlns:m="http://schemas.openxmlformats.org/officeDocument/2006/math">
                    <m:r>
                      <a:rPr kumimoji="1" lang="en-US" altLang="ja-JP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en-US" altLang="ja-JP" sz="1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1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（表頭）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blipFill>
                <a:blip r:embed="rId6"/>
                <a:stretch>
                  <a:fillRect l="-3922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BD518D5-192B-1591-F41D-BF3E0131D33B}"/>
              </a:ext>
            </a:extLst>
          </p:cNvPr>
          <p:cNvCxnSpPr>
            <a:cxnSpLocks/>
          </p:cNvCxnSpPr>
          <p:nvPr/>
        </p:nvCxnSpPr>
        <p:spPr>
          <a:xfrm flipH="1">
            <a:off x="7357731" y="4625272"/>
            <a:ext cx="781596" cy="887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AB52337-37B2-F64C-D036-06A72858FFA7}"/>
              </a:ext>
            </a:extLst>
          </p:cNvPr>
          <p:cNvCxnSpPr>
            <a:cxnSpLocks/>
          </p:cNvCxnSpPr>
          <p:nvPr/>
        </p:nvCxnSpPr>
        <p:spPr>
          <a:xfrm flipV="1">
            <a:off x="7219638" y="5588202"/>
            <a:ext cx="0" cy="58110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7BA39FD-D81F-8985-0FB8-D7270CEDA8B4}"/>
              </a:ext>
            </a:extLst>
          </p:cNvPr>
          <p:cNvGrpSpPr/>
          <p:nvPr/>
        </p:nvGrpSpPr>
        <p:grpSpPr>
          <a:xfrm>
            <a:off x="2171904" y="3827282"/>
            <a:ext cx="2697996" cy="923330"/>
            <a:chOff x="2171904" y="3827282"/>
            <a:chExt cx="2697996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/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によって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形が変わる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89" t="-5298" r="-2589" b="-105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E44B2F1-B208-5CB7-FB10-B5356F4076F4}"/>
                </a:ext>
              </a:extLst>
            </p:cNvPr>
            <p:cNvCxnSpPr>
              <a:cxnSpLocks/>
            </p:cNvCxnSpPr>
            <p:nvPr/>
          </p:nvCxnSpPr>
          <p:spPr>
            <a:xfrm>
              <a:off x="3842445" y="4354697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992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C0B07-BEBC-80AD-DA39-46C5E65C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標準正規分布表との違い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8DD895C-26B8-6625-1968-E63F22F7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自由度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𝜈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パーセント点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𝜈</m:t>
                                  </m:r>
                                </m:e>
                              </m:d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834797"/>
                  </p:ext>
                </p:extLst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101124" r="-677" b="-216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203409" r="-677" b="-119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904" t="-300000" r="-100677" b="-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300000" r="-677" b="-17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75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5512-AC21-3CC4-C5B4-83F89992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B1EEB-3180-2A4B-2627-E1CFF0CA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081344-3926-EE0E-CF28-3DCB54DF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kumimoji="1"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kumimoji="1" lang="ja-JP" altLang="en-US" sz="2400" dirty="0"/>
                  <a:t>のときの</a:t>
                </a:r>
                <a:br>
                  <a:rPr kumimoji="1" lang="en-US" altLang="ja-JP" sz="2400" dirty="0"/>
                </a:br>
                <a:r>
                  <a:rPr kumimoji="1"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表頭から，上側確率</a:t>
                </a:r>
                <a:r>
                  <a:rPr kumimoji="1" lang="en-US" altLang="ja-JP" sz="2000" dirty="0"/>
                  <a:t>0.025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EADCBE17-C86A-5E35-018E-05F92319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697" y="3119890"/>
            <a:ext cx="5422606" cy="3254287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94D2C2F-D545-2EB9-0C9B-7BB240DD35F4}"/>
              </a:ext>
            </a:extLst>
          </p:cNvPr>
          <p:cNvGrpSpPr/>
          <p:nvPr/>
        </p:nvGrpSpPr>
        <p:grpSpPr>
          <a:xfrm>
            <a:off x="5986132" y="4519602"/>
            <a:ext cx="2750131" cy="1405144"/>
            <a:chOff x="5986132" y="4519602"/>
            <a:chExt cx="2750131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b="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上側確率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a14:m>
                  <a:endParaRPr kumimoji="1" lang="en-US" altLang="ja-JP" sz="1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（表頭，手順②）</a:t>
                  </a: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609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0730F5C-1EF1-96EA-3D4C-63A39D4D44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242E6A1-AD22-953C-2DED-435E94BF3C37}"/>
              </a:ext>
            </a:extLst>
          </p:cNvPr>
          <p:cNvGrpSpPr/>
          <p:nvPr/>
        </p:nvGrpSpPr>
        <p:grpSpPr>
          <a:xfrm>
            <a:off x="5890437" y="5996295"/>
            <a:ext cx="3178995" cy="768880"/>
            <a:chOff x="5890437" y="5996295"/>
            <a:chExt cx="3178995" cy="768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/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a14:m>
                  <a:endParaRPr kumimoji="1" lang="en-US" altLang="ja-JP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250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114C9BF-57C5-61E8-F65E-FA6B18CC5A80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890437" y="5996295"/>
              <a:ext cx="741532" cy="445715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F03D656-BF0F-1F9C-DE71-493D43C2AC61}"/>
              </a:ext>
            </a:extLst>
          </p:cNvPr>
          <p:cNvGrpSpPr/>
          <p:nvPr/>
        </p:nvGrpSpPr>
        <p:grpSpPr>
          <a:xfrm>
            <a:off x="1293299" y="377395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（表側，手順①）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F7F3A1B7-BEF7-E4DF-3BC3-BDC5842395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910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2FEB-956F-F1C1-38DF-311CD6D1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C5C48-DB68-424A-581F-0A61A567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B233102-C39C-3BDA-A7E6-2E74B886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表側から，自由度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20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手順②　表頭から，上側確率</a:t>
                </a:r>
                <a:r>
                  <a:rPr lang="en-US" altLang="ja-JP" sz="2000" dirty="0"/>
                  <a:t>0.025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A99E19FC-DBC0-F9EE-DF88-B8371CF91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3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E386-845C-F411-4F6E-30223B2B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7BA8-7349-46FB-6C0B-17790B08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B18146F-5B52-FC32-5F08-0A78879C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手順②　表頭から，上側確率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0.025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FA1574D9-02E0-D494-0767-50570C350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2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t</a:t>
            </a:r>
            <a:r>
              <a:rPr lang="ja-JP" dirty="0"/>
              <a:t>分布表の読み方④</a:t>
            </a:r>
            <a:endParaRPr dirty="0"/>
          </a:p>
        </p:txBody>
      </p:sp>
      <p:sp>
        <p:nvSpPr>
          <p:cNvPr id="475" name="Google Shape;475;p4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48" t="-4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477" name="Google Shape;47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5238" y="3827282"/>
            <a:ext cx="4573524" cy="2744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42"/>
          <p:cNvGrpSpPr/>
          <p:nvPr/>
        </p:nvGrpSpPr>
        <p:grpSpPr>
          <a:xfrm>
            <a:off x="5497060" y="6118844"/>
            <a:ext cx="3523479" cy="646331"/>
            <a:chOff x="5497060" y="6118844"/>
            <a:chExt cx="3523479" cy="646331"/>
          </a:xfrm>
        </p:grpSpPr>
        <p:sp>
          <p:nvSpPr>
            <p:cNvPr id="479" name="Google Shape;479;p42"/>
            <p:cNvSpPr txBox="1"/>
            <p:nvPr/>
          </p:nvSpPr>
          <p:spPr>
            <a:xfrm>
              <a:off x="6680860" y="6118844"/>
              <a:ext cx="2339679" cy="6463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2082" t="-7545" b="-150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0" name="Google Shape;480;p42"/>
            <p:cNvCxnSpPr>
              <a:stCxn id="479" idx="1"/>
            </p:cNvCxnSpPr>
            <p:nvPr/>
          </p:nvCxnSpPr>
          <p:spPr>
            <a:xfrm rot="10800000">
              <a:off x="5497060" y="6262610"/>
              <a:ext cx="1183800" cy="1794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1" name="Google Shape;481;p42"/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p:sp>
          <p:nvSpPr>
            <p:cNvPr id="482" name="Google Shape;482;p42"/>
            <p:cNvSpPr txBox="1"/>
            <p:nvPr/>
          </p:nvSpPr>
          <p:spPr>
            <a:xfrm>
              <a:off x="6631969" y="4519602"/>
              <a:ext cx="1921488" cy="64633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2530" t="-6601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3" name="Google Shape;483;p42"/>
            <p:cNvCxnSpPr/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4" name="Google Shape;484;p42"/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p:sp>
          <p:nvSpPr>
            <p:cNvPr id="485" name="Google Shape;485;p42"/>
            <p:cNvSpPr txBox="1"/>
            <p:nvPr/>
          </p:nvSpPr>
          <p:spPr>
            <a:xfrm>
              <a:off x="1293299" y="3773951"/>
              <a:ext cx="2020426" cy="64633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2408" t="-6601" r="-2409" b="-1509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486" name="Google Shape;486;p42"/>
            <p:cNvCxnSpPr/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noFill/>
            <a:ln w="12700" cap="rnd" cmpd="sng">
              <a:solidFill>
                <a:srgbClr val="F0837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7" name="Google Shape;487;p42"/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488" name="Google Shape;488;p42"/>
            <p:cNvSpPr txBox="1"/>
            <p:nvPr/>
          </p:nvSpPr>
          <p:spPr>
            <a:xfrm>
              <a:off x="5530910" y="4655987"/>
              <a:ext cx="2148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左右で同じ面積</a:t>
              </a:r>
              <a:endParaRPr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（手順②）</a:t>
              </a:r>
              <a:endParaRPr/>
            </a:p>
          </p:txBody>
        </p:sp>
        <p:cxnSp>
          <p:nvCxnSpPr>
            <p:cNvPr id="489" name="Google Shape;489;p42"/>
            <p:cNvCxnSpPr/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90" name="Google Shape;490;p42"/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565-D014-2D3B-9BD9-62D4147C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248DD-F22F-5F38-6CB5-F944A83E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FDC970-C4F6-748A-DE59-6B000E94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000" dirty="0"/>
                  <a:t>例</a:t>
                </a:r>
                <a:r>
                  <a:rPr kumimoji="1" lang="en-US" altLang="ja-JP" sz="2000" dirty="0"/>
                  <a:t>2</a:t>
                </a:r>
                <a:r>
                  <a:rPr kumimoji="1" lang="ja-JP" altLang="en-US" sz="2000" dirty="0"/>
                  <a:t>）</a:t>
                </a:r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ja-JP" altLang="en-US" sz="2000" dirty="0"/>
                  <a:t>のとき，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ja-JP" altLang="en-US" sz="2000" dirty="0"/>
                  <a:t>となる</a:t>
                </a:r>
                <a:br>
                  <a:rPr lang="en-US" altLang="ja-JP" sz="2000" dirty="0"/>
                </a:br>
                <a:r>
                  <a:rPr lang="ja-JP" altLang="en-US" sz="20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を求めたい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手順①　確率の合計は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なので，両端の確率の合計は</a:t>
                </a:r>
                <a:r>
                  <a:rPr lang="en-US" altLang="ja-JP" sz="2000" dirty="0"/>
                  <a:t>0.1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1−0.90=0.10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:r>
                  <a:rPr lang="en-US" altLang="ja-JP" sz="2000" dirty="0"/>
                  <a:t>t</a:t>
                </a:r>
                <a:r>
                  <a:rPr lang="ja-JP" altLang="en-US" sz="2000" dirty="0"/>
                  <a:t>分布は左右対称なので，左端と右端の面積は等しい</a:t>
                </a:r>
                <a:endParaRPr lang="en-US" altLang="ja-JP" sz="2000" dirty="0"/>
              </a:p>
              <a:p>
                <a:pPr lvl="2"/>
                <a:r>
                  <a:rPr lang="ja-JP" altLang="en-US" sz="1600" b="0" dirty="0"/>
                  <a:t>上側確率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×0.1=0.05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を表から読み取る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 t="-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507B03-68D2-4A99-A2FA-3F218073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238" y="3827282"/>
            <a:ext cx="4573524" cy="2744724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B8CD6AD-C63D-125E-7F91-794CCA832D0E}"/>
              </a:ext>
            </a:extLst>
          </p:cNvPr>
          <p:cNvGrpSpPr/>
          <p:nvPr/>
        </p:nvGrpSpPr>
        <p:grpSpPr>
          <a:xfrm>
            <a:off x="5497033" y="6118844"/>
            <a:ext cx="3523506" cy="646331"/>
            <a:chOff x="5497033" y="6118844"/>
            <a:chExt cx="352350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/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a14:m>
                  <a:endParaRPr kumimoji="1" lang="en-US" altLang="ja-JP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083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F2517951-3333-46FE-4A12-2AB56E77D5F9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497033" y="6262577"/>
              <a:ext cx="1183827" cy="17943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491A7A9-C559-811B-28CD-FEC3E912CBE0}"/>
              </a:ext>
            </a:extLst>
          </p:cNvPr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b="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両端の合計は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a14:m>
                  <a:endParaRPr kumimoji="1" lang="en-US" altLang="ja-JP" sz="1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tx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（手順①）</a:t>
                  </a:r>
                  <a:endParaRPr kumimoji="1" lang="ja-JP" altLang="en-US" sz="1800" dirty="0">
                    <a:solidFill>
                      <a:schemeClr val="tx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532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01894C4-89F6-6431-04DE-BD6499CA9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C0D2BCA-7006-2D4D-EDE7-5821308740FA}"/>
              </a:ext>
            </a:extLst>
          </p:cNvPr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sz="1800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a14:m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sz="1800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sz="180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1B47330F-3B23-3ED3-2A01-38726CC3A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4007E65-5E3A-704F-5E0B-C6E9DFDA4CCF}"/>
              </a:ext>
            </a:extLst>
          </p:cNvPr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FD428E9-4A48-1216-919F-C904BC7998ED}"/>
                </a:ext>
              </a:extLst>
            </p:cNvPr>
            <p:cNvSpPr txBox="1"/>
            <p:nvPr/>
          </p:nvSpPr>
          <p:spPr>
            <a:xfrm>
              <a:off x="5530910" y="4655987"/>
              <a:ext cx="17748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b="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左右で同じ面積</a:t>
              </a:r>
              <a:endParaRPr kumimoji="1" lang="en-US" altLang="ja-JP" sz="1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（手順②）</a:t>
              </a:r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E39185A8-2F6F-F3B0-A0BC-17EBD7887188}"/>
                </a:ext>
              </a:extLst>
            </p:cNvPr>
            <p:cNvCxnSpPr>
              <a:cxnSpLocks/>
            </p:cNvCxnSpPr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0ADD9DF-6FE3-6485-2D8E-E8498162E119}"/>
              </a:ext>
            </a:extLst>
          </p:cNvPr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0.90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09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３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カイ二乗分布</a:t>
            </a:r>
            <a:endParaRPr dirty="0"/>
          </a:p>
        </p:txBody>
      </p:sp>
      <p:sp>
        <p:nvSpPr>
          <p:cNvPr id="496" name="Google Shape;496;p4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E26A-539F-9D5C-CED8-CBBA6B7C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9DB48-93BC-5D23-A597-F5A4C0FA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カイ二乗分布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D789CA7-CEFE-986E-19C9-E3A466C3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カイ二乗分布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chi-squared distribution</a:t>
                </a:r>
              </a:p>
              <a:p>
                <a:pPr lvl="1"/>
                <a:r>
                  <a:rPr lang="ja-JP" altLang="en-US" sz="2000" dirty="0"/>
                  <a:t>独立に標準正規分布に従う確率変数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の平方和を表す分布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左右非対称</a:t>
                </a:r>
                <a:r>
                  <a:rPr lang="ja-JP" altLang="en-US" sz="2000" dirty="0"/>
                  <a:t>．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自由度が大きくなるほど，左右対称になっていく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図 9">
            <a:extLst>
              <a:ext uri="{FF2B5EF4-FFF2-40B4-BE49-F238E27FC236}">
                <a16:creationId xmlns:a16="http://schemas.microsoft.com/office/drawing/2014/main" id="{8E96D235-B428-D5FD-D9DC-46493596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BADF27D9-ACB9-FD49-EB32-B7512269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C5239E05-714D-0927-DEE6-896E999FA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Summary</a:t>
            </a:r>
            <a:endParaRPr dirty="0"/>
          </a:p>
        </p:txBody>
      </p:sp>
      <p:sp>
        <p:nvSpPr>
          <p:cNvPr id="74" name="Google Shape;74;p2">
            <a:extLst>
              <a:ext uri="{FF2B5EF4-FFF2-40B4-BE49-F238E27FC236}">
                <a16:creationId xmlns:a16="http://schemas.microsoft.com/office/drawing/2014/main" id="{20A1ED86-219E-CF81-C077-CEFBF5B66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altLang="en-US" dirty="0"/>
              <a:t>標本と標本平均の性質・中心極限定理</a:t>
            </a:r>
            <a:endParaRPr lang="en-US" altLang="ja-JP"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t分布とその特徴について理解する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>
                <a:solidFill>
                  <a:schemeClr val="accent5"/>
                </a:solidFill>
              </a:rPr>
              <a:t>自由度が大きくなると，標準正規分布に近似する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カイ二乗分布とその特徴について理解する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/>
              <a:t>左右非対称，自由度が大きくなると左右対称に近づく</a:t>
            </a:r>
            <a:endParaRPr lang="en-US" altLang="ja-JP" dirty="0"/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96BF9781-0569-65AA-0E5A-50C2D0A440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922641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1422</Words>
  <Application>Microsoft Office PowerPoint</Application>
  <PresentationFormat>画面に合わせる (4:3)</PresentationFormat>
  <Paragraphs>224</Paragraphs>
  <Slides>24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2" baseType="lpstr">
      <vt:lpstr>Arial</vt:lpstr>
      <vt:lpstr>Impact</vt:lpstr>
      <vt:lpstr>Gill Sans</vt:lpstr>
      <vt:lpstr>HG丸ｺﾞｼｯｸM-PRO</vt:lpstr>
      <vt:lpstr>Cambria Math</vt:lpstr>
      <vt:lpstr>Noto Sans Symbols</vt:lpstr>
      <vt:lpstr>BIZ UDPゴシック</vt:lpstr>
      <vt:lpstr>配当</vt:lpstr>
      <vt:lpstr>確率分布：連続確率分布 後半</vt:lpstr>
      <vt:lpstr>今日の目標</vt:lpstr>
      <vt:lpstr>PowerPoint プレゼンテーション</vt:lpstr>
      <vt:lpstr>推測統計学のプロセス</vt:lpstr>
      <vt:lpstr>標本 </vt:lpstr>
      <vt:lpstr>中心極限定理</vt:lpstr>
      <vt:lpstr>正規分布の標本</vt:lpstr>
      <vt:lpstr>PowerPoint プレゼンテーション</vt:lpstr>
      <vt:lpstr>t分布</vt:lpstr>
      <vt:lpstr>自由度</vt:lpstr>
      <vt:lpstr>標本不偏分散</vt:lpstr>
      <vt:lpstr>t分布</vt:lpstr>
      <vt:lpstr>t分布の形状</vt:lpstr>
      <vt:lpstr>PowerPoint プレゼンテーション</vt:lpstr>
      <vt:lpstr>t分布表</vt:lpstr>
      <vt:lpstr>標準正規分布表との違い</vt:lpstr>
      <vt:lpstr>t分布表の読み方①</vt:lpstr>
      <vt:lpstr>（補足１）t分布表の読み方①</vt:lpstr>
      <vt:lpstr>（補足２）t分布表の読み方①</vt:lpstr>
      <vt:lpstr>t分布表の読み方④</vt:lpstr>
      <vt:lpstr>t分布表の読み方④</vt:lpstr>
      <vt:lpstr>PowerPoint プレゼンテーション</vt:lpstr>
      <vt:lpstr>カイ二乗分布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津村幸治</cp:lastModifiedBy>
  <cp:revision>69</cp:revision>
  <dcterms:created xsi:type="dcterms:W3CDTF">2025-03-03T09:28:12Z</dcterms:created>
  <dcterms:modified xsi:type="dcterms:W3CDTF">2026-09-13T07:20:17Z</dcterms:modified>
</cp:coreProperties>
</file>