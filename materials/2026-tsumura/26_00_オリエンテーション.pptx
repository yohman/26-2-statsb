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8"/>
  </p:notesMasterIdLst>
  <p:sldIdLst>
    <p:sldId id="256" r:id="rId2"/>
    <p:sldId id="265" r:id="rId3"/>
    <p:sldId id="266" r:id="rId4"/>
    <p:sldId id="264" r:id="rId5"/>
    <p:sldId id="267" r:id="rId6"/>
    <p:sldId id="26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DF2151-4D44-4F0D-A3B4-FCA02F50CD36}" v="1" dt="2026-08-31T06:54:46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8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5D11F4CF-0B2B-4A29-877A-0D09A59EC514}"/>
    <pc:docChg chg="modSld">
      <pc:chgData name="須永大介" userId="afee7028-08f7-45fb-b56f-efe6c4357b09" providerId="ADAL" clId="{5D11F4CF-0B2B-4A29-877A-0D09A59EC514}" dt="2026-08-31T06:55:16.518" v="88" actId="6549"/>
      <pc:docMkLst>
        <pc:docMk/>
      </pc:docMkLst>
      <pc:sldChg chg="modSp mod">
        <pc:chgData name="須永大介" userId="afee7028-08f7-45fb-b56f-efe6c4357b09" providerId="ADAL" clId="{5D11F4CF-0B2B-4A29-877A-0D09A59EC514}" dt="2026-08-31T06:54:46.283" v="48"/>
        <pc:sldMkLst>
          <pc:docMk/>
          <pc:sldMk cId="2915099018" sldId="265"/>
        </pc:sldMkLst>
        <pc:spChg chg="mod">
          <ac:chgData name="須永大介" userId="afee7028-08f7-45fb-b56f-efe6c4357b09" providerId="ADAL" clId="{5D11F4CF-0B2B-4A29-877A-0D09A59EC514}" dt="2026-08-31T06:54:46.283" v="48"/>
          <ac:spMkLst>
            <pc:docMk/>
            <pc:sldMk cId="2915099018" sldId="265"/>
            <ac:spMk id="3" creationId="{C1F0DD5E-A958-F1D2-3F12-7CEBBAE9246A}"/>
          </ac:spMkLst>
        </pc:spChg>
      </pc:sldChg>
      <pc:sldChg chg="modSp mod">
        <pc:chgData name="須永大介" userId="afee7028-08f7-45fb-b56f-efe6c4357b09" providerId="ADAL" clId="{5D11F4CF-0B2B-4A29-877A-0D09A59EC514}" dt="2026-08-31T06:55:16.518" v="88" actId="6549"/>
        <pc:sldMkLst>
          <pc:docMk/>
          <pc:sldMk cId="3213774626" sldId="266"/>
        </pc:sldMkLst>
        <pc:spChg chg="mod">
          <ac:chgData name="須永大介" userId="afee7028-08f7-45fb-b56f-efe6c4357b09" providerId="ADAL" clId="{5D11F4CF-0B2B-4A29-877A-0D09A59EC514}" dt="2026-08-31T06:55:16.518" v="88" actId="6549"/>
          <ac:spMkLst>
            <pc:docMk/>
            <pc:sldMk cId="3213774626" sldId="266"/>
            <ac:spMk id="3" creationId="{B9420E53-543F-7622-9443-727BBE6D23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26" r:id="rId8"/>
    <p:sldLayoutId id="2147483727" r:id="rId9"/>
    <p:sldLayoutId id="2147483729" r:id="rId1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www.jikkyo.co.jp/book/detail/24500030/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ites.google.com/reitaku-u.ac.jp/istudio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#00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統計学の授業について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1D53-4C23-7A94-0E08-A62931025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AFC297-B300-E28B-ECF1-02059603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履修クラスの確認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F0DD5E-A958-F1D2-3F12-7CEBBAE92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このクラスは</a:t>
            </a:r>
            <a:br>
              <a:rPr lang="en-US" altLang="ja-JP" dirty="0"/>
            </a:br>
            <a:r>
              <a:rPr kumimoji="1" lang="ja-JP" altLang="en-US" sz="4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統計学　</a:t>
            </a:r>
            <a:r>
              <a:rPr kumimoji="1" lang="en-US" altLang="ja-JP" sz="4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【</a:t>
            </a:r>
            <a:r>
              <a:rPr lang="ja-JP" altLang="en-US" sz="4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</a:t>
            </a:r>
            <a:r>
              <a:rPr kumimoji="1" lang="ja-JP" altLang="en-US" sz="4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学部</a:t>
            </a:r>
            <a:r>
              <a:rPr kumimoji="1" lang="en-US" altLang="ja-JP" sz="4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】</a:t>
            </a:r>
            <a:r>
              <a:rPr kumimoji="1" lang="ja-JP" altLang="en-US" sz="4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　〇クラス</a:t>
            </a:r>
            <a:br>
              <a:rPr kumimoji="1" lang="en-US" altLang="ja-JP" sz="4000" b="1" dirty="0"/>
            </a:br>
            <a:r>
              <a:rPr kumimoji="1" lang="ja-JP" altLang="en-US" dirty="0"/>
              <a:t>（担当教員：〇〇／秋セメ：水曜</a:t>
            </a:r>
            <a:r>
              <a:rPr kumimoji="1" lang="en-US" altLang="ja-JP" dirty="0"/>
              <a:t>2</a:t>
            </a:r>
            <a:r>
              <a:rPr kumimoji="1" lang="ja-JP" altLang="en-US" dirty="0"/>
              <a:t>限）</a:t>
            </a:r>
            <a:r>
              <a:rPr lang="ja-JP" altLang="en-US" dirty="0"/>
              <a:t>です．</a:t>
            </a:r>
            <a:endParaRPr lang="en-US" altLang="ja-JP" dirty="0"/>
          </a:p>
          <a:p>
            <a:pPr lvl="1"/>
            <a:r>
              <a:rPr kumimoji="1" lang="ja-JP" altLang="en-US" dirty="0"/>
              <a:t>自身の履修登録クラスをよく確認してください．</a:t>
            </a:r>
            <a:endParaRPr kumimoji="1" lang="en-US" altLang="ja-JP" dirty="0"/>
          </a:p>
          <a:p>
            <a:pPr lvl="2"/>
            <a:r>
              <a:rPr lang="ja-JP" altLang="en-US" dirty="0"/>
              <a:t>統計学は</a:t>
            </a:r>
            <a:br>
              <a:rPr lang="en-US" altLang="ja-JP" dirty="0"/>
            </a:br>
            <a:r>
              <a:rPr lang="en-US" altLang="ja-JP" dirty="0"/>
              <a:t>【</a:t>
            </a:r>
            <a:r>
              <a:rPr lang="ja-JP" altLang="en-US" dirty="0"/>
              <a:t>工学部</a:t>
            </a:r>
            <a:r>
              <a:rPr lang="en-US" altLang="ja-JP" dirty="0"/>
              <a:t>】【</a:t>
            </a:r>
            <a:r>
              <a:rPr lang="ja-JP" altLang="en-US" dirty="0"/>
              <a:t>経済学部</a:t>
            </a:r>
            <a:r>
              <a:rPr lang="en-US" altLang="ja-JP" dirty="0"/>
              <a:t>】【</a:t>
            </a:r>
            <a:r>
              <a:rPr lang="ja-JP" altLang="en-US" dirty="0"/>
              <a:t>麗澤スタンダード科目</a:t>
            </a:r>
            <a:r>
              <a:rPr lang="en-US" altLang="ja-JP" dirty="0"/>
              <a:t>】</a:t>
            </a:r>
            <a:r>
              <a:rPr lang="ja-JP" altLang="en-US" dirty="0"/>
              <a:t>など，</a:t>
            </a:r>
            <a:br>
              <a:rPr lang="en-US" altLang="ja-JP" dirty="0"/>
            </a:br>
            <a:r>
              <a:rPr lang="ja-JP" altLang="en-US" dirty="0"/>
              <a:t>複数のクラスが開講されています．</a:t>
            </a:r>
            <a:endParaRPr kumimoji="1" lang="en-US" altLang="ja-JP" dirty="0"/>
          </a:p>
          <a:p>
            <a:pPr lvl="1"/>
            <a:r>
              <a:rPr lang="ja-JP" altLang="en-US" b="1" dirty="0">
                <a:solidFill>
                  <a:schemeClr val="accent5"/>
                </a:solidFill>
              </a:rPr>
              <a:t>履修登録以外の他のクラスに出席しても，</a:t>
            </a:r>
            <a:br>
              <a:rPr lang="en-US" altLang="ja-JP" b="1" dirty="0">
                <a:solidFill>
                  <a:schemeClr val="accent5"/>
                </a:solidFill>
              </a:rPr>
            </a:br>
            <a:r>
              <a:rPr lang="ja-JP" altLang="en-US" b="1" dirty="0">
                <a:solidFill>
                  <a:schemeClr val="accent5"/>
                </a:solidFill>
              </a:rPr>
              <a:t>出席扱いになりません！</a:t>
            </a:r>
            <a:endParaRPr lang="en-US" altLang="ja-JP" b="1" dirty="0">
              <a:solidFill>
                <a:schemeClr val="accent5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E42863-0EDB-4B4D-085E-778F7D3F5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09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25E3-1D36-681F-5284-2B36902C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DB8C96-0685-4265-EFE3-B9C68281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Google Classroom</a:t>
            </a:r>
            <a:r>
              <a:rPr kumimoji="1" lang="ja-JP" altLang="en-US" dirty="0"/>
              <a:t>への登録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420E53-543F-7622-9443-727BBE6D2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締切やお知らせ，課題の提出などは</a:t>
            </a:r>
            <a:br>
              <a:rPr kumimoji="1" lang="en-US" altLang="ja-JP" dirty="0"/>
            </a:br>
            <a:r>
              <a:rPr kumimoji="1" lang="en-US" altLang="ja-JP" b="1" dirty="0">
                <a:solidFill>
                  <a:schemeClr val="accent5"/>
                </a:solidFill>
              </a:rPr>
              <a:t>UNIPA</a:t>
            </a:r>
            <a:r>
              <a:rPr kumimoji="1" lang="ja-JP" altLang="en-US" dirty="0"/>
              <a:t>を通じて行います．</a:t>
            </a:r>
            <a:endParaRPr kumimoji="1" lang="en-US" altLang="ja-JP" dirty="0"/>
          </a:p>
          <a:p>
            <a:pPr lvl="1"/>
            <a:r>
              <a:rPr lang="ja-JP" altLang="en-US" dirty="0"/>
              <a:t>かならず，</a:t>
            </a:r>
            <a:br>
              <a:rPr lang="en-US" altLang="ja-JP" dirty="0"/>
            </a:br>
            <a:r>
              <a:rPr lang="ja-JP" altLang="en-US" b="1" dirty="0">
                <a:solidFill>
                  <a:schemeClr val="accent5"/>
                </a:solidFill>
              </a:rPr>
              <a:t>自分の履修しているクラスの</a:t>
            </a:r>
            <a:r>
              <a:rPr lang="en-US" altLang="ja-JP" b="1" dirty="0">
                <a:solidFill>
                  <a:schemeClr val="accent5"/>
                </a:solidFill>
              </a:rPr>
              <a:t>UNIPA</a:t>
            </a:r>
            <a:r>
              <a:rPr lang="ja-JP" altLang="en-US" dirty="0"/>
              <a:t>を参照してください．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6F0475-1288-3038-0BAA-F555977E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774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C4DAA5-23DB-CBB2-57D0-75466A5C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教科書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6667510-D3F9-CBC6-F652-92FD63CF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1D5AF6-742B-7793-4B02-46F299E9BF3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ja-JP" altLang="en-US" dirty="0"/>
              <a:t>書名</a:t>
            </a:r>
            <a:endParaRPr kumimoji="1" lang="en-US" altLang="ja-JP" dirty="0"/>
          </a:p>
          <a:p>
            <a:pPr lvl="1">
              <a:buFont typeface="Wingdings" panose="05000000000000000000" pitchFamily="2" charset="2"/>
              <a:buChar char="p"/>
            </a:pPr>
            <a:r>
              <a:rPr kumimoji="1" lang="ja-JP" altLang="en-US" dirty="0"/>
              <a:t>文系のためのデータリテラシー</a:t>
            </a:r>
            <a:endParaRPr kumimoji="1" lang="en-US" altLang="ja-JP" dirty="0"/>
          </a:p>
          <a:p>
            <a:r>
              <a:rPr lang="ja-JP" altLang="en-US" dirty="0"/>
              <a:t>著者</a:t>
            </a:r>
            <a:endParaRPr kumimoji="1" lang="en-US" altLang="ja-JP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ja-JP" altLang="en-US" dirty="0"/>
              <a:t>新井・池川・宗・土田</a:t>
            </a:r>
            <a:endParaRPr lang="en-US" altLang="ja-JP" dirty="0"/>
          </a:p>
          <a:p>
            <a:r>
              <a:rPr lang="ja-JP" altLang="en-US" dirty="0"/>
              <a:t>発行元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p"/>
            </a:pPr>
            <a:r>
              <a:rPr kumimoji="1" lang="ja-JP" altLang="en-US" dirty="0"/>
              <a:t>実教出版</a:t>
            </a:r>
            <a:endParaRPr kumimoji="1" lang="en-US" altLang="ja-JP" dirty="0"/>
          </a:p>
          <a:p>
            <a:pPr lvl="2">
              <a:buFont typeface="Wingdings" panose="05000000000000000000" pitchFamily="2" charset="2"/>
              <a:buChar char="l"/>
            </a:pPr>
            <a:r>
              <a:rPr kumimoji="1" lang="en-US" altLang="ja-JP" dirty="0">
                <a:hlinkClick r:id="rId2"/>
              </a:rPr>
              <a:t>https://www.jikkyo.co.jp/book/detail/24500030/</a:t>
            </a:r>
            <a:endParaRPr kumimoji="1" lang="en-US" altLang="ja-JP" dirty="0"/>
          </a:p>
          <a:p>
            <a:r>
              <a:rPr kumimoji="1" lang="en-US" altLang="ja-JP" dirty="0"/>
              <a:t>ISBN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kumimoji="1" lang="en-US" altLang="ja-JP" dirty="0"/>
              <a:t>978-4-407-36466-8</a:t>
            </a:r>
          </a:p>
          <a:p>
            <a:r>
              <a:rPr lang="ja-JP" altLang="en-US" dirty="0"/>
              <a:t>定価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p"/>
            </a:pPr>
            <a:r>
              <a:rPr kumimoji="1" lang="en-US" altLang="ja-JP" dirty="0"/>
              <a:t>2,200</a:t>
            </a:r>
            <a:r>
              <a:rPr kumimoji="1" lang="ja-JP" altLang="en-US" dirty="0"/>
              <a:t>円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sz="1900" dirty="0"/>
              <a:t>【</a:t>
            </a:r>
            <a:r>
              <a:rPr lang="ja-JP" altLang="en-US" sz="1900" dirty="0"/>
              <a:t>統計学基礎</a:t>
            </a:r>
            <a:r>
              <a:rPr lang="en-US" altLang="ja-JP" sz="1900" dirty="0"/>
              <a:t>】</a:t>
            </a:r>
            <a:r>
              <a:rPr lang="ja-JP" altLang="en-US" sz="1900" dirty="0"/>
              <a:t>と同じ教科書です．</a:t>
            </a:r>
            <a:endParaRPr lang="en-US" altLang="ja-JP" sz="1900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FDEBCEA7-C134-41CE-5D3D-6D4286D6B8AA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59" y="960585"/>
            <a:ext cx="4074160" cy="5785307"/>
          </a:xfrm>
        </p:spPr>
      </p:pic>
    </p:spTree>
    <p:extLst>
      <p:ext uri="{BB962C8B-B14F-4D97-AF65-F5344CB8AC3E}">
        <p14:creationId xmlns:p14="http://schemas.microsoft.com/office/powerpoint/2010/main" val="25822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9B98-19AF-DAFA-259B-B67E9EB6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0BDEA0-4E87-2193-F0C5-DECD4F1F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PC</a:t>
            </a:r>
            <a:r>
              <a:rPr kumimoji="1" lang="ja-JP" altLang="en-US" dirty="0"/>
              <a:t>・電卓　必携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8079A2-0370-75E3-D7CC-837E6FC8A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授業時間内に演習等も</a:t>
            </a:r>
            <a:r>
              <a:rPr lang="ja-JP" altLang="en-US" dirty="0"/>
              <a:t>行います．</a:t>
            </a:r>
            <a:br>
              <a:rPr lang="en-US" altLang="ja-JP" dirty="0"/>
            </a:br>
            <a:r>
              <a:rPr kumimoji="1" lang="en-US" altLang="ja-JP" b="1" dirty="0">
                <a:solidFill>
                  <a:schemeClr val="accent5"/>
                </a:solidFill>
              </a:rPr>
              <a:t>BYOD</a:t>
            </a:r>
            <a:r>
              <a:rPr kumimoji="1" lang="ja-JP" altLang="en-US" b="1" dirty="0">
                <a:solidFill>
                  <a:schemeClr val="accent5"/>
                </a:solidFill>
              </a:rPr>
              <a:t>端末（</a:t>
            </a:r>
            <a:r>
              <a:rPr kumimoji="1" lang="en-US" altLang="ja-JP" b="1" dirty="0">
                <a:solidFill>
                  <a:schemeClr val="accent5"/>
                </a:solidFill>
              </a:rPr>
              <a:t>PC</a:t>
            </a:r>
            <a:r>
              <a:rPr kumimoji="1" lang="ja-JP" altLang="en-US" b="1" dirty="0">
                <a:solidFill>
                  <a:schemeClr val="accent5"/>
                </a:solidFill>
              </a:rPr>
              <a:t>）は毎回持参</a:t>
            </a:r>
            <a:r>
              <a:rPr kumimoji="1" lang="ja-JP" altLang="en-US" dirty="0"/>
              <a:t>してください．</a:t>
            </a:r>
            <a:endParaRPr kumimoji="1" lang="en-US" altLang="ja-JP" dirty="0"/>
          </a:p>
          <a:p>
            <a:r>
              <a:rPr lang="ja-JP" altLang="en-US" b="1" dirty="0">
                <a:solidFill>
                  <a:schemeClr val="accent5"/>
                </a:solidFill>
              </a:rPr>
              <a:t>電卓の使用も推奨</a:t>
            </a:r>
            <a:r>
              <a:rPr lang="ja-JP" altLang="en-US" dirty="0"/>
              <a:t>します．</a:t>
            </a:r>
            <a:endParaRPr lang="en-US" altLang="ja-JP" dirty="0"/>
          </a:p>
          <a:p>
            <a:pPr lvl="1"/>
            <a:r>
              <a:rPr kumimoji="1" lang="ja-JP" altLang="en-US" dirty="0"/>
              <a:t>授業時間内は</a:t>
            </a:r>
            <a:r>
              <a:rPr kumimoji="1" lang="en-US" altLang="ja-JP" dirty="0"/>
              <a:t>PC</a:t>
            </a:r>
            <a:r>
              <a:rPr kumimoji="1" lang="ja-JP" altLang="en-US" dirty="0"/>
              <a:t>，スマホの使用も可としますが，</a:t>
            </a:r>
            <a:br>
              <a:rPr kumimoji="1" lang="en-US" altLang="ja-JP" dirty="0"/>
            </a:br>
            <a:r>
              <a:rPr kumimoji="1" lang="ja-JP" altLang="en-US" b="1" dirty="0">
                <a:solidFill>
                  <a:schemeClr val="accent5"/>
                </a:solidFill>
              </a:rPr>
              <a:t>期末試験時は</a:t>
            </a:r>
            <a:r>
              <a:rPr kumimoji="1" lang="en-US" altLang="ja-JP" b="1" dirty="0">
                <a:solidFill>
                  <a:schemeClr val="accent5"/>
                </a:solidFill>
              </a:rPr>
              <a:t>PC</a:t>
            </a:r>
            <a:r>
              <a:rPr kumimoji="1" lang="ja-JP" altLang="en-US" b="1" dirty="0">
                <a:solidFill>
                  <a:schemeClr val="accent5"/>
                </a:solidFill>
              </a:rPr>
              <a:t>やスマホは使用できません</a:t>
            </a:r>
            <a:r>
              <a:rPr kumimoji="1" lang="ja-JP" altLang="en-US" dirty="0"/>
              <a:t>．</a:t>
            </a:r>
            <a:br>
              <a:rPr kumimoji="1" lang="en-US" altLang="ja-JP" dirty="0"/>
            </a:br>
            <a:r>
              <a:rPr kumimoji="1" lang="ja-JP" altLang="en-US" dirty="0"/>
              <a:t>（電卓のみ可）</a:t>
            </a:r>
            <a:endParaRPr kumimoji="1" lang="en-US" altLang="ja-JP" dirty="0"/>
          </a:p>
          <a:p>
            <a:pPr lvl="1"/>
            <a:r>
              <a:rPr lang="ja-JP" altLang="en-US" dirty="0"/>
              <a:t>授業時間内に電卓の使用に慣れておくことをお勧めします．</a:t>
            </a:r>
            <a:endParaRPr lang="en-US" altLang="ja-JP" dirty="0"/>
          </a:p>
          <a:p>
            <a:pPr lvl="2"/>
            <a:r>
              <a:rPr kumimoji="1" lang="ja-JP" altLang="en-US" dirty="0"/>
              <a:t>使い慣れていないと，計算に想定以上の時間がかかります</a:t>
            </a:r>
            <a:r>
              <a:rPr kumimoji="1" lang="en-US" altLang="ja-JP" dirty="0"/>
              <a:t>…</a:t>
            </a:r>
          </a:p>
          <a:p>
            <a:r>
              <a:rPr lang="ja-JP" altLang="en-US" dirty="0"/>
              <a:t>電卓は</a:t>
            </a:r>
            <a:r>
              <a:rPr lang="ja-JP" altLang="en-US" b="1" dirty="0">
                <a:solidFill>
                  <a:schemeClr val="accent5"/>
                </a:solidFill>
              </a:rPr>
              <a:t>√（ルート・平方根）がついているもの推奨</a:t>
            </a:r>
            <a:r>
              <a:rPr lang="ja-JP" altLang="en-US" dirty="0"/>
              <a:t>です．</a:t>
            </a:r>
            <a:endParaRPr lang="en-US" altLang="ja-JP" dirty="0"/>
          </a:p>
          <a:p>
            <a:pPr lvl="1"/>
            <a:r>
              <a:rPr kumimoji="1" lang="en-US" altLang="ja-JP" dirty="0"/>
              <a:t>BEE</a:t>
            </a:r>
            <a:r>
              <a:rPr kumimoji="1" lang="ja-JP" altLang="en-US" dirty="0"/>
              <a:t>棟書籍部にもありますし，</a:t>
            </a:r>
            <a:r>
              <a:rPr kumimoji="1" lang="en-US" altLang="ja-JP" dirty="0"/>
              <a:t>100</a:t>
            </a:r>
            <a:r>
              <a:rPr kumimoji="1" lang="ja-JP" altLang="en-US" dirty="0"/>
              <a:t>均でも買えます．</a:t>
            </a:r>
            <a:endParaRPr kumimoji="1" lang="en-US" altLang="ja-JP" dirty="0"/>
          </a:p>
          <a:p>
            <a:pPr lvl="1"/>
            <a:r>
              <a:rPr lang="ja-JP" altLang="en-US" dirty="0"/>
              <a:t>統計学基礎で使用したものをそのまま持参してくれれば</a:t>
            </a:r>
            <a:r>
              <a:rPr lang="en-US" altLang="ja-JP" dirty="0"/>
              <a:t>OK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A3857B-67B1-CA69-83B5-080F59E1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163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1BBF4-6261-FE4E-7CFB-D2E0471F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授業だけではついていけない</a:t>
            </a:r>
            <a:r>
              <a:rPr kumimoji="1" lang="en-US" altLang="ja-JP" dirty="0"/>
              <a:t>…</a:t>
            </a:r>
            <a:r>
              <a:rPr kumimoji="1" lang="ja-JP" altLang="en-US" dirty="0"/>
              <a:t>？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BF562A-0256-2EFA-5DCE-0BA3B182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D04B937-C7DA-DD7D-6020-6B687F7EA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さつき棟の</a:t>
            </a:r>
            <a:r>
              <a:rPr kumimoji="1" lang="en-US" altLang="ja-JP" dirty="0" err="1"/>
              <a:t>iStudio</a:t>
            </a:r>
            <a:r>
              <a:rPr kumimoji="1" lang="ja-JP" altLang="en-US" dirty="0"/>
              <a:t>を活用しよう！</a:t>
            </a:r>
            <a:endParaRPr kumimoji="1" lang="en-US" altLang="ja-JP" dirty="0"/>
          </a:p>
          <a:p>
            <a:pPr lvl="1"/>
            <a:r>
              <a:rPr kumimoji="1" lang="en-US" altLang="ja-JP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https://sites.google.com/reitaku-u.ac.jp/istudio</a:t>
            </a:r>
            <a:endParaRPr kumimoji="1" lang="en-US" altLang="ja-JP" dirty="0">
              <a:solidFill>
                <a:schemeClr val="accent5"/>
              </a:solidFill>
            </a:endParaRPr>
          </a:p>
          <a:p>
            <a:pPr lvl="1"/>
            <a:r>
              <a:rPr lang="en-US" altLang="ja-JP" dirty="0"/>
              <a:t>Place: </a:t>
            </a:r>
            <a:r>
              <a:rPr lang="ja-JP" altLang="en-US" dirty="0"/>
              <a:t>さつき棟</a:t>
            </a:r>
            <a:r>
              <a:rPr lang="en-US" altLang="ja-JP" dirty="0"/>
              <a:t>1</a:t>
            </a:r>
            <a:r>
              <a:rPr lang="ja-JP" altLang="en-US" dirty="0"/>
              <a:t>階（入って真正面なのですぐにわかります）</a:t>
            </a:r>
            <a:endParaRPr lang="en-US" altLang="ja-JP" dirty="0"/>
          </a:p>
          <a:p>
            <a:pPr lvl="1"/>
            <a:r>
              <a:rPr lang="en-US" altLang="ja-JP" dirty="0"/>
              <a:t>Open: </a:t>
            </a:r>
            <a:r>
              <a:rPr lang="ja-JP" altLang="en-US" dirty="0"/>
              <a:t>月～金　</a:t>
            </a:r>
            <a:r>
              <a:rPr lang="en-US" altLang="ja-JP" dirty="0"/>
              <a:t>13:00-18:00</a:t>
            </a:r>
          </a:p>
          <a:p>
            <a:pPr lvl="1"/>
            <a:r>
              <a:rPr kumimoji="1" lang="ja-JP" altLang="en-US" dirty="0"/>
              <a:t>チューターさんが個別指導で丁寧にフォローしてくれます．</a:t>
            </a:r>
            <a:endParaRPr kumimoji="1" lang="en-US" altLang="ja-JP" dirty="0"/>
          </a:p>
          <a:p>
            <a:pPr lvl="2"/>
            <a:r>
              <a:rPr lang="ja-JP" altLang="en-US" dirty="0"/>
              <a:t>「こんなこと聞くなんて恥ずかしい」</a:t>
            </a:r>
            <a:r>
              <a:rPr lang="en-US" altLang="ja-JP" dirty="0"/>
              <a:t>…</a:t>
            </a:r>
            <a:r>
              <a:rPr lang="ja-JP" altLang="en-US" dirty="0"/>
              <a:t>？</a:t>
            </a:r>
            <a:br>
              <a:rPr lang="en-US" altLang="ja-JP" dirty="0"/>
            </a:br>
            <a:r>
              <a:rPr lang="ja-JP" altLang="en-US" dirty="0"/>
              <a:t>とんでもない，みんな同じです</a:t>
            </a:r>
            <a:r>
              <a:rPr lang="en-US" altLang="ja-JP" dirty="0"/>
              <a:t>(</a:t>
            </a:r>
            <a:r>
              <a:rPr lang="ja-JP" altLang="en-US" dirty="0"/>
              <a:t>笑</a:t>
            </a:r>
            <a:r>
              <a:rPr lang="en-US" altLang="ja-JP" dirty="0"/>
              <a:t>)</a:t>
            </a:r>
          </a:p>
          <a:p>
            <a:pPr lvl="2"/>
            <a:r>
              <a:rPr kumimoji="1" lang="ja-JP" altLang="en-US" dirty="0"/>
              <a:t>特に推測統計学は，かなり難しいので，</a:t>
            </a:r>
            <a:br>
              <a:rPr kumimoji="1" lang="en-US" altLang="ja-JP" dirty="0"/>
            </a:br>
            <a:r>
              <a:rPr kumimoji="1" lang="ja-JP" altLang="en-US" dirty="0"/>
              <a:t>授業だけでは心配</a:t>
            </a:r>
            <a:r>
              <a:rPr kumimoji="1" lang="en-US" altLang="ja-JP" dirty="0"/>
              <a:t>…</a:t>
            </a:r>
            <a:r>
              <a:rPr kumimoji="1" lang="ja-JP" altLang="en-US" dirty="0"/>
              <a:t>という方はぜひ</a:t>
            </a:r>
            <a:br>
              <a:rPr kumimoji="1" lang="en-US" altLang="ja-JP" dirty="0"/>
            </a:br>
            <a:r>
              <a:rPr kumimoji="1" lang="ja-JP" altLang="en-US" strike="sngStrike" dirty="0">
                <a:solidFill>
                  <a:schemeClr val="tx2">
                    <a:lumMod val="40000"/>
                    <a:lumOff val="60000"/>
                  </a:schemeClr>
                </a:solidFill>
              </a:rPr>
              <a:t>遊びに</a:t>
            </a:r>
            <a:r>
              <a:rPr kumimoji="1" lang="ja-JP" altLang="en-US" dirty="0"/>
              <a:t>行ってみてください．</a:t>
            </a:r>
            <a:endParaRPr kumimoji="1" lang="en-US" altLang="ja-JP" dirty="0"/>
          </a:p>
          <a:p>
            <a:pPr lvl="1"/>
            <a:r>
              <a:rPr lang="ja-JP" altLang="en-US" dirty="0"/>
              <a:t>予約は↑</a:t>
            </a:r>
            <a:r>
              <a:rPr lang="en-US" altLang="ja-JP" dirty="0"/>
              <a:t>web</a:t>
            </a:r>
            <a:r>
              <a:rPr lang="ja-JP" altLang="en-US" dirty="0"/>
              <a:t>サイトから</a:t>
            </a:r>
            <a:br>
              <a:rPr lang="en-US" altLang="ja-JP" dirty="0"/>
            </a:br>
            <a:r>
              <a:rPr lang="ja-JP" altLang="en-US" dirty="0"/>
              <a:t>オンラインでできます．</a:t>
            </a:r>
            <a:endParaRPr lang="en-US" altLang="ja-JP" dirty="0"/>
          </a:p>
          <a:p>
            <a:pPr lvl="2"/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0C127E8-1596-517D-ECFE-10BC825A2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0" y="3581205"/>
            <a:ext cx="2702664" cy="312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69265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123</TotalTime>
  <Words>434</Words>
  <Application>Microsoft Office PowerPoint</Application>
  <PresentationFormat>画面に合わせる (4:3)</PresentationFormat>
  <Paragraphs>46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Meiryo UI</vt:lpstr>
      <vt:lpstr>游ゴシック</vt:lpstr>
      <vt:lpstr>Impact</vt:lpstr>
      <vt:lpstr>Wingdings</vt:lpstr>
      <vt:lpstr>Wingdings 2</vt:lpstr>
      <vt:lpstr>配当</vt:lpstr>
      <vt:lpstr>統計学の授業について</vt:lpstr>
      <vt:lpstr>履修クラスの確認</vt:lpstr>
      <vt:lpstr>Google Classroomへの登録</vt:lpstr>
      <vt:lpstr>教科書</vt:lpstr>
      <vt:lpstr>PC・電卓　必携</vt:lpstr>
      <vt:lpstr>授業だけではついていけない…？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16</cp:revision>
  <dcterms:created xsi:type="dcterms:W3CDTF">2025-03-03T09:28:12Z</dcterms:created>
  <dcterms:modified xsi:type="dcterms:W3CDTF">2026-08-31T06:55:22Z</dcterms:modified>
</cp:coreProperties>
</file>