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6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526" r:id="rId9"/>
    <p:sldId id="528" r:id="rId10"/>
    <p:sldId id="584" r:id="rId11"/>
    <p:sldId id="585" r:id="rId12"/>
    <p:sldId id="586" r:id="rId13"/>
    <p:sldId id="587" r:id="rId14"/>
    <p:sldId id="588" r:id="rId15"/>
    <p:sldId id="589" r:id="rId16"/>
    <p:sldId id="590" r:id="rId17"/>
    <p:sldId id="529" r:id="rId18"/>
    <p:sldId id="288" r:id="rId19"/>
    <p:sldId id="286" r:id="rId20"/>
    <p:sldId id="289" r:id="rId21"/>
    <p:sldId id="291" r:id="rId22"/>
    <p:sldId id="292" r:id="rId23"/>
    <p:sldId id="542" r:id="rId24"/>
    <p:sldId id="530" r:id="rId25"/>
    <p:sldId id="531" r:id="rId26"/>
    <p:sldId id="532" r:id="rId27"/>
    <p:sldId id="533" r:id="rId28"/>
    <p:sldId id="535" r:id="rId29"/>
    <p:sldId id="534" r:id="rId30"/>
    <p:sldId id="543" r:id="rId31"/>
    <p:sldId id="536" r:id="rId32"/>
    <p:sldId id="537" r:id="rId33"/>
    <p:sldId id="538" r:id="rId34"/>
    <p:sldId id="539" r:id="rId35"/>
    <p:sldId id="541" r:id="rId36"/>
    <p:sldId id="540" r:id="rId37"/>
    <p:sldId id="544" r:id="rId38"/>
    <p:sldId id="572" r:id="rId39"/>
    <p:sldId id="557" r:id="rId40"/>
    <p:sldId id="559" r:id="rId41"/>
    <p:sldId id="560" r:id="rId42"/>
    <p:sldId id="573" r:id="rId43"/>
    <p:sldId id="262" r:id="rId44"/>
    <p:sldId id="582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B49E5-CBC4-42E0-A681-BA90FFED392B}" v="3" dt="2026-08-31T10:45:41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0" d="100"/>
          <a:sy n="100" d="100"/>
        </p:scale>
        <p:origin x="4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modSld">
      <pc:chgData name="須永大介" userId="afee7028-08f7-45fb-b56f-efe6c4357b09" providerId="ADAL" clId="{5D11F4CF-0B2B-4A29-877A-0D09A59EC514}" dt="2026-08-31T07:13:51.086" v="2" actId="6549"/>
      <pc:docMkLst>
        <pc:docMk/>
      </pc:docMkLst>
      <pc:sldChg chg="modSp mod">
        <pc:chgData name="須永大介" userId="afee7028-08f7-45fb-b56f-efe6c4357b09" providerId="ADAL" clId="{5D11F4CF-0B2B-4A29-877A-0D09A59EC514}" dt="2026-08-31T07:13:51.086" v="2" actId="6549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3:51.086" v="2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13:48.291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  <pc:docChgLst>
    <pc:chgData name="須永大介" userId="afee7028-08f7-45fb-b56f-efe6c4357b09" providerId="ADAL" clId="{3322EB53-9E6C-499E-B527-F2AD79E593A6}"/>
    <pc:docChg chg="custSel addSld modSld sldOrd">
      <pc:chgData name="須永大介" userId="afee7028-08f7-45fb-b56f-efe6c4357b09" providerId="ADAL" clId="{3322EB53-9E6C-499E-B527-F2AD79E593A6}" dt="2026-08-31T10:47:07.888" v="13" actId="6549"/>
      <pc:docMkLst>
        <pc:docMk/>
      </pc:docMkLst>
      <pc:sldChg chg="modSp mod">
        <pc:chgData name="須永大介" userId="afee7028-08f7-45fb-b56f-efe6c4357b09" providerId="ADAL" clId="{3322EB53-9E6C-499E-B527-F2AD79E593A6}" dt="2026-08-31T10:47:07.888" v="13" actId="6549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7:07.888" v="13" actId="6549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3322EB53-9E6C-499E-B527-F2AD79E593A6}" dt="2026-08-31T10:43:59.798" v="6"/>
        <pc:sldMkLst>
          <pc:docMk/>
          <pc:sldMk cId="2665934821" sldId="257"/>
        </pc:sldMkLst>
        <pc:spChg chg="mod">
          <ac:chgData name="須永大介" userId="afee7028-08f7-45fb-b56f-efe6c4357b09" providerId="ADAL" clId="{3322EB53-9E6C-499E-B527-F2AD79E593A6}" dt="2026-08-31T10:43:59.798" v="6"/>
          <ac:spMkLst>
            <pc:docMk/>
            <pc:sldMk cId="2665934821" sldId="257"/>
            <ac:spMk id="3" creationId="{84B4E2AA-11BC-DBCD-1944-8884E00DB2DF}"/>
          </ac:spMkLst>
        </pc:spChg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976068272" sldId="54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647596211" sldId="55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125169125" sldId="55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584336981" sldId="56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29113631" sldId="56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3023482" sldId="57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27866750" sldId="573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781736262" sldId="57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59888006" sldId="575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6088276" sldId="576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94341482" sldId="57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323990542" sldId="578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6590518" sldId="57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625475652" sldId="58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577159143" sldId="581"/>
        </pc:sldMkLst>
      </pc:sldChg>
      <pc:sldChg chg="modSp add mod ord">
        <pc:chgData name="須永大介" userId="afee7028-08f7-45fb-b56f-efe6c4357b09" providerId="ADAL" clId="{3322EB53-9E6C-499E-B527-F2AD79E593A6}" dt="2026-08-31T10:45:57.179" v="10" actId="6549"/>
        <pc:sldMkLst>
          <pc:docMk/>
          <pc:sldMk cId="2069596053" sldId="582"/>
        </pc:sldMkLst>
        <pc:spChg chg="mod">
          <ac:chgData name="須永大介" userId="afee7028-08f7-45fb-b56f-efe6c4357b09" providerId="ADAL" clId="{3322EB53-9E6C-499E-B527-F2AD79E593A6}" dt="2026-08-31T10:45:57.179" v="10" actId="6549"/>
          <ac:spMkLst>
            <pc:docMk/>
            <pc:sldMk cId="2069596053" sldId="582"/>
            <ac:spMk id="3" creationId="{500A9993-40CE-C98B-497A-776470BC86E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rais\Desktop\02_AL&#29992;&#12527;&#12540;&#12463;&#12471;&#12540;&#12488;_&#35299;&#31572;&#20837;&#1242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73004028566197"/>
          <c:y val="4.49438202247191E-2"/>
          <c:w val="0.80703740157480308"/>
          <c:h val="0.767402379094850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演習用ワークシート_解答!$E$7:$E$18</c:f>
              <c:numCache>
                <c:formatCode>General</c:formatCode>
                <c:ptCount val="12"/>
                <c:pt idx="0">
                  <c:v>5.7</c:v>
                </c:pt>
                <c:pt idx="1">
                  <c:v>7.3</c:v>
                </c:pt>
                <c:pt idx="2">
                  <c:v>12.9</c:v>
                </c:pt>
                <c:pt idx="3">
                  <c:v>16.3</c:v>
                </c:pt>
                <c:pt idx="4">
                  <c:v>19</c:v>
                </c:pt>
                <c:pt idx="5">
                  <c:v>23.2</c:v>
                </c:pt>
                <c:pt idx="6">
                  <c:v>28.7</c:v>
                </c:pt>
                <c:pt idx="7">
                  <c:v>29.2</c:v>
                </c:pt>
                <c:pt idx="8">
                  <c:v>26.7</c:v>
                </c:pt>
                <c:pt idx="9">
                  <c:v>18.899999999999999</c:v>
                </c:pt>
                <c:pt idx="10">
                  <c:v>14.4</c:v>
                </c:pt>
                <c:pt idx="11">
                  <c:v>9.4</c:v>
                </c:pt>
              </c:numCache>
            </c:numRef>
          </c:xVal>
          <c:yVal>
            <c:numRef>
              <c:f>演習用ワークシート_解答!$D$7:$D$18</c:f>
              <c:numCache>
                <c:formatCode>General</c:formatCode>
                <c:ptCount val="12"/>
                <c:pt idx="0">
                  <c:v>550</c:v>
                </c:pt>
                <c:pt idx="1">
                  <c:v>500</c:v>
                </c:pt>
                <c:pt idx="2">
                  <c:v>665</c:v>
                </c:pt>
                <c:pt idx="3">
                  <c:v>797</c:v>
                </c:pt>
                <c:pt idx="4">
                  <c:v>1063</c:v>
                </c:pt>
                <c:pt idx="5">
                  <c:v>1142</c:v>
                </c:pt>
                <c:pt idx="6">
                  <c:v>1688</c:v>
                </c:pt>
                <c:pt idx="7">
                  <c:v>1710</c:v>
                </c:pt>
                <c:pt idx="8">
                  <c:v>1234</c:v>
                </c:pt>
                <c:pt idx="9">
                  <c:v>823</c:v>
                </c:pt>
                <c:pt idx="10">
                  <c:v>682</c:v>
                </c:pt>
                <c:pt idx="11">
                  <c:v>724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26-43DE-A1E3-2E200CFC4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6554768"/>
        <c:axId val="526526448"/>
      </c:scatterChart>
      <c:valAx>
        <c:axId val="526554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演習用ワークシート_解答!$E$5</c:f>
              <c:strCache>
                <c:ptCount val="1"/>
                <c:pt idx="0">
                  <c:v>気温</c:v>
                </c:pt>
              </c:strCache>
            </c:strRef>
          </c:tx>
          <c:layout>
            <c:manualLayout>
              <c:xMode val="edge"/>
              <c:yMode val="edge"/>
              <c:x val="0.91462071964841585"/>
              <c:y val="0.903043922369765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26448"/>
        <c:crosses val="autoZero"/>
        <c:crossBetween val="midCat"/>
      </c:valAx>
      <c:valAx>
        <c:axId val="52652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演習用ワークシート_解答!$D$6</c:f>
              <c:strCache>
                <c:ptCount val="1"/>
                <c:pt idx="0">
                  <c:v>支出金額</c:v>
                </c:pt>
              </c:strCache>
            </c:strRef>
          </c:tx>
          <c:layout>
            <c:manualLayout>
              <c:xMode val="edge"/>
              <c:yMode val="edge"/>
              <c:x val="1.4534883720930232E-2"/>
              <c:y val="2.210772683036683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54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82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C0D1-0265-3B67-20DE-04B5421A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6A2814-561B-5B4E-9F26-573748A54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B9DCC7-8E1A-6A9C-C22D-12B0B59BD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D52DD7-79CF-13ED-270E-694F51373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538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8DE1-1D63-B56D-C028-BBAEC53B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4E28C3A-8401-FE1F-38D9-CA900BBB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4F2D7A-53EB-68E3-F227-4B393E9EA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640EA8-0582-B67C-EE9D-E5073B789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511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D686-5C48-D3CF-028D-218655A4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B47001-7784-3318-24F4-8AEE76C77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7F75A50-9B9E-04CE-CA45-4CA3DCDF7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20EB6B-EC15-0EF3-AE03-92FAA86C5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07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0" y="2276872"/>
            <a:ext cx="4507732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3680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6921" y="2276872"/>
            <a:ext cx="4507200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2019/5/13</a:t>
            </a:r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4BC44-1CD2-4666-A5F4-A286043144F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7"/>
          <p:cNvSpPr>
            <a:spLocks noGrp="1"/>
          </p:cNvSpPr>
          <p:nvPr>
            <p:ph sz="quarter" idx="13"/>
          </p:nvPr>
        </p:nvSpPr>
        <p:spPr>
          <a:xfrm>
            <a:off x="0" y="692696"/>
            <a:ext cx="9143999" cy="1152128"/>
          </a:xfrm>
          <a:ln w="38100">
            <a:solidFill>
              <a:schemeClr val="tx1"/>
            </a:solidFill>
          </a:ln>
        </p:spPr>
        <p:txBody>
          <a:bodyPr anchor="ctr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029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  <p:sldLayoutId id="214748373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5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0.png"/><Relationship Id="rId5" Type="http://schemas.openxmlformats.org/officeDocument/2006/relationships/image" Target="../media/image210.png"/><Relationship Id="rId4" Type="http://schemas.openxmlformats.org/officeDocument/2006/relationships/image" Target="../media/image5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87095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sz="2700" dirty="0"/>
              <a:t>回帰分析とその他の代表的な分析手法</a:t>
            </a:r>
            <a:r>
              <a:rPr lang="en-US" altLang="ja-JP" sz="2700" dirty="0"/>
              <a:t>/</a:t>
            </a:r>
            <a:r>
              <a:rPr lang="ja-JP" altLang="en-US" sz="2700" dirty="0"/>
              <a:t>回帰分析の結果の解釈 前半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ja-JP" altLang="en-US" dirty="0"/>
              <a:t>相関関係と因果関係の違いを理解する</a:t>
            </a:r>
            <a:endParaRPr lang="en-US" altLang="ja-JP" dirty="0"/>
          </a:p>
          <a:p>
            <a:pPr lvl="1"/>
            <a:r>
              <a:rPr lang="ja-JP" altLang="en-US" dirty="0"/>
              <a:t>回帰分析について理解する</a:t>
            </a:r>
            <a:endParaRPr lang="en-US" altLang="ja-JP" dirty="0"/>
          </a:p>
          <a:p>
            <a:pPr lvl="1"/>
            <a:r>
              <a:rPr kumimoji="1" lang="en-US" altLang="ja-JP" dirty="0"/>
              <a:t>Excel</a:t>
            </a:r>
            <a:r>
              <a:rPr kumimoji="1" lang="ja-JP" altLang="en-US" dirty="0"/>
              <a:t>での単回帰分析を修得する</a:t>
            </a:r>
            <a:endParaRPr kumimoji="1"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：変数間の関係性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DFE95-A9B0-C1DC-8C9B-33AE745E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つのデータの間の関係性を考える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3080F3-BABE-0FAA-D2B8-EAEF697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D9BA9A-6049-2263-7A61-11566B9026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2137693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片方の変数が増えた</a:t>
            </a:r>
            <a:r>
              <a:rPr kumimoji="1" lang="ja-JP" altLang="en-US" dirty="0"/>
              <a:t>とき，</a:t>
            </a:r>
            <a:br>
              <a:rPr kumimoji="1" lang="en-US" altLang="ja-JP" dirty="0"/>
            </a:br>
            <a:r>
              <a:rPr kumimoji="1" lang="ja-JP" altLang="en-US" dirty="0"/>
              <a:t>もう片方の変数は</a:t>
            </a:r>
            <a:br>
              <a:rPr kumimoji="1" lang="en-US" altLang="ja-JP" dirty="0"/>
            </a:br>
            <a:r>
              <a:rPr kumimoji="1" lang="ja-JP" altLang="en-US" dirty="0"/>
              <a:t>どの程度増えるか</a:t>
            </a:r>
            <a:endParaRPr kumimoji="1" lang="en-US" altLang="ja-JP" dirty="0"/>
          </a:p>
          <a:p>
            <a:pPr lvl="1"/>
            <a:r>
              <a:rPr lang="ja-JP" altLang="en-US" dirty="0"/>
              <a:t>回帰分析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F37169-DCFF-27A8-F979-2832AD2D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因果関係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6956DE-E773-8251-6BA0-199A1DC8C6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2137693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つの変数の間に</a:t>
            </a:r>
            <a:br>
              <a:rPr kumimoji="1" lang="en-US" altLang="ja-JP" dirty="0"/>
            </a:br>
            <a:r>
              <a:rPr kumimoji="1" lang="ja-JP" altLang="en-US" b="1" dirty="0">
                <a:solidFill>
                  <a:schemeClr val="accent5"/>
                </a:solidFill>
              </a:rPr>
              <a:t>関係性がある</a:t>
            </a:r>
            <a:r>
              <a:rPr kumimoji="1" lang="ja-JP" altLang="en-US" dirty="0"/>
              <a:t>か</a:t>
            </a:r>
            <a:endParaRPr kumimoji="1" lang="en-US" altLang="ja-JP" dirty="0"/>
          </a:p>
          <a:p>
            <a:pPr lvl="1"/>
            <a:r>
              <a:rPr lang="ja-JP" altLang="en-US" dirty="0"/>
              <a:t>散布図</a:t>
            </a:r>
            <a:endParaRPr lang="en-US" altLang="ja-JP" dirty="0"/>
          </a:p>
          <a:p>
            <a:pPr lvl="1"/>
            <a:r>
              <a:rPr kumimoji="1" lang="ja-JP" altLang="en-US" dirty="0"/>
              <a:t>相関係数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EBB7FF-5D04-4FE5-C875-3336AC0079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相関関係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29515B2-F2BF-DB85-3B87-6B3085DA2E83}"/>
              </a:ext>
            </a:extLst>
          </p:cNvPr>
          <p:cNvGrpSpPr/>
          <p:nvPr/>
        </p:nvGrpSpPr>
        <p:grpSpPr>
          <a:xfrm>
            <a:off x="131975" y="3988033"/>
            <a:ext cx="4348743" cy="1297172"/>
            <a:chOff x="131975" y="3988033"/>
            <a:chExt cx="4348743" cy="1297172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822E92D-DFEE-2A76-417F-C8A955AC6CFF}"/>
                </a:ext>
              </a:extLst>
            </p:cNvPr>
            <p:cNvSpPr/>
            <p:nvPr/>
          </p:nvSpPr>
          <p:spPr>
            <a:xfrm>
              <a:off x="131975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A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6E405DBE-495C-8F25-2FD5-9158766D2AC0}"/>
                </a:ext>
              </a:extLst>
            </p:cNvPr>
            <p:cNvSpPr/>
            <p:nvPr/>
          </p:nvSpPr>
          <p:spPr>
            <a:xfrm>
              <a:off x="3183546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B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矢印: 左右 9">
              <a:extLst>
                <a:ext uri="{FF2B5EF4-FFF2-40B4-BE49-F238E27FC236}">
                  <a16:creationId xmlns:a16="http://schemas.microsoft.com/office/drawing/2014/main" id="{787EF76C-353D-7D05-71CD-ED9119FA47D8}"/>
                </a:ext>
              </a:extLst>
            </p:cNvPr>
            <p:cNvSpPr/>
            <p:nvPr/>
          </p:nvSpPr>
          <p:spPr>
            <a:xfrm>
              <a:off x="1429146" y="4200821"/>
              <a:ext cx="1754399" cy="871595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関係がある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35CC0C7-90FA-A4D1-1E7E-0A64D99234C1}"/>
              </a:ext>
            </a:extLst>
          </p:cNvPr>
          <p:cNvGrpSpPr/>
          <p:nvPr/>
        </p:nvGrpSpPr>
        <p:grpSpPr>
          <a:xfrm>
            <a:off x="4663281" y="3988033"/>
            <a:ext cx="4348743" cy="1297172"/>
            <a:chOff x="4663281" y="3988033"/>
            <a:chExt cx="4348743" cy="1297172"/>
          </a:xfrm>
        </p:grpSpPr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E29A19E7-1AB9-5093-9B7E-1E8A3FEF800E}"/>
                </a:ext>
              </a:extLst>
            </p:cNvPr>
            <p:cNvSpPr/>
            <p:nvPr/>
          </p:nvSpPr>
          <p:spPr>
            <a:xfrm>
              <a:off x="5960453" y="4137299"/>
              <a:ext cx="1754399" cy="99863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原因 → 結果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9034CBA7-E611-B9CD-1874-A51EFF6FAA0E}"/>
                </a:ext>
              </a:extLst>
            </p:cNvPr>
            <p:cNvGrpSpPr/>
            <p:nvPr/>
          </p:nvGrpSpPr>
          <p:grpSpPr>
            <a:xfrm>
              <a:off x="4663281" y="3988033"/>
              <a:ext cx="4348743" cy="1297172"/>
              <a:chOff x="5143454" y="4351420"/>
              <a:chExt cx="4348743" cy="1297172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59C833A7-C7DF-04D3-4011-1B4876B614B9}"/>
                  </a:ext>
                </a:extLst>
              </p:cNvPr>
              <p:cNvSpPr/>
              <p:nvPr/>
            </p:nvSpPr>
            <p:spPr>
              <a:xfrm>
                <a:off x="5143454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A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5809759-8693-D39A-01C1-CB89BF1F68B6}"/>
                  </a:ext>
                </a:extLst>
              </p:cNvPr>
              <p:cNvSpPr/>
              <p:nvPr/>
            </p:nvSpPr>
            <p:spPr>
              <a:xfrm>
                <a:off x="8195025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B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C4D029-0947-7916-E307-40F3BE89AF3C}"/>
              </a:ext>
            </a:extLst>
          </p:cNvPr>
          <p:cNvSpPr/>
          <p:nvPr/>
        </p:nvSpPr>
        <p:spPr>
          <a:xfrm>
            <a:off x="131975" y="5551840"/>
            <a:ext cx="8880049" cy="9986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相関関係があるからといって，</a:t>
            </a:r>
            <a:r>
              <a:rPr kumimoji="1" lang="ja-JP" altLang="en-US" sz="2400" b="1" u="sng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因果関係があるとは限らない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6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/>
      <p:bldP spid="6" grpId="0" uiExpand="1" build="p" animBg="1"/>
      <p:bldP spid="7" grpId="0" build="p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最小二乗法①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32" y="1628459"/>
            <a:ext cx="3600944" cy="360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26E07BA0-C7F1-5D3A-6DC5-D50414A61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7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近似線と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各データ</a:t>
            </a:r>
            <a:r>
              <a:rPr lang="ja-JP" altLang="en-US" sz="1800" dirty="0">
                <a:solidFill>
                  <a:schemeClr val="tx2"/>
                </a:solidFill>
              </a:rPr>
              <a:t>（点）</a:t>
            </a:r>
            <a:r>
              <a:rPr lang="ja-JP" altLang="en-US" dirty="0">
                <a:solidFill>
                  <a:schemeClr val="tx2"/>
                </a:solidFill>
              </a:rPr>
              <a:t>のズレ</a:t>
            </a:r>
            <a:r>
              <a:rPr lang="ja-JP" altLang="en-US" sz="1800" dirty="0">
                <a:solidFill>
                  <a:schemeClr val="tx2"/>
                </a:solidFill>
              </a:rPr>
              <a:t>（誤差）</a:t>
            </a:r>
            <a:r>
              <a:rPr lang="ja-JP" altLang="en-US" dirty="0">
                <a:solidFill>
                  <a:schemeClr val="tx2"/>
                </a:solidFill>
              </a:rPr>
              <a:t>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最小になるような近似線の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切片と傾きを求める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誤差は＋も－もある得るため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二乗して合計する</a:t>
            </a:r>
            <a:r>
              <a:rPr lang="ja-JP" altLang="en-US" sz="1800" dirty="0">
                <a:solidFill>
                  <a:schemeClr val="tx2"/>
                </a:solidFill>
              </a:rPr>
              <a:t>（残差二乗和）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残差二乗和が最小になるように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切片と傾きを決めるので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accent5"/>
                </a:solidFill>
              </a:rPr>
              <a:t>最小二乗法</a:t>
            </a:r>
            <a:r>
              <a:rPr lang="ja-JP" altLang="en-US" dirty="0">
                <a:solidFill>
                  <a:schemeClr val="tx2"/>
                </a:solidFill>
              </a:rPr>
              <a:t>という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最小二乗法②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47" r="67275"/>
          <a:stretch/>
        </p:blipFill>
        <p:spPr bwMode="auto">
          <a:xfrm>
            <a:off x="323528" y="2060848"/>
            <a:ext cx="4125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cxnSp>
        <p:nvCxnSpPr>
          <p:cNvPr id="3" name="直線コネクタ 2"/>
          <p:cNvCxnSpPr/>
          <p:nvPr/>
        </p:nvCxnSpPr>
        <p:spPr>
          <a:xfrm>
            <a:off x="2926449" y="3418366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353143" y="3068958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吹き出し 14"/>
          <p:cNvSpPr/>
          <p:nvPr/>
        </p:nvSpPr>
        <p:spPr>
          <a:xfrm>
            <a:off x="1189840" y="3104963"/>
            <a:ext cx="736648" cy="504056"/>
          </a:xfrm>
          <a:prstGeom prst="wedgeRoundRectCallout">
            <a:avLst>
              <a:gd name="adj1" fmla="val 179470"/>
              <a:gd name="adj2" fmla="val 53024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2179168" y="1880827"/>
            <a:ext cx="736648" cy="504056"/>
          </a:xfrm>
          <a:prstGeom prst="wedgeRoundRectCallout">
            <a:avLst>
              <a:gd name="adj1" fmla="val 99805"/>
              <a:gd name="adj2" fmla="val 16403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32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0424-938E-DADD-2579-4435D389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A9F6CC1-3CBD-F0CB-ADC5-4F012FB4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84209DE0-98BE-351C-79F4-37DF53D2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最小二乗法③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92914B8-43DE-0D17-8161-48CF3C205CF6}"/>
                  </a:ext>
                </a:extLst>
              </p:cNvPr>
              <p:cNvSpPr txBox="1"/>
              <p:nvPr/>
            </p:nvSpPr>
            <p:spPr>
              <a:xfrm>
                <a:off x="1329021" y="1742136"/>
                <a:ext cx="3052438" cy="9237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>
                      <m:r>
                        <a:rPr kumimoji="1" lang="ja-JP" altLang="en-US" sz="2400" i="1" dirty="0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1   </m:t>
                          </m:r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92914B8-43DE-0D17-8161-48CF3C205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021" y="1742136"/>
                <a:ext cx="3052438" cy="923779"/>
              </a:xfrm>
              <a:prstGeom prst="rect">
                <a:avLst/>
              </a:prstGeom>
              <a:blipFill>
                <a:blip r:embed="rId2"/>
                <a:stretch>
                  <a:fillRect l="-5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6CE5121-65EA-A37F-FCA5-428F60DE9A51}"/>
                  </a:ext>
                </a:extLst>
              </p:cNvPr>
              <p:cNvSpPr txBox="1"/>
              <p:nvPr/>
            </p:nvSpPr>
            <p:spPr>
              <a:xfrm>
                <a:off x="1364095" y="3319078"/>
                <a:ext cx="1345625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  <m:oMath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6CE5121-65EA-A37F-FCA5-428F60DE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95" y="3319078"/>
                <a:ext cx="1345625" cy="1477328"/>
              </a:xfrm>
              <a:prstGeom prst="rect">
                <a:avLst/>
              </a:prstGeom>
              <a:blipFill>
                <a:blip r:embed="rId3"/>
                <a:stretch>
                  <a:fillRect l="-4525" r="-3620" b="-57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DABE7F5-ED19-20C3-C207-264ADC4A1CD7}"/>
                  </a:ext>
                </a:extLst>
              </p:cNvPr>
              <p:cNvSpPr txBox="1"/>
              <p:nvPr/>
            </p:nvSpPr>
            <p:spPr>
              <a:xfrm>
                <a:off x="4687113" y="3377395"/>
                <a:ext cx="2080762" cy="136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br>
                  <a:rPr kumimoji="1" lang="en-US" altLang="ja-JP" b="0" i="1" dirty="0">
                    <a:latin typeface="Cambria Math" panose="02040503050406030204" pitchFamily="18" charset="0"/>
                  </a:rPr>
                </a:br>
                <a:endParaRPr kumimoji="1" lang="en-US" altLang="ja-JP" b="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DABE7F5-ED19-20C3-C207-264ADC4A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113" y="3377395"/>
                <a:ext cx="2080762" cy="13606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05D40CB-D1B8-0E68-753C-FEDD19243764}"/>
              </a:ext>
            </a:extLst>
          </p:cNvPr>
          <p:cNvGrpSpPr/>
          <p:nvPr/>
        </p:nvGrpSpPr>
        <p:grpSpPr>
          <a:xfrm>
            <a:off x="5069892" y="5081235"/>
            <a:ext cx="2865836" cy="1360694"/>
            <a:chOff x="1505685" y="5333265"/>
            <a:chExt cx="2865836" cy="1360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A391F5C3-E539-2CE6-2CC8-E1A3078331AA}"/>
                    </a:ext>
                  </a:extLst>
                </p:cNvPr>
                <p:cNvSpPr txBox="1"/>
                <p:nvPr/>
              </p:nvSpPr>
              <p:spPr>
                <a:xfrm>
                  <a:off x="1505685" y="5333330"/>
                  <a:ext cx="1281505" cy="13606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a14:m>
                  <a:r>
                    <a:rPr kumimoji="1" lang="en-US" altLang="ja-JP" sz="2400" b="0" dirty="0"/>
                    <a:t>, </a:t>
                  </a: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A391F5C3-E539-2CE6-2CC8-E1A307833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5685" y="5333330"/>
                  <a:ext cx="1281505" cy="1360629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5CD00A2C-A9A2-59A6-6151-0221B4C5C521}"/>
                    </a:ext>
                  </a:extLst>
                </p:cNvPr>
                <p:cNvSpPr txBox="1"/>
                <p:nvPr/>
              </p:nvSpPr>
              <p:spPr>
                <a:xfrm>
                  <a:off x="2778393" y="5333265"/>
                  <a:ext cx="1593128" cy="13606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ja-JP" sz="240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br>
                    <a:rPr kumimoji="1" lang="en-US" altLang="ja-JP" b="0" i="1" dirty="0">
                      <a:latin typeface="Cambria Math" panose="02040503050406030204" pitchFamily="18" charset="0"/>
                    </a:rPr>
                  </a:br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5CD00A2C-A9A2-59A6-6151-0221B4C5C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8393" y="5333265"/>
                  <a:ext cx="1593128" cy="13606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35F63E-E11B-78E1-0FB6-AB4745A005DB}"/>
                  </a:ext>
                </a:extLst>
              </p:cNvPr>
              <p:cNvSpPr txBox="1"/>
              <p:nvPr/>
            </p:nvSpPr>
            <p:spPr>
              <a:xfrm>
                <a:off x="1512084" y="6097103"/>
                <a:ext cx="13048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35F63E-E11B-78E1-0FB6-AB4745A00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84" y="6097103"/>
                <a:ext cx="130484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8098245-3C50-3DC7-1C16-3975F56E9DDE}"/>
                  </a:ext>
                </a:extLst>
              </p:cNvPr>
              <p:cNvSpPr txBox="1"/>
              <p:nvPr/>
            </p:nvSpPr>
            <p:spPr>
              <a:xfrm>
                <a:off x="445197" y="743967"/>
                <a:ext cx="3018262" cy="420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: </a:t>
                </a:r>
                <a:r>
                  <a:rPr kumimoji="1"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組目のデータ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8098245-3C50-3DC7-1C16-3975F56E9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7" y="743967"/>
                <a:ext cx="3018262" cy="420949"/>
              </a:xfrm>
              <a:prstGeom prst="rect">
                <a:avLst/>
              </a:prstGeom>
              <a:blipFill>
                <a:blip r:embed="rId8"/>
                <a:stretch>
                  <a:fillRect t="-14493" b="-420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FF2D09-BD44-073F-3B1F-63F53CA50A72}"/>
              </a:ext>
            </a:extLst>
          </p:cNvPr>
          <p:cNvSpPr txBox="1"/>
          <p:nvPr/>
        </p:nvSpPr>
        <p:spPr>
          <a:xfrm>
            <a:off x="326503" y="1259978"/>
            <a:ext cx="4389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１次関数で関係づけられるとすると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A65CC16-8948-BE1D-3C98-FC7E4373790E}"/>
              </a:ext>
            </a:extLst>
          </p:cNvPr>
          <p:cNvGrpSpPr/>
          <p:nvPr/>
        </p:nvGrpSpPr>
        <p:grpSpPr>
          <a:xfrm>
            <a:off x="4689472" y="1795660"/>
            <a:ext cx="2366995" cy="1046448"/>
            <a:chOff x="5629449" y="1783198"/>
            <a:chExt cx="2366995" cy="1046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72295D8-BB62-DDCA-5530-75AFAB4EC0B3}"/>
                    </a:ext>
                  </a:extLst>
                </p:cNvPr>
                <p:cNvSpPr txBox="1"/>
                <p:nvPr/>
              </p:nvSpPr>
              <p:spPr>
                <a:xfrm>
                  <a:off x="5629449" y="1783198"/>
                  <a:ext cx="2366995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ja-JP" altLang="en-US" sz="2400" dirty="0">
                      <a:latin typeface="Meiryo UI" panose="020B0604030504040204" pitchFamily="34" charset="-128"/>
                      <a:ea typeface="Meiryo UI" panose="020B0604030504040204" pitchFamily="34" charset="-128"/>
                    </a:rPr>
                    <a:t>ただし</a:t>
                  </a:r>
                  <a14:m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brk m:alnAt="7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br>
                    <a:rPr kumimoji="1" lang="en-US" altLang="ja-JP" b="0" i="1" dirty="0">
                      <a:latin typeface="Cambria Math" panose="02040503050406030204" pitchFamily="18" charset="0"/>
                    </a:rPr>
                  </a:br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72295D8-BB62-DDCA-5530-75AFAB4EC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49" y="1783198"/>
                  <a:ext cx="2366995" cy="646331"/>
                </a:xfrm>
                <a:prstGeom prst="rect">
                  <a:avLst/>
                </a:prstGeom>
                <a:blipFill>
                  <a:blip r:embed="rId9"/>
                  <a:stretch>
                    <a:fillRect l="-7712" t="-16038" r="-51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0F890C9-9CA0-F99A-A433-6E0C61B1B9CD}"/>
                    </a:ext>
                  </a:extLst>
                </p:cNvPr>
                <p:cNvSpPr txBox="1"/>
                <p:nvPr/>
              </p:nvSpPr>
              <p:spPr>
                <a:xfrm>
                  <a:off x="6765756" y="2275199"/>
                  <a:ext cx="1071127" cy="5544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en-US" altLang="ja-JP" sz="2400" b="0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0F890C9-9CA0-F99A-A433-6E0C61B1B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5756" y="2275199"/>
                  <a:ext cx="1071127" cy="55444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261D89A-BC42-DEFA-4E22-472F563990BA}"/>
                  </a:ext>
                </a:extLst>
              </p:cNvPr>
              <p:cNvSpPr txBox="1"/>
              <p:nvPr/>
            </p:nvSpPr>
            <p:spPr>
              <a:xfrm>
                <a:off x="445197" y="2888191"/>
                <a:ext cx="2667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組のデータがあれば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261D89A-BC42-DEFA-4E22-472F5639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7" y="2888191"/>
                <a:ext cx="2667846" cy="369332"/>
              </a:xfrm>
              <a:prstGeom prst="rect">
                <a:avLst/>
              </a:prstGeom>
              <a:blipFill>
                <a:blip r:embed="rId11"/>
                <a:stretch>
                  <a:fillRect l="-2740" t="-28333" r="-2283" b="-4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矢印: 右 15">
            <a:extLst>
              <a:ext uri="{FF2B5EF4-FFF2-40B4-BE49-F238E27FC236}">
                <a16:creationId xmlns:a16="http://schemas.microsoft.com/office/drawing/2014/main" id="{4CA28B40-45EB-82B1-C96C-960876436188}"/>
              </a:ext>
            </a:extLst>
          </p:cNvPr>
          <p:cNvSpPr/>
          <p:nvPr/>
        </p:nvSpPr>
        <p:spPr>
          <a:xfrm>
            <a:off x="3434789" y="3770908"/>
            <a:ext cx="546604" cy="4846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299A51-F56D-0452-38C2-227E8F27E695}"/>
              </a:ext>
            </a:extLst>
          </p:cNvPr>
          <p:cNvSpPr txBox="1"/>
          <p:nvPr/>
        </p:nvSpPr>
        <p:spPr>
          <a:xfrm>
            <a:off x="445197" y="5081235"/>
            <a:ext cx="3288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上式をベクトルと行列の表記を使うと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E4A5154-94FB-464B-ECDB-0B04A18FE4C2}"/>
              </a:ext>
            </a:extLst>
          </p:cNvPr>
          <p:cNvSpPr txBox="1"/>
          <p:nvPr/>
        </p:nvSpPr>
        <p:spPr>
          <a:xfrm>
            <a:off x="4037202" y="5095044"/>
            <a:ext cx="1573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ただし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623AC06-DFA7-6807-1FA2-5061EFA985E3}"/>
              </a:ext>
            </a:extLst>
          </p:cNvPr>
          <p:cNvSpPr txBox="1"/>
          <p:nvPr/>
        </p:nvSpPr>
        <p:spPr>
          <a:xfrm>
            <a:off x="3064864" y="4227684"/>
            <a:ext cx="1264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まとめて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700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90BC-7E54-CE93-FEC5-D1745B34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734D73B-6A5F-443F-6041-A51756D0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E645F1B4-64F4-75C7-C9D8-F9B050A4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最小二乗法④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AA1B5CF-0108-D69E-D0D5-35AD8375DACC}"/>
                  </a:ext>
                </a:extLst>
              </p:cNvPr>
              <p:cNvSpPr txBox="1"/>
              <p:nvPr/>
            </p:nvSpPr>
            <p:spPr>
              <a:xfrm>
                <a:off x="326503" y="749140"/>
                <a:ext cx="59613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データ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は必ずしも１次関数で関係づけられる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とは限らない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 誤差が生じる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AA1B5CF-0108-D69E-D0D5-35AD8375D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749140"/>
                <a:ext cx="5961312" cy="738664"/>
              </a:xfrm>
              <a:prstGeom prst="rect">
                <a:avLst/>
              </a:prstGeom>
              <a:blipFill>
                <a:blip r:embed="rId2"/>
                <a:stretch>
                  <a:fillRect l="-3173" t="-14050" r="-2252" b="-239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544AF9-1C13-3C9D-FB9F-19580EF850EE}"/>
                  </a:ext>
                </a:extLst>
              </p:cNvPr>
              <p:cNvSpPr txBox="1"/>
              <p:nvPr/>
            </p:nvSpPr>
            <p:spPr>
              <a:xfrm>
                <a:off x="326503" y="1930902"/>
                <a:ext cx="6273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誤差の総和を誤差関数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として次を定義する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544AF9-1C13-3C9D-FB9F-19580EF85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1930902"/>
                <a:ext cx="6273128" cy="461665"/>
              </a:xfrm>
              <a:prstGeom prst="rect">
                <a:avLst/>
              </a:prstGeom>
              <a:blipFill>
                <a:blip r:embed="rId3"/>
                <a:stretch>
                  <a:fillRect l="-1555" t="-13333" r="-292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AA7038C-80A0-BA60-9C39-9386A9BE0AF6}"/>
                  </a:ext>
                </a:extLst>
              </p:cNvPr>
              <p:cNvSpPr txBox="1"/>
              <p:nvPr/>
            </p:nvSpPr>
            <p:spPr>
              <a:xfrm>
                <a:off x="760746" y="2529133"/>
                <a:ext cx="6051721" cy="758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kumimoji="1" lang="ja-JP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AA7038C-80A0-BA60-9C39-9386A9BE0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46" y="2529133"/>
                <a:ext cx="6051721" cy="758862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C1C09A9-60D2-FD5E-C60E-D528B0B3864C}"/>
                  </a:ext>
                </a:extLst>
              </p:cNvPr>
              <p:cNvSpPr txBox="1"/>
              <p:nvPr/>
            </p:nvSpPr>
            <p:spPr>
              <a:xfrm>
                <a:off x="326502" y="3548819"/>
                <a:ext cx="873633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の関数 →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を変えれば誤差関数の値が変わる → なるべく小さな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になる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が良い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つまり良い１次関数の</a:t>
                </a:r>
                <a:r>
                  <a:rPr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傾き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</a:t>
                </a:r>
                <a:r>
                  <a:rPr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切片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になる</a:t>
                </a: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C1C09A9-60D2-FD5E-C60E-D528B0B38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2" y="3548819"/>
                <a:ext cx="8736337" cy="1200329"/>
              </a:xfrm>
              <a:prstGeom prst="rect">
                <a:avLst/>
              </a:prstGeom>
              <a:blipFill>
                <a:blip r:embed="rId5"/>
                <a:stretch>
                  <a:fillRect l="-1117" t="-4569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90A3D1E-870D-9C89-2863-96D0D0E25FDB}"/>
                  </a:ext>
                </a:extLst>
              </p:cNvPr>
              <p:cNvSpPr txBox="1"/>
              <p:nvPr/>
            </p:nvSpPr>
            <p:spPr>
              <a:xfrm>
                <a:off x="326503" y="5455070"/>
                <a:ext cx="8180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の最小値を満たす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を探そう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90A3D1E-870D-9C89-2863-96D0D0E2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5455070"/>
                <a:ext cx="8180054" cy="461665"/>
              </a:xfrm>
              <a:prstGeom prst="rect">
                <a:avLst/>
              </a:prstGeom>
              <a:blipFill>
                <a:blip r:embed="rId6"/>
                <a:stretch>
                  <a:fillRect l="-1193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下 25">
            <a:extLst>
              <a:ext uri="{FF2B5EF4-FFF2-40B4-BE49-F238E27FC236}">
                <a16:creationId xmlns:a16="http://schemas.microsoft.com/office/drawing/2014/main" id="{13E6E363-64F6-FA68-F670-B735995A825F}"/>
              </a:ext>
            </a:extLst>
          </p:cNvPr>
          <p:cNvSpPr/>
          <p:nvPr/>
        </p:nvSpPr>
        <p:spPr>
          <a:xfrm>
            <a:off x="2301240" y="4909069"/>
            <a:ext cx="838200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94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0CED-4BE9-B01B-8FC4-BB35B2A5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3917021-D633-E7E2-CA49-2A70A790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926AD55-E028-BFB4-AC31-E5A52358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最小二乗法⑤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E417A66-C855-F2AC-1165-C8BCD3730843}"/>
                  </a:ext>
                </a:extLst>
              </p:cNvPr>
              <p:cNvSpPr txBox="1"/>
              <p:nvPr/>
            </p:nvSpPr>
            <p:spPr>
              <a:xfrm>
                <a:off x="326503" y="1287620"/>
                <a:ext cx="7518941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で「偏微分」して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となる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が最小値を達成する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（「微分積分応用」で習う）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 </a:t>
                </a:r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E417A66-C855-F2AC-1165-C8BCD3730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1287620"/>
                <a:ext cx="7518941" cy="738664"/>
              </a:xfrm>
              <a:prstGeom prst="rect">
                <a:avLst/>
              </a:prstGeom>
              <a:blipFill>
                <a:blip r:embed="rId2"/>
                <a:stretch>
                  <a:fillRect l="-2514" t="-13223" b="-24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73F069-2FD7-945A-8618-63D4FA1BF447}"/>
                  </a:ext>
                </a:extLst>
              </p:cNvPr>
              <p:cNvSpPr txBox="1"/>
              <p:nvPr/>
            </p:nvSpPr>
            <p:spPr>
              <a:xfrm>
                <a:off x="608083" y="2382577"/>
                <a:ext cx="6741654" cy="702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73F069-2FD7-945A-8618-63D4FA1B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3" y="2382577"/>
                <a:ext cx="6741654" cy="702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628D944-631A-6F2A-0EBD-181D1871C39C}"/>
                  </a:ext>
                </a:extLst>
              </p:cNvPr>
              <p:cNvSpPr txBox="1"/>
              <p:nvPr/>
            </p:nvSpPr>
            <p:spPr>
              <a:xfrm>
                <a:off x="1228808" y="3374110"/>
                <a:ext cx="29830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628D944-631A-6F2A-0EBD-181D1871C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808" y="3374110"/>
                <a:ext cx="2983061" cy="369332"/>
              </a:xfrm>
              <a:prstGeom prst="rect">
                <a:avLst/>
              </a:prstGeom>
              <a:blipFill>
                <a:blip r:embed="rId4"/>
                <a:stretch>
                  <a:fillRect r="-1636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3F03D2D-694F-A624-F608-B4E74CD9728C}"/>
                  </a:ext>
                </a:extLst>
              </p:cNvPr>
              <p:cNvSpPr txBox="1"/>
              <p:nvPr/>
            </p:nvSpPr>
            <p:spPr>
              <a:xfrm>
                <a:off x="5139317" y="3374110"/>
                <a:ext cx="1962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3F03D2D-694F-A624-F608-B4E74CD97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317" y="3374110"/>
                <a:ext cx="1962397" cy="369332"/>
              </a:xfrm>
              <a:prstGeom prst="rect">
                <a:avLst/>
              </a:prstGeom>
              <a:blipFill>
                <a:blip r:embed="rId5"/>
                <a:stretch>
                  <a:fillRect l="-2795" r="-2795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49A6EAD-BF53-1E36-D564-2CF60D8401DF}"/>
                  </a:ext>
                </a:extLst>
              </p:cNvPr>
              <p:cNvSpPr txBox="1"/>
              <p:nvPr/>
            </p:nvSpPr>
            <p:spPr>
              <a:xfrm>
                <a:off x="1326860" y="4049750"/>
                <a:ext cx="18522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49A6EAD-BF53-1E36-D564-2CF60D84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860" y="4049750"/>
                <a:ext cx="1852238" cy="369332"/>
              </a:xfrm>
              <a:prstGeom prst="rect">
                <a:avLst/>
              </a:prstGeom>
              <a:blipFill>
                <a:blip r:embed="rId6"/>
                <a:stretch>
                  <a:fillRect l="-3289" r="-2303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2C110B-194F-106E-DE69-FF6C3BB23A00}"/>
                  </a:ext>
                </a:extLst>
              </p:cNvPr>
              <p:cNvSpPr txBox="1"/>
              <p:nvPr/>
            </p:nvSpPr>
            <p:spPr>
              <a:xfrm>
                <a:off x="3978910" y="4054821"/>
                <a:ext cx="2346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 u="sng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 u="sng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 u="sng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 u="sng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b="0" i="1" u="sng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u="sng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400" b="0" u="sng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2C110B-194F-106E-DE69-FF6C3BB23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910" y="4054821"/>
                <a:ext cx="2346476" cy="369332"/>
              </a:xfrm>
              <a:prstGeom prst="rect">
                <a:avLst/>
              </a:prstGeom>
              <a:blipFill>
                <a:blip r:embed="rId7"/>
                <a:stretch>
                  <a:fillRect l="-2338" r="-2078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矢印: 下 18">
            <a:extLst>
              <a:ext uri="{FF2B5EF4-FFF2-40B4-BE49-F238E27FC236}">
                <a16:creationId xmlns:a16="http://schemas.microsoft.com/office/drawing/2014/main" id="{0F62D93C-52E5-98FA-630D-988520348CE8}"/>
              </a:ext>
            </a:extLst>
          </p:cNvPr>
          <p:cNvSpPr/>
          <p:nvPr/>
        </p:nvSpPr>
        <p:spPr>
          <a:xfrm>
            <a:off x="2301240" y="806530"/>
            <a:ext cx="838200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5243773F-AF51-35FA-36D2-CF3660270B7A}"/>
              </a:ext>
            </a:extLst>
          </p:cNvPr>
          <p:cNvSpPr/>
          <p:nvPr/>
        </p:nvSpPr>
        <p:spPr>
          <a:xfrm>
            <a:off x="650240" y="331646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12E1F298-E478-D994-8417-F90EAF574300}"/>
              </a:ext>
            </a:extLst>
          </p:cNvPr>
          <p:cNvSpPr/>
          <p:nvPr/>
        </p:nvSpPr>
        <p:spPr>
          <a:xfrm>
            <a:off x="4439373" y="331646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34A4FCB3-40C1-6BA5-8641-F61CA5E7C069}"/>
              </a:ext>
            </a:extLst>
          </p:cNvPr>
          <p:cNvSpPr/>
          <p:nvPr/>
        </p:nvSpPr>
        <p:spPr>
          <a:xfrm>
            <a:off x="665480" y="399210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97FE8F0D-A003-3A3B-8965-E7FBBBEAE1D7}"/>
              </a:ext>
            </a:extLst>
          </p:cNvPr>
          <p:cNvSpPr/>
          <p:nvPr/>
        </p:nvSpPr>
        <p:spPr>
          <a:xfrm>
            <a:off x="3362958" y="3992100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696C25C-4EE4-A819-81C5-A52AF0CBC1A3}"/>
                  </a:ext>
                </a:extLst>
              </p:cNvPr>
              <p:cNvSpPr txBox="1"/>
              <p:nvPr/>
            </p:nvSpPr>
            <p:spPr>
              <a:xfrm>
                <a:off x="2662160" y="5049351"/>
                <a:ext cx="2736968" cy="43088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B696C25C-4EE4-A819-81C5-A52AF0CBC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160" y="5049351"/>
                <a:ext cx="273696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D607F40-6FD6-7AEE-7FE5-6967D00A8AA1}"/>
              </a:ext>
            </a:extLst>
          </p:cNvPr>
          <p:cNvSpPr txBox="1"/>
          <p:nvPr/>
        </p:nvSpPr>
        <p:spPr>
          <a:xfrm>
            <a:off x="5614783" y="5049351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2800" dirty="0">
                <a:latin typeface="Meiryo UI" panose="020B0604030504040204" pitchFamily="34" charset="-128"/>
                <a:ea typeface="Meiryo UI" panose="020B0604030504040204" pitchFamily="34" charset="-128"/>
              </a:rPr>
              <a:t>最小二乗法</a:t>
            </a:r>
          </a:p>
        </p:txBody>
      </p:sp>
    </p:spTree>
    <p:extLst>
      <p:ext uri="{BB962C8B-B14F-4D97-AF65-F5344CB8AC3E}">
        <p14:creationId xmlns:p14="http://schemas.microsoft.com/office/powerpoint/2010/main" val="203652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C107-210D-5C02-EA57-01004CC1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18FBE676-1700-0FBD-F2DF-A86C83F7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1DC4FF76-D35C-B0AF-25BA-830CDB51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最小二乗法⑥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6B3BE84-5B0F-C4D1-6B3B-66FE6EA7EE8B}"/>
                  </a:ext>
                </a:extLst>
              </p:cNvPr>
              <p:cNvSpPr txBox="1"/>
              <p:nvPr/>
            </p:nvSpPr>
            <p:spPr>
              <a:xfrm>
                <a:off x="407285" y="1228353"/>
                <a:ext cx="3302699" cy="1360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kumimoji="1" lang="en-US" altLang="ja-JP" b="0" i="1" dirty="0">
                    <a:latin typeface="Cambria Math" panose="02040503050406030204" pitchFamily="18" charset="0"/>
                  </a:rPr>
                </a:br>
                <a:endParaRPr kumimoji="1" lang="en-US" altLang="ja-JP" b="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6B3BE84-5B0F-C4D1-6B3B-66FE6EA7E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85" y="1228353"/>
                <a:ext cx="3302699" cy="1360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6F01CCE-F338-6F6A-3E9F-26AB128C3F9B}"/>
                  </a:ext>
                </a:extLst>
              </p:cNvPr>
              <p:cNvSpPr txBox="1"/>
              <p:nvPr/>
            </p:nvSpPr>
            <p:spPr>
              <a:xfrm>
                <a:off x="326503" y="711566"/>
                <a:ext cx="86560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誤差の要因を</a:t>
                </a:r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の混入とする．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</a:t>
                </a:r>
                <a:r>
                  <a:rPr kumimoji="1" lang="ja-JP" altLang="en-US" sz="2400" dirty="0">
                    <a:solidFill>
                      <a:srgbClr val="00B05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真のパラメータ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6F01CCE-F338-6F6A-3E9F-26AB128C3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3" y="711566"/>
                <a:ext cx="8656024" cy="461665"/>
              </a:xfrm>
              <a:prstGeom prst="rect">
                <a:avLst/>
              </a:prstGeom>
              <a:blipFill>
                <a:blip r:embed="rId4"/>
                <a:stretch>
                  <a:fillRect l="-1127" t="-12000" b="-2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EB3F867-C633-0432-7864-C7E25E94F927}"/>
                  </a:ext>
                </a:extLst>
              </p:cNvPr>
              <p:cNvSpPr txBox="1"/>
              <p:nvPr/>
            </p:nvSpPr>
            <p:spPr>
              <a:xfrm>
                <a:off x="508445" y="4510035"/>
                <a:ext cx="69242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上式より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は確率変数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の関数だから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も確率変数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EB3F867-C633-0432-7864-C7E25E94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45" y="4510035"/>
                <a:ext cx="6924295" cy="461665"/>
              </a:xfrm>
              <a:prstGeom prst="rect">
                <a:avLst/>
              </a:prstGeom>
              <a:blipFill>
                <a:blip r:embed="rId5"/>
                <a:stretch>
                  <a:fillRect l="-1320" t="-11842" r="-1056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563013-274F-4994-9C17-30A0C87558B1}"/>
              </a:ext>
            </a:extLst>
          </p:cNvPr>
          <p:cNvSpPr txBox="1"/>
          <p:nvPr/>
        </p:nvSpPr>
        <p:spPr>
          <a:xfrm>
            <a:off x="6616026" y="1696970"/>
            <a:ext cx="924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ただし</a:t>
            </a:r>
            <a:endParaRPr lang="ja-JP" altLang="en-US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91E0505-82DB-8B70-A9B8-C3DEC5A62E54}"/>
              </a:ext>
            </a:extLst>
          </p:cNvPr>
          <p:cNvSpPr/>
          <p:nvPr/>
        </p:nvSpPr>
        <p:spPr>
          <a:xfrm>
            <a:off x="3674791" y="1673369"/>
            <a:ext cx="47244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73B01F0-5843-3412-D072-755C029745A7}"/>
                  </a:ext>
                </a:extLst>
              </p:cNvPr>
              <p:cNvSpPr txBox="1"/>
              <p:nvPr/>
            </p:nvSpPr>
            <p:spPr>
              <a:xfrm>
                <a:off x="4358985" y="1693256"/>
                <a:ext cx="212891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73B01F0-5843-3412-D072-755C02974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985" y="1693256"/>
                <a:ext cx="212891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36C7931-EFB7-9069-916A-97C0D25AA6BE}"/>
                  </a:ext>
                </a:extLst>
              </p:cNvPr>
              <p:cNvSpPr txBox="1"/>
              <p:nvPr/>
            </p:nvSpPr>
            <p:spPr>
              <a:xfrm>
                <a:off x="7432740" y="1201298"/>
                <a:ext cx="1677301" cy="1452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36C7931-EFB7-9069-916A-97C0D25AA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740" y="1201298"/>
                <a:ext cx="1677301" cy="14529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26055BD-F6DB-8019-2B17-3E32288B0FCB}"/>
                  </a:ext>
                </a:extLst>
              </p:cNvPr>
              <p:cNvSpPr txBox="1"/>
              <p:nvPr/>
            </p:nvSpPr>
            <p:spPr>
              <a:xfrm>
                <a:off x="642312" y="2677580"/>
                <a:ext cx="795414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は平均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，独立で分散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kumimoji="1" lang="en-US" altLang="ja-JP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の確率変数とする</a:t>
                </a:r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26055BD-F6DB-8019-2B17-3E32288B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" y="2677580"/>
                <a:ext cx="7954142" cy="830997"/>
              </a:xfrm>
              <a:prstGeom prst="rect">
                <a:avLst/>
              </a:prstGeom>
              <a:blipFill>
                <a:blip r:embed="rId8"/>
                <a:stretch>
                  <a:fillRect l="-1149" t="-6569" r="-690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C0FF4E0-2CD4-FF69-FCD3-860D089DF67B}"/>
                  </a:ext>
                </a:extLst>
              </p:cNvPr>
              <p:cNvSpPr txBox="1"/>
              <p:nvPr/>
            </p:nvSpPr>
            <p:spPr>
              <a:xfrm>
                <a:off x="508445" y="3947123"/>
                <a:ext cx="65548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C0FF4E0-2CD4-FF69-FCD3-860D089D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45" y="3947123"/>
                <a:ext cx="655488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矢印: 下 30">
            <a:extLst>
              <a:ext uri="{FF2B5EF4-FFF2-40B4-BE49-F238E27FC236}">
                <a16:creationId xmlns:a16="http://schemas.microsoft.com/office/drawing/2014/main" id="{B787C7AB-3F6A-1DD2-979C-FFE1F18CD07D}"/>
              </a:ext>
            </a:extLst>
          </p:cNvPr>
          <p:cNvSpPr/>
          <p:nvPr/>
        </p:nvSpPr>
        <p:spPr>
          <a:xfrm>
            <a:off x="2089273" y="3565460"/>
            <a:ext cx="754768" cy="3274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4B38DF-B99E-2998-FF9B-7BFAE139E997}"/>
                  </a:ext>
                </a:extLst>
              </p:cNvPr>
              <p:cNvSpPr txBox="1"/>
              <p:nvPr/>
            </p:nvSpPr>
            <p:spPr>
              <a:xfrm>
                <a:off x="1096149" y="5507070"/>
                <a:ext cx="5373735" cy="1196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4B38DF-B99E-2998-FF9B-7BFAE139E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149" y="5507070"/>
                <a:ext cx="5373735" cy="1196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F5341CDE-702E-D12E-621B-31E7B7DF0984}"/>
                  </a:ext>
                </a:extLst>
              </p:cNvPr>
              <p:cNvSpPr txBox="1"/>
              <p:nvPr/>
            </p:nvSpPr>
            <p:spPr>
              <a:xfrm>
                <a:off x="523820" y="5102246"/>
                <a:ext cx="23202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の期待値は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F5341CDE-702E-D12E-621B-31E7B7DF0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20" y="5102246"/>
                <a:ext cx="2320221" cy="461665"/>
              </a:xfrm>
              <a:prstGeom prst="rect">
                <a:avLst/>
              </a:prstGeom>
              <a:blipFill>
                <a:blip r:embed="rId11"/>
                <a:stretch>
                  <a:fillRect l="-787" t="-13158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9FD0C18-DA88-B4F4-39F1-BEDCED119E89}"/>
                  </a:ext>
                </a:extLst>
              </p:cNvPr>
              <p:cNvSpPr txBox="1"/>
              <p:nvPr/>
            </p:nvSpPr>
            <p:spPr>
              <a:xfrm>
                <a:off x="6674835" y="6280344"/>
                <a:ext cx="2320221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は一致推定量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9FD0C18-DA88-B4F4-39F1-BEDCED119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835" y="6280344"/>
                <a:ext cx="2320221" cy="461665"/>
              </a:xfrm>
              <a:prstGeom prst="rect">
                <a:avLst/>
              </a:prstGeom>
              <a:blipFill>
                <a:blip r:embed="rId12"/>
                <a:stretch>
                  <a:fillRect l="-259" t="-9877" r="-259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矢印: 右 42">
            <a:extLst>
              <a:ext uri="{FF2B5EF4-FFF2-40B4-BE49-F238E27FC236}">
                <a16:creationId xmlns:a16="http://schemas.microsoft.com/office/drawing/2014/main" id="{3C8926BB-7073-7581-166D-69DF740F1585}"/>
              </a:ext>
            </a:extLst>
          </p:cNvPr>
          <p:cNvSpPr/>
          <p:nvPr/>
        </p:nvSpPr>
        <p:spPr>
          <a:xfrm>
            <a:off x="6117103" y="6364917"/>
            <a:ext cx="341833" cy="3770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39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C92C-ADCD-D768-D862-AD7BDFFD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738FBD73-84A3-8585-D96F-A3541315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FCFF15F-749C-B5E8-8FAB-FAA644FF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最小二乗法⑦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20F8A17F-BA07-74E5-472E-96781C9E709C}"/>
                  </a:ext>
                </a:extLst>
              </p:cNvPr>
              <p:cNvSpPr txBox="1"/>
              <p:nvPr/>
            </p:nvSpPr>
            <p:spPr>
              <a:xfrm>
                <a:off x="175894" y="725389"/>
                <a:ext cx="23202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の分散は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20F8A17F-BA07-74E5-472E-96781C9E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4" y="725389"/>
                <a:ext cx="2320221" cy="461665"/>
              </a:xfrm>
              <a:prstGeom prst="rect">
                <a:avLst/>
              </a:prstGeom>
              <a:blipFill>
                <a:blip r:embed="rId3"/>
                <a:stretch>
                  <a:fillRect l="-789" t="-13158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D9AE1A9-CBC3-0BD1-3237-3FCD70099EE4}"/>
                  </a:ext>
                </a:extLst>
              </p:cNvPr>
              <p:cNvSpPr txBox="1"/>
              <p:nvPr/>
            </p:nvSpPr>
            <p:spPr>
              <a:xfrm>
                <a:off x="88900" y="1215718"/>
                <a:ext cx="8966200" cy="2676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ja-JP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d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kumimoji="1"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sSup>
                            <m:sSup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𝑍</m:t>
                      </m:r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D9AE1A9-CBC3-0BD1-3237-3FCD70099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" y="1215718"/>
                <a:ext cx="8966200" cy="2676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6B6626-6FE6-00DC-2598-3811B479BFC8}"/>
                  </a:ext>
                </a:extLst>
              </p:cNvPr>
              <p:cNvSpPr txBox="1"/>
              <p:nvPr/>
            </p:nvSpPr>
            <p:spPr>
              <a:xfrm>
                <a:off x="175894" y="4094579"/>
                <a:ext cx="8703946" cy="1395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b="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より推定量</a:t>
                </a:r>
                <a:r>
                  <a:rPr kumimoji="1" lang="ja-JP" altLang="en-US" sz="2400" b="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番目の要素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期待値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，分散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の確率変数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さらに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が正規分布に従うなら，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kumimoji="1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kumimoji="1" lang="en-US" altLang="ja-JP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ja-JP" sz="2400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6B6626-6FE6-00DC-2598-3811B479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4" y="4094579"/>
                <a:ext cx="8703946" cy="1395510"/>
              </a:xfrm>
              <a:prstGeom prst="rect">
                <a:avLst/>
              </a:prstGeom>
              <a:blipFill>
                <a:blip r:embed="rId5"/>
                <a:stretch>
                  <a:fillRect l="-1120" t="-3930" b="-30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803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6645-1D59-838A-E029-F7E64C24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4F143169-1E0D-85AE-7802-E1795212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CEE21528-30D7-AA4D-751B-7ECF8275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最小二乗法⑧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E784334-7F61-0C43-883B-F4673935D1FF}"/>
                  </a:ext>
                </a:extLst>
              </p:cNvPr>
              <p:cNvSpPr txBox="1"/>
              <p:nvPr/>
            </p:nvSpPr>
            <p:spPr>
              <a:xfrm>
                <a:off x="75649" y="945465"/>
                <a:ext cx="8703946" cy="1213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</a:t>
                </a:r>
                <a:r>
                  <a:rPr kumimoji="1" lang="en-US" altLang="ja-JP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kumimoji="1"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区間推定は，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𝑜𝑖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E784334-7F61-0C43-883B-F4673935D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945465"/>
                <a:ext cx="8703946" cy="1213217"/>
              </a:xfrm>
              <a:prstGeom prst="rect">
                <a:avLst/>
              </a:prstGeom>
              <a:blipFill>
                <a:blip r:embed="rId3"/>
                <a:stretch>
                  <a:fillRect l="-1050" t="-45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3B8B022-A920-1FDD-791C-DDCC6191C6EA}"/>
                  </a:ext>
                </a:extLst>
              </p:cNvPr>
              <p:cNvSpPr txBox="1"/>
              <p:nvPr/>
            </p:nvSpPr>
            <p:spPr>
              <a:xfrm>
                <a:off x="75649" y="2207543"/>
                <a:ext cx="8703946" cy="4563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ただし</a:t>
                </a:r>
                <a:r>
                  <a:rPr kumimoji="1" lang="ja-JP" altLang="en-US" sz="2400" dirty="0">
                    <a:solidFill>
                      <a:schemeClr val="accent5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の母分散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は未知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　標本不偏分散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kumimoji="1"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kumimoji="1"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で置き換える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kumimoji="1" lang="en-US" altLang="ja-JP" sz="240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ja-JP" sz="2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2400" b="0" dirty="0">
                  <a:latin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として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4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400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から標本不偏分散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dirty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kumimoji="1" lang="en-US" altLang="ja-JP" sz="2400" i="1" dirty="0"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kumimoji="1" lang="en-US" altLang="ja-JP" sz="2400" i="1" dirty="0"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kumimoji="1" lang="en-US" altLang="ja-JP" sz="2400" i="1" dirty="0"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を求める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ただし自由度は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ja-JP" sz="24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a:rPr kumimoji="1" lang="en-US" altLang="ja-JP" sz="24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400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(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誤差関数を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で偏微分して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となる等式は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2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次元だから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4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3B8B022-A920-1FDD-791C-DDCC6191C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2207543"/>
                <a:ext cx="8703946" cy="4563301"/>
              </a:xfrm>
              <a:prstGeom prst="rect">
                <a:avLst/>
              </a:prstGeom>
              <a:blipFill>
                <a:blip r:embed="rId4"/>
                <a:stretch>
                  <a:fillRect l="-1050" t="-12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9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86B0-812C-E94F-867C-7448F534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A1A01A3E-B14B-B277-5576-19858BFE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E9FDDD4D-C6FD-4F47-6CFB-A12AFE77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最小二乗法⑨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BBE77D5-3D99-40F8-78B6-F1F3E2805A25}"/>
                  </a:ext>
                </a:extLst>
              </p:cNvPr>
              <p:cNvSpPr txBox="1"/>
              <p:nvPr/>
            </p:nvSpPr>
            <p:spPr>
              <a:xfrm>
                <a:off x="75649" y="945465"/>
                <a:ext cx="870394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以上から次の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分布に従う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</a:t>
                </a:r>
                <a:endParaRPr kumimoji="1"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BBE77D5-3D99-40F8-78B6-F1F3E280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945465"/>
                <a:ext cx="8703946" cy="830997"/>
              </a:xfrm>
              <a:prstGeom prst="rect">
                <a:avLst/>
              </a:prstGeom>
              <a:blipFill>
                <a:blip r:embed="rId3"/>
                <a:stretch>
                  <a:fillRect l="-1050" t="-73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CA0E25F-14A1-7774-C13F-1F03BF0CBCFC}"/>
                  </a:ext>
                </a:extLst>
              </p:cNvPr>
              <p:cNvSpPr txBox="1"/>
              <p:nvPr/>
            </p:nvSpPr>
            <p:spPr>
              <a:xfrm>
                <a:off x="986418" y="1404893"/>
                <a:ext cx="3585582" cy="124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⊤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CA0E25F-14A1-7774-C13F-1F03BF0CB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418" y="1404893"/>
                <a:ext cx="3585582" cy="1248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DE6AE8-EE5A-8031-1A49-3DEED5D54109}"/>
                  </a:ext>
                </a:extLst>
              </p:cNvPr>
              <p:cNvSpPr txBox="1"/>
              <p:nvPr/>
            </p:nvSpPr>
            <p:spPr>
              <a:xfrm>
                <a:off x="75649" y="3112996"/>
                <a:ext cx="8992702" cy="1087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以上から母平均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</a:t>
                </a:r>
                <a:r>
                  <a:rPr kumimoji="1" lang="en-US" altLang="ja-JP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kumimoji="1"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区間推定は，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ja-JP" sz="20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r>
                        <a:rPr kumimoji="1" lang="en-US" altLang="ja-JP" sz="20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rad>
                        <m:radPr>
                          <m:degHide m:val="on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−2) </m:t>
                      </m:r>
                      <m:rad>
                        <m:radPr>
                          <m:degHide m:val="on"/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ja-JP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p>
                                          <m:r>
                                            <a:rPr kumimoji="1"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ja-JP" altLang="en-US" sz="20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DE6AE8-EE5A-8031-1A49-3DEED5D54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3112996"/>
                <a:ext cx="8992702" cy="1087990"/>
              </a:xfrm>
              <a:prstGeom prst="rect">
                <a:avLst/>
              </a:prstGeom>
              <a:blipFill>
                <a:blip r:embed="rId5"/>
                <a:stretch>
                  <a:fillRect l="-1016" t="-50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2D396C-3DDA-7AA7-FDBF-CAD8AF642798}"/>
                  </a:ext>
                </a:extLst>
              </p:cNvPr>
              <p:cNvSpPr txBox="1"/>
              <p:nvPr/>
            </p:nvSpPr>
            <p:spPr>
              <a:xfrm>
                <a:off x="75649" y="4846498"/>
                <a:ext cx="870394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なお 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Excel </a:t>
                </a:r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での</a:t>
                </a:r>
                <a:r>
                  <a:rPr kumimoji="1"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値は仮説検定のためのもので，母平均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𝑜𝑖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ja-JP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という帰無仮説で計算している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2D396C-3DDA-7AA7-FDBF-CAD8AF642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" y="4846498"/>
                <a:ext cx="8703946" cy="830997"/>
              </a:xfrm>
              <a:prstGeom prst="rect">
                <a:avLst/>
              </a:prstGeom>
              <a:blipFill>
                <a:blip r:embed="rId6"/>
                <a:stretch>
                  <a:fillRect l="-1050" t="-6618" r="-840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65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89E-AA51-3729-4056-8D289C80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60A2E0-0764-5E05-267B-7E051EC9F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アドインを用いた回帰分析：下準備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5B309F-459C-27CD-9F0F-5933C9EC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0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767A-8770-B868-B44F-00D4B411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50703-5FEF-3187-EDA1-0EBE77D0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演習用</a:t>
            </a:r>
            <a:r>
              <a:rPr kumimoji="1" lang="en-US" altLang="ja-JP" dirty="0"/>
              <a:t>Excel</a:t>
            </a:r>
            <a:r>
              <a:rPr kumimoji="1" lang="ja-JP" altLang="en-US" dirty="0"/>
              <a:t>ファイルを開いてみよう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B15050-DE8C-E1B9-BB91-8440746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A725FD-F1C5-7ECA-318C-86203BE6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lang="ja-JP" altLang="en-US" dirty="0"/>
              <a:t>演習用</a:t>
            </a:r>
            <a:r>
              <a:rPr lang="en-US" altLang="ja-JP" dirty="0"/>
              <a:t>Excel</a:t>
            </a:r>
            <a:r>
              <a:rPr lang="ja-JP" altLang="en-US" dirty="0"/>
              <a:t>ファイルを開く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lang="ja-JP" altLang="en-US" dirty="0"/>
              <a:t>保護ビュー</a:t>
            </a:r>
            <a:r>
              <a:rPr lang="en-US" altLang="ja-JP" dirty="0"/>
              <a:t>]</a:t>
            </a:r>
            <a:r>
              <a:rPr lang="ja-JP" altLang="en-US" dirty="0"/>
              <a:t>の警告が出た場合は</a:t>
            </a:r>
            <a:br>
              <a:rPr lang="en-US" altLang="ja-JP" dirty="0"/>
            </a:br>
            <a:r>
              <a:rPr lang="en-US" altLang="ja-JP" dirty="0"/>
              <a:t>[</a:t>
            </a:r>
            <a:r>
              <a:rPr lang="ja-JP" altLang="en-US" dirty="0"/>
              <a:t>編集を有効にする</a:t>
            </a:r>
            <a:r>
              <a:rPr lang="en-US" altLang="ja-JP" dirty="0"/>
              <a:t>]</a:t>
            </a:r>
            <a:r>
              <a:rPr lang="ja-JP" altLang="en-US" dirty="0"/>
              <a:t>をクリック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DA5E0E-B672-8D73-DC0A-6245E79A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0" b="85000"/>
          <a:stretch/>
        </p:blipFill>
        <p:spPr>
          <a:xfrm>
            <a:off x="0" y="3011220"/>
            <a:ext cx="9144000" cy="360040"/>
          </a:xfrm>
          <a:prstGeom prst="rect">
            <a:avLst/>
          </a:prstGeom>
        </p:spPr>
      </p:pic>
      <p:sp>
        <p:nvSpPr>
          <p:cNvPr id="10" name="角丸四角形 8">
            <a:extLst>
              <a:ext uri="{FF2B5EF4-FFF2-40B4-BE49-F238E27FC236}">
                <a16:creationId xmlns:a16="http://schemas.microsoft.com/office/drawing/2014/main" id="{AA0E7740-EA82-E996-0E77-C5484C07EE49}"/>
              </a:ext>
            </a:extLst>
          </p:cNvPr>
          <p:cNvSpPr/>
          <p:nvPr/>
        </p:nvSpPr>
        <p:spPr>
          <a:xfrm>
            <a:off x="6068079" y="2939212"/>
            <a:ext cx="1183325" cy="4897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0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FD3C6-7A2C-CBE7-7255-D4211E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の下準備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52F9F6-0381-A60A-F7EB-B667512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34B205-DB23-4416-9F0C-2C3532C8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データ</a:t>
            </a:r>
            <a:r>
              <a:rPr lang="en-US" altLang="ja-JP" dirty="0"/>
              <a:t>]</a:t>
            </a:r>
            <a:r>
              <a:rPr lang="ja-JP" altLang="en-US" dirty="0"/>
              <a:t>タブに</a:t>
            </a:r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ツールが表示されているか確認</a:t>
            </a:r>
            <a:endParaRPr lang="en-US" altLang="ja-JP" dirty="0"/>
          </a:p>
          <a:p>
            <a:pPr lvl="1"/>
            <a:r>
              <a:rPr kumimoji="1" lang="ja-JP" altLang="en-US" dirty="0"/>
              <a:t>アイコンのみ表示されている場合もあります</a:t>
            </a:r>
          </a:p>
        </p:txBody>
      </p:sp>
      <p:pic>
        <p:nvPicPr>
          <p:cNvPr id="5" name="コンテンツ プレースホルダー 7">
            <a:extLst>
              <a:ext uri="{FF2B5EF4-FFF2-40B4-BE49-F238E27FC236}">
                <a16:creationId xmlns:a16="http://schemas.microsoft.com/office/drawing/2014/main" id="{4BECBAAC-0786-AFDD-FF25-A981369C6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637088"/>
            <a:ext cx="9012025" cy="859608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70F3335E-33DC-8B31-478F-C044FE2BA4BB}"/>
              </a:ext>
            </a:extLst>
          </p:cNvPr>
          <p:cNvSpPr/>
          <p:nvPr/>
        </p:nvSpPr>
        <p:spPr>
          <a:xfrm>
            <a:off x="2144993" y="1520691"/>
            <a:ext cx="720080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9">
            <a:extLst>
              <a:ext uri="{FF2B5EF4-FFF2-40B4-BE49-F238E27FC236}">
                <a16:creationId xmlns:a16="http://schemas.microsoft.com/office/drawing/2014/main" id="{0E08914D-6BCE-8CC5-DCC5-0AAC76C88755}"/>
              </a:ext>
            </a:extLst>
          </p:cNvPr>
          <p:cNvSpPr/>
          <p:nvPr/>
        </p:nvSpPr>
        <p:spPr>
          <a:xfrm>
            <a:off x="8334000" y="1630683"/>
            <a:ext cx="744012" cy="8786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391A2D7F-885D-5B22-66C6-5BDE7DE3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13" t="23568" r="872" b="57082"/>
          <a:stretch>
            <a:fillRect/>
          </a:stretch>
        </p:blipFill>
        <p:spPr>
          <a:xfrm>
            <a:off x="6068080" y="4890799"/>
            <a:ext cx="2265920" cy="6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6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323E-9D51-975A-3C92-253C481B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DCAB9-9C6E-45EF-A431-38DA4DFB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83F1B5-7EE6-13B0-01A0-9278222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30EBE8-29A9-D137-CB94-047D61D5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316" y="4348716"/>
            <a:ext cx="557770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ファイル</a:t>
            </a:r>
            <a:r>
              <a:rPr lang="en-US" altLang="ja-JP" dirty="0"/>
              <a:t>]</a:t>
            </a:r>
            <a:r>
              <a:rPr lang="ja-JP" altLang="en-US" dirty="0"/>
              <a:t>タブから</a:t>
            </a:r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を選択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ED262A6-2ACF-B431-54C6-386C6376F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01" r="75200" b="7363"/>
          <a:stretch/>
        </p:blipFill>
        <p:spPr>
          <a:xfrm>
            <a:off x="339001" y="1000712"/>
            <a:ext cx="2880320" cy="562065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A8650C0-FAEC-821F-33D7-C92E423E1CD8}"/>
              </a:ext>
            </a:extLst>
          </p:cNvPr>
          <p:cNvSpPr/>
          <p:nvPr/>
        </p:nvSpPr>
        <p:spPr>
          <a:xfrm>
            <a:off x="253257" y="6039293"/>
            <a:ext cx="1352260" cy="5820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8">
            <a:extLst>
              <a:ext uri="{FF2B5EF4-FFF2-40B4-BE49-F238E27FC236}">
                <a16:creationId xmlns:a16="http://schemas.microsoft.com/office/drawing/2014/main" id="{1E2E6206-388C-55C1-E795-13CF09707429}"/>
              </a:ext>
            </a:extLst>
          </p:cNvPr>
          <p:cNvSpPr/>
          <p:nvPr/>
        </p:nvSpPr>
        <p:spPr>
          <a:xfrm>
            <a:off x="1605517" y="6114304"/>
            <a:ext cx="1265274" cy="4034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77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3204-0DA4-561C-80AA-C3904255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821CB-9FAE-05A6-C084-6D066E8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6FB29-8551-46AB-DB62-12189191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857DB-A16F-59A0-888A-B4BF0DE1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5535013"/>
            <a:ext cx="8880049" cy="1186298"/>
          </a:xfrm>
        </p:spPr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内の</a:t>
            </a:r>
            <a:r>
              <a:rPr lang="en-US" altLang="ja-JP" dirty="0"/>
              <a:t>[</a:t>
            </a:r>
            <a:r>
              <a:rPr lang="ja-JP" altLang="en-US" dirty="0"/>
              <a:t>アドイン</a:t>
            </a:r>
            <a:r>
              <a:rPr lang="en-US" altLang="ja-JP" dirty="0"/>
              <a:t>]</a:t>
            </a:r>
            <a:r>
              <a:rPr lang="ja-JP" altLang="en-US" dirty="0"/>
              <a:t>を表示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]</a:t>
            </a:r>
            <a:r>
              <a:rPr kumimoji="1" lang="ja-JP" altLang="en-US" dirty="0"/>
              <a:t>をクリック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29B90A-03E9-450B-1701-C58FBA281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82" r="13381" b="6601"/>
          <a:stretch/>
        </p:blipFill>
        <p:spPr>
          <a:xfrm>
            <a:off x="1376296" y="880378"/>
            <a:ext cx="6391409" cy="458496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F68DCCC-568B-2CBB-F189-C70FA8D71CBF}"/>
              </a:ext>
            </a:extLst>
          </p:cNvPr>
          <p:cNvSpPr/>
          <p:nvPr/>
        </p:nvSpPr>
        <p:spPr>
          <a:xfrm>
            <a:off x="1286540" y="3040913"/>
            <a:ext cx="1254641" cy="388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9">
            <a:extLst>
              <a:ext uri="{FF2B5EF4-FFF2-40B4-BE49-F238E27FC236}">
                <a16:creationId xmlns:a16="http://schemas.microsoft.com/office/drawing/2014/main" id="{9FDDBC12-102B-77D3-6098-F4286DB22ADC}"/>
              </a:ext>
            </a:extLst>
          </p:cNvPr>
          <p:cNvSpPr/>
          <p:nvPr/>
        </p:nvSpPr>
        <p:spPr>
          <a:xfrm>
            <a:off x="3944679" y="4918047"/>
            <a:ext cx="627321" cy="3344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6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EC-9E94-AED1-BBD4-5689372E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6E3F6-313B-F60D-5423-6D8279D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29FE22-1691-D7DD-1726-D2FADB9E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9AB60E-4435-187B-E66A-14C569A0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745" y="4348716"/>
            <a:ext cx="4360280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分析ツール</a:t>
            </a:r>
            <a:r>
              <a:rPr lang="en-US" altLang="ja-JP" dirty="0"/>
              <a:t>]</a:t>
            </a:r>
            <a:r>
              <a:rPr lang="ja-JP" altLang="en-US" dirty="0"/>
              <a:t>に</a:t>
            </a:r>
            <a:br>
              <a:rPr lang="en-US" altLang="ja-JP" dirty="0"/>
            </a:br>
            <a:r>
              <a:rPr lang="ja-JP" altLang="en-US" dirty="0"/>
              <a:t>☑を入れて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FEBAD1-3DEF-D89B-EB9B-62BE1A977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13" t="15001" r="31100" b="24800"/>
          <a:stretch/>
        </p:blipFill>
        <p:spPr>
          <a:xfrm>
            <a:off x="243785" y="1077560"/>
            <a:ext cx="4248472" cy="5535891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A4FDE9EF-5A76-1CD1-47DB-B45C20548000}"/>
              </a:ext>
            </a:extLst>
          </p:cNvPr>
          <p:cNvSpPr/>
          <p:nvPr/>
        </p:nvSpPr>
        <p:spPr>
          <a:xfrm>
            <a:off x="159487" y="2284132"/>
            <a:ext cx="2488019" cy="4165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8">
            <a:extLst>
              <a:ext uri="{FF2B5EF4-FFF2-40B4-BE49-F238E27FC236}">
                <a16:creationId xmlns:a16="http://schemas.microsoft.com/office/drawing/2014/main" id="{115A2E2D-BD28-3C56-FC55-5C44FA7A0DE9}"/>
              </a:ext>
            </a:extLst>
          </p:cNvPr>
          <p:cNvSpPr/>
          <p:nvPr/>
        </p:nvSpPr>
        <p:spPr>
          <a:xfrm>
            <a:off x="2789274" y="1724149"/>
            <a:ext cx="1702984" cy="4661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48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F2E0-89EE-AD30-008C-E9B6F5E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C7F81C-D22B-C371-410A-647DAE0C3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アドインを用いた回帰分析：分析手順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0184C0-837D-3D1F-165C-3268156B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88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AC8D6-B489-BACA-0EA7-F5AACE30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E68909E-A8FD-4BC5-295F-FF84AC4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252D68-6ECC-68E1-7DC3-647F85FF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74" y="933254"/>
            <a:ext cx="4546351" cy="5788057"/>
          </a:xfrm>
        </p:spPr>
        <p:txBody>
          <a:bodyPr/>
          <a:lstStyle/>
          <a:p>
            <a:r>
              <a:rPr kumimoji="1" lang="en-US" altLang="ja-JP" dirty="0"/>
              <a:t>2023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月～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月の</a:t>
            </a:r>
            <a:br>
              <a:rPr kumimoji="1" lang="en-US" altLang="ja-JP" dirty="0"/>
            </a:br>
            <a:r>
              <a:rPr kumimoji="1" lang="en-US" altLang="ja-JP" sz="2000" dirty="0"/>
              <a:t>1</a:t>
            </a:r>
            <a:r>
              <a:rPr kumimoji="1" lang="ja-JP" altLang="en-US" sz="2000" dirty="0"/>
              <a:t>世帯あたりのアイスクリーム類への</a:t>
            </a:r>
            <a:br>
              <a:rPr kumimoji="1" lang="en-US" altLang="ja-JP" sz="2000" dirty="0"/>
            </a:br>
            <a:r>
              <a:rPr kumimoji="1" lang="ja-JP" altLang="en-US" dirty="0"/>
              <a:t>支出金額</a:t>
            </a:r>
            <a:r>
              <a:rPr kumimoji="1" lang="ja-JP" altLang="en-US" sz="2000" dirty="0"/>
              <a:t>（円）</a:t>
            </a:r>
            <a:r>
              <a:rPr kumimoji="1" lang="ja-JP" altLang="en-US" dirty="0"/>
              <a:t>と</a:t>
            </a:r>
            <a:br>
              <a:rPr kumimoji="1" lang="en-US" altLang="ja-JP" dirty="0"/>
            </a:br>
            <a:r>
              <a:rPr kumimoji="1" lang="ja-JP" altLang="en-US" dirty="0"/>
              <a:t>東京の月別平均気温</a:t>
            </a:r>
            <a:r>
              <a:rPr kumimoji="1" lang="ja-JP" altLang="en-US" sz="2000" dirty="0"/>
              <a:t>（℃）</a:t>
            </a:r>
            <a:endParaRPr kumimoji="1" lang="en-US" altLang="ja-JP" dirty="0"/>
          </a:p>
          <a:p>
            <a:r>
              <a:rPr kumimoji="1" lang="ja-JP" altLang="en-US" dirty="0"/>
              <a:t>月次の時系列データ</a:t>
            </a:r>
            <a:endParaRPr kumimoji="1" lang="en-US" altLang="ja-JP" dirty="0"/>
          </a:p>
          <a:p>
            <a:r>
              <a:rPr lang="ja-JP" altLang="en-US" dirty="0"/>
              <a:t>仮説</a:t>
            </a:r>
            <a:endParaRPr lang="en-US" altLang="ja-JP" dirty="0"/>
          </a:p>
          <a:p>
            <a:pPr lvl="1"/>
            <a:r>
              <a:rPr kumimoji="1" lang="ja-JP" altLang="en-US" dirty="0"/>
              <a:t>気温が高い月ほど，</a:t>
            </a:r>
            <a:br>
              <a:rPr kumimoji="1" lang="en-US" altLang="ja-JP" dirty="0"/>
            </a:br>
            <a:r>
              <a:rPr kumimoji="1" lang="ja-JP" altLang="en-US" dirty="0"/>
              <a:t>アイス類への支出金額は</a:t>
            </a:r>
            <a:br>
              <a:rPr kumimoji="1" lang="en-US" altLang="ja-JP" dirty="0"/>
            </a:br>
            <a:r>
              <a:rPr kumimoji="1" lang="ja-JP" altLang="en-US" dirty="0"/>
              <a:t>増えるのではないか？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目的変数</a:t>
            </a:r>
            <a:r>
              <a:rPr kumimoji="1" lang="ja-JP" altLang="en-US" sz="1800" dirty="0"/>
              <a:t>（結果）</a:t>
            </a:r>
            <a:r>
              <a:rPr kumimoji="1" lang="ja-JP" altLang="en-US" dirty="0"/>
              <a:t>→</a:t>
            </a:r>
            <a:endParaRPr kumimoji="1" lang="en-US" altLang="ja-JP" dirty="0"/>
          </a:p>
          <a:p>
            <a:pPr lvl="1"/>
            <a:r>
              <a:rPr lang="ja-JP" altLang="en-US" dirty="0"/>
              <a:t>説明変数</a:t>
            </a:r>
            <a:r>
              <a:rPr lang="ja-JP" altLang="en-US" sz="1800" dirty="0"/>
              <a:t>（原因）</a:t>
            </a:r>
            <a:r>
              <a:rPr lang="ja-JP" altLang="en-US" dirty="0"/>
              <a:t>→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BAE45CB-27E4-0A71-F0FF-E9C73BC0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7" y="933253"/>
            <a:ext cx="4085687" cy="57880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5D9756-9101-1B14-59BB-9B5B6D49E070}"/>
              </a:ext>
            </a:extLst>
          </p:cNvPr>
          <p:cNvSpPr txBox="1"/>
          <p:nvPr/>
        </p:nvSpPr>
        <p:spPr>
          <a:xfrm>
            <a:off x="7626114" y="55739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気温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6B42D3-E679-716F-289F-D20A971E0433}"/>
              </a:ext>
            </a:extLst>
          </p:cNvPr>
          <p:cNvSpPr txBox="1"/>
          <p:nvPr/>
        </p:nvSpPr>
        <p:spPr>
          <a:xfrm>
            <a:off x="7626114" y="50697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支出金額</a:t>
            </a:r>
          </a:p>
        </p:txBody>
      </p:sp>
    </p:spTree>
    <p:extLst>
      <p:ext uri="{BB962C8B-B14F-4D97-AF65-F5344CB8AC3E}">
        <p14:creationId xmlns:p14="http://schemas.microsoft.com/office/powerpoint/2010/main" val="216850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0E558F-3CFA-5984-3D19-EA1CF1E7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②式を立てる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165254-82DE-8AB8-4D26-5996ACDF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:目的変数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:説明変数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散布図を描いてデータを確認してみよう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横軸：原因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縦軸：結果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06BEE68-CBBD-46A8-92A5-4DB9FF661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104185"/>
              </p:ext>
            </p:extLst>
          </p:nvPr>
        </p:nvGraphicFramePr>
        <p:xfrm>
          <a:off x="3274828" y="2955851"/>
          <a:ext cx="5635255" cy="376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006D7D5-E11C-F0C0-E7BD-AD83A62D14DF}"/>
              </a:ext>
            </a:extLst>
          </p:cNvPr>
          <p:cNvSpPr/>
          <p:nvPr/>
        </p:nvSpPr>
        <p:spPr>
          <a:xfrm>
            <a:off x="754912" y="5156791"/>
            <a:ext cx="2662523" cy="1350335"/>
          </a:xfrm>
          <a:prstGeom prst="wedgeRoundRectCallout">
            <a:avLst>
              <a:gd name="adj1" fmla="val 65425"/>
              <a:gd name="adj2" fmla="val 6594"/>
              <a:gd name="adj3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なんとなく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右肩上がりに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なっていそう</a:t>
            </a:r>
            <a:r>
              <a:rPr kumimoji="1" lang="en-US" altLang="ja-JP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5153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54B38-C2C1-080F-2ACF-25147C2B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552D36-80AA-C6BA-B4FD-BC0A149D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37DB3-AED0-AD76-8075-5F36B954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データ</a:t>
            </a:r>
            <a:r>
              <a:rPr kumimoji="1" lang="en-US" altLang="ja-JP" dirty="0"/>
              <a:t>]</a:t>
            </a:r>
            <a:r>
              <a:rPr kumimoji="1" lang="ja-JP" altLang="en-US" dirty="0"/>
              <a:t>タブから</a:t>
            </a:r>
            <a:r>
              <a:rPr kumimoji="1" lang="en-US" altLang="ja-JP" dirty="0"/>
              <a:t>[</a:t>
            </a:r>
            <a:r>
              <a:rPr kumimoji="1" lang="ja-JP" altLang="en-US" dirty="0"/>
              <a:t>データ分析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のアイコンをクリック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回帰分析</a:t>
            </a:r>
            <a:r>
              <a:rPr lang="en-US" altLang="ja-JP" dirty="0"/>
              <a:t>]</a:t>
            </a:r>
            <a:r>
              <a:rPr lang="ja-JP" altLang="en-US" dirty="0"/>
              <a:t>を</a:t>
            </a:r>
            <a:br>
              <a:rPr lang="en-US" altLang="ja-JP" dirty="0"/>
            </a:br>
            <a:r>
              <a:rPr lang="ja-JP" altLang="en-US" dirty="0"/>
              <a:t>選んで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7D1EBFA-EC62-CBCF-2403-86663EBE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07" t="8550" b="66847"/>
          <a:stretch>
            <a:fillRect/>
          </a:stretch>
        </p:blipFill>
        <p:spPr>
          <a:xfrm>
            <a:off x="5985168" y="1597737"/>
            <a:ext cx="2753832" cy="222954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970C9DF-8405-A4A5-9D4C-790DB974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30" t="36047" r="7209" b="29338"/>
          <a:stretch>
            <a:fillRect/>
          </a:stretch>
        </p:blipFill>
        <p:spPr>
          <a:xfrm>
            <a:off x="3532151" y="3999816"/>
            <a:ext cx="5479873" cy="254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77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72FE-47F4-B9A1-48B6-458CA9B9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5559-CA85-E439-AC26-17AF671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83A1E3-27EE-E781-27F0-A5283D96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0A18-40EF-B646-EBA1-CDE118F0A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Y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に，目的変数を選択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支出金額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724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7DA26E1-0E33-6049-9780-60DD4440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F3B59A-AA90-D181-D569-0B687E34A4B8}"/>
              </a:ext>
            </a:extLst>
          </p:cNvPr>
          <p:cNvSpPr/>
          <p:nvPr/>
        </p:nvSpPr>
        <p:spPr>
          <a:xfrm>
            <a:off x="1392866" y="3482165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9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038E-C454-ACFA-C6FE-EF472912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A31D45-442D-C58A-43CC-C8B411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E02DF1A-38F6-0283-7602-CA7A80A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ED24CA-D892-555D-83FE-A187A7E3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X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に，説明変数を選択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lang="ja-JP" altLang="en-US" dirty="0"/>
              <a:t>月別平均気温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9.4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AB499F-7A43-901C-27E0-30F9AF23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3D6BEB-A168-2ADC-0989-0F67C679300A}"/>
              </a:ext>
            </a:extLst>
          </p:cNvPr>
          <p:cNvSpPr/>
          <p:nvPr/>
        </p:nvSpPr>
        <p:spPr>
          <a:xfrm>
            <a:off x="2317898" y="3471532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2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0C9D-7120-407B-059E-8E33763F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912A2-7E9E-1059-4A53-25ED8854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A2791F5-7D3C-4A3A-F764-82B10FE0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A4FFAD-4CE2-0164-A996-3465BF1C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/>
                </a:solidFill>
              </a:rPr>
              <a:t>[</a:t>
            </a:r>
            <a:r>
              <a:rPr kumimoji="1" lang="ja-JP" altLang="en-US" dirty="0">
                <a:solidFill>
                  <a:schemeClr val="accent5"/>
                </a:solidFill>
              </a:rPr>
              <a:t>ラベル</a:t>
            </a:r>
            <a:r>
              <a:rPr kumimoji="1" lang="en-US" altLang="ja-JP" dirty="0">
                <a:solidFill>
                  <a:schemeClr val="accent5"/>
                </a:solidFill>
              </a:rPr>
              <a:t>]</a:t>
            </a:r>
            <a:r>
              <a:rPr kumimoji="1" lang="ja-JP" altLang="en-US" dirty="0">
                <a:solidFill>
                  <a:schemeClr val="accent5"/>
                </a:solidFill>
              </a:rPr>
              <a:t>に☑</a:t>
            </a:r>
            <a:r>
              <a:rPr lang="ja-JP" altLang="en-US" sz="2000" dirty="0"/>
              <a:t>（忘れやすいので注意！）</a:t>
            </a:r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出力オプション</a:t>
            </a:r>
            <a:r>
              <a:rPr lang="en-US" altLang="ja-JP" dirty="0"/>
              <a:t>]</a:t>
            </a:r>
            <a:r>
              <a:rPr lang="ja-JP" altLang="en-US" dirty="0"/>
              <a:t>は結果の出力先</a:t>
            </a:r>
            <a:r>
              <a:rPr lang="ja-JP" altLang="en-US" sz="2000" dirty="0"/>
              <a:t>（お好みで）</a:t>
            </a:r>
            <a:endParaRPr lang="en-US" altLang="ja-JP" sz="2000" dirty="0"/>
          </a:p>
          <a:p>
            <a:pPr lvl="1"/>
            <a:r>
              <a:rPr kumimoji="1" lang="ja-JP" altLang="en-US" dirty="0"/>
              <a:t>ここまで出来たら</a:t>
            </a:r>
            <a:r>
              <a:rPr kumimoji="1" lang="en-US" altLang="ja-JP" dirty="0"/>
              <a:t>[OK]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13A77D6-397D-43F9-89A3-7DD854AE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86" t="20749" r="26628" b="17648"/>
          <a:stretch>
            <a:fillRect/>
          </a:stretch>
        </p:blipFill>
        <p:spPr>
          <a:xfrm>
            <a:off x="3613869" y="2488019"/>
            <a:ext cx="5398155" cy="423329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1D15E7-4FA2-CC2A-A3EF-A57C9E78F12D}"/>
              </a:ext>
            </a:extLst>
          </p:cNvPr>
          <p:cNvSpPr/>
          <p:nvPr/>
        </p:nvSpPr>
        <p:spPr>
          <a:xfrm>
            <a:off x="3785191" y="3698596"/>
            <a:ext cx="946297" cy="32051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C7EDFB-B837-1430-027C-433FA918B2D8}"/>
              </a:ext>
            </a:extLst>
          </p:cNvPr>
          <p:cNvSpPr/>
          <p:nvPr/>
        </p:nvSpPr>
        <p:spPr>
          <a:xfrm>
            <a:off x="3693852" y="4284153"/>
            <a:ext cx="3387433" cy="104275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08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9E95-2631-6399-C0FD-03EF26D2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751DD66-ED87-5B59-DECE-15417DCF7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アドインを用いた回帰分析：結果の読み方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A5C437-C7F4-022E-CED9-A93BFDA0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25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EBE9A-4DAF-22EA-B16E-E1577B1A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6B3E4A-C21B-D749-C56E-F57162D6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仮定した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次関数の式に当てはめて考える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推定した結果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129.72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47.34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ここからわかること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気温が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℃上がると，</a:t>
                </a:r>
                <a:br>
                  <a:rPr lang="en-US" altLang="ja-JP" dirty="0"/>
                </a:br>
                <a:r>
                  <a:rPr lang="ja-JP" altLang="en-US" dirty="0"/>
                  <a:t>アイスへの支出金額が</a:t>
                </a:r>
                <a:br>
                  <a:rPr lang="en-US" altLang="ja-JP" dirty="0"/>
                </a:br>
                <a:r>
                  <a:rPr lang="en-US" altLang="ja-JP" dirty="0"/>
                  <a:t>129.72</a:t>
                </a:r>
                <a:r>
                  <a:rPr lang="ja-JP" altLang="en-US" dirty="0"/>
                  <a:t>円上がる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7DCBD24-4872-708E-B09A-E23B3191EC33}"/>
              </a:ext>
            </a:extLst>
          </p:cNvPr>
          <p:cNvGrpSpPr/>
          <p:nvPr/>
        </p:nvGrpSpPr>
        <p:grpSpPr>
          <a:xfrm>
            <a:off x="3471334" y="3749040"/>
            <a:ext cx="5540690" cy="3108960"/>
            <a:chOff x="3350082" y="911463"/>
            <a:chExt cx="5540690" cy="310896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298DFAF-D1DE-A1E6-1546-15549D885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9940" y="911463"/>
              <a:ext cx="4370832" cy="3108960"/>
            </a:xfrm>
            <a:prstGeom prst="rect">
              <a:avLst/>
            </a:prstGeom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D6B76EC-94F7-3869-ADA8-C24611385E80}"/>
                </a:ext>
              </a:extLst>
            </p:cNvPr>
            <p:cNvGrpSpPr/>
            <p:nvPr/>
          </p:nvGrpSpPr>
          <p:grpSpPr>
            <a:xfrm>
              <a:off x="3350082" y="3059668"/>
              <a:ext cx="5388918" cy="369332"/>
              <a:chOff x="5062190" y="5281846"/>
              <a:chExt cx="5388918" cy="369332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30FCF3F0-4C0D-BF6A-709D-6F2A46930D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6447" y="5466512"/>
                <a:ext cx="4114661" cy="1735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=129.72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8C6BBF52-1980-A416-52D6-A66F952A3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5670" y="1371599"/>
              <a:ext cx="3279502" cy="209990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DD3AFC6B-6AAE-DA5D-8EED-BC2B599BCF6E}"/>
                </a:ext>
              </a:extLst>
            </p:cNvPr>
            <p:cNvGrpSpPr/>
            <p:nvPr/>
          </p:nvGrpSpPr>
          <p:grpSpPr>
            <a:xfrm>
              <a:off x="5201704" y="2642718"/>
              <a:ext cx="2118905" cy="958377"/>
              <a:chOff x="6297410" y="4909426"/>
              <a:chExt cx="2118905" cy="958377"/>
            </a:xfrm>
          </p:grpSpPr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52D0B303-ED6F-A029-B72E-2C3E2F7F6A38}"/>
                  </a:ext>
                </a:extLst>
              </p:cNvPr>
              <p:cNvSpPr/>
              <p:nvPr/>
            </p:nvSpPr>
            <p:spPr>
              <a:xfrm rot="1873028">
                <a:off x="6297410" y="4909426"/>
                <a:ext cx="950942" cy="958377"/>
              </a:xfrm>
              <a:prstGeom prst="arc">
                <a:avLst>
                  <a:gd name="adj1" fmla="val 16642065"/>
                  <a:gd name="adj2" fmla="val 20442519"/>
                </a:avLst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/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=47.34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22065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の分析結果の読み方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068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3F9B-51B4-E6C6-F0A7-8A0575C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8EE18-6F07-A94A-C212-41300417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983BFD-D636-7713-FB32-D97A7CC2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1891C5-C716-9775-6C00-88B19DF1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2D43B87-56B2-B043-82CF-AFD4044E8D9E}"/>
              </a:ext>
            </a:extLst>
          </p:cNvPr>
          <p:cNvSpPr/>
          <p:nvPr/>
        </p:nvSpPr>
        <p:spPr>
          <a:xfrm>
            <a:off x="5411972" y="3115339"/>
            <a:ext cx="3478800" cy="1648046"/>
          </a:xfrm>
          <a:prstGeom prst="wedgeRectCallout">
            <a:avLst>
              <a:gd name="adj1" fmla="val -53029"/>
              <a:gd name="adj2" fmla="val 10051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値／</a:t>
            </a:r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endParaRPr kumimoji="1" lang="en-US" altLang="ja-JP" sz="2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統計的仮説検定で学んだ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母平均の検定（＝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群の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検定）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をここで行っている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D5D9C-4578-84B1-970A-A3AA1ABD4A8B}"/>
              </a:ext>
            </a:extLst>
          </p:cNvPr>
          <p:cNvSpPr/>
          <p:nvPr/>
        </p:nvSpPr>
        <p:spPr>
          <a:xfrm>
            <a:off x="3934047" y="5582093"/>
            <a:ext cx="1658680" cy="9250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単回帰分析における</a:t>
            </a:r>
            <a:r>
              <a:rPr kumimoji="1" lang="en-US" altLang="ja-JP" dirty="0"/>
              <a:t>t</a:t>
            </a:r>
            <a:r>
              <a:rPr kumimoji="1" lang="ja-JP" altLang="en-US" dirty="0"/>
              <a:t>検定①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母平均（定数項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／回帰係数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）が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ではないことを検証するため</a:t>
                </a:r>
                <a:endParaRPr kumimoji="1" lang="en-US" altLang="ja-JP" dirty="0"/>
              </a:p>
              <a:p>
                <a:pPr lvl="3"/>
                <a:r>
                  <a:rPr lang="ja-JP" altLang="en-US" dirty="0"/>
                  <a:t>以下，回帰係数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に対する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検定を例とする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3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次関数の傾きが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であるということは，水平線になる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原因（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方向）が増えても，結果（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方向）が何も変わらない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因果関係がない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ではない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C6E8-DBB8-110A-EC11-E5BD301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③有意水準の設定</a:t>
            </a:r>
          </a:p>
          <a:p>
            <a:pPr lvl="1"/>
            <a:r>
              <a:rPr lang="ja-JP" altLang="en-US" dirty="0"/>
              <a:t>省略</a:t>
            </a:r>
          </a:p>
          <a:p>
            <a:r>
              <a:rPr kumimoji="1" lang="ja-JP" altLang="en-US" dirty="0"/>
              <a:t>④データの収集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省略</a:t>
            </a:r>
          </a:p>
          <a:p>
            <a:r>
              <a:rPr kumimoji="1" lang="ja-JP" altLang="en-US" dirty="0"/>
              <a:t>⑤棄却域の臨界値の計算</a:t>
            </a:r>
            <a:endParaRPr kumimoji="1" lang="en-US" altLang="ja-JP" dirty="0"/>
          </a:p>
          <a:p>
            <a:pPr lvl="1"/>
            <a:r>
              <a:rPr lang="ja-JP" altLang="en-US" dirty="0"/>
              <a:t>省略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1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18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18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ja-JP" altLang="en-US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99525BA-52D2-CAA4-47A1-F5DB492D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3675962"/>
            <a:ext cx="8786565" cy="12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/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4CA275-309A-AE96-3CB3-8EE8B1E91D6F}"/>
              </a:ext>
            </a:extLst>
          </p:cNvPr>
          <p:cNvSpPr/>
          <p:nvPr/>
        </p:nvSpPr>
        <p:spPr>
          <a:xfrm>
            <a:off x="3965945" y="4446821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F071CF-BA2D-1DF3-EA2D-BAE33EC48D57}"/>
              </a:ext>
            </a:extLst>
          </p:cNvPr>
          <p:cNvSpPr/>
          <p:nvPr/>
        </p:nvSpPr>
        <p:spPr>
          <a:xfrm>
            <a:off x="4820761" y="4442361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/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83835D5-F794-169D-7098-C92E9AAF9CFB}"/>
                  </a:ext>
                </a:extLst>
              </p:cNvPr>
              <p:cNvSpPr txBox="1"/>
              <p:nvPr/>
            </p:nvSpPr>
            <p:spPr>
              <a:xfrm>
                <a:off x="5318492" y="2297816"/>
                <a:ext cx="3585582" cy="124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𝑜𝑖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kumimoji="1"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⊤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kumimoji="1"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1"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ja-JP" sz="2400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83835D5-F794-169D-7098-C92E9AAF9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492" y="2297816"/>
                <a:ext cx="3585582" cy="1248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D79ED9-868E-4488-2825-81432A600202}"/>
              </a:ext>
            </a:extLst>
          </p:cNvPr>
          <p:cNvSpPr txBox="1"/>
          <p:nvPr/>
        </p:nvSpPr>
        <p:spPr>
          <a:xfrm>
            <a:off x="4985932" y="2981230"/>
            <a:ext cx="1480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今の場合</a:t>
            </a:r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7FB-FE4C-BB45-39D7-A604CA63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E180-BF57-DDE9-F7A9-2B5F2C1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DA8AD0-9B81-A240-AB09-F4CC052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B27F57-4F74-F619-7CC3-9AC25BBD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C838FC9-6047-6C3A-1F79-9B0F6619326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C29652B2-E090-E422-56C9-F33E02BE856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90A0C765-3020-054B-E2F3-7AC7BFEB8582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85F76BB5-4513-940D-9F83-B3BC19A1AD2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14FCB976-35B6-DE0B-ECD2-4A3F480777AC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3CA6C8D7-7F6F-E5EF-9A85-F1391AA06D86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DDFCF0A1-7AA1-7F70-ADEE-525F36A88BE6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6506735-3DB2-352E-3C53-26697F4CD09A}"/>
              </a:ext>
            </a:extLst>
          </p:cNvPr>
          <p:cNvGrpSpPr/>
          <p:nvPr/>
        </p:nvGrpSpPr>
        <p:grpSpPr>
          <a:xfrm>
            <a:off x="3644751" y="4132487"/>
            <a:ext cx="4194629" cy="863399"/>
            <a:chOff x="3644751" y="4132487"/>
            <a:chExt cx="4194629" cy="863399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475A833-3E68-196F-4C15-FFAB00F8FB58}"/>
                </a:ext>
              </a:extLst>
            </p:cNvPr>
            <p:cNvGrpSpPr/>
            <p:nvPr/>
          </p:nvGrpSpPr>
          <p:grpSpPr>
            <a:xfrm>
              <a:off x="3644751" y="4132487"/>
              <a:ext cx="1305165" cy="863399"/>
              <a:chOff x="3741613" y="4113394"/>
              <a:chExt cx="1305165" cy="86339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13E8D05-FF67-D3F8-C9C4-C6E7AA193790}"/>
                  </a:ext>
                </a:extLst>
              </p:cNvPr>
              <p:cNvSpPr txBox="1"/>
              <p:nvPr/>
            </p:nvSpPr>
            <p:spPr>
              <a:xfrm>
                <a:off x="3741613" y="4607461"/>
                <a:ext cx="1305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-t=-8.35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1F0721B6-E4CD-31F4-53BB-E92B44B12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90D9D371-7CFF-63A6-B121-25714618C500}"/>
                </a:ext>
              </a:extLst>
            </p:cNvPr>
            <p:cNvGrpSpPr/>
            <p:nvPr/>
          </p:nvGrpSpPr>
          <p:grpSpPr>
            <a:xfrm>
              <a:off x="6755429" y="4146250"/>
              <a:ext cx="1083951" cy="843775"/>
              <a:chOff x="6322526" y="4122069"/>
              <a:chExt cx="1083951" cy="843775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BCAF744-310A-E0CF-2308-5DDA62FD475E}"/>
                  </a:ext>
                </a:extLst>
              </p:cNvPr>
              <p:cNvSpPr txBox="1"/>
              <p:nvPr/>
            </p:nvSpPr>
            <p:spPr>
              <a:xfrm>
                <a:off x="6322526" y="4596512"/>
                <a:ext cx="10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t=8.35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F9846CCC-B29D-FAD6-21A3-CDD890358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5714CDE5-7E78-BAF0-B594-9C9CD16DE93E}"/>
              </a:ext>
            </a:extLst>
          </p:cNvPr>
          <p:cNvSpPr/>
          <p:nvPr/>
        </p:nvSpPr>
        <p:spPr>
          <a:xfrm>
            <a:off x="893139" y="2626242"/>
            <a:ext cx="2775090" cy="925032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=0.00000802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89E3B88-C376-F8DD-59A6-0D43FD4D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5409510"/>
            <a:ext cx="8786565" cy="12256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A2AA6D-9197-DFC1-73D1-41B882ADC5B4}"/>
              </a:ext>
            </a:extLst>
          </p:cNvPr>
          <p:cNvSpPr/>
          <p:nvPr/>
        </p:nvSpPr>
        <p:spPr>
          <a:xfrm>
            <a:off x="3962939" y="6154424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DEE6C1-B009-BC3D-2EC5-4204D408A48F}"/>
              </a:ext>
            </a:extLst>
          </p:cNvPr>
          <p:cNvSpPr/>
          <p:nvPr/>
        </p:nvSpPr>
        <p:spPr>
          <a:xfrm>
            <a:off x="4817755" y="6149964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/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有意水準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1%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で統計的に有意　→　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≠0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→　傾きには意味がある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blipFill>
                <a:blip r:embed="rId4"/>
                <a:stretch>
                  <a:fillRect l="-713" t="-1311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14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章　第</a:t>
                </a:r>
                <a:r>
                  <a:rPr kumimoji="1" lang="en-US" altLang="ja-JP" dirty="0"/>
                  <a:t>7</a:t>
                </a:r>
                <a:r>
                  <a:rPr kumimoji="1" lang="ja-JP" altLang="en-US" dirty="0"/>
                  <a:t>節　回帰分析とその他の代表的な分析手法</a:t>
                </a:r>
              </a:p>
              <a:p>
                <a:pPr lvl="1"/>
                <a:r>
                  <a:rPr kumimoji="1" lang="ja-JP" altLang="en-US" dirty="0"/>
                  <a:t>相関関係と因果関係の違いを理解する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相関関係：関係性はあるか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因果関係：原因と結果の関係</a:t>
                </a:r>
              </a:p>
              <a:p>
                <a:pPr lvl="1"/>
                <a:r>
                  <a:rPr kumimoji="1" lang="ja-JP" altLang="en-US" dirty="0"/>
                  <a:t>回帰分析について理解する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回帰分析：原因と結果を分析者が設定し，</a:t>
                </a:r>
                <a:br>
                  <a:rPr lang="en-US" altLang="ja-JP" dirty="0"/>
                </a:br>
                <a:r>
                  <a:rPr lang="ja-JP" altLang="en-US" dirty="0"/>
                  <a:t>その変数間の関係性を明らかにする分析手法</a:t>
                </a:r>
                <a:endParaRPr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目的変数</a:t>
                </a:r>
                <a:r>
                  <a:rPr kumimoji="1" lang="ja-JP" altLang="en-US" dirty="0"/>
                  <a:t>（結果，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説明変数</a:t>
                </a:r>
                <a:r>
                  <a:rPr kumimoji="1" lang="ja-JP" altLang="en-US" dirty="0"/>
                  <a:t>（原因，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）</a:t>
                </a:r>
              </a:p>
              <a:p>
                <a:pPr lvl="1"/>
                <a:r>
                  <a:rPr kumimoji="1" lang="en-US" altLang="ja-JP" dirty="0"/>
                  <a:t>Excel</a:t>
                </a:r>
                <a:r>
                  <a:rPr kumimoji="1" lang="ja-JP" altLang="en-US" dirty="0"/>
                  <a:t>での単回帰分析を修得する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決定係数：説明力を示す指標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，回帰係数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en-US" altLang="ja-JP" dirty="0"/>
                  <a:t>p</a:t>
                </a:r>
                <a:r>
                  <a:rPr lang="ja-JP" altLang="en-US" dirty="0"/>
                  <a:t>値：係数の有意性を示す指標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pPr lvl="2"/>
            <a:r>
              <a:rPr lang="en-US" altLang="ja-JP" dirty="0"/>
              <a:t>Excel</a:t>
            </a:r>
            <a:r>
              <a:rPr lang="ja-JP" altLang="en-US" dirty="0"/>
              <a:t>の分析結果における</a:t>
            </a:r>
            <a:r>
              <a:rPr lang="en-US" altLang="ja-JP" dirty="0"/>
              <a:t>t</a:t>
            </a:r>
            <a:r>
              <a:rPr lang="ja-JP" altLang="en-US" dirty="0"/>
              <a:t>値／</a:t>
            </a:r>
            <a:r>
              <a:rPr lang="en-US" altLang="ja-JP" dirty="0"/>
              <a:t>p</a:t>
            </a:r>
            <a:r>
              <a:rPr lang="ja-JP" altLang="en-US" dirty="0"/>
              <a:t>値の読み方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960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933</TotalTime>
  <Words>2587</Words>
  <Application>Microsoft Office PowerPoint</Application>
  <PresentationFormat>画面に合わせる (4:3)</PresentationFormat>
  <Paragraphs>333</Paragraphs>
  <Slides>44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53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回帰分析とその他の代表的な分析手法/回帰分析の結果の解釈 前半</vt:lpstr>
      <vt:lpstr>今日の目標</vt:lpstr>
      <vt:lpstr>PowerPoint プレゼンテーション</vt:lpstr>
      <vt:lpstr>2つのデータの間の関係性を考える</vt:lpstr>
      <vt:lpstr>PowerPoint プレゼンテーション</vt:lpstr>
      <vt:lpstr>回帰分析とは</vt:lpstr>
      <vt:lpstr>回帰分析</vt:lpstr>
      <vt:lpstr>（Advanced） 最小二乗法①</vt:lpstr>
      <vt:lpstr>（Advanced） 最小二乗法②</vt:lpstr>
      <vt:lpstr>（Advanced） 最小二乗法③</vt:lpstr>
      <vt:lpstr>（Advanced） 最小二乗法④</vt:lpstr>
      <vt:lpstr>（Advanced） 最小二乗法⑤</vt:lpstr>
      <vt:lpstr>（Advanced） 最小二乗法⑥</vt:lpstr>
      <vt:lpstr>（Advanced） 最小二乗法⑦</vt:lpstr>
      <vt:lpstr>（Advanced） 最小二乗法⑧</vt:lpstr>
      <vt:lpstr>（Advanced） 最小二乗法⑨</vt:lpstr>
      <vt:lpstr>PowerPoint プレゼンテーション</vt:lpstr>
      <vt:lpstr>演習用Excelファイルを開いてみよう</vt:lpstr>
      <vt:lpstr>Excelの下準備</vt:lpstr>
      <vt:lpstr>[データ分析]ツールが表示されていない場合①</vt:lpstr>
      <vt:lpstr>[データ分析]ツールが表示されていない場合②</vt:lpstr>
      <vt:lpstr>[データ分析]ツールが表示されていない場合③</vt:lpstr>
      <vt:lpstr>PowerPoint プレゼンテーション</vt:lpstr>
      <vt:lpstr>①仮説の設定</vt:lpstr>
      <vt:lpstr>②式を立てる</vt:lpstr>
      <vt:lpstr>分析ツールでの分析①</vt:lpstr>
      <vt:lpstr>分析ツールでの分析②</vt:lpstr>
      <vt:lpstr>分析ツールでの分析③</vt:lpstr>
      <vt:lpstr>分析ツールでの分析④</vt:lpstr>
      <vt:lpstr>PowerPoint プレゼンテーション</vt:lpstr>
      <vt:lpstr>結果の読み方①</vt:lpstr>
      <vt:lpstr>結果の読み方②</vt:lpstr>
      <vt:lpstr>結果の読み方③</vt:lpstr>
      <vt:lpstr>結果の読み方④</vt:lpstr>
      <vt:lpstr>結果の読み方⑤</vt:lpstr>
      <vt:lpstr>結果の読み方⑥</vt:lpstr>
      <vt:lpstr>PowerPoint プレゼンテーション</vt:lpstr>
      <vt:lpstr>t検定</vt:lpstr>
      <vt:lpstr>単回帰分析におけるt検定①</vt:lpstr>
      <vt:lpstr>単回帰分析におけるt検定②</vt:lpstr>
      <vt:lpstr>単回帰分析におけるt検定③</vt:lpstr>
      <vt:lpstr>単回帰分析におけるt検定④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132</cp:revision>
  <dcterms:created xsi:type="dcterms:W3CDTF">2025-03-03T09:28:12Z</dcterms:created>
  <dcterms:modified xsi:type="dcterms:W3CDTF">2026-09-13T16:50:55Z</dcterms:modified>
</cp:coreProperties>
</file>