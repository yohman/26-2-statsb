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9"/>
  </p:notesMasterIdLst>
  <p:sldIdLst>
    <p:sldId id="256" r:id="rId2"/>
    <p:sldId id="257" r:id="rId3"/>
    <p:sldId id="258" r:id="rId4"/>
    <p:sldId id="544" r:id="rId5"/>
    <p:sldId id="545" r:id="rId6"/>
    <p:sldId id="547" r:id="rId7"/>
    <p:sldId id="549" r:id="rId8"/>
    <p:sldId id="550" r:id="rId9"/>
    <p:sldId id="551" r:id="rId10"/>
    <p:sldId id="552" r:id="rId11"/>
    <p:sldId id="553" r:id="rId12"/>
    <p:sldId id="554" r:id="rId13"/>
    <p:sldId id="555" r:id="rId14"/>
    <p:sldId id="556" r:id="rId15"/>
    <p:sldId id="282" r:id="rId16"/>
    <p:sldId id="557" r:id="rId17"/>
    <p:sldId id="559" r:id="rId18"/>
    <p:sldId id="560" r:id="rId19"/>
    <p:sldId id="561" r:id="rId20"/>
    <p:sldId id="562" r:id="rId21"/>
    <p:sldId id="563" r:id="rId22"/>
    <p:sldId id="564" r:id="rId23"/>
    <p:sldId id="565" r:id="rId24"/>
    <p:sldId id="566" r:id="rId25"/>
    <p:sldId id="568" r:id="rId26"/>
    <p:sldId id="567" r:id="rId27"/>
    <p:sldId id="26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107" d="100"/>
          <a:sy n="107" d="100"/>
        </p:scale>
        <p:origin x="6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modSld">
      <pc:chgData name="須永大介" userId="afee7028-08f7-45fb-b56f-efe6c4357b09" providerId="ADAL" clId="{3322EB53-9E6C-499E-B527-F2AD79E593A6}" dt="2026-08-31T10:42:40.035" v="0" actId="120"/>
      <pc:docMkLst>
        <pc:docMk/>
      </pc:docMkLst>
      <pc:sldChg chg="modSp mod">
        <pc:chgData name="須永大介" userId="afee7028-08f7-45fb-b56f-efe6c4357b09" providerId="ADAL" clId="{3322EB53-9E6C-499E-B527-F2AD79E593A6}" dt="2026-08-31T10:42:40.035" v="0" actId="120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2:40.035" v="0" actId="120"/>
          <ac:spMkLst>
            <pc:docMk/>
            <pc:sldMk cId="218988248" sldId="256"/>
            <ac:spMk id="3" creationId="{48E8BC8D-F503-6C63-21CA-5EDB859CD49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2026/8/31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#11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統計的仮説検定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4</a:t>
            </a:r>
            <a:r>
              <a:rPr kumimoji="1" lang="ja-JP" altLang="en-US" dirty="0"/>
              <a:t>節　統計的仮説検定</a:t>
            </a:r>
            <a:endParaRPr kumimoji="1"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3D06A07B-DDC8-C45B-FB89-CD7BDEA9B9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r>
              <a:rPr kumimoji="1" lang="ja-JP" altLang="en-US" dirty="0"/>
              <a:t>：仮説検定の手順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FD3DE08-EB3F-124A-27D5-4B18AD60D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743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110C2E-9183-5967-491C-342DB51C5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仮説検定とは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09C33B0-5469-228B-8F72-580F7F74A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8AF94EA-64D7-23E5-8672-8BD40E10EB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sz="3200" dirty="0"/>
              <a:t>仮説検定　</a:t>
            </a:r>
            <a:r>
              <a:rPr kumimoji="1" lang="en-US" altLang="ja-JP" sz="3200" dirty="0">
                <a:solidFill>
                  <a:schemeClr val="accent2"/>
                </a:solidFill>
              </a:rPr>
              <a:t>hypothesis testing</a:t>
            </a:r>
          </a:p>
          <a:p>
            <a:pPr lvl="1"/>
            <a:r>
              <a:rPr lang="ja-JP" altLang="en-US" sz="2800" dirty="0">
                <a:solidFill>
                  <a:schemeClr val="accent5"/>
                </a:solidFill>
              </a:rPr>
              <a:t>母数</a:t>
            </a:r>
            <a:r>
              <a:rPr lang="ja-JP" altLang="en-US" sz="2800" dirty="0"/>
              <a:t>に関する仮説を，</a:t>
            </a:r>
            <a:r>
              <a:rPr lang="ja-JP" altLang="en-US" sz="2800" dirty="0">
                <a:solidFill>
                  <a:schemeClr val="accent5"/>
                </a:solidFill>
              </a:rPr>
              <a:t>標本から検証する</a:t>
            </a:r>
            <a:r>
              <a:rPr lang="ja-JP" altLang="en-US" sz="2800" dirty="0"/>
              <a:t>方法のひとつ</a:t>
            </a:r>
            <a:endParaRPr lang="en-US" altLang="ja-JP" sz="2800" dirty="0"/>
          </a:p>
          <a:p>
            <a:pPr lvl="1"/>
            <a:r>
              <a:rPr kumimoji="1" lang="ja-JP" altLang="en-US" sz="2800" dirty="0"/>
              <a:t>仮説に対して「判断」を行うことが目的</a:t>
            </a:r>
            <a:endParaRPr kumimoji="1" lang="en-US" altLang="ja-JP" sz="2800" dirty="0"/>
          </a:p>
          <a:p>
            <a:endParaRPr lang="en-US" altLang="ja-JP" sz="3200" dirty="0"/>
          </a:p>
          <a:p>
            <a:r>
              <a:rPr lang="ja-JP" altLang="en-US" sz="3200" dirty="0"/>
              <a:t>推測の種類</a:t>
            </a:r>
            <a:endParaRPr lang="en-US" altLang="ja-JP" sz="3200" dirty="0"/>
          </a:p>
          <a:p>
            <a:pPr lvl="1"/>
            <a:r>
              <a:rPr kumimoji="1" lang="ja-JP" altLang="en-US" sz="2800" dirty="0"/>
              <a:t>推定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統計量を</a:t>
            </a:r>
            <a:r>
              <a:rPr lang="ja-JP" altLang="en-US" sz="2400" b="1" dirty="0">
                <a:solidFill>
                  <a:schemeClr val="accent5"/>
                </a:solidFill>
              </a:rPr>
              <a:t>計算</a:t>
            </a:r>
            <a:r>
              <a:rPr lang="ja-JP" altLang="en-US" sz="2400" dirty="0"/>
              <a:t>することが目的</a:t>
            </a:r>
            <a:endParaRPr lang="en-US" altLang="ja-JP" sz="2400" dirty="0"/>
          </a:p>
          <a:p>
            <a:pPr lvl="1"/>
            <a:r>
              <a:rPr kumimoji="1" lang="ja-JP" altLang="en-US" sz="2800" dirty="0"/>
              <a:t>仮説検定</a:t>
            </a:r>
            <a:endParaRPr kumimoji="1" lang="en-US" altLang="ja-JP" sz="2800" dirty="0"/>
          </a:p>
          <a:p>
            <a:pPr lvl="2"/>
            <a:r>
              <a:rPr lang="ja-JP" altLang="en-US" sz="2400" dirty="0"/>
              <a:t>仮説に対して</a:t>
            </a:r>
            <a:r>
              <a:rPr lang="ja-JP" altLang="en-US" sz="2400" b="1" dirty="0">
                <a:solidFill>
                  <a:schemeClr val="accent5"/>
                </a:solidFill>
              </a:rPr>
              <a:t>判断</a:t>
            </a:r>
            <a:r>
              <a:rPr lang="ja-JP" altLang="en-US" sz="2400" dirty="0"/>
              <a:t>を行うことが目的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75558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B55F9B-D51C-0410-C48A-15AE8AA48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6BC96D7-1EF5-42ED-C7DC-5B39F8DE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F1B9A8B-FC32-2E40-E0F2-F85036880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仮説検定の手順</a:t>
            </a:r>
            <a:endParaRPr kumimoji="1" lang="en-US" altLang="ja-JP" dirty="0"/>
          </a:p>
          <a:p>
            <a:pPr lvl="1"/>
            <a:r>
              <a:rPr lang="ja-JP" altLang="en-US" dirty="0"/>
              <a:t>①　検定方式の決定</a:t>
            </a:r>
            <a:endParaRPr lang="en-US" altLang="ja-JP" dirty="0"/>
          </a:p>
          <a:p>
            <a:pPr lvl="1"/>
            <a:r>
              <a:rPr kumimoji="1" lang="ja-JP" altLang="en-US" dirty="0"/>
              <a:t>②　仮説の設定</a:t>
            </a:r>
            <a:endParaRPr kumimoji="1" lang="en-US" altLang="ja-JP" dirty="0"/>
          </a:p>
          <a:p>
            <a:pPr lvl="1"/>
            <a:r>
              <a:rPr lang="ja-JP" altLang="en-US" dirty="0"/>
              <a:t>③　有意水準</a:t>
            </a:r>
            <a:r>
              <a:rPr lang="ja-JP" altLang="en-US" sz="1800" dirty="0"/>
              <a:t>（棄却域）</a:t>
            </a:r>
            <a:r>
              <a:rPr lang="ja-JP" altLang="en-US" dirty="0"/>
              <a:t>の決定</a:t>
            </a:r>
            <a:endParaRPr lang="en-US" altLang="ja-JP" dirty="0"/>
          </a:p>
          <a:p>
            <a:pPr lvl="1"/>
            <a:r>
              <a:rPr kumimoji="1" lang="ja-JP" altLang="en-US" dirty="0"/>
              <a:t>④　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⑤　棄却域の臨界値の計算</a:t>
            </a:r>
            <a:endParaRPr lang="en-US" altLang="ja-JP" dirty="0"/>
          </a:p>
          <a:p>
            <a:pPr lvl="1"/>
            <a:r>
              <a:rPr kumimoji="1" lang="ja-JP" altLang="en-US" dirty="0"/>
              <a:t>⑥　検定統計量の計算</a:t>
            </a:r>
            <a:endParaRPr kumimoji="1" lang="en-US" altLang="ja-JP" dirty="0"/>
          </a:p>
          <a:p>
            <a:pPr lvl="1"/>
            <a:r>
              <a:rPr lang="ja-JP" altLang="en-US" dirty="0"/>
              <a:t>⑦　判断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FA1FA04-E92A-1F67-C25D-4A401B2C20C3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132925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2AC2F4-AAE3-1EB7-7E3A-DD0EEB05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①検定方式の決定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D595CF1-E73C-4E09-A31D-9746A587C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1262279774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二項分布の母比率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b="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正規分布の母平均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oMath>
                          </a14:m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値</a:t>
                          </a:r>
                          <a14:m>
                            <m:oMath xmlns:m="http://schemas.openxmlformats.org/officeDocument/2006/math"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  <a:ea typeface="BIZ UDPゴシック" panose="020B0400000000000000" pitchFamily="50" charset="-128"/>
                                </a:rPr>
                                <m:t>𝑎</m:t>
                              </m:r>
                            </m:oMath>
                          </a14:m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との比較</a:t>
                          </a:r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 algn="ctr"/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群）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𝜋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𝜇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37084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𝜋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en-US" altLang="ja-JP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𝐻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: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  <a:ea typeface="BIZ UDPゴシック" panose="020B0400000000000000" pitchFamily="50" charset="-128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  <a:ea typeface="BIZ UDPゴシック" panose="020B0400000000000000" pitchFamily="50" charset="-128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コンテンツ プレースホルダー 5">
                <a:extLst>
                  <a:ext uri="{FF2B5EF4-FFF2-40B4-BE49-F238E27FC236}">
                    <a16:creationId xmlns:a16="http://schemas.microsoft.com/office/drawing/2014/main" id="{429BCB3F-F8BB-5BBE-0BE0-837988849CB4}"/>
                  </a:ext>
                </a:extLst>
              </p:cNvPr>
              <p:cNvGraphicFramePr>
                <a:graphicFrameLocks noGrp="1"/>
              </p:cNvGraphicFramePr>
              <p:nvPr>
                <p:ph idx="13"/>
                <p:extLst>
                  <p:ext uri="{D42A27DB-BD31-4B8C-83A1-F6EECF244321}">
                    <p14:modId xmlns:p14="http://schemas.microsoft.com/office/powerpoint/2010/main" val="1262279774"/>
                  </p:ext>
                </p:extLst>
              </p:nvPr>
            </p:nvGraphicFramePr>
            <p:xfrm>
              <a:off x="131763" y="954088"/>
              <a:ext cx="8880474" cy="4709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80079">
                      <a:extLst>
                        <a:ext uri="{9D8B030D-6E8A-4147-A177-3AD203B41FA5}">
                          <a16:colId xmlns:a16="http://schemas.microsoft.com/office/drawing/2014/main" val="1610412142"/>
                        </a:ext>
                      </a:extLst>
                    </a:gridCol>
                    <a:gridCol w="1480079">
                      <a:extLst>
                        <a:ext uri="{9D8B030D-6E8A-4147-A177-3AD203B41FA5}">
                          <a16:colId xmlns:a16="http://schemas.microsoft.com/office/drawing/2014/main" val="4005636627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297812735"/>
                        </a:ext>
                      </a:extLst>
                    </a:gridCol>
                    <a:gridCol w="2960158">
                      <a:extLst>
                        <a:ext uri="{9D8B030D-6E8A-4147-A177-3AD203B41FA5}">
                          <a16:colId xmlns:a16="http://schemas.microsoft.com/office/drawing/2014/main" val="1873820965"/>
                        </a:ext>
                      </a:extLst>
                    </a:gridCol>
                  </a:tblGrid>
                  <a:tr h="370840">
                    <a:tc gridSpan="2">
                      <a:txBody>
                        <a:bodyPr/>
                        <a:lstStyle/>
                        <a:p>
                          <a:pPr algn="ctr"/>
                          <a:endParaRPr kumimoji="1" lang="ja-JP" altLang="en-US" b="0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kumimoji="1" lang="ja-JP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206" t="-11475" r="-100412" b="-1185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206" t="-11475" r="-412" b="-1185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039593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2" t="-19101" r="-500823" b="-1030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母平均の検定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207015251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283607" r="-100412" b="-9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283607" r="-412" b="-9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77313102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二項分布，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901423895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コインを投げて，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表の出る本当の確率は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50%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170cm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は本当か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57686576"/>
                      </a:ext>
                    </a:extLst>
                  </a:tr>
                  <a:tr h="640080">
                    <a:tc rowSpan="4">
                      <a:txBody>
                        <a:bodyPr/>
                        <a:lstStyle/>
                        <a:p>
                          <a:pPr algn="ctr"/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群の比較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名称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母比率の差の検定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平均値の差の検定</a:t>
                          </a:r>
                          <a:b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（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2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群</a:t>
                          </a:r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検定）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654537987"/>
                      </a:ext>
                    </a:extLst>
                  </a:tr>
                  <a:tr h="64008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帰無仮説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206" t="-504762" r="-100412" b="-1485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blipFill>
                          <a:blip r:embed="rId2"/>
                          <a:stretch>
                            <a:fillRect l="-200206" t="-504762" r="-412" b="-148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7780014"/>
                      </a:ext>
                    </a:extLst>
                  </a:tr>
                  <a:tr h="37084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使う分布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正規分布・カイ二乗分布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t</a:t>
                          </a:r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分布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</a:tcPr>
                    </a:tc>
                    <a:extLst>
                      <a:ext uri="{0D108BD9-81ED-4DB2-BD59-A6C34878D82A}">
                        <a16:rowId xmlns:a16="http://schemas.microsoft.com/office/drawing/2014/main" val="3479921198"/>
                      </a:ext>
                    </a:extLst>
                  </a:tr>
                  <a:tr h="518160">
                    <a:tc vMerge="1">
                      <a:txBody>
                        <a:bodyPr/>
                        <a:lstStyle/>
                        <a:p>
                          <a:endParaRPr kumimoji="1" lang="ja-JP" altLang="en-US" dirty="0">
                            <a:latin typeface="BIZ UDPゴシック" panose="020B0400000000000000" pitchFamily="50" charset="-128"/>
                            <a:ea typeface="BIZ UDPゴシック" panose="020B0400000000000000" pitchFamily="50" charset="-128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使用例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A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とコイン</a:t>
                          </a:r>
                          <a: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B</a:t>
                          </a: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の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表の出る確率は同じか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男性の平均身長と</a:t>
                          </a:r>
                          <a:br>
                            <a:rPr kumimoji="1" lang="en-US" altLang="ja-JP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</a:br>
                          <a:r>
                            <a:rPr kumimoji="1" lang="ja-JP" altLang="en-US" sz="1400" dirty="0">
                              <a:latin typeface="BIZ UDPゴシック" panose="020B0400000000000000" pitchFamily="50" charset="-128"/>
                              <a:ea typeface="BIZ UDPゴシック" panose="020B0400000000000000" pitchFamily="50" charset="-128"/>
                            </a:rPr>
                            <a:t>女性の平均身長に違いはあるか</a:t>
                          </a:r>
                        </a:p>
                      </a:txBody>
                      <a:tcPr anchor="ctr"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8695779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0FFF623-18FD-6E6A-8A32-CFDFE72F69B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5903912"/>
            <a:ext cx="8880843" cy="826826"/>
          </a:xfrm>
        </p:spPr>
        <p:txBody>
          <a:bodyPr/>
          <a:lstStyle/>
          <a:p>
            <a:r>
              <a:rPr lang="ja-JP" altLang="en-US" sz="2000" dirty="0"/>
              <a:t>入手するデータの形状によって，検定の方式が変わる．</a:t>
            </a:r>
            <a:endParaRPr lang="en-US" altLang="ja-JP" sz="2000" dirty="0"/>
          </a:p>
          <a:p>
            <a:pPr lvl="1"/>
            <a:r>
              <a:rPr kumimoji="1" lang="ja-JP" altLang="en-US" sz="1800" dirty="0"/>
              <a:t>詳細は</a:t>
            </a:r>
            <a:r>
              <a:rPr kumimoji="1" lang="en-US" altLang="ja-JP" sz="1800" dirty="0"/>
              <a:t>pp.140</a:t>
            </a:r>
            <a:r>
              <a:rPr kumimoji="1" lang="ja-JP" altLang="en-US" sz="1800" dirty="0"/>
              <a:t>表</a:t>
            </a:r>
            <a:r>
              <a:rPr kumimoji="1" lang="en-US" altLang="ja-JP" sz="1800" dirty="0"/>
              <a:t>1</a:t>
            </a:r>
            <a:r>
              <a:rPr kumimoji="1" lang="ja-JP" altLang="en-US" sz="1800" dirty="0"/>
              <a:t>を参照（一例）</a:t>
            </a:r>
          </a:p>
        </p:txBody>
      </p:sp>
    </p:spTree>
    <p:extLst>
      <p:ext uri="{BB962C8B-B14F-4D97-AF65-F5344CB8AC3E}">
        <p14:creationId xmlns:p14="http://schemas.microsoft.com/office/powerpoint/2010/main" val="3953307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F3390-A5FE-125A-D372-F2C59BA69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5A605F23-B3DC-1146-0A27-CC2005B03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帰無仮説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null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否定したい仮説</a:t>
                </a:r>
                <a:r>
                  <a:rPr lang="ja-JP" altLang="en-US" sz="1800" dirty="0"/>
                  <a:t>（無に帰す）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例：男性の平均身長と女性の平均身長に差はない</a:t>
                </a:r>
                <a:endParaRPr kumimoji="1"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kumimoji="1" lang="en-US" altLang="ja-JP" dirty="0"/>
              </a:p>
              <a:p>
                <a:r>
                  <a:rPr lang="ja-JP" altLang="en-US" dirty="0"/>
                  <a:t>対立仮説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alternative hypothesis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分析者が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立証したい仮説</a:t>
                </a:r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/>
                  <a:t>例：男性の平均身長と女性の平均身長に差はない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02432C8-F14D-ADBA-170D-6548FCD893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68BE9CC-425E-D000-D3B1-A8D3CEB2672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68738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3581A-0828-82EB-6128-4518239A2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C27DE6-F501-624C-D856-01EFB461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6A067B4-6600-8E42-674D-0190E351D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sz="3200" dirty="0"/>
                  <a:t>コイン投げの例で考えると</a:t>
                </a:r>
                <a:r>
                  <a:rPr kumimoji="1" lang="en-US" altLang="ja-JP" sz="3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800" b="0" i="1" smtClean="0">
                        <a:latin typeface="Cambria Math" panose="02040503050406030204" pitchFamily="18" charset="0"/>
                      </a:rPr>
                      <m:t>≠0.5</m:t>
                    </m:r>
                  </m:oMath>
                </a14:m>
                <a:endParaRPr kumimoji="1" lang="en-US" altLang="ja-JP" sz="2800" dirty="0"/>
              </a:p>
              <a:p>
                <a:pPr lvl="2"/>
                <a:r>
                  <a:rPr kumimoji="1" lang="ja-JP" altLang="en-US" sz="2400" dirty="0"/>
                  <a:t>コインの表が出る本当の確率は</a:t>
                </a:r>
                <a:r>
                  <a:rPr kumimoji="1" lang="en-US" altLang="ja-JP" sz="2400" dirty="0"/>
                  <a:t>0.5</a:t>
                </a:r>
                <a:r>
                  <a:rPr kumimoji="1" lang="ja-JP" altLang="en-US" sz="2400" dirty="0"/>
                  <a:t>ではない</a:t>
                </a:r>
                <a:r>
                  <a:rPr kumimoji="1" lang="ja-JP" altLang="en-US" sz="1600" dirty="0"/>
                  <a:t>（コインが歪んでいる，など）</a:t>
                </a:r>
                <a:endParaRPr kumimoji="1" lang="ja-JP" altLang="en-US" sz="24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6231473-1855-3FF7-540E-44D1C2F2D7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1408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DD112-8492-C4B7-3D3B-9F49B2689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E8C84B6-5121-FBD1-AE7F-D3E081FFB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②帰無仮説と対立仮説の設定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8A71EF8-BDEA-8EFD-0DEF-A93CF618B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72391E7-B138-0124-C9A2-654A55E301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両側検定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two-sided test</a:t>
                </a:r>
              </a:p>
              <a:p>
                <a:pPr lvl="1"/>
                <a:r>
                  <a:rPr lang="ja-JP" altLang="en-US" dirty="0"/>
                  <a:t>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違いがある</a:t>
                </a:r>
                <a:r>
                  <a:rPr lang="ja-JP" altLang="en-US" dirty="0"/>
                  <a:t>」ことを立証する場合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棄却域が両側</a:t>
                </a:r>
                <a:endParaRPr kumimoji="1" lang="en-US" altLang="ja-JP" dirty="0"/>
              </a:p>
              <a:p>
                <a:pPr lvl="1"/>
                <a:endParaRPr kumimoji="1"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片側検定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one-sided test</a:t>
                </a:r>
              </a:p>
              <a:p>
                <a:pPr lvl="1"/>
                <a:r>
                  <a:rPr kumimoji="1" lang="ja-JP" altLang="en-US" dirty="0"/>
                  <a:t>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以上</a:t>
                </a:r>
                <a:r>
                  <a:rPr kumimoji="1" lang="ja-JP" altLang="en-US" dirty="0"/>
                  <a:t>」や「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以下</a:t>
                </a:r>
                <a:r>
                  <a:rPr kumimoji="1" lang="ja-JP" altLang="en-US" dirty="0"/>
                  <a:t>」であることを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立証する場合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棄却域が片側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例：コインの表が出る確率が</a:t>
                </a:r>
                <a:r>
                  <a:rPr lang="en-US" altLang="ja-JP" dirty="0"/>
                  <a:t>0.5</a:t>
                </a:r>
                <a:r>
                  <a:rPr lang="ja-JP" altLang="en-US" dirty="0"/>
                  <a:t>未満であることを立証したい</a:t>
                </a:r>
                <a:endParaRPr lang="en-US" altLang="ja-JP" dirty="0"/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≥0.5, 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&lt;0.5</m:t>
                    </m:r>
                  </m:oMath>
                </a14:m>
                <a:endParaRPr kumimoji="1" lang="en-US" altLang="ja-JP" dirty="0"/>
              </a:p>
              <a:p>
                <a:pPr lvl="3"/>
                <a:r>
                  <a:rPr kumimoji="1" lang="en-US" altLang="ja-JP" dirty="0"/>
                  <a:t>0.5</a:t>
                </a:r>
                <a:r>
                  <a:rPr kumimoji="1" lang="ja-JP" altLang="en-US" dirty="0"/>
                  <a:t>以上であることはめったにない（帰無仮説）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72391E7-B138-0124-C9A2-654A55E30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866E1D47-FB37-C9CC-4FB1-83DAB589AF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415" y="871978"/>
            <a:ext cx="3477609" cy="2087029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670007B4-26D0-C06F-D2A2-704ED7325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4424" y="2959007"/>
            <a:ext cx="3477600" cy="2087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45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F8918B-BA02-F376-83CF-BA23F0CA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③有意水準の設定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CF4A1C8-531B-5465-5E49-D109F61C1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35674D-8B38-A454-9021-418A217D9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有意水準　</a:t>
            </a:r>
            <a:r>
              <a:rPr kumimoji="1" lang="en-US" altLang="ja-JP" dirty="0">
                <a:solidFill>
                  <a:schemeClr val="accent2"/>
                </a:solidFill>
              </a:rPr>
              <a:t>significance level</a:t>
            </a:r>
          </a:p>
          <a:p>
            <a:pPr lvl="1"/>
            <a:r>
              <a:rPr lang="ja-JP" altLang="en-US" dirty="0"/>
              <a:t>確率的に偶然とは考えにくく，意味があると考えられる水準</a:t>
            </a:r>
            <a:endParaRPr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帰無仮説を棄却する基準</a:t>
            </a:r>
            <a:r>
              <a:rPr kumimoji="1" lang="ja-JP" altLang="en-US" dirty="0"/>
              <a:t>となる確率</a:t>
            </a:r>
            <a:endParaRPr kumimoji="1" lang="en-US" altLang="ja-JP" dirty="0"/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分析者が設定</a:t>
            </a:r>
            <a:r>
              <a:rPr lang="ja-JP" altLang="en-US" dirty="0"/>
              <a:t>する</a:t>
            </a:r>
            <a:endParaRPr kumimoji="1" lang="en-US" altLang="ja-JP" dirty="0"/>
          </a:p>
          <a:p>
            <a:pPr lvl="1"/>
            <a:r>
              <a:rPr lang="en-US" altLang="ja-JP" dirty="0"/>
              <a:t>1%, 5%, 10%</a:t>
            </a:r>
            <a:r>
              <a:rPr lang="ja-JP" altLang="en-US" dirty="0"/>
              <a:t>が一般的に使われることが多い</a:t>
            </a:r>
            <a:endParaRPr lang="en-US" altLang="ja-JP" dirty="0"/>
          </a:p>
          <a:p>
            <a:pPr lvl="2"/>
            <a:r>
              <a:rPr kumimoji="1" lang="ja-JP" altLang="en-US" dirty="0"/>
              <a:t>学問分野による</a:t>
            </a:r>
            <a:endParaRPr kumimoji="1" lang="en-US" altLang="ja-JP" dirty="0"/>
          </a:p>
          <a:p>
            <a:r>
              <a:rPr lang="ja-JP" altLang="en-US" dirty="0"/>
              <a:t>有意水準</a:t>
            </a:r>
            <a:r>
              <a:rPr lang="en-US" altLang="ja-JP" dirty="0"/>
              <a:t>5%</a:t>
            </a:r>
          </a:p>
          <a:p>
            <a:pPr lvl="1"/>
            <a:r>
              <a:rPr kumimoji="1" lang="en-US" altLang="ja-JP" dirty="0"/>
              <a:t>5%</a:t>
            </a:r>
            <a:r>
              <a:rPr kumimoji="1" lang="ja-JP" altLang="en-US" dirty="0"/>
              <a:t>以下の確率で起こる事象は</a:t>
            </a:r>
            <a:br>
              <a:rPr kumimoji="1" lang="en-US" altLang="ja-JP" dirty="0"/>
            </a:br>
            <a:r>
              <a:rPr kumimoji="1" lang="en-US" altLang="ja-JP" dirty="0"/>
              <a:t>100</a:t>
            </a:r>
            <a:r>
              <a:rPr kumimoji="1" lang="ja-JP" altLang="en-US" dirty="0"/>
              <a:t>回中</a:t>
            </a:r>
            <a:r>
              <a:rPr kumimoji="1" lang="ja-JP" altLang="en-US" sz="1800" dirty="0"/>
              <a:t>（平均的に）</a:t>
            </a:r>
            <a:r>
              <a:rPr kumimoji="1" lang="en-US" altLang="ja-JP" dirty="0"/>
              <a:t>5</a:t>
            </a:r>
            <a:r>
              <a:rPr kumimoji="1" lang="ja-JP" altLang="en-US" dirty="0"/>
              <a:t>回しか起こらない事象．</a:t>
            </a:r>
            <a:br>
              <a:rPr kumimoji="1" lang="en-US" altLang="ja-JP" dirty="0"/>
            </a:br>
            <a:r>
              <a:rPr kumimoji="1" lang="ja-JP" altLang="en-US" dirty="0"/>
              <a:t>極めて珍しいことが起こった，</a:t>
            </a:r>
            <a:br>
              <a:rPr kumimoji="1" lang="en-US" altLang="ja-JP" dirty="0"/>
            </a:br>
            <a:r>
              <a:rPr kumimoji="1" lang="ja-JP" altLang="en-US" dirty="0"/>
              <a:t>意味がある（＝有意である）とみなす．</a:t>
            </a:r>
            <a:endParaRPr kumimoji="1" lang="en-US" altLang="ja-JP" dirty="0"/>
          </a:p>
          <a:p>
            <a:pPr lvl="1"/>
            <a:r>
              <a:rPr lang="ja-JP" altLang="en-US" dirty="0"/>
              <a:t>棄却域の面積</a:t>
            </a:r>
            <a:r>
              <a:rPr lang="en-US" altLang="ja-JP" dirty="0"/>
              <a:t>5%</a:t>
            </a:r>
            <a:endParaRPr kumimoji="1" lang="ja-JP" alt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BCB243E-5D49-07D0-82E4-47C180B98384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53762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291E7D-34A3-A0E9-06C9-0C4AF4F8E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④データの収集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6D8F18B-66E4-0D98-4E47-34AEA1D9E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B1AB19-53AC-72A1-78C3-6C4D0656A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データの収集</a:t>
            </a:r>
            <a:endParaRPr kumimoji="1" lang="en-US" altLang="ja-JP" dirty="0"/>
          </a:p>
          <a:p>
            <a:pPr lvl="1"/>
            <a:r>
              <a:rPr lang="ja-JP" altLang="en-US" dirty="0"/>
              <a:t>検定方式に応じた測定尺度でデータを収集</a:t>
            </a:r>
            <a:endParaRPr lang="en-US" altLang="ja-JP" dirty="0"/>
          </a:p>
          <a:p>
            <a:pPr lvl="1"/>
            <a:r>
              <a:rPr kumimoji="1" lang="ja-JP" altLang="en-US" dirty="0"/>
              <a:t>標本数は大きいほど良いが，</a:t>
            </a:r>
            <a:br>
              <a:rPr kumimoji="1" lang="en-US" altLang="ja-JP" dirty="0"/>
            </a:br>
            <a:r>
              <a:rPr kumimoji="1" lang="ja-JP" altLang="en-US" dirty="0"/>
              <a:t>金銭的・時間的コストとのトレードオフ</a:t>
            </a:r>
            <a:endParaRPr kumimoji="1" lang="en-US" altLang="ja-JP" dirty="0"/>
          </a:p>
          <a:p>
            <a:pPr lvl="1"/>
            <a:r>
              <a:rPr lang="ja-JP" altLang="en-US" dirty="0"/>
              <a:t>偏った標本にならないような，</a:t>
            </a:r>
            <a:r>
              <a:rPr lang="ja-JP" altLang="en-US" dirty="0">
                <a:solidFill>
                  <a:schemeClr val="accent5"/>
                </a:solidFill>
              </a:rPr>
              <a:t>事前の調査設計</a:t>
            </a:r>
            <a:r>
              <a:rPr lang="ja-JP" altLang="en-US" dirty="0"/>
              <a:t>が必要</a:t>
            </a:r>
            <a:endParaRPr lang="en-US" altLang="ja-JP" dirty="0"/>
          </a:p>
          <a:p>
            <a:pPr lvl="2"/>
            <a:r>
              <a:rPr kumimoji="1" lang="ja-JP" altLang="en-US" dirty="0"/>
              <a:t>これが最も難しい！</a:t>
            </a:r>
          </a:p>
        </p:txBody>
      </p:sp>
    </p:spTree>
    <p:extLst>
      <p:ext uri="{BB962C8B-B14F-4D97-AF65-F5344CB8AC3E}">
        <p14:creationId xmlns:p14="http://schemas.microsoft.com/office/powerpoint/2010/main" val="2095278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A3BC1C-C484-DA43-EA49-D2F25454E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⑤棄却域の臨界値の計算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085AE4A-B539-C6B7-15B6-8F4760254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B52CCC-0B7C-25B8-B34E-61B77C9D9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棄却域　</a:t>
            </a:r>
            <a:r>
              <a:rPr kumimoji="1" lang="en-US" altLang="ja-JP" dirty="0">
                <a:solidFill>
                  <a:schemeClr val="accent2"/>
                </a:solidFill>
              </a:rPr>
              <a:t>rejection region</a:t>
            </a:r>
          </a:p>
          <a:p>
            <a:pPr lvl="1"/>
            <a:r>
              <a:rPr lang="ja-JP" altLang="en-US" dirty="0">
                <a:solidFill>
                  <a:schemeClr val="accent5"/>
                </a:solidFill>
              </a:rPr>
              <a:t>帰無仮説を棄却</a:t>
            </a:r>
            <a:r>
              <a:rPr lang="ja-JP" altLang="en-US" dirty="0"/>
              <a:t>する領域</a:t>
            </a:r>
            <a:endParaRPr lang="en-US" altLang="ja-JP" dirty="0"/>
          </a:p>
          <a:p>
            <a:pPr lvl="1"/>
            <a:r>
              <a:rPr kumimoji="1" lang="ja-JP" altLang="en-US" dirty="0"/>
              <a:t>有意水準によって決まる</a:t>
            </a:r>
            <a:endParaRPr kumimoji="1" lang="en-US" altLang="ja-JP" dirty="0"/>
          </a:p>
          <a:p>
            <a:endParaRPr lang="en-US" altLang="ja-JP" dirty="0"/>
          </a:p>
          <a:p>
            <a:r>
              <a:rPr lang="ja-JP" altLang="en-US" dirty="0"/>
              <a:t>臨界値　</a:t>
            </a:r>
            <a:r>
              <a:rPr lang="en-US" altLang="ja-JP" dirty="0">
                <a:solidFill>
                  <a:schemeClr val="accent2"/>
                </a:solidFill>
              </a:rPr>
              <a:t>critical value</a:t>
            </a:r>
          </a:p>
          <a:p>
            <a:pPr lvl="1"/>
            <a:r>
              <a:rPr kumimoji="1" lang="ja-JP" altLang="en-US" dirty="0"/>
              <a:t>仮説の棄却／採択を決定する</a:t>
            </a:r>
            <a:br>
              <a:rPr kumimoji="1" lang="en-US" altLang="ja-JP" dirty="0"/>
            </a:br>
            <a:r>
              <a:rPr kumimoji="1" lang="ja-JP" altLang="en-US" dirty="0"/>
              <a:t>特定の</a:t>
            </a:r>
            <a:r>
              <a:rPr kumimoji="1" lang="ja-JP" altLang="en-US" dirty="0">
                <a:solidFill>
                  <a:schemeClr val="accent5"/>
                </a:solidFill>
              </a:rPr>
              <a:t>カットオフ値（閾値）</a:t>
            </a:r>
            <a:endParaRPr kumimoji="1" lang="en-US" altLang="ja-JP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設定された有意水準と，</a:t>
            </a:r>
            <a:br>
              <a:rPr lang="en-US" altLang="ja-JP" dirty="0"/>
            </a:br>
            <a:r>
              <a:rPr lang="ja-JP" altLang="en-US" dirty="0"/>
              <a:t>検定に用いる確率分布の自由度によって決まる</a:t>
            </a:r>
            <a:endParaRPr lang="en-US" altLang="ja-JP" dirty="0"/>
          </a:p>
          <a:p>
            <a:pPr lvl="2"/>
            <a:r>
              <a:rPr kumimoji="1" lang="ja-JP" altLang="en-US" dirty="0"/>
              <a:t>数学の文脈での臨界値とは意味が異なるので注意</a:t>
            </a:r>
            <a:endParaRPr kumimoji="1" lang="en-US" altLang="ja-JP" dirty="0"/>
          </a:p>
          <a:p>
            <a:pPr lvl="1"/>
            <a:r>
              <a:rPr kumimoji="1" lang="ja-JP" altLang="en-US" dirty="0">
                <a:solidFill>
                  <a:schemeClr val="accent5"/>
                </a:solidFill>
              </a:rPr>
              <a:t>分析者自身が設定する必要はない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3F59F8B-437F-6587-4BF2-BDE420AE6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8" y="1499299"/>
            <a:ext cx="4074728" cy="2445380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527E0E38-4284-EE48-0CAA-734AC0109102}"/>
              </a:ext>
            </a:extLst>
          </p:cNvPr>
          <p:cNvGrpSpPr/>
          <p:nvPr/>
        </p:nvGrpSpPr>
        <p:grpSpPr>
          <a:xfrm>
            <a:off x="5701085" y="3665551"/>
            <a:ext cx="3077023" cy="1137560"/>
            <a:chOff x="5701085" y="3665551"/>
            <a:chExt cx="3077023" cy="1137560"/>
          </a:xfrm>
        </p:grpSpPr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38201110-6862-805A-7C03-F68980A3816B}"/>
                </a:ext>
              </a:extLst>
            </p:cNvPr>
            <p:cNvSpPr txBox="1"/>
            <p:nvPr/>
          </p:nvSpPr>
          <p:spPr>
            <a:xfrm>
              <a:off x="7695760" y="4218336"/>
              <a:ext cx="108234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臨界値</a:t>
              </a:r>
              <a:b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</a:br>
              <a:r>
                <a:rPr kumimoji="1" lang="ja-JP" altLang="en-US" sz="1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（横軸の値）</a:t>
              </a:r>
            </a:p>
          </p:txBody>
        </p:sp>
        <p:grpSp>
          <p:nvGrpSpPr>
            <p:cNvPr id="18" name="グループ化 17">
              <a:extLst>
                <a:ext uri="{FF2B5EF4-FFF2-40B4-BE49-F238E27FC236}">
                  <a16:creationId xmlns:a16="http://schemas.microsoft.com/office/drawing/2014/main" id="{D00BE436-349C-AABE-D540-22B75EF94681}"/>
                </a:ext>
              </a:extLst>
            </p:cNvPr>
            <p:cNvGrpSpPr/>
            <p:nvPr/>
          </p:nvGrpSpPr>
          <p:grpSpPr>
            <a:xfrm>
              <a:off x="5701085" y="3665551"/>
              <a:ext cx="2535849" cy="845173"/>
              <a:chOff x="5701085" y="3665551"/>
              <a:chExt cx="2535849" cy="845173"/>
            </a:xfrm>
          </p:grpSpPr>
          <p:cxnSp>
            <p:nvCxnSpPr>
              <p:cNvPr id="8" name="直線矢印コネクタ 7">
                <a:extLst>
                  <a:ext uri="{FF2B5EF4-FFF2-40B4-BE49-F238E27FC236}">
                    <a16:creationId xmlns:a16="http://schemas.microsoft.com/office/drawing/2014/main" id="{BF0AEBB1-0002-BAD7-33AE-0537BBBBFA26}"/>
                  </a:ext>
                </a:extLst>
              </p:cNvPr>
              <p:cNvCxnSpPr>
                <a:cxnSpLocks/>
                <a:stCxn id="6" idx="1"/>
              </p:cNvCxnSpPr>
              <p:nvPr/>
            </p:nvCxnSpPr>
            <p:spPr>
              <a:xfrm flipH="1" flipV="1">
                <a:off x="5701085" y="3699370"/>
                <a:ext cx="1994675" cy="811354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線矢印コネクタ 9">
                <a:extLst>
                  <a:ext uri="{FF2B5EF4-FFF2-40B4-BE49-F238E27FC236}">
                    <a16:creationId xmlns:a16="http://schemas.microsoft.com/office/drawing/2014/main" id="{1650B0D1-7002-E256-1B84-87A64D6EDC14}"/>
                  </a:ext>
                </a:extLst>
              </p:cNvPr>
              <p:cNvCxnSpPr>
                <a:cxnSpLocks/>
                <a:stCxn id="6" idx="0"/>
              </p:cNvCxnSpPr>
              <p:nvPr/>
            </p:nvCxnSpPr>
            <p:spPr>
              <a:xfrm flipH="1" flipV="1">
                <a:off x="8110330" y="3665551"/>
                <a:ext cx="126604" cy="552785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22B5FB75-D1B3-2412-FB14-3BDCF256C2FB}"/>
              </a:ext>
            </a:extLst>
          </p:cNvPr>
          <p:cNvGrpSpPr/>
          <p:nvPr/>
        </p:nvGrpSpPr>
        <p:grpSpPr>
          <a:xfrm>
            <a:off x="4784651" y="1376750"/>
            <a:ext cx="4227376" cy="2288801"/>
            <a:chOff x="4784651" y="1376750"/>
            <a:chExt cx="4227376" cy="2288801"/>
          </a:xfrm>
        </p:grpSpPr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2FD7CB88-2975-3A05-CE9D-D3F530C4F7FD}"/>
                </a:ext>
              </a:extLst>
            </p:cNvPr>
            <p:cNvGrpSpPr/>
            <p:nvPr/>
          </p:nvGrpSpPr>
          <p:grpSpPr>
            <a:xfrm>
              <a:off x="4784651" y="1376750"/>
              <a:ext cx="916434" cy="2288801"/>
              <a:chOff x="4784651" y="1376750"/>
              <a:chExt cx="916434" cy="2288801"/>
            </a:xfrm>
          </p:grpSpPr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7C2E74F0-ACB8-621C-9C81-AE200B67D7F3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矢印: 左 21">
                <a:extLst>
                  <a:ext uri="{FF2B5EF4-FFF2-40B4-BE49-F238E27FC236}">
                    <a16:creationId xmlns:a16="http://schemas.microsoft.com/office/drawing/2014/main" id="{1FDF4DA9-B2A9-81DD-E732-B8DF1B14A20B}"/>
                  </a:ext>
                </a:extLst>
              </p:cNvPr>
              <p:cNvSpPr/>
              <p:nvPr/>
            </p:nvSpPr>
            <p:spPr>
              <a:xfrm>
                <a:off x="4784651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393B272-E3C9-26D2-1F36-C92D67A53038}"/>
                </a:ext>
              </a:extLst>
            </p:cNvPr>
            <p:cNvGrpSpPr/>
            <p:nvPr/>
          </p:nvGrpSpPr>
          <p:grpSpPr>
            <a:xfrm>
              <a:off x="8095598" y="1376750"/>
              <a:ext cx="916429" cy="2288801"/>
              <a:chOff x="8095598" y="1376750"/>
              <a:chExt cx="916429" cy="2288801"/>
            </a:xfrm>
          </p:grpSpPr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9CC8431A-1763-6966-3221-3F09E572475B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矢印: 左 23">
                <a:extLst>
                  <a:ext uri="{FF2B5EF4-FFF2-40B4-BE49-F238E27FC236}">
                    <a16:creationId xmlns:a16="http://schemas.microsoft.com/office/drawing/2014/main" id="{226647F2-333E-D0E8-8CAA-BBC08D90A915}"/>
                  </a:ext>
                </a:extLst>
              </p:cNvPr>
              <p:cNvSpPr/>
              <p:nvPr/>
            </p:nvSpPr>
            <p:spPr>
              <a:xfrm flipH="1">
                <a:off x="8095598" y="1376750"/>
                <a:ext cx="916429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</a:p>
            </p:txBody>
          </p:sp>
        </p:grpSp>
      </p:grpSp>
      <p:sp>
        <p:nvSpPr>
          <p:cNvPr id="28" name="矢印: 左右 27">
            <a:extLst>
              <a:ext uri="{FF2B5EF4-FFF2-40B4-BE49-F238E27FC236}">
                <a16:creationId xmlns:a16="http://schemas.microsoft.com/office/drawing/2014/main" id="{0163413D-2C79-084D-8276-EDB21A5CA7E7}"/>
              </a:ext>
            </a:extLst>
          </p:cNvPr>
          <p:cNvSpPr/>
          <p:nvPr/>
        </p:nvSpPr>
        <p:spPr>
          <a:xfrm>
            <a:off x="5723187" y="1388777"/>
            <a:ext cx="2379777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</a:p>
        </p:txBody>
      </p:sp>
    </p:spTree>
    <p:extLst>
      <p:ext uri="{BB962C8B-B14F-4D97-AF65-F5344CB8AC3E}">
        <p14:creationId xmlns:p14="http://schemas.microsoft.com/office/powerpoint/2010/main" val="2470833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1206DF-0B9E-BECE-FFB9-BF73EA229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⑥検定統計量の計算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BAE84A58-D370-FECE-4926-B6C4DB740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検定統計量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test statistics</a:t>
                </a:r>
              </a:p>
              <a:p>
                <a:pPr lvl="1"/>
                <a:r>
                  <a:rPr lang="ja-JP" altLang="en-US" dirty="0"/>
                  <a:t>標本データから計算される統計量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この値と，⑤の臨界値を比較して，</a:t>
                </a:r>
                <a:br>
                  <a:rPr kumimoji="1" lang="en-US" altLang="ja-JP" dirty="0"/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検定統計量の方が絶対値が大きければ，</a:t>
                </a:r>
                <a:br>
                  <a:rPr lang="en-US" altLang="ja-JP" dirty="0">
                    <a:solidFill>
                      <a:schemeClr val="accent5"/>
                    </a:solidFill>
                  </a:rPr>
                </a:br>
                <a:r>
                  <a:rPr lang="ja-JP" altLang="en-US" dirty="0">
                    <a:solidFill>
                      <a:schemeClr val="accent5"/>
                    </a:solidFill>
                  </a:rPr>
                  <a:t>帰無仮説を棄却</a:t>
                </a:r>
                <a:r>
                  <a:rPr lang="ja-JP" altLang="en-US" dirty="0"/>
                  <a:t>する．</a:t>
                </a:r>
                <a:endParaRPr lang="en-US" altLang="ja-JP" dirty="0"/>
              </a:p>
              <a:p>
                <a:pPr lvl="1"/>
                <a:r>
                  <a:rPr kumimoji="1" lang="ja-JP" altLang="en-US" dirty="0"/>
                  <a:t>「データに想定する分布」と「検定統計量のしたがう分布」を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区別する必要があるため注意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t</a:t>
                </a:r>
                <a:r>
                  <a:rPr lang="ja-JP" altLang="en-US" sz="1800" dirty="0"/>
                  <a:t>分布の検定統計量）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dirty="0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CFAAEF0-C276-B9B5-3E59-E89F225FE7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216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FDFB646-AA2E-0856-24A7-62966014E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⑦判断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599E2E5-07D3-951A-BDB0-627E3D2FB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1BEB1D5-D9B2-B93E-61D0-D357EF1BC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検定統計量が棄却域に含まれる</a:t>
            </a:r>
            <a:endParaRPr kumimoji="1" lang="en-US" altLang="ja-JP" dirty="0"/>
          </a:p>
          <a:p>
            <a:pPr lvl="1"/>
            <a:r>
              <a:rPr lang="ja-JP" altLang="en-US" dirty="0"/>
              <a:t>帰無仮説のもとでは，検定統計量の結果となることはほとんどない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帰無仮説を棄却して，</a:t>
            </a:r>
            <a:r>
              <a:rPr kumimoji="1" lang="ja-JP" altLang="en-US" b="1" dirty="0">
                <a:solidFill>
                  <a:schemeClr val="accent5"/>
                </a:solidFill>
              </a:rPr>
              <a:t>対立仮説を採用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検定統計量が棄却域に含まれない</a:t>
            </a:r>
            <a:endParaRPr lang="en-US" altLang="ja-JP" dirty="0"/>
          </a:p>
          <a:p>
            <a:pPr lvl="1"/>
            <a:r>
              <a:rPr kumimoji="1" lang="ja-JP" altLang="en-US" dirty="0"/>
              <a:t>帰無仮説と対立仮説の</a:t>
            </a:r>
            <a:r>
              <a:rPr kumimoji="1" lang="ja-JP" altLang="en-US" b="1" dirty="0">
                <a:solidFill>
                  <a:schemeClr val="accent5"/>
                </a:solidFill>
              </a:rPr>
              <a:t>どちらが正しいかは不明</a:t>
            </a:r>
            <a:endParaRPr kumimoji="1" lang="en-US" altLang="ja-JP" b="1" dirty="0">
              <a:solidFill>
                <a:schemeClr val="accent5"/>
              </a:solidFill>
            </a:endParaRPr>
          </a:p>
          <a:p>
            <a:pPr lvl="1"/>
            <a:r>
              <a:rPr lang="ja-JP" altLang="en-US" dirty="0"/>
              <a:t>帰無仮説が正しいかはわからないが，</a:t>
            </a:r>
            <a:br>
              <a:rPr lang="en-US" altLang="ja-JP" dirty="0"/>
            </a:br>
            <a:r>
              <a:rPr lang="ja-JP" altLang="en-US" dirty="0"/>
              <a:t>対立仮説が正しいとは言えない</a:t>
            </a:r>
            <a:endParaRPr kumimoji="1" lang="ja-JP" altLang="en-US" dirty="0"/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A769050C-2479-121D-AFF0-5B889CAE164B}"/>
              </a:ext>
            </a:extLst>
          </p:cNvPr>
          <p:cNvSpPr/>
          <p:nvPr/>
        </p:nvSpPr>
        <p:spPr>
          <a:xfrm>
            <a:off x="5305647" y="2636874"/>
            <a:ext cx="3125972" cy="978196"/>
          </a:xfrm>
          <a:prstGeom prst="wedgeRoundRectCallout">
            <a:avLst>
              <a:gd name="adj1" fmla="val -61309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立証したい仮説が</a:t>
            </a:r>
            <a:br>
              <a:rPr kumimoji="1" lang="en-US" altLang="ja-JP" dirty="0">
                <a:solidFill>
                  <a:schemeClr val="accent2"/>
                </a:solidFill>
              </a:rPr>
            </a:br>
            <a:r>
              <a:rPr kumimoji="1" lang="ja-JP" altLang="en-US" dirty="0">
                <a:solidFill>
                  <a:schemeClr val="accent2"/>
                </a:solidFill>
              </a:rPr>
              <a:t>統計的に立証された！</a:t>
            </a:r>
          </a:p>
        </p:txBody>
      </p:sp>
      <p:sp>
        <p:nvSpPr>
          <p:cNvPr id="6" name="吹き出し: 角を丸めた四角形 5">
            <a:extLst>
              <a:ext uri="{FF2B5EF4-FFF2-40B4-BE49-F238E27FC236}">
                <a16:creationId xmlns:a16="http://schemas.microsoft.com/office/drawing/2014/main" id="{68F7E6B4-0575-9A8C-1887-9DBAEA8EB6CD}"/>
              </a:ext>
            </a:extLst>
          </p:cNvPr>
          <p:cNvSpPr/>
          <p:nvPr/>
        </p:nvSpPr>
        <p:spPr>
          <a:xfrm>
            <a:off x="5305647" y="5538430"/>
            <a:ext cx="3125972" cy="978196"/>
          </a:xfrm>
          <a:prstGeom prst="wedgeRoundRectCallout">
            <a:avLst>
              <a:gd name="adj1" fmla="val -70153"/>
              <a:gd name="adj2" fmla="val -58152"/>
              <a:gd name="adj3" fmla="val 16667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accent2"/>
                </a:solidFill>
              </a:rPr>
              <a:t>間違っているとも言えない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2AB3FB4-45FD-E601-ED76-7E8AD79BC661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924705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2894BF-1C76-B9DB-5828-EC7D1EDF1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259CC45-CD0F-AF3B-E69B-707B83EFF5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２：例①　母平均の検定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EBDA085-938E-7F57-0224-E59C318E4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66068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C828E8-DCB1-7B81-16D9-FE11874F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CB71DCE-7EDD-7CAD-F0CB-1412B96A0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母平均の検定（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群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検定）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母平均が</a:t>
                </a:r>
                <a:r>
                  <a:rPr kumimoji="1" lang="en-US" altLang="ja-JP" dirty="0"/>
                  <a:t>150g</a:t>
                </a:r>
                <a:r>
                  <a:rPr kumimoji="1" lang="ja-JP" altLang="en-US" dirty="0"/>
                  <a:t>ではないことを検証するため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である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≠150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ポテトの重量は平均的に</a:t>
                </a:r>
                <a:r>
                  <a:rPr lang="en-US" altLang="ja-JP" dirty="0"/>
                  <a:t>150g</a:t>
                </a:r>
                <a:r>
                  <a:rPr lang="ja-JP" altLang="en-US" dirty="0"/>
                  <a:t>ではない（表記はウソである）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6D7192F-3F17-27C1-A136-3DC0E5AEC3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75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0D2E-0058-DC47-52D3-B745DC778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9C70A-1730-F90E-ADB0-F53C175E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3DDE1F-23E7-09AA-5871-DA0438261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t</a:t>
                </a:r>
                <a:r>
                  <a:rPr lang="ja-JP" altLang="en-US" dirty="0"/>
                  <a:t>分布表から，自由度</a:t>
                </a:r>
                <a:r>
                  <a:rPr lang="en-US" altLang="ja-JP" dirty="0"/>
                  <a:t>9</a:t>
                </a:r>
                <a:r>
                  <a:rPr lang="ja-JP" altLang="en-US" dirty="0"/>
                  <a:t>，上側確率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値を探す</a:t>
                </a:r>
                <a:endParaRPr lang="en-US" altLang="ja-JP" dirty="0"/>
              </a:p>
              <a:p>
                <a:pPr lvl="2"/>
                <a:r>
                  <a:rPr kumimoji="1" lang="ja-JP" altLang="en-US" dirty="0"/>
                  <a:t>自由度：</a:t>
                </a:r>
                <a:r>
                  <a:rPr kumimoji="1" lang="en-US" altLang="ja-JP" dirty="0"/>
                  <a:t>			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9=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−1=10−1</m:t>
                    </m:r>
                  </m:oMath>
                </a14:m>
                <a:endParaRPr kumimoji="1" lang="en-US" altLang="ja-JP" b="0" dirty="0"/>
              </a:p>
              <a:p>
                <a:pPr lvl="2"/>
                <a:r>
                  <a:rPr kumimoji="1" lang="ja-JP" altLang="en-US" dirty="0"/>
                  <a:t>上側確率</a:t>
                </a:r>
                <a:r>
                  <a:rPr kumimoji="1" lang="en-US" altLang="ja-JP" dirty="0"/>
                  <a:t>2.5%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	</a:t>
                </a:r>
                <a:r>
                  <a:rPr kumimoji="1" lang="ja-JP" altLang="en-US" dirty="0"/>
                  <a:t>有意水準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より，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1−0.95</m:t>
                            </m:r>
                          </m:e>
                        </m:d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よって，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kumimoji="1" lang="ja-JP" altLang="en-US" dirty="0"/>
                  <a:t>の値を探せばよい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t.inv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自由度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ただし出力されるのは下側確率なので，</a:t>
                </a:r>
                <a:br>
                  <a:rPr lang="en-US" altLang="ja-JP" dirty="0"/>
                </a:br>
                <a:r>
                  <a:rPr lang="ja-JP" altLang="en-US" dirty="0"/>
                  <a:t>上側確率を求めたいときは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abs()</a:t>
                </a:r>
                <a:r>
                  <a:rPr lang="ja-JP" altLang="en-US" dirty="0"/>
                  <a:t>などで絶対値を取ると良い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F9FC6E8-DBB8-110A-EC11-E5BD301471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/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0.025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28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e>
                      </m:d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=2.262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A2D6916E-C6ED-8B9D-4E0F-630E395C36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846" y="562462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5169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AAFC6-6797-6706-9D3A-1063E7F99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9CF15C-1A78-F243-475B-8FAAD4192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D06C196-8608-6ECF-9DEA-32FE7161B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t-value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p>
                                      <m:sSup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acc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</m:e>
                        </m:d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ja-JP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sz="2400" i="1">
                                <a:latin typeface="Cambria Math" panose="02040503050406030204" pitchFamily="18" charset="0"/>
                              </a:rPr>
                              <m:t>母平均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標本不偏分散</m:t>
                                    </m:r>
                                  </m:e>
                                </m:d>
                              </m:num>
                              <m:den>
                                <m:d>
                                  <m:dPr>
                                    <m:ctrlP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ja-JP" altLang="en-US" sz="2400" i="1">
                                        <a:latin typeface="Cambria Math" panose="02040503050406030204" pitchFamily="18" charset="0"/>
                                      </a:rPr>
                                      <m:t>標本</m:t>
                                    </m:r>
                                    <m:r>
                                      <a:rPr lang="ja-JP" altLang="en-US" sz="2400" i="1" smtClean="0">
                                        <a:latin typeface="Cambria Math" panose="02040503050406030204" pitchFamily="18" charset="0"/>
                                      </a:rPr>
                                      <m:t>数</m:t>
                                    </m:r>
                                  </m:e>
                                </m:d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142.4−150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34.711</m:t>
                                </m:r>
                              </m:num>
                              <m:den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=−4.079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2E29852-01F1-AF6A-9AB5-2A757EBFD6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F092F4E-2932-B3AE-DBB7-8985AF08CC50}"/>
              </a:ext>
            </a:extLst>
          </p:cNvPr>
          <p:cNvSpPr/>
          <p:nvPr/>
        </p:nvSpPr>
        <p:spPr>
          <a:xfrm>
            <a:off x="5571460" y="2158409"/>
            <a:ext cx="2762540" cy="127059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4336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0350A-DD3A-2E45-775B-67C141B8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E6D60-E46F-B025-58C4-213A1B0F1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ポテトの重量</a:t>
            </a:r>
            <a:r>
              <a:rPr kumimoji="1" lang="en-US" altLang="ja-JP" dirty="0"/>
              <a:t>150ℊ</a:t>
            </a:r>
            <a:r>
              <a:rPr kumimoji="1" lang="ja-JP" altLang="en-US" dirty="0"/>
              <a:t>表記は本当か</a:t>
            </a:r>
            <a:r>
              <a:rPr lang="ja-JP" altLang="en-US" dirty="0"/>
              <a:t>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C3103EB-144D-53E3-0434-B803D1C8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t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2.262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−4.079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t</a:t>
                </a:r>
                <a:r>
                  <a:rPr lang="ja-JP" altLang="en-US" dirty="0"/>
                  <a:t>値（検定統計量）が棄却域に含まれる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帰無仮説を棄却して，対立仮説を採択する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4B192EB-A812-C27A-D638-DB1076C8D2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  <a:blipFill>
                <a:blip r:embed="rId2"/>
                <a:stretch>
                  <a:fillRect l="-1099" t="-2799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図 5">
            <a:extLst>
              <a:ext uri="{FF2B5EF4-FFF2-40B4-BE49-F238E27FC236}">
                <a16:creationId xmlns:a16="http://schemas.microsoft.com/office/drawing/2014/main" id="{9342E504-D6F2-9C2B-C2CF-1780F8782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749" y="861701"/>
            <a:ext cx="6088071" cy="3653654"/>
          </a:xfrm>
          <a:prstGeom prst="rect">
            <a:avLst/>
          </a:prstGeom>
        </p:spPr>
      </p:pic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D28C55B1-4EC2-E2BE-2633-F3055A0DD620}"/>
              </a:ext>
            </a:extLst>
          </p:cNvPr>
          <p:cNvGrpSpPr/>
          <p:nvPr/>
        </p:nvGrpSpPr>
        <p:grpSpPr>
          <a:xfrm>
            <a:off x="3751999" y="4106213"/>
            <a:ext cx="1066318" cy="780097"/>
            <a:chOff x="3751999" y="4106213"/>
            <a:chExt cx="1066318" cy="780097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849287FD-120C-08D2-2E95-3630FA41F676}"/>
                </a:ext>
              </a:extLst>
            </p:cNvPr>
            <p:cNvSpPr txBox="1"/>
            <p:nvPr/>
          </p:nvSpPr>
          <p:spPr>
            <a:xfrm>
              <a:off x="3751999" y="4516978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4577175E-6E54-2EF7-99FE-ADC4DDD75C03}"/>
                </a:ext>
              </a:extLst>
            </p:cNvPr>
            <p:cNvCxnSpPr>
              <a:cxnSpLocks/>
              <a:stCxn id="7" idx="0"/>
            </p:cNvCxnSpPr>
            <p:nvPr/>
          </p:nvCxnSpPr>
          <p:spPr>
            <a:xfrm flipV="1">
              <a:off x="4285158" y="4106213"/>
              <a:ext cx="232384" cy="410765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1921F50A-A460-C9E5-D7DE-A0FB66386813}"/>
              </a:ext>
            </a:extLst>
          </p:cNvPr>
          <p:cNvGrpSpPr/>
          <p:nvPr/>
        </p:nvGrpSpPr>
        <p:grpSpPr>
          <a:xfrm>
            <a:off x="7272669" y="4122068"/>
            <a:ext cx="955711" cy="762619"/>
            <a:chOff x="7272669" y="4122068"/>
            <a:chExt cx="955711" cy="762619"/>
          </a:xfrm>
        </p:grpSpPr>
        <p:sp>
          <p:nvSpPr>
            <p:cNvPr id="5" name="テキスト ボックス 4">
              <a:extLst>
                <a:ext uri="{FF2B5EF4-FFF2-40B4-BE49-F238E27FC236}">
                  <a16:creationId xmlns:a16="http://schemas.microsoft.com/office/drawing/2014/main" id="{33884ECA-AC14-1D7E-48E9-D005D1E1DA6F}"/>
                </a:ext>
              </a:extLst>
            </p:cNvPr>
            <p:cNvSpPr txBox="1"/>
            <p:nvPr/>
          </p:nvSpPr>
          <p:spPr>
            <a:xfrm>
              <a:off x="7272669" y="4515355"/>
              <a:ext cx="9557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2.262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E32CF3E8-664A-DD05-7527-EA2B33498F0F}"/>
                </a:ext>
              </a:extLst>
            </p:cNvPr>
            <p:cNvCxnSpPr>
              <a:cxnSpLocks/>
              <a:stCxn id="5" idx="0"/>
            </p:cNvCxnSpPr>
            <p:nvPr/>
          </p:nvCxnSpPr>
          <p:spPr>
            <a:xfrm flipH="1" flipV="1">
              <a:off x="7573444" y="4122068"/>
              <a:ext cx="177081" cy="39328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EB7C3108-BE54-82DB-F054-2A6052830200}"/>
              </a:ext>
            </a:extLst>
          </p:cNvPr>
          <p:cNvGrpSpPr/>
          <p:nvPr/>
        </p:nvGrpSpPr>
        <p:grpSpPr>
          <a:xfrm>
            <a:off x="2435195" y="967563"/>
            <a:ext cx="1066318" cy="3917124"/>
            <a:chOff x="2435195" y="967563"/>
            <a:chExt cx="1066318" cy="3917124"/>
          </a:xfrm>
        </p:grpSpPr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1BF0166E-1019-B9C9-E8AC-D3822D903E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3F59B38C-545F-B9CA-A1D0-B6A12C125DF8}"/>
                </a:ext>
              </a:extLst>
            </p:cNvPr>
            <p:cNvSpPr txBox="1"/>
            <p:nvPr/>
          </p:nvSpPr>
          <p:spPr>
            <a:xfrm>
              <a:off x="2435195" y="4515355"/>
              <a:ext cx="106631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-4.079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D68EE2D-082B-C96C-C26A-907B6F4CA622}"/>
              </a:ext>
            </a:extLst>
          </p:cNvPr>
          <p:cNvGrpSpPr/>
          <p:nvPr/>
        </p:nvGrpSpPr>
        <p:grpSpPr>
          <a:xfrm>
            <a:off x="2913324" y="916566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5D2F1360-0F5F-B34F-7CE0-0C6BD661C9A3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0C6A941-1AA5-031F-A29E-256217CB148D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E8A85E4B-AC9F-7DE9-8CC8-4CD4C561556C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77B96F-3D69-6E00-D932-D423C9DCC747}"/>
                </a:ext>
              </a:extLst>
            </p:cNvPr>
            <p:cNvGrpSpPr/>
            <p:nvPr/>
          </p:nvGrpSpPr>
          <p:grpSpPr>
            <a:xfrm>
              <a:off x="8095597" y="1376750"/>
              <a:ext cx="1121037" cy="2288801"/>
              <a:chOff x="8095597" y="1376750"/>
              <a:chExt cx="1121037" cy="2288801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02ADB676-D333-6676-9D11-209B455F1D1E}"/>
                  </a:ext>
                </a:extLst>
              </p:cNvPr>
              <p:cNvCxnSpPr/>
              <p:nvPr/>
            </p:nvCxnSpPr>
            <p:spPr>
              <a:xfrm flipV="1">
                <a:off x="8110330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5F4FE603-751F-50A1-30C9-9729C38E5BD1}"/>
                  </a:ext>
                </a:extLst>
              </p:cNvPr>
              <p:cNvSpPr/>
              <p:nvPr/>
            </p:nvSpPr>
            <p:spPr>
              <a:xfrm flipH="1">
                <a:off x="8095597" y="1376750"/>
                <a:ext cx="11210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30" name="矢印: 左右 29">
            <a:extLst>
              <a:ext uri="{FF2B5EF4-FFF2-40B4-BE49-F238E27FC236}">
                <a16:creationId xmlns:a16="http://schemas.microsoft.com/office/drawing/2014/main" id="{51F7E089-299A-177D-CF9E-90B9EB76A359}"/>
              </a:ext>
            </a:extLst>
          </p:cNvPr>
          <p:cNvSpPr/>
          <p:nvPr/>
        </p:nvSpPr>
        <p:spPr>
          <a:xfrm>
            <a:off x="4517542" y="1047620"/>
            <a:ext cx="3080940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5560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D1D6-2CBD-D503-08B3-CC82E00FC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6C000B8-FE4A-CA4D-1EE8-548F8B048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２：例②　母比率の差の検定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204953E-7383-0EC1-1C5D-89515F352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6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A4143-C2DB-4525-901F-1BF416A52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C844BE-6E89-335E-AA2D-25B924B22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自社とライバル社の</a:t>
            </a:r>
            <a:r>
              <a:rPr kumimoji="1" lang="en-US" altLang="ja-JP" dirty="0"/>
              <a:t>2</a:t>
            </a:r>
            <a:r>
              <a:rPr kumimoji="1" lang="ja-JP" altLang="en-US" dirty="0"/>
              <a:t>社の満足度に差があるか①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6C1672-63FD-F3C2-428A-B6ADE80B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kumimoji="1" lang="ja-JP" altLang="en-US" dirty="0"/>
                  <a:t>①検定方式の決定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母比率の差の検定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「満足している</a:t>
                </a:r>
                <a:r>
                  <a:rPr kumimoji="1" lang="en-US" altLang="ja-JP" dirty="0"/>
                  <a:t>=1</a:t>
                </a:r>
                <a:r>
                  <a:rPr kumimoji="1" lang="ja-JP" altLang="en-US" dirty="0"/>
                  <a:t>」「満足していない</a:t>
                </a:r>
                <a:r>
                  <a:rPr kumimoji="1" lang="en-US" altLang="ja-JP" dirty="0"/>
                  <a:t>=0</a:t>
                </a:r>
                <a:r>
                  <a:rPr kumimoji="1" lang="ja-JP" altLang="en-US" dirty="0"/>
                  <a:t>」の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母比率の差が</a:t>
                </a:r>
                <a:r>
                  <a:rPr kumimoji="1" lang="en-US" altLang="ja-JP" dirty="0"/>
                  <a:t>0</a:t>
                </a:r>
                <a:r>
                  <a:rPr kumimoji="1" lang="ja-JP" altLang="en-US" dirty="0"/>
                  <a:t>でない（＝差がある）ことを検証するため</a:t>
                </a:r>
              </a:p>
              <a:p>
                <a:r>
                  <a:rPr kumimoji="1" lang="ja-JP" altLang="en-US" dirty="0"/>
                  <a:t>②仮説の設定</a:t>
                </a:r>
              </a:p>
              <a:p>
                <a:pPr lvl="1"/>
                <a:r>
                  <a:rPr kumimoji="1" lang="ja-JP" altLang="en-US" dirty="0"/>
                  <a:t>帰無仮説：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２社の満足度に差はない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対立仮説：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endParaRPr kumimoji="1" lang="en-US" altLang="ja-JP" dirty="0"/>
              </a:p>
              <a:p>
                <a:pPr lvl="2"/>
                <a:r>
                  <a:rPr lang="ja-JP" altLang="en-US" dirty="0"/>
                  <a:t>２社の満足度には差がある</a:t>
                </a:r>
                <a:endParaRPr kumimoji="1" lang="ja-JP" altLang="en-US" dirty="0"/>
              </a:p>
              <a:p>
                <a:r>
                  <a:rPr kumimoji="1" lang="ja-JP" altLang="en-US" dirty="0"/>
                  <a:t>③有意水準の設定</a:t>
                </a:r>
              </a:p>
              <a:p>
                <a:pPr lvl="1"/>
                <a:r>
                  <a:rPr kumimoji="1" lang="ja-JP" altLang="en-US" dirty="0"/>
                  <a:t>有意水準：</a:t>
                </a:r>
                <a:r>
                  <a:rPr kumimoji="1" lang="en-US" altLang="ja-JP" dirty="0"/>
                  <a:t>5%</a:t>
                </a:r>
              </a:p>
              <a:p>
                <a:pPr lvl="2"/>
                <a:r>
                  <a:rPr lang="ja-JP" altLang="en-US" dirty="0"/>
                  <a:t>例として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を設定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04C84E9-7C6F-0907-D5D9-D821E325D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04412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D89AB-71FF-0A6F-6316-207234403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7BD7228-8D37-D643-FD90-58E9C01D5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03CB1419-EEC0-FA68-8FFA-DB0611BBF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④データの収集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サンプルデータを使用</a:t>
                </a:r>
              </a:p>
              <a:p>
                <a:r>
                  <a:rPr kumimoji="1" lang="ja-JP" altLang="en-US" dirty="0"/>
                  <a:t>⑤棄却域の臨界値の計算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正規分布表から，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のとき，</a:t>
                </a:r>
                <a:br>
                  <a:rPr lang="en-US" altLang="ja-JP" dirty="0"/>
                </a:br>
                <a:r>
                  <a:rPr lang="ja-JP" altLang="en-US" dirty="0"/>
                  <a:t>上側確率が</a:t>
                </a:r>
                <a:r>
                  <a:rPr lang="en-US" altLang="ja-JP" dirty="0"/>
                  <a:t>0.025</a:t>
                </a:r>
                <a:r>
                  <a:rPr lang="ja-JP" altLang="en-US" dirty="0"/>
                  <a:t>になる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dirty="0"/>
                  <a:t>の値を探す</a:t>
                </a:r>
                <a:endParaRPr lang="en-US" altLang="ja-JP" dirty="0"/>
              </a:p>
              <a:p>
                <a:pPr lvl="2"/>
                <a:r>
                  <a:rPr lang="en-US" altLang="ja-JP" dirty="0"/>
                  <a:t>Excel</a:t>
                </a:r>
                <a:r>
                  <a:rPr lang="ja-JP" altLang="en-US" dirty="0"/>
                  <a:t>関数を使用する場合は</a:t>
                </a:r>
                <a:br>
                  <a:rPr lang="en-US" altLang="ja-JP" dirty="0"/>
                </a:b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=</a:t>
                </a:r>
                <a:r>
                  <a:rPr lang="en-US" altLang="ja-JP" dirty="0" err="1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norm.inv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(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上側確率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平均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,</a:t>
                </a:r>
                <a:r>
                  <a:rPr lang="ja-JP" altLang="en-US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標準偏差</a:t>
                </a:r>
                <a:r>
                  <a:rPr lang="en-US" altLang="ja-JP" dirty="0">
                    <a:latin typeface="Ricty Diminished Discord" panose="020B0509020203020207" pitchFamily="49" charset="-128"/>
                    <a:ea typeface="Ricty Diminished Discord" panose="020B0509020203020207" pitchFamily="49" charset="-128"/>
                  </a:rPr>
                  <a:t>)</a:t>
                </a:r>
              </a:p>
              <a:p>
                <a:pPr lvl="3"/>
                <a:r>
                  <a:rPr lang="ja-JP" altLang="en-US" dirty="0"/>
                  <a:t>標準正規分布なので，平均は</a:t>
                </a:r>
                <a:r>
                  <a:rPr lang="en-US" altLang="ja-JP" dirty="0"/>
                  <a:t>0</a:t>
                </a:r>
                <a:r>
                  <a:rPr lang="ja-JP" altLang="en-US" dirty="0"/>
                  <a:t>，標準偏差は</a:t>
                </a:r>
                <a:r>
                  <a:rPr lang="en-US" altLang="ja-JP" dirty="0"/>
                  <a:t>1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74D8-30C6-9232-67D9-853BDB3ABD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/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kumimoji="1" lang="en-US" altLang="ja-JP" sz="28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=1.96</m:t>
                      </m:r>
                    </m:oMath>
                  </m:oMathPara>
                </a14:m>
                <a:endParaRPr kumimoji="1"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F51D87EB-17B1-00A2-331F-A3076C57A4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3358" y="5539564"/>
                <a:ext cx="3249177" cy="9699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8293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664F2-2F5C-8DE9-A191-C444CB28D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63C6C51-40EB-D4CA-E0D9-1B541EA05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82241F-A094-3FEA-0F8D-0C75D00CE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kumimoji="1" lang="ja-JP" altLang="en-US" dirty="0"/>
                  <a:t>⑥検定統計量の計算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定義式に値を代入して，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（</a:t>
                </a:r>
                <a:r>
                  <a:rPr lang="en-US" altLang="ja-JP" sz="1800" dirty="0">
                    <a:solidFill>
                      <a:schemeClr val="accent2"/>
                    </a:solidFill>
                  </a:rPr>
                  <a:t>z-value</a:t>
                </a:r>
                <a:r>
                  <a:rPr lang="ja-JP" altLang="en-US" sz="1800" dirty="0">
                    <a:solidFill>
                      <a:schemeClr val="accent2"/>
                    </a:solidFill>
                  </a:rPr>
                  <a:t>）</a:t>
                </a:r>
                <a:r>
                  <a:rPr lang="ja-JP" altLang="en-US" dirty="0"/>
                  <a:t>を計算する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kumimoji="1" lang="en-US" altLang="ja-JP" sz="24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d>
                            <m:d>
                              <m:dPr>
                                <m:ctrlP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kumimoji="1" lang="en-US" altLang="ja-JP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1" lang="en-US" altLang="ja-JP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kumimoji="1" lang="en-US" altLang="ja-JP" sz="24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:br>
                  <a:rPr kumimoji="1" lang="en-US" altLang="ja-JP" sz="24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ライバル社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自社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全体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標本比率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ja-JP" altLang="en-US" i="1" smtClean="0">
                                    <a:latin typeface="Cambria Math" panose="02040503050406030204" pitchFamily="18" charset="0"/>
                                  </a:rPr>
                                  <m:t>全体の</m:t>
                                </m:r>
                                <m:r>
                                  <a:rPr lang="ja-JP" altLang="en-US" i="1">
                                    <a:latin typeface="Cambria Math" panose="02040503050406030204" pitchFamily="18" charset="0"/>
                                  </a:rPr>
                                  <m:t>標本比率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自社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ライバル社</m:t>
                                    </m:r>
                                    <m:r>
                                      <a:rPr lang="ja-JP" altLang="en-US" i="1">
                                        <a:latin typeface="Cambria Math" panose="02040503050406030204" pitchFamily="18" charset="0"/>
                                      </a:rPr>
                                      <m:t>の</m:t>
                                    </m:r>
                                    <m:r>
                                      <a:rPr lang="ja-JP" altLang="en-US" i="1" smtClean="0">
                                        <a:latin typeface="Cambria Math" panose="02040503050406030204" pitchFamily="18" charset="0"/>
                                      </a:rPr>
                                      <m:t>標本数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0.806</m:t>
                            </m:r>
                            <m:r>
                              <a:rPr lang="en-US" altLang="ja-JP" sz="28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0.864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ja-JP" sz="28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ja-JP" sz="2800" b="0" i="1" smtClean="0">
                                <a:latin typeface="Cambria Math" panose="02040503050406030204" pitchFamily="18" charset="0"/>
                              </a:rPr>
                              <m:t>0.836</m:t>
                            </m:r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800" b="0" i="1" smtClean="0">
                                    <a:latin typeface="Cambria Math" panose="02040503050406030204" pitchFamily="18" charset="0"/>
                                  </a:rPr>
                                  <m:t>0.836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103</m:t>
                                    </m:r>
                                  </m:den>
                                </m:f>
                                <m:r>
                                  <a:rPr lang="en-US" altLang="ja-JP" sz="28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ctrlP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28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ja-JP" sz="2800" b="0" i="1" smtClean="0">
                                        <a:latin typeface="Cambria Math" panose="02040503050406030204" pitchFamily="18" charset="0"/>
                                      </a:rPr>
                                      <m:t>98</m:t>
                                    </m:r>
                                  </m:den>
                                </m:f>
                              </m:e>
                            </m:d>
                          </m:e>
                        </m:rad>
                      </m:den>
                    </m:f>
                    <m:r>
                      <a:rPr lang="en-US" altLang="ja-JP" sz="2800" b="0" i="1" smtClean="0">
                        <a:latin typeface="Cambria Math" panose="02040503050406030204" pitchFamily="18" charset="0"/>
                      </a:rPr>
                      <m:t>=−1.11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D38A79A-A223-F471-EEF1-48C50BE387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24" t="-14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E75FA96-8D7F-4CD1-F31A-7D45D6F460B6}"/>
              </a:ext>
            </a:extLst>
          </p:cNvPr>
          <p:cNvSpPr/>
          <p:nvPr/>
        </p:nvSpPr>
        <p:spPr>
          <a:xfrm>
            <a:off x="828376" y="4106578"/>
            <a:ext cx="6677247" cy="1818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498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C5EA0-BBAD-D986-A63F-EDB12586C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1ED9A-BA41-077B-2B07-2FCD592BC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自社とライバル社の</a:t>
            </a:r>
            <a:r>
              <a:rPr lang="en-US" altLang="ja-JP" dirty="0"/>
              <a:t>2</a:t>
            </a:r>
            <a:r>
              <a:rPr lang="ja-JP" altLang="en-US" dirty="0"/>
              <a:t>社の満足度に差があるか④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889FED9-6B25-1E53-6A67-138E2C220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</p:spPr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⑦判断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⑤臨界値と⑥検定統計量（</a:t>
                </a:r>
                <a:r>
                  <a:rPr lang="en-US" altLang="ja-JP" dirty="0"/>
                  <a:t>z</a:t>
                </a:r>
                <a:r>
                  <a:rPr lang="ja-JP" altLang="en-US" dirty="0"/>
                  <a:t>値）の絶対値を比べる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臨界値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値</m:t>
                        </m:r>
                      </m:e>
                    </m:d>
                  </m:oMath>
                </a14:m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:r>
                  <a:rPr lang="ja-JP" altLang="en-US" dirty="0">
                    <a:latin typeface="Cambria Math" panose="02040503050406030204" pitchFamily="18" charset="0"/>
                  </a:rPr>
                  <a:t>→</a:t>
                </a:r>
                <a:r>
                  <a:rPr lang="ja-JP" altLang="en-US" i="1" dirty="0">
                    <a:latin typeface="Cambria Math" panose="02040503050406030204" pitchFamily="18" charset="0"/>
                  </a:rPr>
                  <a:t>　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1.96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1.11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lvl="2"/>
                <a:r>
                  <a:rPr lang="en-US" altLang="ja-JP" dirty="0"/>
                  <a:t>z</a:t>
                </a:r>
                <a:r>
                  <a:rPr lang="ja-JP" altLang="en-US" dirty="0"/>
                  <a:t>値（検定統計量）が棄却域に含まれない</a:t>
                </a:r>
                <a:endParaRPr lang="en-US" altLang="ja-JP" dirty="0"/>
              </a:p>
              <a:p>
                <a:pPr lvl="3"/>
                <a:r>
                  <a:rPr lang="ja-JP" altLang="en-US" dirty="0"/>
                  <a:t>満足度に差があるとは立証できなかった（差があるかどうかは</a:t>
                </a:r>
                <a:r>
                  <a:rPr lang="ja-JP" altLang="en-US" b="1" dirty="0">
                    <a:solidFill>
                      <a:schemeClr val="accent5"/>
                    </a:solidFill>
                  </a:rPr>
                  <a:t>不明</a:t>
                </a:r>
                <a:r>
                  <a:rPr lang="ja-JP" altLang="en-US" dirty="0"/>
                  <a:t>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EDF1122-3844-6A6E-B13D-910A5FA09F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1"/>
                <a:ext cx="8880049" cy="2393860"/>
              </a:xfrm>
              <a:blipFill>
                <a:blip r:embed="rId2"/>
                <a:stretch>
                  <a:fillRect l="-1099" t="-2799" b="-127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図 7">
            <a:extLst>
              <a:ext uri="{FF2B5EF4-FFF2-40B4-BE49-F238E27FC236}">
                <a16:creationId xmlns:a16="http://schemas.microsoft.com/office/drawing/2014/main" id="{96AF67CF-A8E8-9EEE-313D-F342DDF205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32" y="861984"/>
            <a:ext cx="6087600" cy="3653371"/>
          </a:xfrm>
          <a:prstGeom prst="rect">
            <a:avLst/>
          </a:prstGeom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35D199F7-6D87-1A0E-CB12-7EE25FE348B9}"/>
              </a:ext>
            </a:extLst>
          </p:cNvPr>
          <p:cNvGrpSpPr/>
          <p:nvPr/>
        </p:nvGrpSpPr>
        <p:grpSpPr>
          <a:xfrm>
            <a:off x="2795892" y="4122069"/>
            <a:ext cx="1612235" cy="783334"/>
            <a:chOff x="2892754" y="4102976"/>
            <a:chExt cx="1612235" cy="783334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6286E9D3-FCD5-0F21-90A8-5313F9D0F0F6}"/>
                </a:ext>
              </a:extLst>
            </p:cNvPr>
            <p:cNvSpPr txBox="1"/>
            <p:nvPr/>
          </p:nvSpPr>
          <p:spPr>
            <a:xfrm>
              <a:off x="2892754" y="4516978"/>
              <a:ext cx="8627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6738192F-3355-364B-8F30-3BAA6A1CBE73}"/>
                </a:ext>
              </a:extLst>
            </p:cNvPr>
            <p:cNvCxnSpPr>
              <a:cxnSpLocks/>
              <a:stCxn id="11" idx="0"/>
            </p:cNvCxnSpPr>
            <p:nvPr/>
          </p:nvCxnSpPr>
          <p:spPr>
            <a:xfrm flipV="1">
              <a:off x="3324123" y="4102976"/>
              <a:ext cx="1180866" cy="41400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4C063675-890E-EEA4-A95A-6B7EBE239E28}"/>
              </a:ext>
            </a:extLst>
          </p:cNvPr>
          <p:cNvGrpSpPr/>
          <p:nvPr/>
        </p:nvGrpSpPr>
        <p:grpSpPr>
          <a:xfrm>
            <a:off x="7169345" y="4122069"/>
            <a:ext cx="855453" cy="762618"/>
            <a:chOff x="7169345" y="4122069"/>
            <a:chExt cx="855453" cy="762618"/>
          </a:xfrm>
        </p:grpSpPr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78B643E-4311-2FA8-6AB9-CFADFB04AA55}"/>
                </a:ext>
              </a:extLst>
            </p:cNvPr>
            <p:cNvSpPr txBox="1"/>
            <p:nvPr/>
          </p:nvSpPr>
          <p:spPr>
            <a:xfrm>
              <a:off x="7272669" y="4515355"/>
              <a:ext cx="7521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1.96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6" name="直線矢印コネクタ 15">
              <a:extLst>
                <a:ext uri="{FF2B5EF4-FFF2-40B4-BE49-F238E27FC236}">
                  <a16:creationId xmlns:a16="http://schemas.microsoft.com/office/drawing/2014/main" id="{350E13D0-EB70-7D7E-51C8-89BF0E3E6529}"/>
                </a:ext>
              </a:extLst>
            </p:cNvPr>
            <p:cNvCxnSpPr>
              <a:cxnSpLocks/>
              <a:stCxn id="14" idx="0"/>
            </p:cNvCxnSpPr>
            <p:nvPr/>
          </p:nvCxnSpPr>
          <p:spPr>
            <a:xfrm flipH="1" flipV="1">
              <a:off x="7169345" y="4122069"/>
              <a:ext cx="479389" cy="393286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AB7FA9C3-F459-7C87-F905-53B0FB41BBC5}"/>
              </a:ext>
            </a:extLst>
          </p:cNvPr>
          <p:cNvGrpSpPr/>
          <p:nvPr/>
        </p:nvGrpSpPr>
        <p:grpSpPr>
          <a:xfrm>
            <a:off x="4190163" y="967563"/>
            <a:ext cx="805029" cy="3917124"/>
            <a:chOff x="2435195" y="967563"/>
            <a:chExt cx="805029" cy="3917124"/>
          </a:xfrm>
        </p:grpSpPr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9852C1C7-8365-0457-8F9C-6FAE110C1A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8500" y="967563"/>
              <a:ext cx="0" cy="3547792"/>
            </a:xfrm>
            <a:prstGeom prst="line">
              <a:avLst/>
            </a:prstGeom>
            <a:ln w="762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56F03F39-AA34-BBC7-475B-3D948B867A11}"/>
                </a:ext>
              </a:extLst>
            </p:cNvPr>
            <p:cNvSpPr txBox="1"/>
            <p:nvPr/>
          </p:nvSpPr>
          <p:spPr>
            <a:xfrm>
              <a:off x="2435195" y="4515355"/>
              <a:ext cx="805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dirty="0">
                  <a:solidFill>
                    <a:srgbClr val="00B0F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-1.11</a:t>
              </a:r>
              <a:endParaRPr kumimoji="1" lang="ja-JP" altLang="en-US" dirty="0">
                <a:solidFill>
                  <a:srgbClr val="00B0F0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AB3A2CF5-147F-E7DC-9EB2-83AE0F2B0218}"/>
              </a:ext>
            </a:extLst>
          </p:cNvPr>
          <p:cNvGrpSpPr/>
          <p:nvPr/>
        </p:nvGrpSpPr>
        <p:grpSpPr>
          <a:xfrm>
            <a:off x="2795892" y="902334"/>
            <a:ext cx="6098695" cy="3203879"/>
            <a:chOff x="4443473" y="1376750"/>
            <a:chExt cx="4773161" cy="2288801"/>
          </a:xfrm>
        </p:grpSpPr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56BA3620-6641-C4D7-5252-406AEBCB351C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B462DAD9-5964-9876-7843-DF7D4FD74F99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矢印: 左 38">
                <a:extLst>
                  <a:ext uri="{FF2B5EF4-FFF2-40B4-BE49-F238E27FC236}">
                    <a16:creationId xmlns:a16="http://schemas.microsoft.com/office/drawing/2014/main" id="{0C750C87-1B64-746B-36BE-D6558A9FF89B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D18416FE-7C7A-DE14-8389-5CD8BE482FED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6875ABD4-D56A-C889-F7FB-A1B44C107265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矢印: 左 36">
                <a:extLst>
                  <a:ext uri="{FF2B5EF4-FFF2-40B4-BE49-F238E27FC236}">
                    <a16:creationId xmlns:a16="http://schemas.microsoft.com/office/drawing/2014/main" id="{2F90A82C-B810-0A0A-1F2F-8E05E3DE23A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sp>
        <p:nvSpPr>
          <p:cNvPr id="40" name="矢印: 左右 39">
            <a:extLst>
              <a:ext uri="{FF2B5EF4-FFF2-40B4-BE49-F238E27FC236}">
                <a16:creationId xmlns:a16="http://schemas.microsoft.com/office/drawing/2014/main" id="{5182921E-24CA-7DA2-2178-1E3AFBCE1C6E}"/>
              </a:ext>
            </a:extLst>
          </p:cNvPr>
          <p:cNvSpPr/>
          <p:nvPr/>
        </p:nvSpPr>
        <p:spPr>
          <a:xfrm>
            <a:off x="4401350" y="1056629"/>
            <a:ext cx="2771353" cy="571369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受容域</a:t>
            </a:r>
            <a:r>
              <a:rPr kumimoji="1" lang="en-US" altLang="ja-JP" sz="1100" dirty="0">
                <a:solidFill>
                  <a:schemeClr val="tx1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(95%)</a:t>
            </a:r>
            <a:endParaRPr kumimoji="1" lang="ja-JP" altLang="en-US" sz="1400" dirty="0">
              <a:solidFill>
                <a:schemeClr val="tx1"/>
              </a:solidFill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9717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EB9E5-64E5-6600-EDEA-90B389DCE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873A9B0E-61C4-B854-D081-605A950DC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４</a:t>
            </a:r>
            <a:r>
              <a:rPr kumimoji="1" lang="ja-JP" altLang="en-US" dirty="0"/>
              <a:t>：仮説検定と</a:t>
            </a:r>
            <a:r>
              <a:rPr kumimoji="1" lang="en-US" altLang="ja-JP" dirty="0"/>
              <a:t>p</a:t>
            </a:r>
            <a:r>
              <a:rPr kumimoji="1" lang="ja-JP" altLang="en-US" dirty="0"/>
              <a:t>値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DFD04B39-0E9D-60B2-DD5E-4FF9C054A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466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73431-0ADD-DE62-1031-AB2CB5BF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741705-FB1F-5602-AB3C-C9B62E9CF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仮説検定と</a:t>
            </a:r>
            <a:r>
              <a:rPr lang="en-US" altLang="ja-JP" dirty="0"/>
              <a:t>p</a:t>
            </a:r>
            <a:r>
              <a:rPr lang="ja-JP" altLang="en-US" dirty="0"/>
              <a:t>値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FF40F3D-BA1E-48A9-5373-9E0A90088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altLang="ja-JP" dirty="0"/>
                  <a:t>p</a:t>
                </a:r>
                <a:r>
                  <a:rPr lang="ja-JP" altLang="en-US" dirty="0"/>
                  <a:t>値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p-value</a:t>
                </a:r>
              </a:p>
              <a:p>
                <a:pPr lvl="1"/>
                <a:r>
                  <a:rPr lang="ja-JP" altLang="en-US" dirty="0"/>
                  <a:t>検定統計量に対応する確率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帰無仮説を棄却できるか否かを示す値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差の大きさなどを示すものではないことに注意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=0.035&lt;0.05</m:t>
                    </m:r>
                  </m:oMath>
                </a14:m>
                <a:endParaRPr lang="en-US" altLang="ja-JP" dirty="0"/>
              </a:p>
              <a:p>
                <a:pPr lvl="2"/>
                <a:r>
                  <a:rPr lang="ja-JP" altLang="en-US" dirty="0"/>
                  <a:t>有意水準</a:t>
                </a:r>
                <a:r>
                  <a:rPr lang="en-US" altLang="ja-JP" dirty="0"/>
                  <a:t>5%</a:t>
                </a:r>
                <a:r>
                  <a:rPr lang="ja-JP" altLang="en-US" dirty="0"/>
                  <a:t>で帰無仮説を棄却できる　（有意水準</a:t>
                </a:r>
                <a:r>
                  <a:rPr lang="en-US" altLang="ja-JP" dirty="0"/>
                  <a:t>1%</a:t>
                </a:r>
                <a:r>
                  <a:rPr lang="ja-JP" altLang="en-US" dirty="0"/>
                  <a:t>ではできない）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9EE9A33-D2BE-C450-0BE5-52084C25CC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4327452"/>
                <a:ext cx="8880049" cy="2393860"/>
              </a:xfrm>
              <a:blipFill>
                <a:blip r:embed="rId2"/>
                <a:stretch>
                  <a:fillRect l="-962" t="-5598" b="-356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91C82AC8-AC58-3327-2CC6-622430ABE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953" y="891700"/>
            <a:ext cx="6088072" cy="3653655"/>
          </a:xfrm>
          <a:prstGeom prst="rect">
            <a:avLst/>
          </a:prstGeom>
        </p:spPr>
      </p:pic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8B5F096-D5C1-C4E5-4353-D424E8125D3B}"/>
              </a:ext>
            </a:extLst>
          </p:cNvPr>
          <p:cNvGrpSpPr/>
          <p:nvPr/>
        </p:nvGrpSpPr>
        <p:grpSpPr>
          <a:xfrm>
            <a:off x="2923953" y="928608"/>
            <a:ext cx="6098695" cy="3203879"/>
            <a:chOff x="4443473" y="1376750"/>
            <a:chExt cx="4773161" cy="2288801"/>
          </a:xfrm>
        </p:grpSpPr>
        <p:grpSp>
          <p:nvGrpSpPr>
            <p:cNvPr id="24" name="グループ化 23">
              <a:extLst>
                <a:ext uri="{FF2B5EF4-FFF2-40B4-BE49-F238E27FC236}">
                  <a16:creationId xmlns:a16="http://schemas.microsoft.com/office/drawing/2014/main" id="{9B726AD8-4127-8AF0-CBCB-04A406557E5D}"/>
                </a:ext>
              </a:extLst>
            </p:cNvPr>
            <p:cNvGrpSpPr/>
            <p:nvPr/>
          </p:nvGrpSpPr>
          <p:grpSpPr>
            <a:xfrm>
              <a:off x="4443473" y="1376750"/>
              <a:ext cx="1257612" cy="2288801"/>
              <a:chOff x="4443473" y="1376750"/>
              <a:chExt cx="1257612" cy="2288801"/>
            </a:xfrm>
          </p:grpSpPr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4EC4EE05-E299-3908-81E1-8E42F795F5AA}"/>
                  </a:ext>
                </a:extLst>
              </p:cNvPr>
              <p:cNvCxnSpPr/>
              <p:nvPr/>
            </p:nvCxnSpPr>
            <p:spPr>
              <a:xfrm flipV="1">
                <a:off x="5701085" y="1499299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矢印: 左 28">
                <a:extLst>
                  <a:ext uri="{FF2B5EF4-FFF2-40B4-BE49-F238E27FC236}">
                    <a16:creationId xmlns:a16="http://schemas.microsoft.com/office/drawing/2014/main" id="{7E03B6CD-A4EF-C93E-80C9-D6E807964072}"/>
                  </a:ext>
                </a:extLst>
              </p:cNvPr>
              <p:cNvSpPr/>
              <p:nvPr/>
            </p:nvSpPr>
            <p:spPr>
              <a:xfrm>
                <a:off x="4443473" y="1376750"/>
                <a:ext cx="1257608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5566C751-041F-0B5F-1F07-4C5E48F24EC0}"/>
                </a:ext>
              </a:extLst>
            </p:cNvPr>
            <p:cNvGrpSpPr/>
            <p:nvPr/>
          </p:nvGrpSpPr>
          <p:grpSpPr>
            <a:xfrm>
              <a:off x="7866368" y="1376750"/>
              <a:ext cx="1350266" cy="2284074"/>
              <a:chOff x="7866368" y="1376750"/>
              <a:chExt cx="1350266" cy="2284074"/>
            </a:xfrm>
          </p:grpSpPr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5A172DEF-D4ED-6C5B-7BED-47602AC4BA6C}"/>
                  </a:ext>
                </a:extLst>
              </p:cNvPr>
              <p:cNvCxnSpPr/>
              <p:nvPr/>
            </p:nvCxnSpPr>
            <p:spPr>
              <a:xfrm flipV="1">
                <a:off x="7866368" y="1494572"/>
                <a:ext cx="0" cy="2166252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矢印: 左 26">
                <a:extLst>
                  <a:ext uri="{FF2B5EF4-FFF2-40B4-BE49-F238E27FC236}">
                    <a16:creationId xmlns:a16="http://schemas.microsoft.com/office/drawing/2014/main" id="{2859728E-2420-8E89-1104-7DF4394E277F}"/>
                  </a:ext>
                </a:extLst>
              </p:cNvPr>
              <p:cNvSpPr/>
              <p:nvPr/>
            </p:nvSpPr>
            <p:spPr>
              <a:xfrm flipH="1">
                <a:off x="7868997" y="1376750"/>
                <a:ext cx="1347637" cy="595424"/>
              </a:xfrm>
              <a:prstGeom prst="leftArrow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ja-JP" altLang="en-US" sz="14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棄却域</a:t>
                </a:r>
                <a:r>
                  <a:rPr kumimoji="1" lang="en-US" altLang="ja-JP" sz="1100" dirty="0">
                    <a:solidFill>
                      <a:schemeClr val="tx1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(2.5%)</a:t>
                </a:r>
                <a:endParaRPr kumimoji="1" lang="ja-JP" altLang="en-US" sz="1100" dirty="0">
                  <a:solidFill>
                    <a:schemeClr val="tx1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</p:grp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E4D63483-C8D3-4B4A-6E2E-7EA46EA1355D}"/>
              </a:ext>
            </a:extLst>
          </p:cNvPr>
          <p:cNvGrpSpPr/>
          <p:nvPr/>
        </p:nvGrpSpPr>
        <p:grpSpPr>
          <a:xfrm>
            <a:off x="4206427" y="4132487"/>
            <a:ext cx="3523881" cy="904615"/>
            <a:chOff x="4206427" y="4132487"/>
            <a:chExt cx="3523881" cy="904615"/>
          </a:xfrm>
        </p:grpSpPr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AAE285CC-AB3E-F65D-ADB6-31A718A2AF66}"/>
                </a:ext>
              </a:extLst>
            </p:cNvPr>
            <p:cNvGrpSpPr/>
            <p:nvPr/>
          </p:nvGrpSpPr>
          <p:grpSpPr>
            <a:xfrm>
              <a:off x="4206427" y="4132487"/>
              <a:ext cx="487278" cy="695017"/>
              <a:chOff x="4303289" y="4113394"/>
              <a:chExt cx="487278" cy="695017"/>
            </a:xfrm>
          </p:grpSpPr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1B65134-B9B6-0F9F-D68B-DE7E57B1D4BA}"/>
                  </a:ext>
                </a:extLst>
              </p:cNvPr>
              <p:cNvSpPr txBox="1"/>
              <p:nvPr/>
            </p:nvSpPr>
            <p:spPr>
              <a:xfrm>
                <a:off x="4386289" y="4439079"/>
                <a:ext cx="4042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-t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9" name="直線矢印コネクタ 8">
                <a:extLst>
                  <a:ext uri="{FF2B5EF4-FFF2-40B4-BE49-F238E27FC236}">
                    <a16:creationId xmlns:a16="http://schemas.microsoft.com/office/drawing/2014/main" id="{68B6FA5B-6410-6AB7-E89D-43AA4E1964F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303289" y="4113394"/>
                <a:ext cx="181815" cy="449776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CAAE3972-3643-7937-AF9C-53E9DD6545F3}"/>
                </a:ext>
              </a:extLst>
            </p:cNvPr>
            <p:cNvGrpSpPr/>
            <p:nvPr/>
          </p:nvGrpSpPr>
          <p:grpSpPr>
            <a:xfrm>
              <a:off x="6992098" y="4146250"/>
              <a:ext cx="738210" cy="705863"/>
              <a:chOff x="6559195" y="4122069"/>
              <a:chExt cx="738210" cy="705863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D0DACFF2-5B21-6DB7-3FA0-E7C655BC6470}"/>
                  </a:ext>
                </a:extLst>
              </p:cNvPr>
              <p:cNvSpPr txBox="1"/>
              <p:nvPr/>
            </p:nvSpPr>
            <p:spPr>
              <a:xfrm>
                <a:off x="6559195" y="4458600"/>
                <a:ext cx="2936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rPr>
                  <a:t>t</a:t>
                </a:r>
                <a:endPara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endParaRPr>
              </a:p>
            </p:txBody>
          </p:sp>
          <p:cxnSp>
            <p:nvCxnSpPr>
              <p:cNvPr id="21" name="直線矢印コネクタ 20">
                <a:extLst>
                  <a:ext uri="{FF2B5EF4-FFF2-40B4-BE49-F238E27FC236}">
                    <a16:creationId xmlns:a16="http://schemas.microsoft.com/office/drawing/2014/main" id="{BC49E01C-2B45-10C6-F504-20E92D7ED7E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822677" y="4122069"/>
                <a:ext cx="474728" cy="504281"/>
              </a:xfrm>
              <a:prstGeom prst="straightConnector1">
                <a:avLst/>
              </a:prstGeom>
              <a:ln>
                <a:solidFill>
                  <a:schemeClr val="accent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7EC69BB9-22FB-0E76-F160-18EA7B6E3E4C}"/>
                </a:ext>
              </a:extLst>
            </p:cNvPr>
            <p:cNvSpPr txBox="1"/>
            <p:nvPr/>
          </p:nvSpPr>
          <p:spPr>
            <a:xfrm>
              <a:off x="5153548" y="4667770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（検定統計量）</a:t>
              </a:r>
            </a:p>
          </p:txBody>
        </p:sp>
      </p:grpSp>
      <p:sp>
        <p:nvSpPr>
          <p:cNvPr id="42" name="吹き出し: 角を丸めた四角形 41">
            <a:extLst>
              <a:ext uri="{FF2B5EF4-FFF2-40B4-BE49-F238E27FC236}">
                <a16:creationId xmlns:a16="http://schemas.microsoft.com/office/drawing/2014/main" id="{9A41E20A-C0F1-B90E-6C19-95CB654DD20D}"/>
              </a:ext>
            </a:extLst>
          </p:cNvPr>
          <p:cNvSpPr/>
          <p:nvPr/>
        </p:nvSpPr>
        <p:spPr>
          <a:xfrm>
            <a:off x="1084526" y="3200400"/>
            <a:ext cx="2583703" cy="574158"/>
          </a:xfrm>
          <a:prstGeom prst="wedgeRoundRectCallout">
            <a:avLst>
              <a:gd name="adj1" fmla="val 67485"/>
              <a:gd name="adj2" fmla="val 107727"/>
              <a:gd name="adj3" fmla="val 1666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斜線部の面積が</a:t>
            </a:r>
            <a:r>
              <a:rPr kumimoji="1" lang="en-US" altLang="ja-JP" dirty="0">
                <a:solidFill>
                  <a:schemeClr val="tx1"/>
                </a:solidFill>
              </a:rPr>
              <a:t>p</a:t>
            </a:r>
            <a:r>
              <a:rPr kumimoji="1" lang="ja-JP" altLang="en-US" dirty="0">
                <a:solidFill>
                  <a:schemeClr val="tx1"/>
                </a:solidFill>
              </a:rPr>
              <a:t>値</a:t>
            </a:r>
          </a:p>
        </p:txBody>
      </p:sp>
    </p:spTree>
    <p:extLst>
      <p:ext uri="{BB962C8B-B14F-4D97-AF65-F5344CB8AC3E}">
        <p14:creationId xmlns:p14="http://schemas.microsoft.com/office/powerpoint/2010/main" val="197067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A9993-40CE-C98B-497A-776470BC86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章　第</a:t>
            </a:r>
            <a:r>
              <a:rPr lang="en-US" altLang="ja-JP" dirty="0"/>
              <a:t>4</a:t>
            </a:r>
            <a:r>
              <a:rPr lang="ja-JP" altLang="en-US" dirty="0"/>
              <a:t>節　統計的仮説検定</a:t>
            </a:r>
            <a:endParaRPr lang="en-US" altLang="ja-JP" dirty="0"/>
          </a:p>
          <a:p>
            <a:pPr lvl="1"/>
            <a:r>
              <a:rPr lang="ja-JP" altLang="en-US" dirty="0"/>
              <a:t>仮説検定とは何かを理解する</a:t>
            </a:r>
            <a:endParaRPr lang="en-US" altLang="ja-JP" dirty="0"/>
          </a:p>
          <a:p>
            <a:pPr lvl="2"/>
            <a:r>
              <a:rPr lang="ja-JP" altLang="en-US" dirty="0"/>
              <a:t>母数に関する仮説を，標本から検証する方法のひとつ</a:t>
            </a:r>
            <a:endParaRPr lang="en-US" altLang="ja-JP" dirty="0"/>
          </a:p>
          <a:p>
            <a:pPr lvl="1"/>
            <a:r>
              <a:rPr lang="ja-JP" altLang="en-US" dirty="0"/>
              <a:t>仮説検定の手順を理解する</a:t>
            </a:r>
            <a:endParaRPr lang="en-US" altLang="ja-JP" dirty="0"/>
          </a:p>
          <a:p>
            <a:pPr lvl="2"/>
            <a:r>
              <a:rPr lang="ja-JP" altLang="en-US" dirty="0"/>
              <a:t>①検定方式の決定</a:t>
            </a:r>
            <a:endParaRPr lang="en-US" altLang="ja-JP" dirty="0"/>
          </a:p>
          <a:p>
            <a:pPr lvl="2"/>
            <a:r>
              <a:rPr lang="ja-JP" altLang="en-US" dirty="0"/>
              <a:t>②仮説の設定</a:t>
            </a:r>
            <a:endParaRPr lang="en-US" altLang="ja-JP" dirty="0"/>
          </a:p>
          <a:p>
            <a:pPr lvl="3"/>
            <a:r>
              <a:rPr lang="ja-JP" altLang="en-US" dirty="0"/>
              <a:t>帰無仮説・対立仮説</a:t>
            </a:r>
            <a:endParaRPr lang="en-US" altLang="ja-JP" dirty="0"/>
          </a:p>
          <a:p>
            <a:pPr lvl="2"/>
            <a:r>
              <a:rPr lang="ja-JP" altLang="en-US" dirty="0"/>
              <a:t>③有意水準の設定</a:t>
            </a:r>
            <a:endParaRPr lang="en-US" altLang="ja-JP" dirty="0"/>
          </a:p>
          <a:p>
            <a:pPr lvl="3"/>
            <a:r>
              <a:rPr lang="ja-JP" altLang="en-US" dirty="0"/>
              <a:t>有意水準</a:t>
            </a:r>
            <a:endParaRPr lang="en-US" altLang="ja-JP" dirty="0"/>
          </a:p>
          <a:p>
            <a:pPr lvl="2"/>
            <a:r>
              <a:rPr lang="ja-JP" altLang="en-US" dirty="0"/>
              <a:t>④データの収集</a:t>
            </a:r>
            <a:endParaRPr lang="en-US" altLang="ja-JP" dirty="0"/>
          </a:p>
          <a:p>
            <a:pPr lvl="2"/>
            <a:r>
              <a:rPr lang="ja-JP" altLang="en-US" dirty="0"/>
              <a:t>⑤棄却域の臨界値の計算</a:t>
            </a:r>
            <a:endParaRPr lang="en-US" altLang="ja-JP" dirty="0"/>
          </a:p>
          <a:p>
            <a:pPr lvl="2"/>
            <a:r>
              <a:rPr lang="ja-JP" altLang="en-US" dirty="0"/>
              <a:t>⑥検定統計量の計算</a:t>
            </a:r>
            <a:endParaRPr lang="en-US" altLang="ja-JP" dirty="0"/>
          </a:p>
          <a:p>
            <a:pPr lvl="2"/>
            <a:r>
              <a:rPr lang="ja-JP" altLang="en-US" dirty="0"/>
              <a:t>⑦判断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825</TotalTime>
  <Words>1826</Words>
  <Application>Microsoft Office PowerPoint</Application>
  <PresentationFormat>画面に合わせる (4:3)</PresentationFormat>
  <Paragraphs>272</Paragraphs>
  <Slides>27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27</vt:i4>
      </vt:variant>
    </vt:vector>
  </HeadingPairs>
  <TitlesOfParts>
    <vt:vector size="37" baseType="lpstr">
      <vt:lpstr>BIZ UDPゴシック</vt:lpstr>
      <vt:lpstr>HG丸ｺﾞｼｯｸM-PRO</vt:lpstr>
      <vt:lpstr>Meiryo UI</vt:lpstr>
      <vt:lpstr>Ricty Diminished Discord</vt:lpstr>
      <vt:lpstr>游ゴシック</vt:lpstr>
      <vt:lpstr>Cambria Math</vt:lpstr>
      <vt:lpstr>Impact</vt:lpstr>
      <vt:lpstr>Wingdings</vt:lpstr>
      <vt:lpstr>Wingdings 2</vt:lpstr>
      <vt:lpstr>配当</vt:lpstr>
      <vt:lpstr>統計的仮説検定</vt:lpstr>
      <vt:lpstr>今日の目標</vt:lpstr>
      <vt:lpstr>PowerPoint プレゼンテーション</vt:lpstr>
      <vt:lpstr>仮説検定とは</vt:lpstr>
      <vt:lpstr>仮説検定の手順</vt:lpstr>
      <vt:lpstr>①検定方式の決定</vt:lpstr>
      <vt:lpstr>②帰無仮説と対立仮説の設定</vt:lpstr>
      <vt:lpstr>②帰無仮説と対立仮説の設定</vt:lpstr>
      <vt:lpstr>②帰無仮説と対立仮説の設定</vt:lpstr>
      <vt:lpstr>③有意水準の設定</vt:lpstr>
      <vt:lpstr>④データの収集</vt:lpstr>
      <vt:lpstr>⑤棄却域の臨界値の計算</vt:lpstr>
      <vt:lpstr>⑥検定統計量の計算</vt:lpstr>
      <vt:lpstr>⑦判断</vt:lpstr>
      <vt:lpstr>PowerPoint プレゼンテーション</vt:lpstr>
      <vt:lpstr>ポテトの重量150ℊ表記は本当か①</vt:lpstr>
      <vt:lpstr>ポテトの重量150ℊ表記は本当か②</vt:lpstr>
      <vt:lpstr>ポテトの重量150ℊ表記は本当か③</vt:lpstr>
      <vt:lpstr>ポテトの重量150ℊ表記は本当か④</vt:lpstr>
      <vt:lpstr>PowerPoint プレゼンテーション</vt:lpstr>
      <vt:lpstr>自社とライバル社の2社の満足度に差があるか①</vt:lpstr>
      <vt:lpstr>自社とライバル社の2社の満足度に差があるか②</vt:lpstr>
      <vt:lpstr>自社とライバル社の2社の満足度に差があるか③</vt:lpstr>
      <vt:lpstr>自社とライバル社の2社の満足度に差があるか④</vt:lpstr>
      <vt:lpstr>PowerPoint プレゼンテーション</vt:lpstr>
      <vt:lpstr>仮説検定とp値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須永大介</cp:lastModifiedBy>
  <cp:revision>81</cp:revision>
  <dcterms:created xsi:type="dcterms:W3CDTF">2025-03-03T09:28:12Z</dcterms:created>
  <dcterms:modified xsi:type="dcterms:W3CDTF">2026-08-31T10:42:47Z</dcterms:modified>
</cp:coreProperties>
</file>