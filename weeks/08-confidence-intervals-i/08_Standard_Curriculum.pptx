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8"/>
  </p:notesMasterIdLst>
  <p:sldIdLst>
    <p:sldId id="256" r:id="rId2"/>
    <p:sldId id="257" r:id="rId3"/>
    <p:sldId id="258" r:id="rId4"/>
    <p:sldId id="636" r:id="rId5"/>
    <p:sldId id="630" r:id="rId6"/>
    <p:sldId id="637" r:id="rId7"/>
    <p:sldId id="638" r:id="rId8"/>
    <p:sldId id="631" r:id="rId9"/>
    <p:sldId id="639" r:id="rId10"/>
    <p:sldId id="632" r:id="rId11"/>
    <p:sldId id="640" r:id="rId12"/>
    <p:sldId id="660" r:id="rId13"/>
    <p:sldId id="641" r:id="rId14"/>
    <p:sldId id="633" r:id="rId15"/>
    <p:sldId id="661" r:id="rId16"/>
    <p:sldId id="617" r:id="rId17"/>
    <p:sldId id="662" r:id="rId18"/>
    <p:sldId id="663" r:id="rId19"/>
    <p:sldId id="665" r:id="rId20"/>
    <p:sldId id="666" r:id="rId21"/>
    <p:sldId id="664" r:id="rId22"/>
    <p:sldId id="667" r:id="rId23"/>
    <p:sldId id="671" r:id="rId24"/>
    <p:sldId id="668" r:id="rId25"/>
    <p:sldId id="669" r:id="rId26"/>
    <p:sldId id="26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68" y="85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undo custSel delSld modSld">
      <pc:chgData name="須永大介" userId="afee7028-08f7-45fb-b56f-efe6c4357b09" providerId="ADAL" clId="{3322EB53-9E6C-499E-B527-F2AD79E593A6}" dt="2026-08-31T10:40:30.197" v="9" actId="27636"/>
      <pc:docMkLst>
        <pc:docMk/>
      </pc:docMkLst>
      <pc:sldChg chg="modSp mod">
        <pc:chgData name="須永大介" userId="afee7028-08f7-45fb-b56f-efe6c4357b09" providerId="ADAL" clId="{3322EB53-9E6C-499E-B527-F2AD79E593A6}" dt="2026-08-31T10:31:56.319" v="2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31:51.339" v="1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3322EB53-9E6C-499E-B527-F2AD79E593A6}" dt="2026-08-31T10:31:56.319" v="2" actId="120"/>
          <ac:spMkLst>
            <pc:docMk/>
            <pc:sldMk cId="218988248" sldId="256"/>
            <ac:spMk id="3" creationId="{48E8BC8D-F503-6C63-21CA-5EDB859CD491}"/>
          </ac:spMkLst>
        </pc:spChg>
      </pc:sldChg>
      <pc:sldChg chg="modSp mod">
        <pc:chgData name="須永大介" userId="afee7028-08f7-45fb-b56f-efe6c4357b09" providerId="ADAL" clId="{3322EB53-9E6C-499E-B527-F2AD79E593A6}" dt="2026-08-31T10:39:58.656" v="3" actId="6549"/>
        <pc:sldMkLst>
          <pc:docMk/>
          <pc:sldMk cId="2665934821" sldId="257"/>
        </pc:sldMkLst>
        <pc:spChg chg="mod">
          <ac:chgData name="須永大介" userId="afee7028-08f7-45fb-b56f-efe6c4357b09" providerId="ADAL" clId="{3322EB53-9E6C-499E-B527-F2AD79E593A6}" dt="2026-08-31T10:39:58.656" v="3" actId="6549"/>
          <ac:spMkLst>
            <pc:docMk/>
            <pc:sldMk cId="2665934821" sldId="257"/>
            <ac:spMk id="3" creationId="{84B4E2AA-11BC-DBCD-1944-8884E00DB2DF}"/>
          </ac:spMkLst>
        </pc:spChg>
      </pc:sldChg>
      <pc:sldChg chg="modSp mod">
        <pc:chgData name="須永大介" userId="afee7028-08f7-45fb-b56f-efe6c4357b09" providerId="ADAL" clId="{3322EB53-9E6C-499E-B527-F2AD79E593A6}" dt="2026-08-31T10:40:30.197" v="9" actId="27636"/>
        <pc:sldMkLst>
          <pc:docMk/>
          <pc:sldMk cId="520194553" sldId="262"/>
        </pc:sldMkLst>
        <pc:spChg chg="mod">
          <ac:chgData name="須永大介" userId="afee7028-08f7-45fb-b56f-efe6c4357b09" providerId="ADAL" clId="{3322EB53-9E6C-499E-B527-F2AD79E593A6}" dt="2026-08-31T10:40:30.197" v="9" actId="27636"/>
          <ac:spMkLst>
            <pc:docMk/>
            <pc:sldMk cId="520194553" sldId="262"/>
            <ac:spMk id="3" creationId="{500A9993-40CE-C98B-497A-776470BC86E1}"/>
          </ac:spMkLst>
        </pc:spChg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494448381" sldId="634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4066781593" sldId="635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361353816" sldId="646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591589986" sldId="647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3460959960" sldId="648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434510389" sldId="649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625525635" sldId="650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570889785" sldId="651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261366309" sldId="652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94421444" sldId="653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797631237" sldId="654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977210816" sldId="655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202374412" sldId="656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044389993" sldId="657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669062040" sldId="658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4061883109" sldId="6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B404-D422-0A27-94EA-25FA3DDF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7E4AA6-5701-B005-7486-ABDB91B0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3DB8844-5768-C196-C127-CCF80B3F0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A7E943-F7EB-803F-BC09-D5153EBA8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738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9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0DCB-5080-6693-635B-6DDCDD5A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75BB072-AA52-9F31-D635-D913EF8E0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6B7BB0C-434D-1417-1CDA-B82DB614F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753FC2-E275-5518-49EA-8BCD6B224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799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02D9-3EB8-63F7-7D97-0570B6E5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E88CD9-5099-B3C6-2393-5AD88A6B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F17D27-20AB-F941-150E-33350D2F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CD9ABE-E513-7180-D73B-C4FA61B61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052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B782-93D6-896F-EDD8-7468F7CE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87B059-0199-0583-35BB-FBB6915BA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41E5F0-58F8-9E28-6AFF-E8594730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6414BE-E00E-A038-00B2-48723A538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354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4611-32B9-23D8-BC4C-066BD962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A40A66-D26B-290B-288E-F942545B1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57AA29-9B04-F6F6-F5DD-8DCD4CB99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652184-82FD-E7F8-7DCD-67E4929AE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801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5739-37A1-3FBC-C55C-05F13DEE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FB4A461-E150-2917-EF8E-345F099AE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9244986-2C7A-197D-C96E-190935C96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525087-1C57-B243-47DE-A85D14E7B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837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77C6-C96D-9910-C63A-2BF754C3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C0D920-4DD7-B80E-B322-F770C7AE9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26E66A-6264-5FC6-8926-6C7AC7FD3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0CC7CC-DCF9-0BD2-BD0A-A2E7E5DFB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640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3329-EE2E-FB68-AE14-D63EC846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711B9F-0AD9-1B64-3047-D40B67DC9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4DFE86-982F-63AA-7B01-2D909CB77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F43DEC-EC26-64D0-6ECB-4DA859BC7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239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BF8F-E8BC-4870-3CFE-C1DD5046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BE015A1-F987-E879-E470-9EA2EACFE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554D349-FA16-ACDF-2DA9-D6C21B38A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88DB43-7E80-30BF-6D73-69DD72B6A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83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#08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母平均の区間推定・母分散の区間推定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節　母平均の区間推定・母分散の区間推定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母数と推定量の違いを理解する</a:t>
            </a:r>
            <a:endParaRPr kumimoji="1" lang="en-US" altLang="ja-JP" dirty="0"/>
          </a:p>
          <a:p>
            <a:pPr lvl="1"/>
            <a:r>
              <a:rPr lang="ja-JP" altLang="en-US" dirty="0"/>
              <a:t>不偏推定量の特徴について理解する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１：母数と推定量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BF59C-5B7B-DD0D-5174-C73582DF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母数と推定量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A0DCAB-B203-ADD0-A01A-38C8EB9A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B471067-66F7-4485-2C48-65E92BF9B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推定量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母数を推定するための統計量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kumimoji="1" lang="ja-JP" altLang="en-US" dirty="0"/>
                  <a:t>無作為抽出ごとに，どのデータが抽出されるかは毎回ランダムに変わり，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「偶然性を伴う事象」であるため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推定値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推定量に，実際の統計データを代入して計算した値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，標本分散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母数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母集団の特徴を表す統計量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確率変数ではない（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固定値</a:t>
                </a:r>
                <a:r>
                  <a:rPr lang="ja-JP" altLang="en-US" dirty="0"/>
                  <a:t>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，母分散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B471067-66F7-4485-2C48-65E92BF9B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14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55FC-C520-8137-5A3C-98B19E22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7249090-DDC5-4039-569F-8BF7D29F9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：不偏推定量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7D36B8-423D-D844-F6FF-A0368F47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25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0011EC-D55F-B785-2E39-373B2666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不偏推定量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591C1F-580E-13DC-A739-182B2FC6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9EA446F-F12D-5CF8-DDBF-E77E88861E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不偏推定量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estimator</a:t>
                </a:r>
              </a:p>
              <a:p>
                <a:pPr lvl="1"/>
                <a:r>
                  <a:rPr kumimoji="1" lang="ja-JP" altLang="en-US" dirty="0"/>
                  <a:t>不偏性 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偏りがない</a:t>
                </a:r>
                <a:r>
                  <a:rPr kumimoji="1" lang="en-US" altLang="ja-JP" dirty="0"/>
                  <a:t>) </a:t>
                </a:r>
                <a:r>
                  <a:rPr kumimoji="1" lang="ja-JP" altLang="en-US" dirty="0"/>
                  <a:t>をもつ推定量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のこと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不偏性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unbiasedness</a:t>
                </a: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推定量の不偏性とは「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推定量の期待値が，母数と一致する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」こと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：母数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ja-JP" altLang="en-US" dirty="0"/>
                  <a:t>：母数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に対する推定量</a:t>
                </a:r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に依存せずに成り立つ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9EA446F-F12D-5CF8-DDBF-E77E88861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64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B7C6-6980-BDC8-2B63-F155B403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4BDDE-A295-0FA6-2367-445EECF3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推定量としての望ましい性質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BD2C3E-9E48-4F31-5111-C2568D1E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D42964-46EA-FB7D-70A9-5AA17DE2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有効性　</a:t>
            </a:r>
            <a:r>
              <a:rPr lang="en-US" altLang="ja-JP" dirty="0">
                <a:solidFill>
                  <a:schemeClr val="accent2"/>
                </a:solidFill>
              </a:rPr>
              <a:t>efficiency</a:t>
            </a:r>
          </a:p>
          <a:p>
            <a:pPr lvl="1"/>
            <a:r>
              <a:rPr lang="ja-JP" altLang="en-US" dirty="0"/>
              <a:t>同じ不偏性をもつ推定量同士を比べたとき，</a:t>
            </a:r>
            <a:br>
              <a:rPr lang="en-US" altLang="ja-JP" dirty="0"/>
            </a:br>
            <a:r>
              <a:rPr lang="ja-JP" altLang="en-US" dirty="0"/>
              <a:t>分散が小さい推定量の方が良い．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一致性　</a:t>
            </a:r>
            <a:r>
              <a:rPr kumimoji="1" lang="en-US" altLang="ja-JP" dirty="0">
                <a:solidFill>
                  <a:schemeClr val="accent2"/>
                </a:solidFill>
              </a:rPr>
              <a:t>consistency</a:t>
            </a:r>
          </a:p>
          <a:p>
            <a:pPr lvl="1"/>
            <a:r>
              <a:rPr lang="ja-JP" altLang="en-US" dirty="0"/>
              <a:t>標本が大きくなるにつれて，推定量が母数へ収束する．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086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439B-9C04-97BB-7025-C3C9A304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77A4289-D118-F95D-C553-17A48266C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：</a:t>
            </a:r>
            <a:r>
              <a:rPr lang="ja-JP" altLang="en-US" dirty="0"/>
              <a:t>点推定と区間推定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C6CAC0-B2E2-243F-5F28-39E6E73F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45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D9622-8526-A998-1EFF-D372F3BB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点推定と区間推定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EC124C-95AD-370A-8E08-691653D7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18EB87-354B-307B-35C5-EF93EC78F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点推定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つの値をもって，母数を推定する方法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ja-JP" alt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１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つの値</m:t>
                        </m:r>
                      </m:e>
                    </m:d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区間推定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上限値</a:t>
                </a:r>
                <a:r>
                  <a:rPr lang="ja-JP" altLang="en-US" dirty="0"/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下限値</a:t>
                </a:r>
                <a:r>
                  <a:rPr lang="ja-JP" altLang="en-US" dirty="0"/>
                  <a:t>を推定し，</a:t>
                </a:r>
                <a:br>
                  <a:rPr lang="en-US" altLang="ja-JP" dirty="0"/>
                </a:br>
                <a:r>
                  <a:rPr lang="ja-JP" altLang="en-US" dirty="0"/>
                  <a:t>上限値と下限値の間の区間に</a:t>
                </a:r>
                <a:br>
                  <a:rPr lang="en-US" altLang="ja-JP" dirty="0"/>
                </a:br>
                <a:r>
                  <a:rPr lang="ja-JP" altLang="en-US" dirty="0"/>
                  <a:t>母数が含まれる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信頼度</a:t>
                </a:r>
                <a:r>
                  <a:rPr lang="ja-JP" altLang="en-US" dirty="0"/>
                  <a:t>を示す方法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  <m: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限値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上限値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lang="ja-JP" altLang="en-US" sz="1800" dirty="0">
                    <a:solidFill>
                      <a:schemeClr val="tx2"/>
                    </a:solidFill>
                  </a:rPr>
                  <a:t>信頼係数：</a:t>
                </a:r>
                <a:r>
                  <a:rPr lang="en-US" altLang="ja-JP" sz="1800" dirty="0">
                    <a:solidFill>
                      <a:schemeClr val="tx2"/>
                    </a:solidFill>
                  </a:rPr>
                  <a:t>95%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18EB87-354B-307B-35C5-EF93EC78F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02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CB35-A15C-032A-17A1-76F1B2D0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A3D31B-FB42-93AA-50D4-B0C42047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４：母平均の点推定量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4AF15E-11FF-6888-20AD-FB51AF65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5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222B2-BFB3-4C15-0C95-CAB825E4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母平均の点推定量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07CFAA-9E49-11EB-1BBF-CE7CF316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02C7FD9-9EEB-BF5C-AB20-135E2BD82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 dirty="0"/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 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の不偏推定量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である（後で示す）．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つまり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br>
                  <a:rPr kumimoji="1" lang="en-US" altLang="ja-JP" dirty="0">
                    <a:solidFill>
                      <a:schemeClr val="tx1"/>
                    </a:solidFill>
                  </a:rPr>
                </a:b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endParaRPr kumimoji="1" lang="en-US" altLang="ja-JP" dirty="0"/>
              </a:p>
              <a:p>
                <a:r>
                  <a:rPr lang="ja-JP" altLang="en-US" dirty="0"/>
                  <a:t>そこで</a:t>
                </a:r>
                <a:r>
                  <a:rPr lang="ja-JP" altLang="en-US" dirty="0">
                    <a:solidFill>
                      <a:srgbClr val="00B050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 を母平均の</a:t>
                </a:r>
                <a:r>
                  <a:rPr kumimoji="1" lang="ja-JP" altLang="en-US" dirty="0">
                    <a:solidFill>
                      <a:srgbClr val="00B050"/>
                    </a:solidFill>
                  </a:rPr>
                  <a:t>点推定量</a:t>
                </a:r>
                <a:r>
                  <a:rPr lang="ja-JP" alt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kumimoji="1" lang="ja-JP" altLang="en-US" dirty="0"/>
                  <a:t> とする．つまり</a:t>
                </a:r>
                <a:endParaRPr lang="en-US" altLang="ja-JP" strike="sngStrik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02C7FD9-9EEB-BF5C-AB20-135E2BD82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85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782C-E3D6-FC66-1FA5-25DE3B5E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8EF74-3568-8993-DFE6-220C6D1D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(Advanced) </a:t>
            </a:r>
            <a:r>
              <a:rPr kumimoji="1" lang="ja-JP" altLang="en-US"/>
              <a:t>便利</a:t>
            </a:r>
            <a:r>
              <a:rPr lang="ja-JP" altLang="en-US"/>
              <a:t>な</a:t>
            </a:r>
            <a:r>
              <a:rPr kumimoji="1" lang="ja-JP" altLang="en-US" dirty="0"/>
              <a:t>公式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1EE79F-864D-8E44-1C97-F976BF22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DFE9ECB-5DCB-8C49-AAE9-D97D7ED13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定数 とする．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一般に次が成り立つ．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ja-JP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が互いに独立なら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DFE9ECB-5DCB-8C49-AAE9-D97D7ED13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23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16FF7-792D-B0AC-13F1-66035A63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(Advanced)</a:t>
            </a:r>
            <a:r>
              <a:rPr lang="ja-JP" altLang="en-US" dirty="0"/>
              <a:t> 標本平均は</a:t>
            </a:r>
            <a:r>
              <a:rPr kumimoji="1" lang="ja-JP" altLang="en-US" dirty="0"/>
              <a:t>母平均の不偏推定量</a:t>
            </a:r>
            <a:r>
              <a:rPr lang="ja-JP" altLang="en-US" dirty="0"/>
              <a:t>であることの理由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D5A4EC-7E7B-7187-A45F-9FBCEF15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>
                    <a:solidFill>
                      <a:schemeClr val="tx2"/>
                    </a:solidFill>
                  </a:rPr>
                  <a:t>標本平均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:</a:t>
                </a:r>
                <a:r>
                  <a:rPr lang="ja-JP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標本平均の期待値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前ページの公式を用いると上式は次となる．</a:t>
                </a:r>
                <a:endParaRPr lang="ja-JP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ja-JP" altLang="ja-JP" dirty="0">
                  <a:solidFill>
                    <a:schemeClr val="tx2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つまり</a:t>
                </a:r>
                <a:br>
                  <a:rPr lang="en-US" altLang="ja-JP" dirty="0">
                    <a:solidFill>
                      <a:schemeClr val="tx2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ac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ja-JP" dirty="0">
                    <a:solidFill>
                      <a:schemeClr val="tx2"/>
                    </a:solidFill>
                  </a:rPr>
                  <a:t>となり</a:t>
                </a:r>
                <a:r>
                  <a:rPr lang="ja-JP" altLang="en-US" dirty="0"/>
                  <a:t>，標本平均は</a:t>
                </a:r>
                <a:r>
                  <a:rPr lang="ja-JP" altLang="ja-JP" dirty="0">
                    <a:solidFill>
                      <a:schemeClr val="tx2"/>
                    </a:solidFill>
                  </a:rPr>
                  <a:t>母平均の不偏推定量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であることが示された．</a:t>
                </a:r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b="-2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2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3649-B9D0-D833-9B00-A7044BF4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3DD22F-21CC-B268-5DD6-3F428637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５</a:t>
            </a:r>
            <a:r>
              <a:rPr kumimoji="1" lang="ja-JP" altLang="en-US" dirty="0"/>
              <a:t>：母分散の点推定量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AB08949-F320-28FD-E46E-E9791A6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639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E5F20-8963-F24E-1B79-221B9DFF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3B6E8-B63E-BCA6-24FF-95790540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E5FEE7-B7DD-6B3E-C8B2-53834915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1C70CC-BDAB-A299-009E-375BA137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ja-JP" alt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標本分散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個のデータ（標本）の標本分散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とは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400" dirty="0"/>
              </a:p>
              <a:p>
                <a:pPr marL="0" indent="0">
                  <a:buNone/>
                </a:pPr>
                <a:r>
                  <a:rPr lang="ja-JP" altLang="en-US" sz="2400" dirty="0"/>
                  <a:t>残念なことに標本分散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の期待値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ja-JP" altLang="en-US" sz="2400" dirty="0"/>
                  <a:t>は母分散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に一致しない（後で示す）．</a:t>
                </a:r>
                <a:endParaRPr kumimoji="1" lang="en-US" altLang="ja-JP" sz="24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600" dirty="0"/>
              </a:p>
              <a:p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次式の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ja-JP" altLang="en-US" dirty="0"/>
                  <a:t> は母分散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の不偏推定量（つまりその期待値が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dirty="0"/>
                  <a:t>なる推定量）である（後で示す）．これを標本不偏分散と呼ぶ．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1C70CC-BDAB-A299-009E-375BA137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1474" r="-2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80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「自由度」の由来は後で説明する．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29639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3C19-73A9-9FB2-F412-0AAD2712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785DA5-710D-AB48-4A6C-1FAFDA9D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幾つかの「分散」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B9093-6283-4763-E50C-84E80A5E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4700F2-1E40-50DA-DC47-68D651EC2B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標本平均の分散（確率変数の期待値・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母数</a:t>
                </a:r>
                <a:r>
                  <a:rPr lang="ja-JP" altLang="en-US" dirty="0"/>
                  <a:t>）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r>
                  <a:rPr lang="ja-JP" altLang="en-US" dirty="0">
                    <a:latin typeface="Cambria Math" panose="02040503050406030204" pitchFamily="18" charset="0"/>
                  </a:rPr>
                  <a:t>標本分散（標本から計算される実現値・</a:t>
                </a:r>
                <a:r>
                  <a:rPr lang="ja-JP" altLang="en-US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統計量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） 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latin typeface="Cambria Math" panose="02040503050406030204" pitchFamily="18" charset="0"/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標本不偏分散（標本から計算される実現値・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統計量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）</a:t>
                </a:r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altLang="ja-JP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4700F2-1E40-50DA-DC47-68D651EC2B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148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6DCA2-F242-B5C2-B11D-CC99D2A3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F025FA-175C-1B3D-3211-64819E44C7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/>
                  <a:t>(Advanced) </a:t>
                </a:r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の分散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F025FA-175C-1B3D-3211-64819E44C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73F278-CAAF-B9A2-614B-C88AB2EE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E2E197-B7D3-6E62-E465-CC5A0FB61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公式を用いて標本平均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の分散（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母数</a:t>
                </a:r>
                <a:r>
                  <a:rPr kumimoji="1" lang="ja-JP" altLang="en-US" dirty="0"/>
                  <a:t>）を求める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以上より，</a:t>
                </a:r>
                <a:r>
                  <a:rPr lang="ja-JP" altLang="ja-JP" dirty="0"/>
                  <a:t>標本平均の分散</a:t>
                </a:r>
                <a:r>
                  <a:rPr lang="ja-JP" altLang="en-US" dirty="0"/>
                  <a:t>は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であり，データ数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の増加とともに小となる．つまり標本平均の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 の実現値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の揺らぎが減り，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 に収束する．</a:t>
                </a:r>
                <a:r>
                  <a:rPr lang="en-US" altLang="ja-JP" dirty="0"/>
                  <a:t> </a:t>
                </a:r>
              </a:p>
              <a:p>
                <a:pPr marL="324000" lvl="1" indent="0">
                  <a:buNone/>
                </a:pPr>
                <a:r>
                  <a:rPr kumimoji="1" lang="ja-JP" altLang="en-US" dirty="0"/>
                  <a:t>ただしこの「分散」は期待値なので標本を用いた計算</a:t>
                </a:r>
                <a:r>
                  <a:rPr lang="ja-JP" altLang="en-US" dirty="0"/>
                  <a:t>では</a:t>
                </a:r>
                <a:r>
                  <a:rPr kumimoji="1" lang="ja-JP" altLang="en-US" dirty="0"/>
                  <a:t>入手できない．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E2E197-B7D3-6E62-E465-CC5A0FB61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947" r="-43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3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3F7A-53F1-F075-8492-32EE30E0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D0BF56-2618-4D30-3667-9D4743C9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1368E2-3E47-C9A6-9A16-5BB0C155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4F1E4-BB4F-C7D8-02C1-E297F72D27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公式を用いて標本</a:t>
                </a:r>
                <a:r>
                  <a:rPr lang="ja-JP" altLang="en-US" dirty="0"/>
                  <a:t>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統計量</a:t>
                </a:r>
                <a:r>
                  <a:rPr kumimoji="1" lang="ja-JP" altLang="en-US" dirty="0"/>
                  <a:t>） の</a:t>
                </a:r>
                <a:r>
                  <a:rPr lang="ja-JP" altLang="en-US" dirty="0"/>
                  <a:t>期待値（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母数</a:t>
                </a:r>
                <a:r>
                  <a:rPr lang="ja-JP" altLang="en-US" dirty="0"/>
                  <a:t>）</a:t>
                </a:r>
                <a:r>
                  <a:rPr kumimoji="1" lang="ja-JP" altLang="en-US" dirty="0"/>
                  <a:t>を求める</a:t>
                </a:r>
                <a:r>
                  <a:rPr lang="ja-JP" altLang="en-US" dirty="0"/>
                  <a:t>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を確率変数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 で置き換える）</a:t>
                </a:r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    (∗)</m:t>
                      </m:r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ここで次の式を利用する．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ja-JP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ja-JP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ja-JP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ja-JP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ja-JP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ja-JP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上式の青の項は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nary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>
                    <a:solidFill>
                      <a:srgbClr val="00B0F0"/>
                    </a:solidFill>
                  </a:rPr>
                  <a:t>　</a:t>
                </a:r>
                <a:r>
                  <a:rPr lang="ja-JP" altLang="en-US" dirty="0"/>
                  <a:t>となるので次を得る．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ja-JP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ja-JP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ja-JP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4F1E4-BB4F-C7D8-02C1-E297F72D2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2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B1E8-3F5C-1020-25CA-EC2B25C8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E396D-CF01-49C3-62AF-36BA61FA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51011A-EE7E-BB8E-5435-1C28BF43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95883-2719-2981-17FB-ED20747EF7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上式を式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(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＊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)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に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代入すると，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ja-JP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ja-JP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ja-JP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ja-JP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ja-JP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ja-JP" altLang="ja-JP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ja-JP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以上より，標本分散の期待値は母分散より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の割合だけ小さい．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95883-2719-2981-17FB-ED20747EF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93" t="-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149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A222-E7EF-DB41-7408-1A82A176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4A24E-8345-C367-5EFE-E8C7CF85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F8BD91-4D94-5A5B-908B-BAB55163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67F2F4-D8CC-1A1A-1807-9B93796F2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dirty="0">
                    <a:solidFill>
                      <a:srgbClr val="00B0F0"/>
                    </a:solidFill>
                  </a:rPr>
                  <a:t>「</a:t>
                </a:r>
                <a:r>
                  <a:rPr lang="ja-JP" altLang="en-US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標本分散の期待値が母分散より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小さい」理由</a:t>
                </a:r>
                <a:endParaRPr lang="en-US" altLang="ja-JP" dirty="0">
                  <a:solidFill>
                    <a:srgbClr val="00B0F0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母集団から無作為にサンプリングする標本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はサンプリングするごとに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の周りでゆらぐ．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例えばある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個のデータセット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はたまたま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よりもプラス側（例えば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ja-JP" altLang="en-US" dirty="0"/>
                  <a:t>）のごく近くに多く散らばっているとする．このとき「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からの分散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」は大雑把にいって約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になる．このような「データセットのサンプリング」を繰り返した場合 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個の標本のサンプリングを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回繰り返した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 の分散の期待値は母分散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になる．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67F2F4-D8CC-1A1A-1807-9B93796F2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 r="-6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172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652C-288E-06EF-D09D-60F38B2A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108773-37AB-0B3E-498E-187D2A2B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6C1209-1D95-47A0-C93B-BADF290B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710802-DEB7-2166-3DD3-0979812733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dirty="0"/>
                  <a:t>一方，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ja-JP" altLang="en-US" dirty="0"/>
                  <a:t> の近くに多く散らばっている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個のデータセット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ja-JP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ja-JP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標本分散とは，「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を中心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とした散らばりの大きさ</a:t>
                </a:r>
                <a:r>
                  <a:rPr lang="ja-JP" altLang="en-US" dirty="0"/>
                  <a:t>」をあらわすが，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そのものがおおよそ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であり，そこからの分散は </a:t>
                </a:r>
                <a:r>
                  <a:rPr lang="en-US" altLang="ja-JP" dirty="0"/>
                  <a:t>1 </a:t>
                </a:r>
                <a:r>
                  <a:rPr lang="ja-JP" altLang="en-US" dirty="0"/>
                  <a:t>より小さい．いわばそのデータセットの揺らぎの傾向に寄り添うようにデータの散らばりの評価の中心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を移動させている．よってそのような標本分散の期待値は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よりも小さくなる（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だけ小さい）．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その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減少幅</a:t>
                </a:r>
                <a:r>
                  <a:rPr lang="ja-JP" altLang="en-US" dirty="0"/>
                  <a:t>はゆらぎの評価の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中心とする標本平均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がどれくらい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 から離れてそのデータセットに寄り添っているのかによって決まり，ちょうど「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のゆらぎの大きさ（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寄り添い幅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）である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 の分散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」</m:t>
                    </m:r>
                  </m:oMath>
                </a14:m>
                <a:r>
                  <a:rPr lang="ja-JP" altLang="en-US" dirty="0"/>
                  <a:t>となる．</a:t>
                </a:r>
                <a:endParaRPr lang="en-US" altLang="ja-JP" dirty="0"/>
              </a:p>
              <a:p>
                <a:pPr marL="324000" lvl="1" indent="0">
                  <a:buNone/>
                </a:pP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直観的な理解は次のページの図を参照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710802-DEB7-2166-3DD3-097981273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 r="-8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685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5065-1050-23A0-BA8C-C94732D0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3D14BC-2DD9-2BFB-EB8D-11DE5522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4D36CB-2496-8B5A-C103-278D9613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9" name="図 8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472C213-C8B2-ACBE-513C-D3EDED3FC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034" y="4441648"/>
            <a:ext cx="2435966" cy="2121712"/>
          </a:xfrm>
          <a:prstGeom prst="rect">
            <a:avLst/>
          </a:prstGeom>
        </p:spPr>
      </p:pic>
      <p:pic>
        <p:nvPicPr>
          <p:cNvPr id="11" name="図 10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4AC1D7CF-C9DA-8827-6D27-6A38F7BC4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57" y="1001146"/>
            <a:ext cx="2389359" cy="2082414"/>
          </a:xfrm>
          <a:prstGeom prst="rect">
            <a:avLst/>
          </a:prstGeom>
        </p:spPr>
      </p:pic>
      <p:pic>
        <p:nvPicPr>
          <p:cNvPr id="13" name="図 12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D2FE816-2338-A829-19B8-39A2321638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65" y="957214"/>
            <a:ext cx="2403941" cy="2121713"/>
          </a:xfrm>
          <a:prstGeom prst="rect">
            <a:avLst/>
          </a:prstGeom>
        </p:spPr>
      </p:pic>
      <p:pic>
        <p:nvPicPr>
          <p:cNvPr id="15" name="図 14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4AFA06-32DF-170A-A12C-60CCC1225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29" y="1001146"/>
            <a:ext cx="2341251" cy="2070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D63B441-3D7C-E125-CB82-D7F90678C5A3}"/>
                  </a:ext>
                </a:extLst>
              </p:cNvPr>
              <p:cNvSpPr txBox="1"/>
              <p:nvPr/>
            </p:nvSpPr>
            <p:spPr>
              <a:xfrm>
                <a:off x="1612454" y="3469123"/>
                <a:ext cx="67505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各データセットにおいては紫の点（標本平均）が散らばりの評価の中心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各データセットごとの標本分散は全データの分散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 より小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D63B441-3D7C-E125-CB82-D7F90678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454" y="3469123"/>
                <a:ext cx="6750566" cy="584775"/>
              </a:xfrm>
              <a:prstGeom prst="rect">
                <a:avLst/>
              </a:prstGeom>
              <a:blipFill>
                <a:blip r:embed="rId7"/>
                <a:stretch>
                  <a:fillRect l="-542" t="-3125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6378D6E8-CD1E-8396-9FEE-F3357521277E}"/>
              </a:ext>
            </a:extLst>
          </p:cNvPr>
          <p:cNvSpPr/>
          <p:nvPr/>
        </p:nvSpPr>
        <p:spPr>
          <a:xfrm rot="5400000">
            <a:off x="3919738" y="1110549"/>
            <a:ext cx="274320" cy="44155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8A355FA-31B8-8BB0-5758-C513665066A1}"/>
                  </a:ext>
                </a:extLst>
              </p:cNvPr>
              <p:cNvSpPr txBox="1"/>
              <p:nvPr/>
            </p:nvSpPr>
            <p:spPr>
              <a:xfrm>
                <a:off x="4167000" y="4477208"/>
                <a:ext cx="49116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全データに対しては赤点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𝜇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が散らばりの評価の中心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全データの分散はほぼ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 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8A355FA-31B8-8BB0-5758-C51366506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000" y="4477208"/>
                <a:ext cx="4911666" cy="584775"/>
              </a:xfrm>
              <a:prstGeom prst="rect">
                <a:avLst/>
              </a:prstGeom>
              <a:blipFill>
                <a:blip r:embed="rId8"/>
                <a:stretch>
                  <a:fillRect l="-745" t="-3125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59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B380-7A42-FA70-902A-1C216057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5FFD53-618D-B031-9068-92D3FC46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標本不偏分散</a:t>
            </a:r>
            <a:r>
              <a:rPr lang="ja-JP" altLang="en-US" dirty="0">
                <a:latin typeface="Cambria Math" panose="02040503050406030204" pitchFamily="18" charset="0"/>
              </a:rPr>
              <a:t>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DA3AAB-7C60-C783-47A5-CBA6729C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6C24878-E0CD-ED84-EDC8-DCE79ABA3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標本</a:t>
                </a:r>
                <a:r>
                  <a:rPr lang="ja-JP" altLang="en-US" dirty="0"/>
                  <a:t>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統計量</a:t>
                </a:r>
                <a:r>
                  <a:rPr kumimoji="1" lang="ja-JP" altLang="en-US" dirty="0"/>
                  <a:t>） の</a:t>
                </a:r>
                <a:r>
                  <a:rPr lang="ja-JP" altLang="en-US" dirty="0"/>
                  <a:t>期待値（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母数</a:t>
                </a:r>
                <a:r>
                  <a:rPr lang="ja-JP" altLang="en-US" dirty="0"/>
                  <a:t>）は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であった．そこでこれを修正して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にしたい．そのためには，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とすればよい．つまり統計量として右辺の期待値計算の中身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を統計量として用いればよい．これは標本不偏分散である．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6C24878-E0CD-ED84-EDC8-DCE79ABA3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 b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38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7544-E095-2420-B3BE-3151FEA6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5BE20-1784-F1D2-A15F-14F1F98C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「自由度」の由来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A820EA-B96F-FAFA-889C-F1B5B694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1E7467-EC5B-2970-5DDB-EAD2EA94B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kumimoji="1" lang="ja-JP" altLang="en-US" sz="2400" dirty="0"/>
                  <a:t>　　</a:t>
                </a:r>
                <a:r>
                  <a:rPr kumimoji="1" lang="ja-JP" altLang="en-US" sz="2600" dirty="0"/>
                  <a:t>標本不偏分散</a:t>
                </a:r>
                <a:endParaRPr kumimoji="1" lang="en-US" altLang="ja-JP" sz="26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sz="2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2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br>
                  <a:rPr kumimoji="1" lang="en-US" altLang="ja-JP" sz="26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</a:br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>
                    <a:solidFill>
                      <a:schemeClr val="tx1"/>
                    </a:solidFill>
                  </a:rPr>
                  <a:t>は</a:t>
                </a:r>
                <a:r>
                  <a:rPr lang="ja-JP" altLang="en-US" sz="2600" dirty="0"/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sz="2600" dirty="0"/>
                  <a:t> からの偏差二乗和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を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で割ったものであった．もし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ゆらぎの評価の中心</a:t>
                </a:r>
                <a:r>
                  <a:rPr lang="ja-JP" altLang="en-US" sz="2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600" dirty="0"/>
                  <a:t> が標本とは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独立の値</a:t>
                </a:r>
                <a:r>
                  <a:rPr lang="ja-JP" altLang="en-US" sz="2600" dirty="0"/>
                  <a:t>（例えば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sz="2600" dirty="0"/>
                  <a:t> ）であれば，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の値は標本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を変数とみて，それぞれ独立に任意の値を与えて計算できる．その場合の任意に値を与えてよい変数の数は標本の数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600" dirty="0"/>
                  <a:t> である．</a:t>
                </a:r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/>
                  <a:t>一方，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の場合，標本を採取しゆらぎの評価の中心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sz="2600" dirty="0"/>
                  <a:t> がある値に定まったとき，それを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定数とみなす</a:t>
                </a:r>
                <a:r>
                  <a:rPr lang="ja-JP" altLang="en-US" sz="2600" dirty="0"/>
                  <a:t>と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の値は標本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をそれぞれ独立に任意の値を与えて計算できない．なぜなら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600" dirty="0"/>
                  <a:t> 個の標本は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定数とみなした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sz="2600" dirty="0"/>
                  <a:t> を用いて次の拘束式を満たす必要があるからである．</a:t>
                </a:r>
                <a:endParaRPr lang="en-US" altLang="ja-JP" sz="2600" dirty="0"/>
              </a:p>
              <a:p>
                <a:pPr marL="3240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ja-JP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/>
                  <a:t>これにより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個の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の値を与えると，残り</a:t>
                </a:r>
                <a:r>
                  <a:rPr lang="en-US" altLang="ja-JP" sz="2600" dirty="0"/>
                  <a:t>1</a:t>
                </a:r>
                <a:r>
                  <a:rPr lang="ja-JP" altLang="en-US" sz="2600" dirty="0"/>
                  <a:t>個の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の値は自動的に定まる．よって上式において自由に選べる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の個数は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である．これを自由度と呼ぶことにする．  </a:t>
                </a:r>
                <a:endParaRPr lang="en-US" altLang="ja-JP" sz="26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1E7467-EC5B-2970-5DDB-EAD2EA94B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579" r="-7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109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3</a:t>
            </a:r>
            <a:r>
              <a:rPr lang="ja-JP" altLang="en-US" dirty="0"/>
              <a:t>節　母平均の区間推定・母分散の区間推定</a:t>
            </a:r>
            <a:endParaRPr lang="en-US" altLang="ja-JP" dirty="0"/>
          </a:p>
          <a:p>
            <a:pPr lvl="1"/>
            <a:r>
              <a:rPr lang="ja-JP" altLang="en-US" dirty="0"/>
              <a:t>母数と推定量の違いを理解する</a:t>
            </a:r>
            <a:endParaRPr lang="en-US" altLang="ja-JP" dirty="0"/>
          </a:p>
          <a:p>
            <a:pPr lvl="2"/>
            <a:r>
              <a:rPr lang="ja-JP" altLang="en-US" dirty="0"/>
              <a:t>母数：母集団の特徴を表す統計量・固定値</a:t>
            </a:r>
            <a:endParaRPr lang="en-US" altLang="ja-JP" dirty="0"/>
          </a:p>
          <a:p>
            <a:pPr lvl="2"/>
            <a:r>
              <a:rPr lang="ja-JP" altLang="en-US" dirty="0"/>
              <a:t>推定量：母数を推定するための統計量・確率変数</a:t>
            </a:r>
            <a:endParaRPr lang="en-US" altLang="ja-JP" dirty="0"/>
          </a:p>
          <a:p>
            <a:pPr lvl="1"/>
            <a:r>
              <a:rPr lang="ja-JP" altLang="en-US" dirty="0"/>
              <a:t>不偏推定量の特徴について理解する</a:t>
            </a:r>
            <a:endParaRPr lang="en-US" altLang="ja-JP" dirty="0"/>
          </a:p>
          <a:p>
            <a:pPr lvl="2"/>
            <a:r>
              <a:rPr lang="ja-JP" altLang="en-US" dirty="0"/>
              <a:t>偏りのない推定量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2588</TotalTime>
  <Words>1854</Words>
  <Application>Microsoft Office PowerPoint</Application>
  <PresentationFormat>画面に合わせる (4:3)</PresentationFormat>
  <Paragraphs>190</Paragraphs>
  <Slides>26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4" baseType="lpstr"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母平均の区間推定・母分散の区間推定</vt:lpstr>
      <vt:lpstr>今日の目標</vt:lpstr>
      <vt:lpstr>PowerPoint プレゼンテーション</vt:lpstr>
      <vt:lpstr>母数と推定量</vt:lpstr>
      <vt:lpstr>PowerPoint プレゼンテーション</vt:lpstr>
      <vt:lpstr>不偏推定量</vt:lpstr>
      <vt:lpstr>推定量としての望ましい性質</vt:lpstr>
      <vt:lpstr>PowerPoint プレゼンテーション</vt:lpstr>
      <vt:lpstr>点推定と区間推定</vt:lpstr>
      <vt:lpstr>PowerPoint プレゼンテーション</vt:lpstr>
      <vt:lpstr>母平均の点推定量</vt:lpstr>
      <vt:lpstr>(Advanced) 便利な公式 </vt:lpstr>
      <vt:lpstr>(Advanced) 標本平均は母平均の不偏推定量であることの理由 </vt:lpstr>
      <vt:lpstr>PowerPoint プレゼンテーション</vt:lpstr>
      <vt:lpstr>母分散の点推定量</vt:lpstr>
      <vt:lpstr>標本不偏分散</vt:lpstr>
      <vt:lpstr>(Advanced) 幾つかの「分散」</vt:lpstr>
      <vt:lpstr>(Advanced) 標本平均X ̅の分散</vt:lpstr>
      <vt:lpstr>(Advanced) 標本分散の期待値</vt:lpstr>
      <vt:lpstr>(Advanced) 標本分散の期待値</vt:lpstr>
      <vt:lpstr>(Advanced) 標本分散の期待値</vt:lpstr>
      <vt:lpstr>(Advanced) 標本分散の期待値</vt:lpstr>
      <vt:lpstr>(Advanced) 標本分散の期待値</vt:lpstr>
      <vt:lpstr>(Advanced)標本不偏分散の期待値</vt:lpstr>
      <vt:lpstr>「自由度」の由来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463</cp:revision>
  <dcterms:created xsi:type="dcterms:W3CDTF">2025-03-03T09:28:12Z</dcterms:created>
  <dcterms:modified xsi:type="dcterms:W3CDTF">2026-08-31T10:40:34Z</dcterms:modified>
</cp:coreProperties>
</file>