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1"/>
  </p:notesMasterIdLst>
  <p:sldIdLst>
    <p:sldId id="256" r:id="rId2"/>
    <p:sldId id="257" r:id="rId3"/>
    <p:sldId id="634" r:id="rId4"/>
    <p:sldId id="646" r:id="rId5"/>
    <p:sldId id="647" r:id="rId6"/>
    <p:sldId id="648" r:id="rId7"/>
    <p:sldId id="649" r:id="rId8"/>
    <p:sldId id="650" r:id="rId9"/>
    <p:sldId id="651" r:id="rId10"/>
    <p:sldId id="652" r:id="rId11"/>
    <p:sldId id="653" r:id="rId12"/>
    <p:sldId id="654" r:id="rId13"/>
    <p:sldId id="655" r:id="rId14"/>
    <p:sldId id="635" r:id="rId15"/>
    <p:sldId id="656" r:id="rId16"/>
    <p:sldId id="658" r:id="rId17"/>
    <p:sldId id="657" r:id="rId18"/>
    <p:sldId id="659" r:id="rId19"/>
    <p:sldId id="26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107" d="100"/>
          <a:sy n="107" d="100"/>
        </p:scale>
        <p:origin x="84" y="800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3322EB53-9E6C-499E-B527-F2AD79E593A6}"/>
    <pc:docChg chg="custSel modSld">
      <pc:chgData name="須永大介" userId="afee7028-08f7-45fb-b56f-efe6c4357b09" providerId="ADAL" clId="{3322EB53-9E6C-499E-B527-F2AD79E593A6}" dt="2026-08-31T10:40:42.855" v="4" actId="6549"/>
      <pc:docMkLst>
        <pc:docMk/>
      </pc:docMkLst>
      <pc:sldChg chg="modSp mod">
        <pc:chgData name="須永大介" userId="afee7028-08f7-45fb-b56f-efe6c4357b09" providerId="ADAL" clId="{3322EB53-9E6C-499E-B527-F2AD79E593A6}" dt="2026-08-31T10:40:42.855" v="4" actId="6549"/>
        <pc:sldMkLst>
          <pc:docMk/>
          <pc:sldMk cId="218988248" sldId="256"/>
        </pc:sldMkLst>
        <pc:spChg chg="mod">
          <ac:chgData name="須永大介" userId="afee7028-08f7-45fb-b56f-efe6c4357b09" providerId="ADAL" clId="{3322EB53-9E6C-499E-B527-F2AD79E593A6}" dt="2026-08-31T10:40:42.855" v="4" actId="6549"/>
          <ac:spMkLst>
            <pc:docMk/>
            <pc:sldMk cId="218988248" sldId="256"/>
            <ac:spMk id="2" creationId="{34E62EDF-23B0-0FF7-CCAE-3A62D57648C2}"/>
          </ac:spMkLst>
        </pc:spChg>
      </pc:sldChg>
      <pc:sldChg chg="modSp mod">
        <pc:chgData name="須永大介" userId="afee7028-08f7-45fb-b56f-efe6c4357b09" providerId="ADAL" clId="{3322EB53-9E6C-499E-B527-F2AD79E593A6}" dt="2026-08-31T10:39:36.096" v="2" actId="6549"/>
        <pc:sldMkLst>
          <pc:docMk/>
          <pc:sldMk cId="520194553" sldId="262"/>
        </pc:sldMkLst>
        <pc:spChg chg="mod">
          <ac:chgData name="須永大介" userId="afee7028-08f7-45fb-b56f-efe6c4357b09" providerId="ADAL" clId="{3322EB53-9E6C-499E-B527-F2AD79E593A6}" dt="2026-08-31T10:39:36.096" v="2" actId="6549"/>
          <ac:spMkLst>
            <pc:docMk/>
            <pc:sldMk cId="520194553" sldId="262"/>
            <ac:spMk id="3" creationId="{500A9993-40CE-C98B-497A-776470BC86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064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114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889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/>
              <a:t>#09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母平均の区間推定・母分散の区間推定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節　母平均の区間推定・母分散の区間推定</a:t>
            </a:r>
            <a:endParaRPr kumimoji="1" lang="en-US" altLang="ja-JP" dirty="0"/>
          </a:p>
          <a:p>
            <a:pPr lvl="1"/>
            <a:r>
              <a:rPr lang="ja-JP" altLang="en-US" dirty="0"/>
              <a:t>母平均の区間推定について理解する</a:t>
            </a:r>
            <a:endParaRPr lang="en-US" altLang="ja-JP" dirty="0"/>
          </a:p>
          <a:p>
            <a:pPr lvl="1"/>
            <a:r>
              <a:rPr kumimoji="1" lang="ja-JP" altLang="en-US" dirty="0"/>
              <a:t>母分散の区間推定について理解する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31ED-B726-DC4C-E0FB-DEF64332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F33AA35-D5F3-F791-881A-02407BA20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１：母平均の区間推定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D38F931-0E07-B30A-DDBC-F627EA92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44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B7616F-2858-E5D3-2C89-55D80A233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区間推定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A0DDC06-8373-B426-ED73-0BEDFAEA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3AA369-479E-5EB8-0A5B-0291BF9B49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区間推定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上限値</a:t>
                </a:r>
                <a:r>
                  <a:rPr lang="ja-JP" altLang="en-US" dirty="0"/>
                  <a:t>と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下限値</a:t>
                </a:r>
                <a:r>
                  <a:rPr lang="ja-JP" altLang="en-US" dirty="0"/>
                  <a:t>を推定し，</a:t>
                </a:r>
                <a:br>
                  <a:rPr lang="en-US" altLang="ja-JP" dirty="0"/>
                </a:br>
                <a:r>
                  <a:rPr lang="ja-JP" altLang="en-US" dirty="0"/>
                  <a:t>上限値と下限値の間の区間に</a:t>
                </a:r>
                <a:br>
                  <a:rPr lang="en-US" altLang="ja-JP" dirty="0"/>
                </a:br>
                <a:r>
                  <a:rPr lang="ja-JP" altLang="en-US" dirty="0"/>
                  <a:t>母数が含まれる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信頼度</a:t>
                </a:r>
                <a:r>
                  <a:rPr lang="ja-JP" altLang="en-US" dirty="0"/>
                  <a:t>を示す方法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下限値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̂"/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上限値</m:t>
                        </m:r>
                      </m:e>
                    </m:d>
                  </m:oMath>
                </a14:m>
                <a:r>
                  <a:rPr lang="ja-JP" altLang="en-US" dirty="0"/>
                  <a:t>　</a:t>
                </a:r>
                <a:r>
                  <a:rPr lang="ja-JP" altLang="en-US" sz="1800" dirty="0"/>
                  <a:t>信頼係数：</a:t>
                </a:r>
                <a:r>
                  <a:rPr lang="en-US" altLang="ja-JP" sz="1800" dirty="0"/>
                  <a:t>95%</a:t>
                </a:r>
                <a:endParaRPr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信頼係数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confidence coefficient</a:t>
                </a:r>
              </a:p>
              <a:p>
                <a:pPr lvl="1"/>
                <a:r>
                  <a:rPr lang="ja-JP" altLang="en-US" dirty="0"/>
                  <a:t>信頼度を表す指標</a:t>
                </a:r>
                <a:endParaRPr lang="en-US" altLang="ja-JP" dirty="0"/>
              </a:p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信頼区間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confidence interval</a:t>
                </a:r>
              </a:p>
              <a:p>
                <a:pPr lvl="1"/>
                <a:r>
                  <a:rPr lang="ja-JP" altLang="en-US" dirty="0"/>
                  <a:t>信頼係数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kumimoji="1" lang="ja-JP" altLang="en-US" dirty="0"/>
                  <a:t>％となる区間</a:t>
                </a:r>
                <a:endParaRPr kumimoji="1"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3AA369-479E-5EB8-0A5B-0291BF9B4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5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BC6E9D-2C27-DF9B-EB4D-A1A367DF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棄却域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07EFF68-27CF-EB13-ABCB-A9DB41CB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A06B39E-C6C3-451C-B3A8-023A982E4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棄却域</a:t>
                </a:r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信頼区間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の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の区間</a:t>
                </a:r>
                <a:r>
                  <a:rPr kumimoji="1" lang="ja-JP" altLang="en-US" dirty="0"/>
                  <a:t>のこと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:r>
                  <a:rPr kumimoji="1"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に関する信頼係数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の信頼区間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＝母平均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棄却域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kumimoji="1" lang="en-US" altLang="ja-JP" dirty="0"/>
                  <a:t>%</a:t>
                </a:r>
              </a:p>
              <a:p>
                <a:pPr lvl="1"/>
                <a:r>
                  <a:rPr lang="ja-JP" altLang="en-US" dirty="0"/>
                  <a:t>棄却域は，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両端の合計が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5%(=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ja-JP" dirty="0">
                    <a:solidFill>
                      <a:schemeClr val="accent5"/>
                    </a:solidFill>
                  </a:rPr>
                  <a:t>)</a:t>
                </a:r>
                <a:r>
                  <a:rPr lang="ja-JP" altLang="en-US" dirty="0"/>
                  <a:t>となるように，</a:t>
                </a:r>
                <a:br>
                  <a:rPr lang="en-US" altLang="ja-JP" dirty="0"/>
                </a:br>
                <a:r>
                  <a:rPr lang="ja-JP" altLang="en-US" dirty="0"/>
                  <a:t>片側</a:t>
                </a:r>
                <a:r>
                  <a:rPr lang="en-US" altLang="ja-JP" dirty="0"/>
                  <a:t>2.5%</a:t>
                </a:r>
                <a:r>
                  <a:rPr lang="ja-JP" altLang="en-US" dirty="0"/>
                  <a:t>ずつ設定する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両側検定の場合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A06B39E-C6C3-451C-B3A8-023A982E4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F701B267-2954-6A83-F522-52275C0B7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69"/>
          <a:stretch>
            <a:fillRect/>
          </a:stretch>
        </p:blipFill>
        <p:spPr>
          <a:xfrm>
            <a:off x="4438500" y="3997835"/>
            <a:ext cx="4573524" cy="229816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295F704-24A2-8DF5-E149-1EF62D992376}"/>
              </a:ext>
            </a:extLst>
          </p:cNvPr>
          <p:cNvSpPr txBox="1"/>
          <p:nvPr/>
        </p:nvSpPr>
        <p:spPr>
          <a:xfrm>
            <a:off x="6342785" y="5314772"/>
            <a:ext cx="7649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95%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CF761C6-B87B-25B2-E02B-70AA3428816C}"/>
              </a:ext>
            </a:extLst>
          </p:cNvPr>
          <p:cNvGrpSpPr/>
          <p:nvPr/>
        </p:nvGrpSpPr>
        <p:grpSpPr>
          <a:xfrm>
            <a:off x="4706579" y="5166676"/>
            <a:ext cx="837088" cy="758070"/>
            <a:chOff x="4706579" y="5166676"/>
            <a:chExt cx="837088" cy="758070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889EC11-541C-2551-F48D-1DAA1720E199}"/>
                </a:ext>
              </a:extLst>
            </p:cNvPr>
            <p:cNvSpPr txBox="1"/>
            <p:nvPr/>
          </p:nvSpPr>
          <p:spPr>
            <a:xfrm>
              <a:off x="4706579" y="5166676"/>
              <a:ext cx="837088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2.5%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1090FE12-793E-2072-B454-7787A9C40EB1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5125123" y="5536008"/>
              <a:ext cx="385050" cy="388738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AE81629-2732-5B50-1C0D-D303E5D86F9C}"/>
              </a:ext>
            </a:extLst>
          </p:cNvPr>
          <p:cNvGrpSpPr/>
          <p:nvPr/>
        </p:nvGrpSpPr>
        <p:grpSpPr>
          <a:xfrm>
            <a:off x="7901912" y="5166676"/>
            <a:ext cx="837088" cy="776355"/>
            <a:chOff x="7901912" y="5166676"/>
            <a:chExt cx="837088" cy="776355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8CCEB25-6906-EF21-38BA-1E61CEB6ED98}"/>
                </a:ext>
              </a:extLst>
            </p:cNvPr>
            <p:cNvSpPr txBox="1"/>
            <p:nvPr/>
          </p:nvSpPr>
          <p:spPr>
            <a:xfrm>
              <a:off x="7901912" y="5166676"/>
              <a:ext cx="837088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2.5%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CC9F0D8E-6CFD-C82F-1363-25C7D7F6A8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1458" y="5554293"/>
              <a:ext cx="385050" cy="388738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8263163-2C61-A02D-26D2-992AC2027E8C}"/>
              </a:ext>
            </a:extLst>
          </p:cNvPr>
          <p:cNvGrpSpPr/>
          <p:nvPr/>
        </p:nvGrpSpPr>
        <p:grpSpPr>
          <a:xfrm>
            <a:off x="4525102" y="6014242"/>
            <a:ext cx="1107996" cy="706962"/>
            <a:chOff x="4503836" y="6014242"/>
            <a:chExt cx="1107996" cy="706962"/>
          </a:xfrm>
        </p:grpSpPr>
        <p:sp>
          <p:nvSpPr>
            <p:cNvPr id="15" name="左中かっこ 14">
              <a:extLst>
                <a:ext uri="{FF2B5EF4-FFF2-40B4-BE49-F238E27FC236}">
                  <a16:creationId xmlns:a16="http://schemas.microsoft.com/office/drawing/2014/main" id="{250FD678-7A40-7AC6-AEA0-B9ACF90D7672}"/>
                </a:ext>
              </a:extLst>
            </p:cNvPr>
            <p:cNvSpPr/>
            <p:nvPr/>
          </p:nvSpPr>
          <p:spPr>
            <a:xfrm rot="16200000">
              <a:off x="4917917" y="5668327"/>
              <a:ext cx="279835" cy="971666"/>
            </a:xfrm>
            <a:prstGeom prst="leftBrac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EB83DF9E-0221-6B76-F027-C98A8FAFD519}"/>
                </a:ext>
              </a:extLst>
            </p:cNvPr>
            <p:cNvSpPr txBox="1"/>
            <p:nvPr/>
          </p:nvSpPr>
          <p:spPr>
            <a:xfrm>
              <a:off x="4503836" y="62595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棄却域</a:t>
              </a: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ABEF4613-407C-70EB-7753-5AE55CA13D50}"/>
              </a:ext>
            </a:extLst>
          </p:cNvPr>
          <p:cNvGrpSpPr/>
          <p:nvPr/>
        </p:nvGrpSpPr>
        <p:grpSpPr>
          <a:xfrm>
            <a:off x="7827481" y="6014242"/>
            <a:ext cx="1107996" cy="706962"/>
            <a:chOff x="4503836" y="6014242"/>
            <a:chExt cx="1107996" cy="706962"/>
          </a:xfrm>
        </p:grpSpPr>
        <p:sp>
          <p:nvSpPr>
            <p:cNvPr id="19" name="左中かっこ 18">
              <a:extLst>
                <a:ext uri="{FF2B5EF4-FFF2-40B4-BE49-F238E27FC236}">
                  <a16:creationId xmlns:a16="http://schemas.microsoft.com/office/drawing/2014/main" id="{4E108A50-0520-AAE3-9436-BC172240887E}"/>
                </a:ext>
              </a:extLst>
            </p:cNvPr>
            <p:cNvSpPr/>
            <p:nvPr/>
          </p:nvSpPr>
          <p:spPr>
            <a:xfrm rot="16200000">
              <a:off x="4917917" y="5668327"/>
              <a:ext cx="279835" cy="971666"/>
            </a:xfrm>
            <a:prstGeom prst="leftBrac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71D8B1FB-518E-6A3F-B2DA-72502A528647}"/>
                </a:ext>
              </a:extLst>
            </p:cNvPr>
            <p:cNvSpPr txBox="1"/>
            <p:nvPr/>
          </p:nvSpPr>
          <p:spPr>
            <a:xfrm>
              <a:off x="4503836" y="62595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棄却域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EBB7C760-00BE-AB34-F8FC-73E2511BBFBD}"/>
              </a:ext>
            </a:extLst>
          </p:cNvPr>
          <p:cNvGrpSpPr/>
          <p:nvPr/>
        </p:nvGrpSpPr>
        <p:grpSpPr>
          <a:xfrm>
            <a:off x="5564936" y="6014241"/>
            <a:ext cx="2330709" cy="616511"/>
            <a:chOff x="3892481" y="6014241"/>
            <a:chExt cx="2330709" cy="616511"/>
          </a:xfrm>
        </p:grpSpPr>
        <p:sp>
          <p:nvSpPr>
            <p:cNvPr id="22" name="左中かっこ 21">
              <a:extLst>
                <a:ext uri="{FF2B5EF4-FFF2-40B4-BE49-F238E27FC236}">
                  <a16:creationId xmlns:a16="http://schemas.microsoft.com/office/drawing/2014/main" id="{6E910109-483D-2374-C94B-6A063A3E58A2}"/>
                </a:ext>
              </a:extLst>
            </p:cNvPr>
            <p:cNvSpPr/>
            <p:nvPr/>
          </p:nvSpPr>
          <p:spPr>
            <a:xfrm rot="16200000">
              <a:off x="4917918" y="4988804"/>
              <a:ext cx="279835" cy="2330709"/>
            </a:xfrm>
            <a:prstGeom prst="leftBrac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543433E5-D79F-D2B1-9189-0F8D17FD730D}"/>
                </a:ext>
              </a:extLst>
            </p:cNvPr>
            <p:cNvSpPr txBox="1"/>
            <p:nvPr/>
          </p:nvSpPr>
          <p:spPr>
            <a:xfrm>
              <a:off x="4452540" y="6230642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信頼区間</a:t>
              </a:r>
            </a:p>
          </p:txBody>
        </p:sp>
      </p:grp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1C1CFB8-148F-EB48-0377-A2D5010F63D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59158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A3F28A-92AE-09EB-4F34-274DCA80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7A795B-7491-3B9C-1C9B-AD7FF741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5953538-6043-938C-77BA-6D97EA3ABD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ランダムな標本抽出を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回行って，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信頼区間をその都度計算したとき，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区間内に母平均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を含むものは，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平均的に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回中</a:t>
                </a:r>
                <a:r>
                  <a:rPr kumimoji="1" lang="en-US" altLang="ja-JP" dirty="0"/>
                  <a:t>95</a:t>
                </a:r>
                <a:r>
                  <a:rPr kumimoji="1" lang="ja-JP" altLang="en-US" dirty="0"/>
                  <a:t>回になるような信頼区間</a:t>
                </a:r>
                <a:endParaRPr kumimoji="1" lang="en-US" altLang="ja-JP" dirty="0"/>
              </a:p>
              <a:p>
                <a:pPr lvl="2"/>
                <a:r>
                  <a:rPr kumimoji="1" lang="en-US" altLang="ja-JP" dirty="0"/>
                  <a:t>95</a:t>
                </a:r>
                <a:r>
                  <a:rPr kumimoji="1" lang="ja-JP" altLang="en-US" dirty="0"/>
                  <a:t>回は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必ず母平均を含む，という意味ではない</a:t>
                </a:r>
                <a:r>
                  <a:rPr kumimoji="1" lang="ja-JP" altLang="en-US" dirty="0"/>
                  <a:t>！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5953538-6043-938C-77BA-6D97EA3AB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095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3633E-2AD6-BB9C-2294-775C265D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652A2-A050-B9D7-73EE-4421B55A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0F1186-52A5-1D11-3BC4-88873E0E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514ABA-D2F4-60AE-63E6-08D29A299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母平均の信頼区間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kumimoji="1" lang="en-US" altLang="ja-JP" b="0" i="1" dirty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kumimoji="1" lang="en-US" altLang="ja-JP" b="0" i="1" dirty="0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p>
                                        <m:sSupPr>
                                          <m:ctrlPr>
                                            <a:rPr kumimoji="1" lang="en-US" altLang="ja-JP" b="0" i="1" dirty="0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ja-JP" b="0" i="1" dirty="0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ja-JP" b="0" i="1" dirty="0" smtClean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acc>
                                </m:num>
                                <m:den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 dirty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p>
                                        <m:sSupPr>
                                          <m:ctrlPr>
                                            <a:rPr lang="en-US" altLang="ja-JP" i="1" dirty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i="1" dirty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ja-JP" i="1" dirty="0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acc>
                                </m:num>
                                <m:den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標本平均</m:t>
                        </m:r>
                        <m:r>
                          <a:rPr lang="en-US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ja-JP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ja-JP" alt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パーセント</m:t>
                        </m:r>
                        <m:r>
                          <a:rPr lang="ja-JP" altLang="en-US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点</m:t>
                        </m:r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ja-JP" altLang="en-US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標本不偏分散</m:t>
                                </m:r>
                              </m:num>
                              <m:den>
                                <m:r>
                                  <a:rPr lang="ja-JP" altLang="en-US" i="1" dirty="0" smtClean="0">
                                    <a:latin typeface="Cambria Math" panose="02040503050406030204" pitchFamily="18" charset="0"/>
                                  </a:rPr>
                                  <m:t>標本数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sz="2000" dirty="0"/>
                  <a:t>　：自由度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，上側確率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000" dirty="0"/>
                  <a:t>の</a:t>
                </a:r>
                <a14:m>
                  <m:oMath xmlns:m="http://schemas.openxmlformats.org/officeDocument/2006/math">
                    <m:r>
                      <a:rPr lang="en-US" altLang="ja-JP" sz="20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000" dirty="0"/>
                  <a:t>分布パーセント点</a:t>
                </a:r>
                <a:endParaRPr lang="en-US" altLang="ja-JP" sz="2000" dirty="0"/>
              </a:p>
              <a:p>
                <a:pPr lvl="2"/>
                <a:r>
                  <a:rPr lang="en-US" altLang="ja-JP" sz="1600" dirty="0"/>
                  <a:t>t</a:t>
                </a:r>
                <a:r>
                  <a:rPr lang="ja-JP" altLang="en-US" sz="1600" dirty="0"/>
                  <a:t>分布表から読み取る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514ABA-D2F4-60AE-63E6-08D29A299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D1B2240-C1C4-D427-C6A1-6B27239A05C9}"/>
              </a:ext>
            </a:extLst>
          </p:cNvPr>
          <p:cNvGrpSpPr/>
          <p:nvPr/>
        </p:nvGrpSpPr>
        <p:grpSpPr>
          <a:xfrm>
            <a:off x="1541722" y="2920168"/>
            <a:ext cx="3009013" cy="598878"/>
            <a:chOff x="4572001" y="6014242"/>
            <a:chExt cx="3009013" cy="598878"/>
          </a:xfrm>
        </p:grpSpPr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39604EF9-816C-5D7F-B0BF-FA354746ABA9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77A21A9-EF29-B186-18D6-A743D56EBDF4}"/>
                </a:ext>
              </a:extLst>
            </p:cNvPr>
            <p:cNvSpPr txBox="1"/>
            <p:nvPr/>
          </p:nvSpPr>
          <p:spPr>
            <a:xfrm>
              <a:off x="5524561" y="615145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下限値</a:t>
              </a: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2499D4F-63C3-867C-4103-0D32FE37BF09}"/>
              </a:ext>
            </a:extLst>
          </p:cNvPr>
          <p:cNvGrpSpPr/>
          <p:nvPr/>
        </p:nvGrpSpPr>
        <p:grpSpPr>
          <a:xfrm>
            <a:off x="4649974" y="2912950"/>
            <a:ext cx="3009013" cy="598878"/>
            <a:chOff x="4572001" y="6014242"/>
            <a:chExt cx="3009013" cy="598878"/>
          </a:xfrm>
        </p:grpSpPr>
        <p:sp>
          <p:nvSpPr>
            <p:cNvPr id="9" name="左中かっこ 8">
              <a:extLst>
                <a:ext uri="{FF2B5EF4-FFF2-40B4-BE49-F238E27FC236}">
                  <a16:creationId xmlns:a16="http://schemas.microsoft.com/office/drawing/2014/main" id="{FF97C053-2E71-4C47-0207-DBEC1B337CE0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4942338-78FB-B184-C3FA-832342277D86}"/>
                </a:ext>
              </a:extLst>
            </p:cNvPr>
            <p:cNvSpPr txBox="1"/>
            <p:nvPr/>
          </p:nvSpPr>
          <p:spPr>
            <a:xfrm>
              <a:off x="5524561" y="615145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上限値</a:t>
              </a:r>
            </a:p>
          </p:txBody>
        </p: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400CF5B-790C-213A-2834-8BA06647912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43451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365FF8-BE45-6EB2-88A6-46B2DCD6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母平均の区間推定量の導出①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F5022E5-7F27-E202-8E63-D1702345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A287EB-6541-3318-C557-C3CB9DB036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altLang="ja-JP" dirty="0"/>
                  <a:t>95%</a:t>
                </a:r>
                <a:r>
                  <a:rPr lang="ja-JP" altLang="ja-JP" dirty="0"/>
                  <a:t>信頼区間の例</a:t>
                </a:r>
                <a:endParaRPr lang="en-US" altLang="ja-JP" dirty="0"/>
              </a:p>
              <a:p>
                <a:pPr lvl="1"/>
                <a:r>
                  <a:rPr lang="ja-JP" altLang="ja-JP" dirty="0"/>
                  <a:t>母平均の</a:t>
                </a:r>
                <a:r>
                  <a:rPr lang="en-US" altLang="ja-JP" dirty="0"/>
                  <a:t>95%</a:t>
                </a:r>
                <a:r>
                  <a:rPr lang="ja-JP" altLang="ja-JP" dirty="0"/>
                  <a:t>信頼区間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ja-JP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ja-JP" dirty="0"/>
                  <a:t>を</a:t>
                </a:r>
                <a:r>
                  <a:rPr lang="ja-JP" altLang="en-US" dirty="0"/>
                  <a:t>，</a:t>
                </a:r>
                <a:r>
                  <a:rPr lang="ja-JP" altLang="ja-JP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ja-JP" dirty="0"/>
                  <a:t>の</a:t>
                </a:r>
                <a:r>
                  <a:rPr lang="en-US" altLang="ja-JP" dirty="0"/>
                  <a:t>T</a:t>
                </a:r>
                <a:r>
                  <a:rPr lang="ja-JP" altLang="ja-JP" dirty="0"/>
                  <a:t>統計量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ja-JP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acc>
                              </m:num>
                              <m:den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で置き換える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acc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den>
                            </m:f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ja-JP" altLang="ja-JP" dirty="0"/>
              </a:p>
              <a:p>
                <a:pPr lvl="1"/>
                <a:r>
                  <a:rPr lang="ja-JP" altLang="ja-JP" dirty="0"/>
                  <a:t>分母を移項する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acc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den>
                            </m:f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br>
                  <a:rPr lang="en-US" altLang="ja-JP" i="1" dirty="0"/>
                </a:b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acc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acc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A287EB-6541-3318-C557-C3CB9DB036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1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525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916AB7-BFC2-3912-53CB-E007D36E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母平均の区間推定量の導出②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7017EDA-9E57-4594-72E3-FAE087F8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A830972-9B02-0213-A828-6E31FAC22F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lvl="1"/>
                <a:r>
                  <a:rPr lang="ja-JP" altLang="ja-JP" dirty="0"/>
                  <a:t>標本平均</a:t>
                </a:r>
                <a:r>
                  <a:rPr lang="en-US" altLang="ja-JP" dirty="0"/>
                  <a:t> 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ja-JP" dirty="0"/>
                  <a:t>を移項する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acc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acc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d>
                          </m:e>
                        </m:d>
                      </m:e>
                    </m:func>
                  </m:oMath>
                </a14:m>
                <a:br>
                  <a:rPr lang="en-US" altLang="ja-JP" i="1" dirty="0"/>
                </a:b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acc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acc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func>
                  </m:oMath>
                </a14:m>
                <a:endParaRPr lang="ja-JP" altLang="ja-JP" dirty="0"/>
              </a:p>
              <a:p>
                <a:pPr lvl="1"/>
                <a:r>
                  <a:rPr lang="ja-JP" altLang="ja-JP" dirty="0"/>
                  <a:t>すべての項に</a:t>
                </a:r>
                <a:r>
                  <a:rPr lang="en-US" altLang="ja-JP" dirty="0"/>
                  <a:t>-1</a:t>
                </a:r>
                <a:r>
                  <a:rPr lang="ja-JP" altLang="ja-JP" dirty="0"/>
                  <a:t>を</a:t>
                </a:r>
                <a:r>
                  <a:rPr lang="ja-JP" altLang="en-US" dirty="0"/>
                  <a:t>かけて，</a:t>
                </a:r>
                <a:r>
                  <a:rPr lang="ja-JP" altLang="ja-JP" dirty="0"/>
                  <a:t>左から小さい順に並ぶように位置を入れ替える</a:t>
                </a:r>
                <a:endParaRPr lang="en-US" altLang="ja-JP" dirty="0"/>
              </a:p>
              <a:p>
                <a:pPr lvl="2"/>
                <a:r>
                  <a:rPr lang="ja-JP" altLang="ja-JP" dirty="0"/>
                  <a:t>不等号の向きが変わることに注意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acc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acc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func>
                  </m:oMath>
                </a14:m>
                <a:br>
                  <a:rPr lang="en-US" altLang="ja-JP" i="1" dirty="0"/>
                </a:b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acc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acc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A830972-9B02-0213-A828-6E31FAC22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889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0A6CA3-02D0-BBC6-08EC-797E4B30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母平均の区間推定①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0796BD1-45ED-4F7E-8D55-7156483A5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EA205F8-4AAB-E710-A027-5A58362DE6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例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A</a:t>
                </a:r>
                <a:r>
                  <a:rPr lang="ja-JP" altLang="en-US" dirty="0"/>
                  <a:t>クラス</a:t>
                </a:r>
                <a:r>
                  <a:rPr lang="en-US" altLang="ja-JP" dirty="0"/>
                  <a:t>30</a:t>
                </a:r>
                <a:r>
                  <a:rPr lang="ja-JP" altLang="en-US" dirty="0"/>
                  <a:t>名の得点から，</a:t>
                </a:r>
                <a:br>
                  <a:rPr lang="en-US" altLang="ja-JP" dirty="0"/>
                </a:br>
                <a:r>
                  <a:rPr lang="ja-JP" altLang="en-US" dirty="0"/>
                  <a:t>学年全体の平均得点の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信頼区間を推定したい</a:t>
                </a:r>
                <a:endParaRPr lang="en-US" altLang="ja-JP" dirty="0"/>
              </a:p>
              <a:p>
                <a:pPr lvl="1"/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クラスの平均点は</a:t>
                </a:r>
                <a:r>
                  <a:rPr kumimoji="1" lang="en-US" altLang="ja-JP" dirty="0"/>
                  <a:t>72</a:t>
                </a:r>
                <a:r>
                  <a:rPr kumimoji="1" lang="ja-JP" altLang="en-US" dirty="0"/>
                  <a:t>点，分散は</a:t>
                </a:r>
                <a:r>
                  <a:rPr kumimoji="1" lang="en-US" altLang="ja-JP" dirty="0"/>
                  <a:t>58</a:t>
                </a:r>
                <a:endParaRPr lang="en-US" altLang="ja-JP" dirty="0"/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手順①　文中からわかる統計量を整理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FF0000"/>
                    </a:solidFill>
                  </a:rPr>
                  <a:t>母集団</a:t>
                </a:r>
                <a:r>
                  <a:rPr lang="ja-JP" altLang="en-US" sz="1800" dirty="0"/>
                  <a:t>（未知）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：学年全体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1"/>
                    </a:solidFill>
                  </a:rPr>
                  <a:t>標本</a:t>
                </a:r>
                <a:r>
                  <a:rPr kumimoji="1" lang="ja-JP" altLang="en-US" sz="1800" dirty="0"/>
                  <a:t>（既知）</a:t>
                </a:r>
                <a:r>
                  <a:rPr kumimoji="1" lang="en-US" altLang="ja-JP" dirty="0"/>
                  <a:t>		</a:t>
                </a:r>
                <a:r>
                  <a:rPr kumimoji="1" lang="ja-JP" altLang="en-US" dirty="0"/>
                  <a:t>：</a:t>
                </a:r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クラス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1"/>
                    </a:solidFill>
                  </a:rPr>
                  <a:t>標本数</a:t>
                </a:r>
                <a:r>
                  <a:rPr lang="en-US" altLang="ja-JP" dirty="0"/>
                  <a:t>	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標本平均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=72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2"/>
                    </a:solidFill>
                  </a:rPr>
                  <a:t>標本分散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=58</m:t>
                    </m:r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EA205F8-4AAB-E710-A027-5A58362DE6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658C3A3-973F-A053-510E-C23A9ACD7E5C}"/>
              </a:ext>
            </a:extLst>
          </p:cNvPr>
          <p:cNvSpPr/>
          <p:nvPr/>
        </p:nvSpPr>
        <p:spPr>
          <a:xfrm>
            <a:off x="1945758" y="2425324"/>
            <a:ext cx="1871330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EB0CE84-5711-C76F-5B9D-683060C40D05}"/>
              </a:ext>
            </a:extLst>
          </p:cNvPr>
          <p:cNvSpPr/>
          <p:nvPr/>
        </p:nvSpPr>
        <p:spPr>
          <a:xfrm>
            <a:off x="4086447" y="2425324"/>
            <a:ext cx="1346790" cy="36933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D45419BC-E9DC-E843-6106-2A69137D96EC}"/>
              </a:ext>
            </a:extLst>
          </p:cNvPr>
          <p:cNvGrpSpPr/>
          <p:nvPr/>
        </p:nvGrpSpPr>
        <p:grpSpPr>
          <a:xfrm>
            <a:off x="0" y="1904910"/>
            <a:ext cx="7315200" cy="562948"/>
            <a:chOff x="0" y="1904910"/>
            <a:chExt cx="7315200" cy="562948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6D4247D2-B49B-6320-3CC8-6356309D13BD}"/>
                </a:ext>
              </a:extLst>
            </p:cNvPr>
            <p:cNvGrpSpPr/>
            <p:nvPr/>
          </p:nvGrpSpPr>
          <p:grpSpPr>
            <a:xfrm>
              <a:off x="0" y="1913860"/>
              <a:ext cx="3530008" cy="553998"/>
              <a:chOff x="0" y="1913860"/>
              <a:chExt cx="3530008" cy="553998"/>
            </a:xfrm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F59CCF5D-B5E2-78AB-3EE0-F39EF1948168}"/>
                  </a:ext>
                </a:extLst>
              </p:cNvPr>
              <p:cNvSpPr/>
              <p:nvPr/>
            </p:nvSpPr>
            <p:spPr>
              <a:xfrm>
                <a:off x="797442" y="1913860"/>
                <a:ext cx="2732566" cy="36933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69A8B63-91C6-0892-3B36-F909AB1BC7DC}"/>
                  </a:ext>
                </a:extLst>
              </p:cNvPr>
              <p:cNvSpPr txBox="1"/>
              <p:nvPr/>
            </p:nvSpPr>
            <p:spPr>
              <a:xfrm>
                <a:off x="0" y="2098526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母平均</a:t>
                </a:r>
              </a:p>
            </p:txBody>
          </p:sp>
        </p:grp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6801820C-6506-1DB2-C117-52BA369CBC18}"/>
                </a:ext>
              </a:extLst>
            </p:cNvPr>
            <p:cNvSpPr/>
            <p:nvPr/>
          </p:nvSpPr>
          <p:spPr>
            <a:xfrm>
              <a:off x="5904615" y="1904910"/>
              <a:ext cx="1410585" cy="3693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ACB1159-BE2D-6B1C-BF00-98BD5489EDAB}"/>
              </a:ext>
            </a:extLst>
          </p:cNvPr>
          <p:cNvGrpSpPr/>
          <p:nvPr/>
        </p:nvGrpSpPr>
        <p:grpSpPr>
          <a:xfrm>
            <a:off x="797442" y="1228363"/>
            <a:ext cx="3019646" cy="685497"/>
            <a:chOff x="797442" y="1228363"/>
            <a:chExt cx="3019646" cy="685497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3F05DBD7-DABA-6C71-24B7-C6DF0F8ED23D}"/>
                </a:ext>
              </a:extLst>
            </p:cNvPr>
            <p:cNvGrpSpPr/>
            <p:nvPr/>
          </p:nvGrpSpPr>
          <p:grpSpPr>
            <a:xfrm>
              <a:off x="797442" y="1228363"/>
              <a:ext cx="1928681" cy="676547"/>
              <a:chOff x="797442" y="1627911"/>
              <a:chExt cx="1928681" cy="676547"/>
            </a:xfrm>
          </p:grpSpPr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2B389BFB-E1A8-758F-E84E-3C2C50B9023E}"/>
                  </a:ext>
                </a:extLst>
              </p:cNvPr>
              <p:cNvSpPr/>
              <p:nvPr/>
            </p:nvSpPr>
            <p:spPr>
              <a:xfrm>
                <a:off x="797442" y="1935126"/>
                <a:ext cx="1605516" cy="369332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9ECCA1A9-6BA4-E592-53D1-55918CAF2478}"/>
                  </a:ext>
                </a:extLst>
              </p:cNvPr>
              <p:cNvSpPr txBox="1"/>
              <p:nvPr/>
            </p:nvSpPr>
            <p:spPr>
              <a:xfrm>
                <a:off x="2079792" y="1627911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chemeClr val="accent1"/>
                    </a:solidFill>
                  </a:rPr>
                  <a:t>標本</a:t>
                </a:r>
              </a:p>
            </p:txBody>
          </p:sp>
        </p:grp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FD8A98F8-79B8-CC83-DACB-740EAF1CDED0}"/>
                </a:ext>
              </a:extLst>
            </p:cNvPr>
            <p:cNvSpPr/>
            <p:nvPr/>
          </p:nvSpPr>
          <p:spPr>
            <a:xfrm>
              <a:off x="3239386" y="1535578"/>
              <a:ext cx="577702" cy="37828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E69E1386-F469-4670-97C3-51560A87728F}"/>
                  </a:ext>
                </a:extLst>
              </p:cNvPr>
              <p:cNvSpPr txBox="1"/>
              <p:nvPr/>
            </p:nvSpPr>
            <p:spPr>
              <a:xfrm>
                <a:off x="5514848" y="5173964"/>
                <a:ext cx="3497176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num>
                            <m:den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E69E1386-F469-4670-97C3-51560A877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8" y="5173964"/>
                <a:ext cx="3497176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A4A82BD-AFDE-7F70-6B26-5FC8D062BB53}"/>
                  </a:ext>
                </a:extLst>
              </p:cNvPr>
              <p:cNvSpPr txBox="1"/>
              <p:nvPr/>
            </p:nvSpPr>
            <p:spPr>
              <a:xfrm>
                <a:off x="5514848" y="5173964"/>
                <a:ext cx="3497176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A4A82BD-AFDE-7F70-6B26-5FC8D062B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8" y="5173964"/>
                <a:ext cx="3497176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0B6784EE-A7D5-F359-7DFC-D728588047B7}"/>
                  </a:ext>
                </a:extLst>
              </p:cNvPr>
              <p:cNvSpPr txBox="1"/>
              <p:nvPr/>
            </p:nvSpPr>
            <p:spPr>
              <a:xfrm>
                <a:off x="5514847" y="5173964"/>
                <a:ext cx="3497176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0B6784EE-A7D5-F359-7DFC-D72858804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7" y="5173964"/>
                <a:ext cx="3497176" cy="1547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136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  <p:bldP spid="12" grpId="0" animBg="1"/>
      <p:bldP spid="14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1067-E9B6-7DE1-72D8-E03E49E9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F857D3-23CC-7671-9FD4-8F4F78C26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母平均の区間推定②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5C2E58D-FED4-0FB7-1795-058787067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6A2A18-9441-0489-2254-72354AB9DD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手順②　標本不偏分散を求める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標本分散から，偏差二乗和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を逆算する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58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=1740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kumimoji="1" lang="ja-JP" altLang="en-US" dirty="0"/>
                  <a:t>求めた偏差二乗和を用いて，標本不偏分散を求める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×1740=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60</m:t>
                    </m:r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6A2A18-9441-0489-2254-72354AB9DD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28BA2A1A-EAED-7EDA-2A8E-C538A96F4BE4}"/>
                  </a:ext>
                </a:extLst>
              </p:cNvPr>
              <p:cNvSpPr txBox="1"/>
              <p:nvPr/>
            </p:nvSpPr>
            <p:spPr>
              <a:xfrm>
                <a:off x="5514847" y="5173964"/>
                <a:ext cx="3497176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28BA2A1A-EAED-7EDA-2A8E-C538A96F4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7" y="5173964"/>
                <a:ext cx="3497176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1C487E3-1E19-CE73-CB70-18826867263B}"/>
                  </a:ext>
                </a:extLst>
              </p:cNvPr>
              <p:cNvSpPr txBox="1"/>
              <p:nvPr/>
            </p:nvSpPr>
            <p:spPr>
              <a:xfrm>
                <a:off x="5514271" y="5173964"/>
                <a:ext cx="3497752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1C487E3-1E19-CE73-CB70-188268672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71" y="5173964"/>
                <a:ext cx="3497752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2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3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605C0-44D9-4795-0E55-647AC122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462C77-4871-B0C2-EB57-758CDAFB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母平均の区間推定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09F162-41FA-0E05-CB4B-9A874657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D7B6A1B-79C6-6BF4-F81A-1A06E6962D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手順③　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分布表から，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パーセント点を求める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自由度</a:t>
                </a:r>
                <a:r>
                  <a:rPr lang="en-US" altLang="ja-JP" dirty="0"/>
                  <a:t>	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−1=29</m:t>
                    </m:r>
                  </m:oMath>
                </a14:m>
                <a:r>
                  <a:rPr lang="ja-JP" altLang="en-US" dirty="0"/>
                  <a:t>を逆算する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上側確率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1−0.95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2.0452</m:t>
                    </m:r>
                  </m:oMath>
                </a14:m>
                <a:endParaRPr lang="en-US" altLang="ja-JP" dirty="0"/>
              </a:p>
              <a:p>
                <a:r>
                  <a:rPr lang="ja-JP" altLang="en-US" dirty="0"/>
                  <a:t>手順④　</a:t>
                </a:r>
                <a:r>
                  <a:rPr lang="en-US" altLang="ja-JP" dirty="0"/>
                  <a:t>±</a:t>
                </a:r>
                <a:r>
                  <a:rPr lang="ja-JP" altLang="en-US" dirty="0"/>
                  <a:t>の後の部分に代入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̂"/>
                                <m:ctrlPr>
                                  <a:rPr kumimoji="1"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</m:num>
                          <m:den>
                            <m:r>
                              <a:rPr kumimoji="1" lang="en-US" altLang="ja-JP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=2.0452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60</m:t>
                            </m:r>
                          </m:num>
                          <m:den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</m:t>
                            </m:r>
                          </m:den>
                        </m:f>
                      </m:e>
                    </m:ra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2.8923</m:t>
                    </m:r>
                  </m:oMath>
                </a14:m>
                <a:endParaRPr lang="en-US" altLang="ja-JP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D7B6A1B-79C6-6BF4-F81A-1A06E6962D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71483AD-9072-FD5A-D10B-591ED4FBD2A6}"/>
                  </a:ext>
                </a:extLst>
              </p:cNvPr>
              <p:cNvSpPr txBox="1"/>
              <p:nvPr/>
            </p:nvSpPr>
            <p:spPr>
              <a:xfrm>
                <a:off x="5514847" y="5173964"/>
                <a:ext cx="3497752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71483AD-9072-FD5A-D10B-591ED4FBD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7" y="5173964"/>
                <a:ext cx="3497752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71A146E-CDF5-E03E-79A8-03A6337640B2}"/>
                  </a:ext>
                </a:extLst>
              </p:cNvPr>
              <p:cNvSpPr txBox="1"/>
              <p:nvPr/>
            </p:nvSpPr>
            <p:spPr>
              <a:xfrm>
                <a:off x="5514270" y="5173964"/>
                <a:ext cx="3497753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kumimoji="1" lang="en-US" altLang="ja-JP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2.0452</m:t>
                      </m:r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71A146E-CDF5-E03E-79A8-03A633764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70" y="5173964"/>
                <a:ext cx="3497753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E4107A5-086D-8085-AAAF-E037894464BA}"/>
                  </a:ext>
                </a:extLst>
              </p:cNvPr>
              <p:cNvSpPr txBox="1"/>
              <p:nvPr/>
            </p:nvSpPr>
            <p:spPr>
              <a:xfrm>
                <a:off x="5513696" y="5173965"/>
                <a:ext cx="3497753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on"/>
                          <m:ctrlPr>
                            <a:rPr kumimoji="1" lang="en-US" altLang="ja-JP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kumimoji="1" lang="en-US" altLang="ja-JP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2.8923</m:t>
                      </m:r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E4107A5-086D-8085-AAAF-E03789446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696" y="5173965"/>
                <a:ext cx="3497753" cy="1547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63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7061-FE44-48AB-B1EB-17A452AB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66586F-0FA4-F1A6-C960-8C22AE84E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母平均の区間推定④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03B079-E6FA-53A5-2D9F-754DD7ED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4BE3BC5-38AE-0225-FD28-EB5164323E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手順⑤　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を代入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下限値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72−2.8923=69.1077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上限値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2.8923=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74.8923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よって，求める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信頼区間は　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69.1077, 74.8923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4BE3BC5-38AE-0225-FD28-EB5164323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049AA7E-27A7-366A-3619-F9670D2AFC30}"/>
                  </a:ext>
                </a:extLst>
              </p:cNvPr>
              <p:cNvSpPr txBox="1"/>
              <p:nvPr/>
            </p:nvSpPr>
            <p:spPr>
              <a:xfrm>
                <a:off x="5513696" y="5173965"/>
                <a:ext cx="3497753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on"/>
                          <m:ctrlPr>
                            <a:rPr kumimoji="1" lang="en-US" altLang="ja-JP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kumimoji="1" lang="en-US" altLang="ja-JP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2.8923</m:t>
                      </m:r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049AA7E-27A7-366A-3619-F9670D2AF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696" y="5173965"/>
                <a:ext cx="3497753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721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2FC9-12EA-183D-9227-4A87BD28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154F84F-44EE-9DCA-9D8C-BE2A948EE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２：母分散の区間推定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B31E5C4-9E9F-A1E3-60B8-9A0F301E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781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382A5-2E65-42BD-C1EA-DB58EB4B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母分散の信頼区間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F20D3EB-1268-27C3-B359-2A67B4CB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5672FF-EF34-BEFC-5B26-4351DEFC6C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kumimoji="1" lang="ja-JP" altLang="en-US" dirty="0"/>
                  <a:t>母分散の信頼区間の推定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カイ二乗分布を使用する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altLang="ja-JP" sz="32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320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r>
                  <a:rPr lang="ja-JP" altLang="en-US" dirty="0"/>
                  <a:t>このうち，右辺第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項は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未知の母平均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を含まない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dirty="0"/>
                  <a:t>のカイ二乗分布に従う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2"/>
                <a:endParaRPr lang="en-US" altLang="ja-JP" b="0" dirty="0"/>
              </a:p>
              <a:p>
                <a:pPr lvl="2"/>
                <a:r>
                  <a:rPr lang="ja-JP" altLang="en-US" b="0" dirty="0"/>
                  <a:t>参考：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altLang="ja-JP" sz="24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5672FF-EF34-BEFC-5B26-4351DEFC6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374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6FA5F0-4FA6-A0D1-92FC-C2DAED6A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カイ二乗分布は左右非対称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9A513E3-C942-2D03-ABE3-D90F0F6E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3CBA54-C4A4-5ACD-62C9-EE59610B1D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カイ二乗分布は左右非対称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分布の両側でそれぞれ，棄却域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を調べる必要がある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3CBA54-C4A4-5ACD-62C9-EE59610B1D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A8A3D247-2554-74EE-A76E-AC4331E03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39" y="2067269"/>
            <a:ext cx="7028121" cy="421780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CDD3007-4B6E-938F-A718-838C65CAF311}"/>
              </a:ext>
            </a:extLst>
          </p:cNvPr>
          <p:cNvSpPr txBox="1"/>
          <p:nvPr/>
        </p:nvSpPr>
        <p:spPr>
          <a:xfrm>
            <a:off x="2600125" y="4655553"/>
            <a:ext cx="7649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95%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21074ED1-E337-0CA7-B5A6-A65CCDC6875F}"/>
              </a:ext>
            </a:extLst>
          </p:cNvPr>
          <p:cNvGrpSpPr/>
          <p:nvPr/>
        </p:nvGrpSpPr>
        <p:grpSpPr>
          <a:xfrm>
            <a:off x="72002" y="4175261"/>
            <a:ext cx="1743448" cy="1471553"/>
            <a:chOff x="4368368" y="4284566"/>
            <a:chExt cx="1743448" cy="1471553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ADC000BD-78A3-1EF0-925E-1AE78A0D1991}"/>
                </a:ext>
              </a:extLst>
            </p:cNvPr>
            <p:cNvSpPr txBox="1"/>
            <p:nvPr/>
          </p:nvSpPr>
          <p:spPr>
            <a:xfrm>
              <a:off x="4368368" y="4284566"/>
              <a:ext cx="1683474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2.5%</a:t>
              </a:r>
            </a:p>
            <a:p>
              <a:pPr algn="ctr"/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上から</a:t>
              </a:r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97.5%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282C3905-775E-5A7E-907E-342E72F03CCF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5210105" y="4930897"/>
              <a:ext cx="901711" cy="825222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37AE688-487C-2BCB-2BA9-895B8BA01B02}"/>
              </a:ext>
            </a:extLst>
          </p:cNvPr>
          <p:cNvGrpSpPr/>
          <p:nvPr/>
        </p:nvGrpSpPr>
        <p:grpSpPr>
          <a:xfrm>
            <a:off x="5893201" y="5004835"/>
            <a:ext cx="837088" cy="776355"/>
            <a:chOff x="7901912" y="5166676"/>
            <a:chExt cx="837088" cy="776355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2F8D0896-0C83-3488-64EB-D82C0F8CD543}"/>
                </a:ext>
              </a:extLst>
            </p:cNvPr>
            <p:cNvSpPr txBox="1"/>
            <p:nvPr/>
          </p:nvSpPr>
          <p:spPr>
            <a:xfrm>
              <a:off x="7901912" y="5166676"/>
              <a:ext cx="837088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2.5%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D576D804-0416-2B0A-CBD7-FA3CE6AE90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1458" y="5554293"/>
              <a:ext cx="385050" cy="388738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1A74FD58-7BB2-F598-0964-B79F7D43E389}"/>
              </a:ext>
            </a:extLst>
          </p:cNvPr>
          <p:cNvGrpSpPr/>
          <p:nvPr/>
        </p:nvGrpSpPr>
        <p:grpSpPr>
          <a:xfrm>
            <a:off x="1501296" y="5822504"/>
            <a:ext cx="822918" cy="744616"/>
            <a:chOff x="5291755" y="4873237"/>
            <a:chExt cx="822918" cy="7446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F5C7B28F-F9C1-135E-62A2-830C4D56C574}"/>
                    </a:ext>
                  </a:extLst>
                </p:cNvPr>
                <p:cNvSpPr txBox="1"/>
                <p:nvPr/>
              </p:nvSpPr>
              <p:spPr>
                <a:xfrm>
                  <a:off x="5291755" y="5239160"/>
                  <a:ext cx="822918" cy="378693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sSubSup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𝜒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0.975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F5C7B28F-F9C1-135E-62A2-830C4D56C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1755" y="5239160"/>
                  <a:ext cx="822918" cy="378693"/>
                </a:xfrm>
                <a:prstGeom prst="rect">
                  <a:avLst/>
                </a:prstGeom>
                <a:blipFill>
                  <a:blip r:embed="rId4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D345073B-7FAB-53FB-4BB9-5EFCE4B534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214" y="4873237"/>
              <a:ext cx="0" cy="369512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2E48C0D-E2D7-976E-9B77-BEDD14837B3D}"/>
              </a:ext>
            </a:extLst>
          </p:cNvPr>
          <p:cNvGrpSpPr/>
          <p:nvPr/>
        </p:nvGrpSpPr>
        <p:grpSpPr>
          <a:xfrm>
            <a:off x="5155103" y="5822504"/>
            <a:ext cx="827726" cy="744616"/>
            <a:chOff x="5289351" y="4873237"/>
            <a:chExt cx="827726" cy="7446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A83C7A2F-D2B3-8801-8A62-811DC0F6502D}"/>
                    </a:ext>
                  </a:extLst>
                </p:cNvPr>
                <p:cNvSpPr txBox="1"/>
                <p:nvPr/>
              </p:nvSpPr>
              <p:spPr>
                <a:xfrm>
                  <a:off x="5289351" y="5239160"/>
                  <a:ext cx="827726" cy="378693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sSubSup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𝜒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0.025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A83C7A2F-D2B3-8801-8A62-811DC0F650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351" y="5239160"/>
                  <a:ext cx="827726" cy="378693"/>
                </a:xfrm>
                <a:prstGeom prst="rect">
                  <a:avLst/>
                </a:prstGeom>
                <a:blipFill>
                  <a:blip r:embed="rId5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F5D3EABB-EE15-9C33-17B3-38DB1A6A5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214" y="4873237"/>
              <a:ext cx="0" cy="369512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906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C636-6DD1-DD2A-07FE-F1B16C0A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4ADBA2-6DC4-3702-80E9-BD12191C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母分散の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222CBE5-D787-C545-D2E3-B3B72BB9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BE6F92-9DAC-33F0-A242-F3812FB878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母平均の信頼区間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kumimoji="1" lang="en-US" altLang="ja-JP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0.025</m:t>
                                  </m:r>
                                </m:sub>
                                <m:sup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  <m:r>
                            <a:rPr kumimoji="1" lang="en-US" altLang="ja-JP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ja-JP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97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からの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偏差二乗和</m:t>
                            </m:r>
                          </m:num>
                          <m:den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カイ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二乗分布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2.5%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点</m:t>
                            </m:r>
                          </m:den>
                        </m:f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標本平均からの偏差二乗和</m:t>
                            </m:r>
                          </m:num>
                          <m:den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カイ二乗分布の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97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.5%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点</m:t>
                            </m:r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sz="2000" dirty="0"/>
                  <a:t>　：自由度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，上側確率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000" dirty="0"/>
                  <a:t>のカイ二乗分布パーセント点</a:t>
                </a:r>
                <a:endParaRPr lang="en-US" altLang="ja-JP" sz="2000" dirty="0"/>
              </a:p>
              <a:p>
                <a:pPr lvl="2"/>
                <a:r>
                  <a:rPr lang="ja-JP" altLang="en-US" sz="1600" dirty="0"/>
                  <a:t>カイ二乗分布表から読み取る</a:t>
                </a:r>
                <a:endParaRPr lang="en-US" altLang="ja-JP" sz="1600" dirty="0"/>
              </a:p>
              <a:p>
                <a:pPr lvl="2"/>
                <a:r>
                  <a:rPr lang="ja-JP" altLang="en-US" sz="1600" dirty="0"/>
                  <a:t>教科書に記載がないので，配布の</a:t>
                </a:r>
                <a:r>
                  <a:rPr lang="en-US" altLang="ja-JP" sz="1600" dirty="0"/>
                  <a:t>Excel</a:t>
                </a:r>
                <a:r>
                  <a:rPr lang="ja-JP" altLang="en-US" sz="1600" dirty="0"/>
                  <a:t>を利用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BE6F92-9DAC-33F0-A242-F3812FB87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0DEBB01-C9DA-ABAB-BB30-AECA0DCEF877}"/>
              </a:ext>
            </a:extLst>
          </p:cNvPr>
          <p:cNvGrpSpPr/>
          <p:nvPr/>
        </p:nvGrpSpPr>
        <p:grpSpPr>
          <a:xfrm>
            <a:off x="2305947" y="2537396"/>
            <a:ext cx="2223521" cy="584413"/>
            <a:chOff x="4572001" y="6014242"/>
            <a:chExt cx="3009013" cy="584413"/>
          </a:xfrm>
        </p:grpSpPr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A26C853B-5CD8-07B7-8AD5-0508490841F2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D8B04375-AB51-A0F1-C0B6-5F5BACDF3492}"/>
                </a:ext>
              </a:extLst>
            </p:cNvPr>
            <p:cNvSpPr txBox="1"/>
            <p:nvPr/>
          </p:nvSpPr>
          <p:spPr>
            <a:xfrm>
              <a:off x="5326802" y="6136990"/>
              <a:ext cx="1499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下限値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69E8E4E-7328-8D93-E23B-82B22D9C6BCF}"/>
              </a:ext>
            </a:extLst>
          </p:cNvPr>
          <p:cNvGrpSpPr/>
          <p:nvPr/>
        </p:nvGrpSpPr>
        <p:grpSpPr>
          <a:xfrm>
            <a:off x="4614532" y="2537395"/>
            <a:ext cx="2223521" cy="584413"/>
            <a:chOff x="4572001" y="6014242"/>
            <a:chExt cx="3009013" cy="584413"/>
          </a:xfrm>
        </p:grpSpPr>
        <p:sp>
          <p:nvSpPr>
            <p:cNvPr id="13" name="左中かっこ 12">
              <a:extLst>
                <a:ext uri="{FF2B5EF4-FFF2-40B4-BE49-F238E27FC236}">
                  <a16:creationId xmlns:a16="http://schemas.microsoft.com/office/drawing/2014/main" id="{A55C07FA-B5D4-6CEA-3677-43EC8D4420C0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8932B95-2287-0925-389B-09D66D3AA65A}"/>
                </a:ext>
              </a:extLst>
            </p:cNvPr>
            <p:cNvSpPr txBox="1"/>
            <p:nvPr/>
          </p:nvSpPr>
          <p:spPr>
            <a:xfrm>
              <a:off x="5326802" y="6136990"/>
              <a:ext cx="1499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上限値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38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BE797-B784-3189-D5AC-AB7585A3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A25DB2-E8F4-9E8E-133D-3DE26206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母分散の区間推定量の導出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B7F0867-B533-91DE-A821-FA720721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EB152E9-8737-2346-6504-DCA4F4AD6C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altLang="ja-JP" sz="1800" dirty="0"/>
                  <a:t>95%</a:t>
                </a:r>
                <a:r>
                  <a:rPr lang="ja-JP" altLang="ja-JP" sz="1800" dirty="0"/>
                  <a:t>信頼区間の例</a:t>
                </a:r>
                <a:endParaRPr lang="en-US" altLang="ja-JP" sz="1800" dirty="0"/>
              </a:p>
              <a:p>
                <a:pPr lvl="1"/>
                <a:r>
                  <a:rPr lang="ja-JP" altLang="ja-JP" sz="1600" dirty="0"/>
                  <a:t>母分散の</a:t>
                </a:r>
                <a:r>
                  <a:rPr lang="en-US" altLang="ja-JP" sz="1600" dirty="0"/>
                  <a:t>95%</a:t>
                </a:r>
                <a:r>
                  <a:rPr lang="ja-JP" altLang="ja-JP" sz="1600" dirty="0"/>
                  <a:t>信頼区間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ja-JP" altLang="ja-JP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ja-JP" altLang="ja-JP" sz="1600" dirty="0"/>
                  <a:t>を</a:t>
                </a:r>
                <a:r>
                  <a:rPr lang="ja-JP" altLang="en-US" sz="1600" dirty="0"/>
                  <a:t>，</a:t>
                </a:r>
                <a:r>
                  <a:rPr lang="ja-JP" altLang="ja-JP" sz="1600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ja-JP" sz="1600" dirty="0"/>
                  <a:t>のカイ二乗統計量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ja-JP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ja-JP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bSup>
                          <m:sSubSup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ja-JP" sz="1600" i="1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ja-JP" sz="1600" dirty="0"/>
                  <a:t> </a:t>
                </a:r>
                <a:r>
                  <a:rPr lang="ja-JP" altLang="ja-JP" sz="1600" dirty="0"/>
                  <a:t>で置き換える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ja-JP" altLang="ja-JP" sz="1800" dirty="0"/>
              </a:p>
              <a:p>
                <a:pPr lvl="1"/>
                <a:r>
                  <a:rPr lang="ja-JP" altLang="ja-JP" sz="1600" dirty="0"/>
                  <a:t>両辺の逆数をとる</a:t>
                </a:r>
                <a:endParaRPr lang="en-US" altLang="ja-JP" sz="1600" dirty="0"/>
              </a:p>
              <a:p>
                <a:pPr lvl="2"/>
                <a:r>
                  <a:rPr lang="ja-JP" altLang="ja-JP" sz="1400" dirty="0"/>
                  <a:t>不等号の向きが変わることに注意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0.975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ja-JP" altLang="ja-JP" sz="1800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ja-JP" sz="1600" dirty="0"/>
                  <a:t>を移項し</a:t>
                </a:r>
                <a:r>
                  <a:rPr lang="ja-JP" altLang="en-US" sz="1600" dirty="0"/>
                  <a:t>，</a:t>
                </a:r>
                <a:r>
                  <a:rPr lang="ja-JP" altLang="ja-JP" sz="1600" dirty="0"/>
                  <a:t>左から小さい順に並ぶように位置を入れ替える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0.975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0.975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br>
                  <a:rPr lang="en-US" altLang="ja-JP" sz="1800" i="1" dirty="0"/>
                </a:br>
                <a14:m>
                  <m:oMath xmlns:m="http://schemas.openxmlformats.org/officeDocument/2006/math"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0.975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ja-JP" sz="18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EB152E9-8737-2346-6504-DCA4F4AD6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43" t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883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節　母平均の区間推定・母分散の区間推定</a:t>
                </a:r>
                <a:endParaRPr lang="en-US" altLang="ja-JP" dirty="0"/>
              </a:p>
              <a:p>
                <a:pPr lvl="1"/>
                <a:r>
                  <a:rPr lang="ja-JP" altLang="en-US"/>
                  <a:t>母平均</a:t>
                </a:r>
                <a:r>
                  <a:rPr lang="ja-JP" altLang="en-US" dirty="0"/>
                  <a:t>の区間推定について理解する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信頼係数・信頼区間・棄却域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母分散の区間推定について理解する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97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2595</TotalTime>
  <Words>995</Words>
  <Application>Microsoft Office PowerPoint</Application>
  <PresentationFormat>画面に合わせる (4:3)</PresentationFormat>
  <Paragraphs>177</Paragraphs>
  <Slides>19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8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母平均の区間推定・母分散の区間推定</vt:lpstr>
      <vt:lpstr>今日の目標</vt:lpstr>
      <vt:lpstr>PowerPoint プレゼンテーション</vt:lpstr>
      <vt:lpstr>区間推定</vt:lpstr>
      <vt:lpstr>棄却域</vt:lpstr>
      <vt:lpstr>母平均の95%信頼区間</vt:lpstr>
      <vt:lpstr>母平均の95%信頼区間</vt:lpstr>
      <vt:lpstr>(Advanced) 母平均の区間推定量の導出①</vt:lpstr>
      <vt:lpstr>(Advanced) 母平均の区間推定量の導出②</vt:lpstr>
      <vt:lpstr>母平均の区間推定①</vt:lpstr>
      <vt:lpstr>母平均の区間推定②</vt:lpstr>
      <vt:lpstr>母平均の区間推定③</vt:lpstr>
      <vt:lpstr>母平均の区間推定④</vt:lpstr>
      <vt:lpstr>PowerPoint プレゼンテーション</vt:lpstr>
      <vt:lpstr>母分散の信頼区間</vt:lpstr>
      <vt:lpstr>カイ二乗分布は左右非対称</vt:lpstr>
      <vt:lpstr>母分散の95%信頼区間</vt:lpstr>
      <vt:lpstr>(Advanced) 母分散の区間推定量の導出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須永大介</cp:lastModifiedBy>
  <cp:revision>463</cp:revision>
  <dcterms:created xsi:type="dcterms:W3CDTF">2025-03-03T09:28:12Z</dcterms:created>
  <dcterms:modified xsi:type="dcterms:W3CDTF">2026-08-31T10:40:45Z</dcterms:modified>
</cp:coreProperties>
</file>