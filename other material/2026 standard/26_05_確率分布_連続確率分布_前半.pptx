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03" r:id="rId31"/>
  </p:sldIdLst>
  <p:sldSz cx="9144000" cy="6858000" type="screen4x3"/>
  <p:notesSz cx="6858000" cy="9144000"/>
  <p:embeddedFontLst>
    <p:embeddedFont>
      <p:font typeface="Gill Sans" panose="020B0600070205080204" charset="0"/>
      <p:regular r:id="rId33"/>
      <p:bold r:id="rId34"/>
    </p:embeddedFont>
    <p:embeddedFont>
      <p:font typeface="Impact" panose="020B0806030902050204" pitchFamily="3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C5F33-DCD5-4754-9E70-EE8299133E73}" v="2" dt="2026-08-31T10:26:42.007"/>
  </p1510:revLst>
</p1510:revInfo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8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custSel delSld modSld">
      <pc:chgData name="須永大介" userId="afee7028-08f7-45fb-b56f-efe6c4357b09" providerId="ADAL" clId="{3322EB53-9E6C-499E-B527-F2AD79E593A6}" dt="2026-08-31T10:28:53.647" v="55" actId="20577"/>
      <pc:docMkLst>
        <pc:docMk/>
      </pc:docMkLst>
      <pc:sldChg chg="modSp mod">
        <pc:chgData name="須永大介" userId="afee7028-08f7-45fb-b56f-efe6c4357b09" providerId="ADAL" clId="{3322EB53-9E6C-499E-B527-F2AD79E593A6}" dt="2026-08-31T10:27:52.285" v="19" actId="20577"/>
        <pc:sldMkLst>
          <pc:docMk/>
          <pc:sldMk cId="0" sldId="258"/>
        </pc:sldMkLst>
        <pc:spChg chg="mod">
          <ac:chgData name="須永大介" userId="afee7028-08f7-45fb-b56f-efe6c4357b09" providerId="ADAL" clId="{3322EB53-9E6C-499E-B527-F2AD79E593A6}" dt="2026-08-31T10:27:52.285" v="19" actId="20577"/>
          <ac:spMkLst>
            <pc:docMk/>
            <pc:sldMk cId="0" sldId="258"/>
            <ac:spMk id="80" creationId="{00000000-0000-0000-0000-000000000000}"/>
          </ac:spMkLst>
        </pc:spChg>
      </pc:sldChg>
      <pc:sldChg chg="modSp mod">
        <pc:chgData name="須永大介" userId="afee7028-08f7-45fb-b56f-efe6c4357b09" providerId="ADAL" clId="{3322EB53-9E6C-499E-B527-F2AD79E593A6}" dt="2026-08-31T10:28:35.808" v="49" actId="20577"/>
        <pc:sldMkLst>
          <pc:docMk/>
          <pc:sldMk cId="0" sldId="262"/>
        </pc:sldMkLst>
        <pc:spChg chg="mod">
          <ac:chgData name="須永大介" userId="afee7028-08f7-45fb-b56f-efe6c4357b09" providerId="ADAL" clId="{3322EB53-9E6C-499E-B527-F2AD79E593A6}" dt="2026-08-31T10:28:35.808" v="49" actId="20577"/>
          <ac:spMkLst>
            <pc:docMk/>
            <pc:sldMk cId="0" sldId="262"/>
            <ac:spMk id="117" creationId="{00000000-0000-0000-0000-000000000000}"/>
          </ac:spMkLst>
        </pc:spChg>
      </pc:sldChg>
      <pc:sldChg chg="modSp mod">
        <pc:chgData name="須永大介" userId="afee7028-08f7-45fb-b56f-efe6c4357b09" providerId="ADAL" clId="{3322EB53-9E6C-499E-B527-F2AD79E593A6}" dt="2026-08-31T10:28:46.763" v="52" actId="20577"/>
        <pc:sldMkLst>
          <pc:docMk/>
          <pc:sldMk cId="0" sldId="271"/>
        </pc:sldMkLst>
        <pc:spChg chg="mod">
          <ac:chgData name="須永大介" userId="afee7028-08f7-45fb-b56f-efe6c4357b09" providerId="ADAL" clId="{3322EB53-9E6C-499E-B527-F2AD79E593A6}" dt="2026-08-31T10:28:46.763" v="52" actId="20577"/>
          <ac:spMkLst>
            <pc:docMk/>
            <pc:sldMk cId="0" sldId="271"/>
            <ac:spMk id="217" creationId="{00000000-0000-0000-0000-000000000000}"/>
          </ac:spMkLst>
        </pc:spChg>
      </pc:sldChg>
      <pc:sldChg chg="modSp mod">
        <pc:chgData name="須永大介" userId="afee7028-08f7-45fb-b56f-efe6c4357b09" providerId="ADAL" clId="{3322EB53-9E6C-499E-B527-F2AD79E593A6}" dt="2026-08-31T10:25:41.087" v="3" actId="27636"/>
        <pc:sldMkLst>
          <pc:docMk/>
          <pc:sldMk cId="0" sldId="273"/>
        </pc:sldMkLst>
        <pc:spChg chg="mod">
          <ac:chgData name="須永大介" userId="afee7028-08f7-45fb-b56f-efe6c4357b09" providerId="ADAL" clId="{3322EB53-9E6C-499E-B527-F2AD79E593A6}" dt="2026-08-31T10:25:41.087" v="3" actId="27636"/>
          <ac:spMkLst>
            <pc:docMk/>
            <pc:sldMk cId="0" sldId="273"/>
            <ac:spMk id="233" creationId="{00000000-0000-0000-0000-000000000000}"/>
          </ac:spMkLst>
        </pc:spChg>
      </pc:sldChg>
      <pc:sldChg chg="modSp mod">
        <pc:chgData name="須永大介" userId="afee7028-08f7-45fb-b56f-efe6c4357b09" providerId="ADAL" clId="{3322EB53-9E6C-499E-B527-F2AD79E593A6}" dt="2026-08-31T10:28:53.647" v="55" actId="20577"/>
        <pc:sldMkLst>
          <pc:docMk/>
          <pc:sldMk cId="0" sldId="277"/>
        </pc:sldMkLst>
        <pc:spChg chg="mod">
          <ac:chgData name="須永大介" userId="afee7028-08f7-45fb-b56f-efe6c4357b09" providerId="ADAL" clId="{3322EB53-9E6C-499E-B527-F2AD79E593A6}" dt="2026-08-31T10:28:53.647" v="55" actId="20577"/>
          <ac:spMkLst>
            <pc:docMk/>
            <pc:sldMk cId="0" sldId="277"/>
            <ac:spMk id="264" creationId="{00000000-0000-0000-0000-000000000000}"/>
          </ac:spMkLst>
        </pc:spChg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85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86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87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88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89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0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1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2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3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4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5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6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7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8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299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300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301"/>
        </pc:sldMkLst>
      </pc:sldChg>
      <pc:sldChg chg="del">
        <pc:chgData name="須永大介" userId="afee7028-08f7-45fb-b56f-efe6c4357b09" providerId="ADAL" clId="{3322EB53-9E6C-499E-B527-F2AD79E593A6}" dt="2026-08-31T10:27:34.737" v="16" actId="47"/>
        <pc:sldMkLst>
          <pc:docMk/>
          <pc:sldMk cId="0" sldId="302"/>
        </pc:sldMkLst>
      </pc:sldChg>
      <pc:sldChg chg="addSp delSp modSp mod">
        <pc:chgData name="須永大介" userId="afee7028-08f7-45fb-b56f-efe6c4357b09" providerId="ADAL" clId="{3322EB53-9E6C-499E-B527-F2AD79E593A6}" dt="2026-08-31T10:27:08.897" v="15" actId="1076"/>
        <pc:sldMkLst>
          <pc:docMk/>
          <pc:sldMk cId="0" sldId="303"/>
        </pc:sldMkLst>
        <pc:spChg chg="add del mod modCrop">
          <ac:chgData name="須永大介" userId="afee7028-08f7-45fb-b56f-efe6c4357b09" providerId="ADAL" clId="{3322EB53-9E6C-499E-B527-F2AD79E593A6}" dt="2026-08-31T10:26:20.553" v="10" actId="21"/>
          <ac:spMkLst>
            <pc:docMk/>
            <pc:sldMk cId="0" sldId="303"/>
            <ac:spMk id="2" creationId="{DCCDB325-55FB-6C0D-C1BA-D1E0955799A1}"/>
          </ac:spMkLst>
        </pc:spChg>
        <pc:spChg chg="add del mod">
          <ac:chgData name="須永大介" userId="afee7028-08f7-45fb-b56f-efe6c4357b09" providerId="ADAL" clId="{3322EB53-9E6C-499E-B527-F2AD79E593A6}" dt="2026-08-31T10:27:05.346" v="14" actId="478"/>
          <ac:spMkLst>
            <pc:docMk/>
            <pc:sldMk cId="0" sldId="303"/>
            <ac:spMk id="4" creationId="{3AADC21F-6A84-D5E9-6CA3-CC28E0CD3A23}"/>
          </ac:spMkLst>
        </pc:spChg>
        <pc:spChg chg="add mod">
          <ac:chgData name="須永大介" userId="afee7028-08f7-45fb-b56f-efe6c4357b09" providerId="ADAL" clId="{3322EB53-9E6C-499E-B527-F2AD79E593A6}" dt="2026-08-31T10:27:08.897" v="15" actId="1076"/>
          <ac:spMkLst>
            <pc:docMk/>
            <pc:sldMk cId="0" sldId="303"/>
            <ac:spMk id="5" creationId="{B681A043-561F-6618-4713-88B472C29F70}"/>
          </ac:spMkLst>
        </pc:spChg>
        <pc:spChg chg="del mod modCrop">
          <ac:chgData name="須永大介" userId="afee7028-08f7-45fb-b56f-efe6c4357b09" providerId="ADAL" clId="{3322EB53-9E6C-499E-B527-F2AD79E593A6}" dt="2026-08-31T10:26:46.827" v="13" actId="21"/>
          <ac:spMkLst>
            <pc:docMk/>
            <pc:sldMk cId="0" sldId="303"/>
            <ac:spMk id="53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※以下，確率密度関数等については，初学者には難易度が高いため，説明は不要かと思います．</a:t>
            </a:r>
            <a:endParaRPr/>
          </a:p>
        </p:txBody>
      </p:sp>
      <p:sp>
        <p:nvSpPr>
          <p:cNvPr id="122" name="Google Shape;1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">
  <p:cSld name="図表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1" name="Google Shape;31;p54"/>
          <p:cNvSpPr txBox="1">
            <a:spLocks noGrp="1"/>
          </p:cNvSpPr>
          <p:nvPr>
            <p:ph type="body" idx="1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2" name="Google Shape;32;p54"/>
          <p:cNvSpPr txBox="1">
            <a:spLocks noGrp="1"/>
          </p:cNvSpPr>
          <p:nvPr>
            <p:ph type="body" idx="2"/>
          </p:nvPr>
        </p:nvSpPr>
        <p:spPr>
          <a:xfrm>
            <a:off x="131181" y="4941215"/>
            <a:ext cx="8880843" cy="1789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3380" algn="l">
              <a:spcBef>
                <a:spcPts val="480"/>
              </a:spcBef>
              <a:spcAft>
                <a:spcPts val="0"/>
              </a:spcAft>
              <a:buSzPts val="2280"/>
              <a:buChar char="■"/>
              <a:defRPr sz="2400">
                <a:solidFill>
                  <a:schemeClr val="accent1"/>
                </a:solidFill>
              </a:defRPr>
            </a:lvl1pPr>
            <a:lvl2pPr marL="914400" lvl="1" indent="-349250" algn="l">
              <a:spcBef>
                <a:spcPts val="600"/>
              </a:spcBef>
              <a:spcAft>
                <a:spcPts val="0"/>
              </a:spcAft>
              <a:buSzPts val="1900"/>
              <a:buChar char="✔"/>
              <a:defRPr sz="2000">
                <a:solidFill>
                  <a:schemeClr val="accent1"/>
                </a:solidFill>
              </a:defRPr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 sz="1800">
                <a:solidFill>
                  <a:schemeClr val="accent1"/>
                </a:solidFill>
              </a:defRPr>
            </a:lvl3pPr>
            <a:lvl4pPr marL="1828800" lvl="3" indent="-325119" algn="l">
              <a:spcBef>
                <a:spcPts val="600"/>
              </a:spcBef>
              <a:spcAft>
                <a:spcPts val="0"/>
              </a:spcAft>
              <a:buSzPts val="1520"/>
              <a:buChar char="⮚"/>
              <a:defRPr sz="1600">
                <a:solidFill>
                  <a:schemeClr val="accent1"/>
                </a:solidFill>
              </a:defRPr>
            </a:lvl4pPr>
            <a:lvl5pPr marL="2286000" lvl="4" indent="-325120" algn="l">
              <a:spcBef>
                <a:spcPts val="600"/>
              </a:spcBef>
              <a:spcAft>
                <a:spcPts val="0"/>
              </a:spcAft>
              <a:buSzPts val="1520"/>
              <a:buChar char="⮚"/>
              <a:defRPr sz="1600"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64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5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確率分布：連続確率分布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/>
              <a:t>第2章　第2節　確率分布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積分の概念を学ぶ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標準正規分布とその特徴について理解する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t分布とその特徴について理解する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カイ二乗分布とその特徴について理解する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確率分布の期待値と分散について学ぶ</a:t>
            </a:r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</p:txBody>
      </p:sp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b="1">
                <a:solidFill>
                  <a:schemeClr val="accent5"/>
                </a:solidFill>
              </a:rPr>
              <a:t>連続確率分布</a:t>
            </a:r>
            <a:r>
              <a:rPr lang="ja-JP"/>
              <a:t>　</a:t>
            </a:r>
            <a:r>
              <a:rPr lang="ja-JP">
                <a:solidFill>
                  <a:schemeClr val="accent2"/>
                </a:solidFill>
              </a:rPr>
              <a:t>continuous probability distribution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累積確率分布関数が連続な確率分布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>
                <a:solidFill>
                  <a:schemeClr val="accent5"/>
                </a:solidFill>
              </a:rPr>
              <a:t>確率変数が連続変数</a:t>
            </a:r>
            <a:r>
              <a:rPr lang="ja-JP"/>
              <a:t>である場合</a:t>
            </a:r>
            <a:endParaRPr/>
          </a:p>
          <a:p>
            <a:pPr marL="306000" lvl="0" indent="-13709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連続変数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連続的で，</a:t>
            </a:r>
            <a:br>
              <a:rPr lang="ja-JP"/>
            </a:br>
            <a:r>
              <a:rPr lang="ja-JP"/>
              <a:t>無限に中間の値が存在する変数</a:t>
            </a:r>
            <a:endParaRPr/>
          </a:p>
          <a:p>
            <a:pPr marL="900000" lvl="2" indent="-270000" algn="l" rtl="0">
              <a:spcBef>
                <a:spcPts val="1000"/>
              </a:spcBef>
              <a:spcAft>
                <a:spcPts val="0"/>
              </a:spcAft>
              <a:buSzPts val="1900"/>
              <a:buChar char="⮚"/>
            </a:pPr>
            <a:r>
              <a:rPr lang="ja-JP"/>
              <a:t>重さ，温度，距離，など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8688" y="2152334"/>
            <a:ext cx="3823336" cy="229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t="14314"/>
          <a:stretch/>
        </p:blipFill>
        <p:spPr>
          <a:xfrm>
            <a:off x="5742133" y="5039834"/>
            <a:ext cx="3269891" cy="16814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5"/>
          <p:cNvGrpSpPr/>
          <p:nvPr/>
        </p:nvGrpSpPr>
        <p:grpSpPr>
          <a:xfrm>
            <a:off x="7549170" y="5039834"/>
            <a:ext cx="1569660" cy="616687"/>
            <a:chOff x="7549170" y="5039834"/>
            <a:chExt cx="1569660" cy="616687"/>
          </a:xfrm>
        </p:grpSpPr>
        <p:cxnSp>
          <p:nvCxnSpPr>
            <p:cNvPr id="101" name="Google Shape;101;p5"/>
            <p:cNvCxnSpPr/>
            <p:nvPr/>
          </p:nvCxnSpPr>
          <p:spPr>
            <a:xfrm flipH="1">
              <a:off x="7719237" y="5409166"/>
              <a:ext cx="233916" cy="247355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2" name="Google Shape;102;p5"/>
            <p:cNvSpPr txBox="1"/>
            <p:nvPr/>
          </p:nvSpPr>
          <p:spPr>
            <a:xfrm>
              <a:off x="7549170" y="5039834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 i="0" u="none" strike="noStrike" cap="none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確率密度関数</a:t>
              </a:r>
              <a:endParaRPr/>
            </a:p>
          </p:txBody>
        </p:sp>
      </p:grpSp>
      <p:grpSp>
        <p:nvGrpSpPr>
          <p:cNvPr id="103" name="Google Shape;103;p5"/>
          <p:cNvGrpSpPr/>
          <p:nvPr/>
        </p:nvGrpSpPr>
        <p:grpSpPr>
          <a:xfrm>
            <a:off x="4348715" y="5316279"/>
            <a:ext cx="2679406" cy="937276"/>
            <a:chOff x="4348715" y="5316279"/>
            <a:chExt cx="2679406" cy="937276"/>
          </a:xfrm>
        </p:grpSpPr>
        <p:cxnSp>
          <p:nvCxnSpPr>
            <p:cNvPr id="104" name="Google Shape;104;p5"/>
            <p:cNvCxnSpPr/>
            <p:nvPr/>
          </p:nvCxnSpPr>
          <p:spPr>
            <a:xfrm>
              <a:off x="4348716" y="5316279"/>
              <a:ext cx="2679405" cy="808074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5" name="Google Shape;105;p5"/>
            <p:cNvSpPr txBox="1"/>
            <p:nvPr/>
          </p:nvSpPr>
          <p:spPr>
            <a:xfrm>
              <a:off x="4348715" y="5915001"/>
              <a:ext cx="211468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ここの内側の面積は1</a:t>
              </a:r>
              <a:endParaRPr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連続確率分布</a:t>
            </a:r>
            <a:endParaRPr dirty="0"/>
          </a:p>
        </p:txBody>
      </p:sp>
      <p:sp>
        <p:nvSpPr>
          <p:cNvPr id="111" name="Google Shape;111;p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２</a:t>
            </a:r>
            <a:r>
              <a:rPr lang="ja-JP" dirty="0"/>
              <a:t>：</a:t>
            </a:r>
            <a:r>
              <a:rPr lang="zh-TW" altLang="en-US" dirty="0"/>
              <a:t>連続確率分布</a:t>
            </a:r>
            <a:r>
              <a:rPr lang="ja-JP" altLang="en-US" dirty="0"/>
              <a:t>の種類</a:t>
            </a:r>
            <a:endParaRPr dirty="0"/>
          </a:p>
        </p:txBody>
      </p:sp>
      <p:sp>
        <p:nvSpPr>
          <p:cNvPr id="118" name="Google Shape;118;p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正規分布</a:t>
            </a:r>
            <a:endParaRPr/>
          </a:p>
        </p:txBody>
      </p:sp>
      <p:sp>
        <p:nvSpPr>
          <p:cNvPr id="125" name="Google Shape;125;p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8</a:t>
            </a:fld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4446928" y="2722396"/>
            <a:ext cx="4565096" cy="141320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067" t="-2163" r="-532" b="-5281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pic>
        <p:nvPicPr>
          <p:cNvPr id="128" name="Google Shape;128;p8"/>
          <p:cNvPicPr preferRelativeResize="0"/>
          <p:nvPr/>
        </p:nvPicPr>
        <p:blipFill rotWithShape="1">
          <a:blip r:embed="rId5">
            <a:alphaModFix/>
          </a:blip>
          <a:srcRect t="14314"/>
          <a:stretch/>
        </p:blipFill>
        <p:spPr>
          <a:xfrm>
            <a:off x="4745424" y="4667690"/>
            <a:ext cx="3993576" cy="205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T分布</a:t>
            </a:r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9</a:t>
            </a:fld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5861" y="3689499"/>
            <a:ext cx="5279664" cy="316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5861" y="3689499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5861" y="3674436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62800" y="3689038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62800" y="3689038"/>
            <a:ext cx="5281200" cy="316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カイ二乗分布</a:t>
            </a:r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10</a:t>
            </a:fld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2800" y="3688575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2800" y="3688576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2800" y="3688574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62800" y="3688576"/>
            <a:ext cx="5281200" cy="316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62800" y="3688576"/>
            <a:ext cx="5281200" cy="316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F分布</a:t>
            </a:r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11</a:t>
            </a:fld>
            <a:endParaRPr/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8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160" name="Google Shape;16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4113276"/>
            <a:ext cx="4573524" cy="274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0476" y="4113276"/>
            <a:ext cx="4573524" cy="274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0476" y="4113276"/>
            <a:ext cx="4573524" cy="274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0476" y="4113276"/>
            <a:ext cx="4573524" cy="274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0476" y="4113275"/>
            <a:ext cx="4573524" cy="274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確率密度関数の積分</a:t>
            </a:r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12</a:t>
            </a:fld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172" name="Google Shape;17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6058" y="3110013"/>
            <a:ext cx="5485966" cy="329231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  <p:grpSp>
        <p:nvGrpSpPr>
          <p:cNvPr id="174" name="Google Shape;174;p12"/>
          <p:cNvGrpSpPr/>
          <p:nvPr/>
        </p:nvGrpSpPr>
        <p:grpSpPr>
          <a:xfrm>
            <a:off x="7293936" y="6039190"/>
            <a:ext cx="1238416" cy="732466"/>
            <a:chOff x="7293936" y="6039190"/>
            <a:chExt cx="1238416" cy="732466"/>
          </a:xfrm>
        </p:grpSpPr>
        <p:sp>
          <p:nvSpPr>
            <p:cNvPr id="175" name="Google Shape;175;p12"/>
            <p:cNvSpPr txBox="1"/>
            <p:nvPr/>
          </p:nvSpPr>
          <p:spPr>
            <a:xfrm>
              <a:off x="7293936" y="6402324"/>
              <a:ext cx="1238416" cy="36933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l="-4432" t="-11473" b="-21308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176" name="Google Shape;176;p12"/>
            <p:cNvCxnSpPr>
              <a:stCxn id="175" idx="1"/>
            </p:cNvCxnSpPr>
            <p:nvPr/>
          </p:nvCxnSpPr>
          <p:spPr>
            <a:xfrm rot="10800000">
              <a:off x="7293936" y="6039190"/>
              <a:ext cx="0" cy="547800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77" name="Google Shape;177;p12"/>
          <p:cNvSpPr txBox="1"/>
          <p:nvPr/>
        </p:nvSpPr>
        <p:spPr>
          <a:xfrm>
            <a:off x="5641785" y="5114261"/>
            <a:ext cx="1254511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例①　すべての範囲の場合</a:t>
            </a:r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13</a:t>
            </a:fld>
            <a:endParaRPr/>
          </a:p>
        </p:txBody>
      </p:sp>
      <p:pic>
        <p:nvPicPr>
          <p:cNvPr id="184" name="Google Shape;184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38002" y="810704"/>
            <a:ext cx="6667200" cy="40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>
            <a:spLocks noGrp="1"/>
          </p:cNvSpPr>
          <p:nvPr>
            <p:ph type="body" idx="2"/>
          </p:nvPr>
        </p:nvSpPr>
        <p:spPr>
          <a:xfrm>
            <a:off x="131181" y="4941215"/>
            <a:ext cx="8880843" cy="17895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22" t="-3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28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例②　下側確率の場合</a:t>
            </a:r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  <p:pic>
        <p:nvPicPr>
          <p:cNvPr id="192" name="Google Shape;192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38002" y="810704"/>
            <a:ext cx="6667200" cy="40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4"/>
          <p:cNvSpPr txBox="1">
            <a:spLocks noGrp="1"/>
          </p:cNvSpPr>
          <p:nvPr>
            <p:ph type="body" idx="2"/>
          </p:nvPr>
        </p:nvSpPr>
        <p:spPr>
          <a:xfrm>
            <a:off x="131181" y="4941215"/>
            <a:ext cx="8880843" cy="17895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22" t="-307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28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5592726" y="4350248"/>
            <a:ext cx="442429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021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rPr lang="ja-JP"/>
              <a:t> </a:t>
            </a:r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15</a:t>
            </a:fld>
            <a:endParaRPr/>
          </a:p>
        </p:txBody>
      </p:sp>
      <p:pic>
        <p:nvPicPr>
          <p:cNvPr id="201" name="Google Shape;201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238295" y="810704"/>
            <a:ext cx="6666614" cy="400085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 txBox="1">
            <a:spLocks noGrp="1"/>
          </p:cNvSpPr>
          <p:nvPr>
            <p:ph type="body" idx="2"/>
          </p:nvPr>
        </p:nvSpPr>
        <p:spPr>
          <a:xfrm>
            <a:off x="131181" y="4941215"/>
            <a:ext cx="8880843" cy="178952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822" t="-307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28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5603359" y="4349896"/>
            <a:ext cx="443070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3091994" y="4349895"/>
            <a:ext cx="448648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grpSp>
        <p:nvGrpSpPr>
          <p:cNvPr id="205" name="Google Shape;205;p15"/>
          <p:cNvGrpSpPr/>
          <p:nvPr/>
        </p:nvGrpSpPr>
        <p:grpSpPr>
          <a:xfrm>
            <a:off x="6200514" y="834729"/>
            <a:ext cx="2942690" cy="1524570"/>
            <a:chOff x="6200514" y="834729"/>
            <a:chExt cx="2942690" cy="1524570"/>
          </a:xfrm>
        </p:grpSpPr>
        <p:pic>
          <p:nvPicPr>
            <p:cNvPr id="206" name="Google Shape;206;p1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602819" y="834729"/>
              <a:ext cx="2540385" cy="1524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5"/>
            <p:cNvSpPr txBox="1"/>
            <p:nvPr/>
          </p:nvSpPr>
          <p:spPr>
            <a:xfrm>
              <a:off x="6200514" y="1292556"/>
              <a:ext cx="1346074" cy="719171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</p:grpSp>
      <p:grpSp>
        <p:nvGrpSpPr>
          <p:cNvPr id="208" name="Google Shape;208;p15"/>
          <p:cNvGrpSpPr/>
          <p:nvPr/>
        </p:nvGrpSpPr>
        <p:grpSpPr>
          <a:xfrm>
            <a:off x="6200514" y="2383325"/>
            <a:ext cx="2943905" cy="1525299"/>
            <a:chOff x="6200514" y="2383325"/>
            <a:chExt cx="2943905" cy="1525299"/>
          </a:xfrm>
        </p:grpSpPr>
        <p:pic>
          <p:nvPicPr>
            <p:cNvPr id="209" name="Google Shape;209;p1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602819" y="2383325"/>
              <a:ext cx="2541600" cy="1525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5"/>
            <p:cNvSpPr txBox="1"/>
            <p:nvPr/>
          </p:nvSpPr>
          <p:spPr>
            <a:xfrm>
              <a:off x="6200514" y="2883033"/>
              <a:ext cx="1346073" cy="690830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</p:grpSp>
      <p:sp>
        <p:nvSpPr>
          <p:cNvPr id="211" name="Google Shape;211;p15"/>
          <p:cNvSpPr txBox="1"/>
          <p:nvPr/>
        </p:nvSpPr>
        <p:spPr>
          <a:xfrm>
            <a:off x="6618369" y="2395634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から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6602819" y="3842025"/>
            <a:ext cx="832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を引く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３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正規分布</a:t>
            </a:r>
            <a:endParaRPr dirty="0"/>
          </a:p>
        </p:txBody>
      </p:sp>
      <p:sp>
        <p:nvSpPr>
          <p:cNvPr id="218" name="Google Shape;218;p1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正規分布の特徴</a:t>
            </a:r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17</a:t>
            </a:fld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中心が平均値</a:t>
            </a: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左右対称</a:t>
            </a: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単峰型</a:t>
            </a: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横軸が漸近線</a:t>
            </a: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分散・標準偏差によって形状が変わる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中心極限定理</a:t>
            </a:r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18</a:t>
            </a:fld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中心極限定理　</a:t>
            </a:r>
            <a:r>
              <a:rPr lang="ja-JP">
                <a:solidFill>
                  <a:schemeClr val="accent2"/>
                </a:solidFill>
              </a:rPr>
              <a:t>central limit theorem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>
                <a:solidFill>
                  <a:schemeClr val="accent5"/>
                </a:solidFill>
              </a:rPr>
              <a:t>標本平均と母平均の誤差</a:t>
            </a:r>
            <a:r>
              <a:rPr lang="ja-JP"/>
              <a:t>の確率分布が，</a:t>
            </a:r>
            <a:br>
              <a:rPr lang="ja-JP"/>
            </a:br>
            <a:r>
              <a:rPr lang="ja-JP"/>
              <a:t>標本の大きさを大きくすると，正規分布に近似する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標本平均のばらつき</a:t>
            </a:r>
            <a:r>
              <a:rPr lang="ja-JP" sz="1800"/>
              <a:t>（誤差）</a:t>
            </a:r>
            <a:r>
              <a:rPr lang="ja-JP"/>
              <a:t>が正規分布に従うことを示す</a:t>
            </a:r>
            <a:endParaRPr/>
          </a:p>
          <a:p>
            <a:pPr marL="900000" lvl="2" indent="-270000" algn="l" rtl="0">
              <a:spcBef>
                <a:spcPts val="1000"/>
              </a:spcBef>
              <a:spcAft>
                <a:spcPts val="0"/>
              </a:spcAft>
              <a:buSzPts val="1900"/>
              <a:buChar char="⮚"/>
            </a:pPr>
            <a:r>
              <a:rPr lang="ja-JP"/>
              <a:t>大数の法則が「値の収束」を表すのに対して，</a:t>
            </a:r>
            <a:br>
              <a:rPr lang="ja-JP"/>
            </a:br>
            <a:r>
              <a:rPr lang="ja-JP"/>
              <a:t>中心極限定理は「その収束の仕方の分布</a:t>
            </a:r>
            <a:r>
              <a:rPr lang="ja-JP" sz="1400"/>
              <a:t>（正規分布）</a:t>
            </a:r>
            <a:r>
              <a:rPr lang="ja-JP"/>
              <a:t>」を表す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標本平均と母平均の誤差が，どの程度の確率で</a:t>
            </a:r>
            <a:br>
              <a:rPr lang="ja-JP"/>
            </a:br>
            <a:r>
              <a:rPr lang="ja-JP"/>
              <a:t>どの範囲に収まるかを示し，推定の精度を評価する基準になる</a:t>
            </a:r>
            <a:endParaRPr/>
          </a:p>
          <a:p>
            <a:pPr marL="306000" lvl="0" indent="-185350" algn="l" rtl="0">
              <a:spcBef>
                <a:spcPts val="1000"/>
              </a:spcBef>
              <a:spcAft>
                <a:spcPts val="0"/>
              </a:spcAft>
              <a:buSzPts val="1900"/>
              <a:buNone/>
            </a:pPr>
            <a:endParaRPr sz="2000">
              <a:solidFill>
                <a:schemeClr val="accent2"/>
              </a:solidFill>
            </a:endParaRPr>
          </a:p>
          <a:p>
            <a:pPr marL="306000" lvl="0" indent="-306000" algn="l" rtl="0">
              <a:spcBef>
                <a:spcPts val="1000"/>
              </a:spcBef>
              <a:spcAft>
                <a:spcPts val="0"/>
              </a:spcAft>
              <a:buSzPts val="1900"/>
              <a:buChar char="■"/>
            </a:pPr>
            <a:r>
              <a:rPr lang="ja-JP" sz="2000">
                <a:solidFill>
                  <a:schemeClr val="accent2"/>
                </a:solidFill>
              </a:rPr>
              <a:t>（参考）大数の法則</a:t>
            </a:r>
            <a:endParaRPr sz="2000">
              <a:solidFill>
                <a:schemeClr val="accent2"/>
              </a:solidFill>
            </a:endParaRPr>
          </a:p>
          <a:p>
            <a:pPr marL="630000" lvl="1" indent="-306000" algn="l" rtl="0">
              <a:spcBef>
                <a:spcPts val="960"/>
              </a:spcBef>
              <a:spcAft>
                <a:spcPts val="0"/>
              </a:spcAft>
              <a:buSzPts val="1710"/>
              <a:buChar char="✔"/>
            </a:pPr>
            <a:r>
              <a:rPr lang="ja-JP" sz="1800">
                <a:solidFill>
                  <a:schemeClr val="accent2"/>
                </a:solidFill>
              </a:rPr>
              <a:t>試行回数を増やすほど，標本平均が母平均に近づく</a:t>
            </a:r>
            <a:endParaRPr sz="1800">
              <a:solidFill>
                <a:schemeClr val="accent2"/>
              </a:solidFill>
            </a:endParaRPr>
          </a:p>
          <a:p>
            <a:pPr marL="630000" lvl="1" indent="-306000" algn="l" rtl="0">
              <a:spcBef>
                <a:spcPts val="960"/>
              </a:spcBef>
              <a:spcAft>
                <a:spcPts val="0"/>
              </a:spcAft>
              <a:buSzPts val="1710"/>
              <a:buChar char="✔"/>
            </a:pPr>
            <a:r>
              <a:rPr lang="ja-JP" sz="1800">
                <a:solidFill>
                  <a:schemeClr val="accent2"/>
                </a:solidFill>
              </a:rPr>
              <a:t>標本平均が母平均に収束することを示す</a:t>
            </a:r>
            <a:endParaRPr sz="1800">
              <a:solidFill>
                <a:schemeClr val="accent2"/>
              </a:solidFill>
            </a:endParaRPr>
          </a:p>
          <a:p>
            <a:pPr marL="630000" lvl="1" indent="-306000" algn="l" rtl="0">
              <a:spcBef>
                <a:spcPts val="960"/>
              </a:spcBef>
              <a:spcAft>
                <a:spcPts val="0"/>
              </a:spcAft>
              <a:buSzPts val="1710"/>
              <a:buChar char="✔"/>
            </a:pPr>
            <a:r>
              <a:rPr lang="ja-JP" sz="1800">
                <a:solidFill>
                  <a:schemeClr val="accent2"/>
                </a:solidFill>
              </a:rPr>
              <a:t>標本平均が，母平均の良い推定量であることを保証する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中心極限定理</a:t>
            </a: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19</a:t>
            </a:fld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grpSp>
        <p:nvGrpSpPr>
          <p:cNvPr id="242" name="Google Shape;242;p19"/>
          <p:cNvGrpSpPr/>
          <p:nvPr/>
        </p:nvGrpSpPr>
        <p:grpSpPr>
          <a:xfrm>
            <a:off x="4933507" y="3803694"/>
            <a:ext cx="3062760" cy="1988288"/>
            <a:chOff x="5050465" y="4210493"/>
            <a:chExt cx="3062760" cy="1988288"/>
          </a:xfrm>
        </p:grpSpPr>
        <p:sp>
          <p:nvSpPr>
            <p:cNvPr id="243" name="Google Shape;243;p19"/>
            <p:cNvSpPr/>
            <p:nvPr/>
          </p:nvSpPr>
          <p:spPr>
            <a:xfrm>
              <a:off x="5050465" y="4210493"/>
              <a:ext cx="1020726" cy="1988288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6071191" y="4739798"/>
              <a:ext cx="2042034" cy="92967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正規分布の確率</a:t>
            </a:r>
            <a:endParaRPr/>
          </a:p>
        </p:txBody>
      </p:sp>
      <p:sp>
        <p:nvSpPr>
          <p:cNvPr id="250" name="Google Shape;250;p2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20</a:t>
            </a:fld>
            <a:endParaRPr/>
          </a:p>
        </p:txBody>
      </p:sp>
      <p:sp>
        <p:nvSpPr>
          <p:cNvPr id="251" name="Google Shape;251;p20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</a:t>
            </a:r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21</a:t>
            </a:fld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0" t="-2315" b="-31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４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標準正規分布表の読み方</a:t>
            </a:r>
            <a:endParaRPr dirty="0"/>
          </a:p>
        </p:txBody>
      </p:sp>
      <p:sp>
        <p:nvSpPr>
          <p:cNvPr id="265" name="Google Shape;265;p2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</a:t>
            </a:r>
            <a:endParaRPr/>
          </a:p>
        </p:txBody>
      </p:sp>
      <p:sp>
        <p:nvSpPr>
          <p:cNvPr id="271" name="Google Shape;271;p2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23</a:t>
            </a:fld>
            <a:endParaRPr/>
          </a:p>
        </p:txBody>
      </p:sp>
      <p:sp>
        <p:nvSpPr>
          <p:cNvPr id="272" name="Google Shape;272;p2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1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273" name="Google Shape;27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47507" y="2524471"/>
            <a:ext cx="5962940" cy="357855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8334000" y="5463081"/>
            <a:ext cx="459869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531304" y="5598835"/>
            <a:ext cx="423962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853610" y="4572394"/>
            <a:ext cx="1572803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277" name="Google Shape;277;p23"/>
          <p:cNvCxnSpPr/>
          <p:nvPr/>
        </p:nvCxnSpPr>
        <p:spPr>
          <a:xfrm flipH="1">
            <a:off x="6955266" y="5050465"/>
            <a:ext cx="657646" cy="548370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標準正規分布表の読み方①</a:t>
            </a:r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24</a:t>
            </a:fld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285" name="Google Shape;28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0996" y="2814937"/>
            <a:ext cx="5842007" cy="35059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24"/>
          <p:cNvGrpSpPr/>
          <p:nvPr/>
        </p:nvGrpSpPr>
        <p:grpSpPr>
          <a:xfrm>
            <a:off x="5826642" y="5917910"/>
            <a:ext cx="2192964" cy="756391"/>
            <a:chOff x="5826642" y="5917910"/>
            <a:chExt cx="2192964" cy="756391"/>
          </a:xfrm>
        </p:grpSpPr>
        <p:sp>
          <p:nvSpPr>
            <p:cNvPr id="287" name="Google Shape;287;p24"/>
            <p:cNvSpPr txBox="1"/>
            <p:nvPr/>
          </p:nvSpPr>
          <p:spPr>
            <a:xfrm>
              <a:off x="6623198" y="6212636"/>
              <a:ext cx="1396408" cy="46166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288" name="Google Shape;288;p24"/>
            <p:cNvCxnSpPr/>
            <p:nvPr/>
          </p:nvCxnSpPr>
          <p:spPr>
            <a:xfrm rot="10800000">
              <a:off x="5826642" y="5917910"/>
              <a:ext cx="863364" cy="525559"/>
            </a:xfrm>
            <a:prstGeom prst="straightConnector1">
              <a:avLst/>
            </a:prstGeom>
            <a:noFill/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89" name="Google Shape;289;p24"/>
          <p:cNvGrpSpPr/>
          <p:nvPr/>
        </p:nvGrpSpPr>
        <p:grpSpPr>
          <a:xfrm>
            <a:off x="5920200" y="4795662"/>
            <a:ext cx="3133102" cy="1026441"/>
            <a:chOff x="5920200" y="4795662"/>
            <a:chExt cx="3133102" cy="1026441"/>
          </a:xfrm>
        </p:grpSpPr>
        <p:sp>
          <p:nvSpPr>
            <p:cNvPr id="290" name="Google Shape;290;p24"/>
            <p:cNvSpPr txBox="1"/>
            <p:nvPr/>
          </p:nvSpPr>
          <p:spPr>
            <a:xfrm>
              <a:off x="5920200" y="4795662"/>
              <a:ext cx="3133102" cy="46166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/>
            </a:p>
          </p:txBody>
        </p:sp>
        <p:cxnSp>
          <p:nvCxnSpPr>
            <p:cNvPr id="291" name="Google Shape;291;p24"/>
            <p:cNvCxnSpPr/>
            <p:nvPr/>
          </p:nvCxnSpPr>
          <p:spPr>
            <a:xfrm flipH="1">
              <a:off x="6021856" y="5273733"/>
              <a:ext cx="657646" cy="548370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2" name="Google Shape;292;p24"/>
            <p:cNvSpPr txBox="1"/>
            <p:nvPr/>
          </p:nvSpPr>
          <p:spPr>
            <a:xfrm>
              <a:off x="6809527" y="5223152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斜線部の面積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（補足１）標準正規分布表の読み方①</a:t>
            </a:r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25</a:t>
            </a:fld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300" name="Google Shape;30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5484" y="3054155"/>
            <a:ext cx="5493032" cy="380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（補足２）標準正規分布表の読み方①</a:t>
            </a:r>
            <a:endParaRPr/>
          </a:p>
        </p:txBody>
      </p:sp>
      <p:sp>
        <p:nvSpPr>
          <p:cNvPr id="306" name="Google Shape;306;p2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26</a:t>
            </a:fld>
            <a:endParaRPr/>
          </a:p>
        </p:txBody>
      </p:sp>
      <p:sp>
        <p:nvSpPr>
          <p:cNvPr id="307" name="Google Shape;307;p26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308" name="Google Shape;30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5484" y="3054155"/>
            <a:ext cx="5493032" cy="380384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/>
          <p:nvPr/>
        </p:nvSpPr>
        <p:spPr>
          <a:xfrm>
            <a:off x="4093533" y="1488558"/>
            <a:ext cx="308344" cy="744279"/>
          </a:xfrm>
          <a:prstGeom prst="rightBrace">
            <a:avLst>
              <a:gd name="adj1" fmla="val 8333"/>
              <a:gd name="adj2" fmla="val 50000"/>
            </a:avLst>
          </a:prstGeom>
          <a:noFill/>
          <a:ln w="1270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4401877" y="1676031"/>
            <a:ext cx="1439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合計で1.96</a:t>
            </a:r>
            <a:endParaRPr sz="18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標準正規分布表の読み方②</a:t>
            </a:r>
            <a:endParaRPr/>
          </a:p>
        </p:txBody>
      </p:sp>
      <p:sp>
        <p:nvSpPr>
          <p:cNvPr id="316" name="Google Shape;316;p2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27</a:t>
            </a:fld>
            <a:endParaRPr/>
          </a:p>
        </p:txBody>
      </p:sp>
      <p:sp>
        <p:nvSpPr>
          <p:cNvPr id="317" name="Google Shape;317;p2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318" name="Google Shape;3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524" y="3429000"/>
            <a:ext cx="4573524" cy="274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429000"/>
            <a:ext cx="4573524" cy="274472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3107498" y="4595504"/>
            <a:ext cx="1531252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21" name="Google Shape;321;p27"/>
          <p:cNvCxnSpPr/>
          <p:nvPr/>
        </p:nvCxnSpPr>
        <p:spPr>
          <a:xfrm flipH="1">
            <a:off x="3384982" y="5241444"/>
            <a:ext cx="272618" cy="548761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2" name="Google Shape;322;p27"/>
          <p:cNvCxnSpPr/>
          <p:nvPr/>
        </p:nvCxnSpPr>
        <p:spPr>
          <a:xfrm>
            <a:off x="5287879" y="5241248"/>
            <a:ext cx="482261" cy="548957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3" name="Google Shape;323;p27"/>
          <p:cNvSpPr txBox="1"/>
          <p:nvPr/>
        </p:nvSpPr>
        <p:spPr>
          <a:xfrm>
            <a:off x="4638750" y="4595504"/>
            <a:ext cx="1704377" cy="646331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標準正規分布表の読み方③</a:t>
            </a:r>
            <a:endParaRPr/>
          </a:p>
        </p:txBody>
      </p:sp>
      <p:sp>
        <p:nvSpPr>
          <p:cNvPr id="329" name="Google Shape;329;p2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28</a:t>
            </a:fld>
            <a:endParaRPr/>
          </a:p>
        </p:txBody>
      </p:sp>
      <p:sp>
        <p:nvSpPr>
          <p:cNvPr id="330" name="Google Shape;330;p28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331" name="Google Shape;33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0996" y="2814937"/>
            <a:ext cx="5842007" cy="350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50996" y="2814937"/>
            <a:ext cx="5842800" cy="350645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8"/>
          <p:cNvSpPr txBox="1"/>
          <p:nvPr/>
        </p:nvSpPr>
        <p:spPr>
          <a:xfrm>
            <a:off x="6623198" y="6212636"/>
            <a:ext cx="1396408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34" name="Google Shape;334;p28"/>
          <p:cNvCxnSpPr/>
          <p:nvPr/>
        </p:nvCxnSpPr>
        <p:spPr>
          <a:xfrm rot="10800000">
            <a:off x="5826642" y="5917910"/>
            <a:ext cx="863364" cy="525559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5" name="Google Shape;335;p28"/>
          <p:cNvSpPr txBox="1"/>
          <p:nvPr/>
        </p:nvSpPr>
        <p:spPr>
          <a:xfrm>
            <a:off x="726525" y="3354372"/>
            <a:ext cx="2823786" cy="156966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36" name="Google Shape;336;p28"/>
          <p:cNvCxnSpPr/>
          <p:nvPr/>
        </p:nvCxnSpPr>
        <p:spPr>
          <a:xfrm>
            <a:off x="2138418" y="4730366"/>
            <a:ext cx="1721201" cy="733101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7" name="Google Shape;337;p28"/>
          <p:cNvSpPr txBox="1"/>
          <p:nvPr/>
        </p:nvSpPr>
        <p:spPr>
          <a:xfrm>
            <a:off x="865373" y="5009083"/>
            <a:ext cx="15696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斜線部の面積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5920200" y="4795662"/>
            <a:ext cx="3133102" cy="46166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39" name="Google Shape;339;p28"/>
          <p:cNvCxnSpPr/>
          <p:nvPr/>
        </p:nvCxnSpPr>
        <p:spPr>
          <a:xfrm flipH="1">
            <a:off x="6021856" y="5273733"/>
            <a:ext cx="657646" cy="548370"/>
          </a:xfrm>
          <a:prstGeom prst="straightConnector1">
            <a:avLst/>
          </a:prstGeom>
          <a:noFill/>
          <a:ln w="12700" cap="rnd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0" name="Google Shape;340;p28"/>
          <p:cNvSpPr txBox="1"/>
          <p:nvPr/>
        </p:nvSpPr>
        <p:spPr>
          <a:xfrm>
            <a:off x="6809527" y="5223152"/>
            <a:ext cx="20217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白抜け部分の面積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標準正規分布表の読み方④</a:t>
            </a:r>
            <a:endParaRPr/>
          </a:p>
        </p:txBody>
      </p:sp>
      <p:sp>
        <p:nvSpPr>
          <p:cNvPr id="346" name="Google Shape;346;p2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29</a:t>
            </a:fld>
            <a:endParaRPr/>
          </a:p>
        </p:txBody>
      </p:sp>
      <p:sp>
        <p:nvSpPr>
          <p:cNvPr id="347" name="Google Shape;347;p2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22" t="-9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pic>
        <p:nvPicPr>
          <p:cNvPr id="348" name="Google Shape;34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38500" y="3976587"/>
            <a:ext cx="4573524" cy="274472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6950193" y="3864262"/>
            <a:ext cx="1829412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50" name="Google Shape;350;p29"/>
          <p:cNvCxnSpPr/>
          <p:nvPr/>
        </p:nvCxnSpPr>
        <p:spPr>
          <a:xfrm flipH="1">
            <a:off x="6950193" y="4510593"/>
            <a:ext cx="386272" cy="671310"/>
          </a:xfrm>
          <a:prstGeom prst="straightConnector1">
            <a:avLst/>
          </a:prstGeom>
          <a:noFill/>
          <a:ln w="12700" cap="rnd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1" name="Google Shape;351;p29"/>
          <p:cNvSpPr txBox="1"/>
          <p:nvPr/>
        </p:nvSpPr>
        <p:spPr>
          <a:xfrm>
            <a:off x="7815137" y="5227427"/>
            <a:ext cx="879407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52" name="Google Shape;352;p29"/>
          <p:cNvCxnSpPr/>
          <p:nvPr/>
        </p:nvCxnSpPr>
        <p:spPr>
          <a:xfrm flipH="1">
            <a:off x="7497657" y="5689092"/>
            <a:ext cx="510615" cy="562852"/>
          </a:xfrm>
          <a:prstGeom prst="straightConnector1">
            <a:avLst/>
          </a:prstGeom>
          <a:noFill/>
          <a:ln w="12700" cap="rnd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3" name="Google Shape;353;p29"/>
          <p:cNvSpPr txBox="1"/>
          <p:nvPr/>
        </p:nvSpPr>
        <p:spPr>
          <a:xfrm>
            <a:off x="4658638" y="5227427"/>
            <a:ext cx="994824" cy="4616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cxnSp>
        <p:nvCxnSpPr>
          <p:cNvPr id="354" name="Google Shape;354;p29"/>
          <p:cNvCxnSpPr/>
          <p:nvPr/>
        </p:nvCxnSpPr>
        <p:spPr>
          <a:xfrm>
            <a:off x="5301289" y="5689092"/>
            <a:ext cx="572311" cy="562852"/>
          </a:xfrm>
          <a:prstGeom prst="straightConnector1">
            <a:avLst/>
          </a:prstGeom>
          <a:noFill/>
          <a:ln w="12700" cap="rnd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SUMMARY</a:t>
            </a:r>
            <a:endParaRPr/>
          </a:p>
        </p:txBody>
      </p:sp>
      <p:sp>
        <p:nvSpPr>
          <p:cNvPr id="533" name="Google Shape;533;p4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30</a:t>
            </a:fld>
            <a:endParaRPr/>
          </a:p>
        </p:txBody>
      </p:sp>
      <p:sp>
        <p:nvSpPr>
          <p:cNvPr id="5" name="Google Shape;532;p48">
            <a:extLst>
              <a:ext uri="{FF2B5EF4-FFF2-40B4-BE49-F238E27FC236}">
                <a16:creationId xmlns:a16="http://schemas.microsoft.com/office/drawing/2014/main" id="{B681A043-561F-6618-4713-88B472C29F70}"/>
              </a:ext>
            </a:extLst>
          </p:cNvPr>
          <p:cNvSpPr txBox="1">
            <a:spLocks/>
          </p:cNvSpPr>
          <p:nvPr/>
        </p:nvSpPr>
        <p:spPr>
          <a:xfrm>
            <a:off x="131976" y="1131775"/>
            <a:ext cx="8880049" cy="25859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0" t="-3532" b="-1238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51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◆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indent="0">
              <a:spcBef>
                <a:spcPts val="0"/>
              </a:spcBef>
              <a:buFont typeface="Noto Sans Symbols"/>
              <a:buNone/>
            </a:pPr>
            <a:r>
              <a:rPr lang="ja-JP" altLang="en-US"/>
              <a:t>　</a:t>
            </a:r>
            <a:endParaRPr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560</Words>
  <Application>Microsoft Office PowerPoint</Application>
  <PresentationFormat>画面に合わせる (4:3)</PresentationFormat>
  <Paragraphs>151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Noto Sans Symbols</vt:lpstr>
      <vt:lpstr>Gill Sans</vt:lpstr>
      <vt:lpstr>Arial</vt:lpstr>
      <vt:lpstr>Impact</vt:lpstr>
      <vt:lpstr>配当</vt:lpstr>
      <vt:lpstr>確率分布：連続確率分布</vt:lpstr>
      <vt:lpstr>今日の目標</vt:lpstr>
      <vt:lpstr>PowerPoint プレゼンテーション</vt:lpstr>
      <vt:lpstr>連続確率分布</vt:lpstr>
      <vt:lpstr>連続確率分布</vt:lpstr>
      <vt:lpstr>連続確率分布</vt:lpstr>
      <vt:lpstr>PowerPoint プレゼンテーション</vt:lpstr>
      <vt:lpstr>正規分布</vt:lpstr>
      <vt:lpstr>T分布</vt:lpstr>
      <vt:lpstr>カイ二乗分布</vt:lpstr>
      <vt:lpstr>F分布</vt:lpstr>
      <vt:lpstr>確率密度関数の積分</vt:lpstr>
      <vt:lpstr>例①　すべての範囲の場合</vt:lpstr>
      <vt:lpstr>例②　下側確率の場合</vt:lpstr>
      <vt:lpstr> </vt:lpstr>
      <vt:lpstr>PowerPoint プレゼンテーション</vt:lpstr>
      <vt:lpstr>正規分布の特徴</vt:lpstr>
      <vt:lpstr>中心極限定理</vt:lpstr>
      <vt:lpstr>中心極限定理</vt:lpstr>
      <vt:lpstr>正規分布の確率</vt:lpstr>
      <vt:lpstr>標準正規分布</vt:lpstr>
      <vt:lpstr>PowerPoint プレゼンテーション</vt:lpstr>
      <vt:lpstr>標準正規分布表</vt:lpstr>
      <vt:lpstr>標準正規分布表の読み方①</vt:lpstr>
      <vt:lpstr>（補足１）標準正規分布表の読み方①</vt:lpstr>
      <vt:lpstr>（補足２）標準正規分布表の読み方①</vt:lpstr>
      <vt:lpstr>標準正規分布表の読み方②</vt:lpstr>
      <vt:lpstr>標準正規分布表の読み方③</vt:lpstr>
      <vt:lpstr>標準正規分布表の読み方④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須永大介</cp:lastModifiedBy>
  <cp:revision>1</cp:revision>
  <dcterms:created xsi:type="dcterms:W3CDTF">2025-03-03T09:28:12Z</dcterms:created>
  <dcterms:modified xsi:type="dcterms:W3CDTF">2026-08-31T10:28:57Z</dcterms:modified>
</cp:coreProperties>
</file>