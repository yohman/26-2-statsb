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4"/>
  </p:notesMasterIdLst>
  <p:sldIdLst>
    <p:sldId id="256" r:id="rId2"/>
    <p:sldId id="257" r:id="rId3"/>
    <p:sldId id="258" r:id="rId4"/>
    <p:sldId id="544" r:id="rId5"/>
    <p:sldId id="545" r:id="rId6"/>
    <p:sldId id="547" r:id="rId7"/>
    <p:sldId id="549" r:id="rId8"/>
    <p:sldId id="550" r:id="rId9"/>
    <p:sldId id="551" r:id="rId10"/>
    <p:sldId id="552" r:id="rId11"/>
    <p:sldId id="553" r:id="rId12"/>
    <p:sldId id="554" r:id="rId13"/>
    <p:sldId id="555" r:id="rId14"/>
    <p:sldId id="556" r:id="rId15"/>
    <p:sldId id="282" r:id="rId16"/>
    <p:sldId id="557" r:id="rId17"/>
    <p:sldId id="559" r:id="rId18"/>
    <p:sldId id="560" r:id="rId19"/>
    <p:sldId id="561" r:id="rId20"/>
    <p:sldId id="572" r:id="rId21"/>
    <p:sldId id="573" r:id="rId22"/>
    <p:sldId id="562" r:id="rId23"/>
    <p:sldId id="563" r:id="rId24"/>
    <p:sldId id="564" r:id="rId25"/>
    <p:sldId id="565" r:id="rId26"/>
    <p:sldId id="566" r:id="rId27"/>
    <p:sldId id="569" r:id="rId28"/>
    <p:sldId id="571" r:id="rId29"/>
    <p:sldId id="570" r:id="rId30"/>
    <p:sldId id="568" r:id="rId31"/>
    <p:sldId id="567" r:id="rId32"/>
    <p:sldId id="26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68" autoAdjust="0"/>
    <p:restoredTop sz="89989" autoAdjust="0"/>
  </p:normalViewPr>
  <p:slideViewPr>
    <p:cSldViewPr snapToGrid="0">
      <p:cViewPr varScale="1">
        <p:scale>
          <a:sx n="104" d="100"/>
          <a:sy n="104" d="100"/>
        </p:scale>
        <p:origin x="21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health-net.or.jp/tobacco/statistics/kokumin_kenkou_eiyou_report.html" TargetMode="Externa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#11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統計的仮説検定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節　統計的仮説検定</a:t>
            </a:r>
            <a:endParaRPr kumimoji="1" lang="en-US" altLang="ja-JP" dirty="0"/>
          </a:p>
          <a:p>
            <a:pPr lvl="1"/>
            <a:r>
              <a:rPr lang="ja-JP" altLang="en-US" dirty="0"/>
              <a:t>仮説検定とは何かを理解する</a:t>
            </a:r>
            <a:endParaRPr lang="en-US" altLang="ja-JP" dirty="0"/>
          </a:p>
          <a:p>
            <a:pPr lvl="1"/>
            <a:r>
              <a:rPr lang="ja-JP" altLang="en-US" dirty="0"/>
              <a:t>仮説検定の手順を理解する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10C2E-9183-5967-491C-342DB51C5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09C33B0-5469-228B-8F72-580F7F74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AF94EA-64D7-23E5-8672-8BD40E10E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仮説検定　</a:t>
            </a:r>
            <a:r>
              <a:rPr kumimoji="1" lang="en-US" altLang="ja-JP" sz="3200" dirty="0">
                <a:solidFill>
                  <a:schemeClr val="accent2"/>
                </a:solidFill>
              </a:rPr>
              <a:t>hypothesis testing</a:t>
            </a:r>
          </a:p>
          <a:p>
            <a:pPr lvl="1"/>
            <a:r>
              <a:rPr lang="ja-JP" altLang="en-US" sz="2800" dirty="0">
                <a:solidFill>
                  <a:schemeClr val="accent5"/>
                </a:solidFill>
              </a:rPr>
              <a:t>母数</a:t>
            </a:r>
            <a:r>
              <a:rPr lang="ja-JP" altLang="en-US" sz="2800" dirty="0"/>
              <a:t>に関する仮説を，</a:t>
            </a:r>
            <a:r>
              <a:rPr lang="ja-JP" altLang="en-US" sz="2800" dirty="0">
                <a:solidFill>
                  <a:schemeClr val="accent5"/>
                </a:solidFill>
              </a:rPr>
              <a:t>標本から検証する</a:t>
            </a:r>
            <a:r>
              <a:rPr lang="ja-JP" altLang="en-US" sz="2800" dirty="0"/>
              <a:t>方法のひとつ</a:t>
            </a:r>
            <a:endParaRPr lang="en-US" altLang="ja-JP" sz="2800" dirty="0"/>
          </a:p>
          <a:p>
            <a:pPr lvl="1"/>
            <a:r>
              <a:rPr kumimoji="1" lang="ja-JP" altLang="en-US" sz="2800" dirty="0"/>
              <a:t>仮説に対して「判断」を行うことが目的</a:t>
            </a:r>
            <a:endParaRPr kumimoji="1" lang="en-US" altLang="ja-JP" sz="2800" dirty="0"/>
          </a:p>
          <a:p>
            <a:endParaRPr lang="en-US" altLang="ja-JP" sz="3200" dirty="0"/>
          </a:p>
          <a:p>
            <a:r>
              <a:rPr lang="ja-JP" altLang="en-US" sz="3200" dirty="0"/>
              <a:t>推測の種類</a:t>
            </a:r>
            <a:endParaRPr lang="en-US" altLang="ja-JP" sz="3200" dirty="0"/>
          </a:p>
          <a:p>
            <a:pPr lvl="1"/>
            <a:r>
              <a:rPr kumimoji="1" lang="ja-JP" altLang="en-US" sz="2800" dirty="0"/>
              <a:t>推定</a:t>
            </a:r>
            <a:endParaRPr kumimoji="1" lang="en-US" altLang="ja-JP" sz="2800" dirty="0"/>
          </a:p>
          <a:p>
            <a:pPr lvl="2"/>
            <a:r>
              <a:rPr lang="ja-JP" altLang="en-US" sz="2400" dirty="0"/>
              <a:t>統計量を</a:t>
            </a:r>
            <a:r>
              <a:rPr lang="ja-JP" altLang="en-US" sz="2400" b="1" dirty="0">
                <a:solidFill>
                  <a:schemeClr val="accent5"/>
                </a:solidFill>
              </a:rPr>
              <a:t>計算</a:t>
            </a:r>
            <a:r>
              <a:rPr lang="ja-JP" altLang="en-US" sz="2400" dirty="0"/>
              <a:t>することが目的</a:t>
            </a:r>
            <a:endParaRPr lang="en-US" altLang="ja-JP" sz="2400" dirty="0"/>
          </a:p>
          <a:p>
            <a:pPr lvl="1"/>
            <a:r>
              <a:rPr kumimoji="1" lang="ja-JP" altLang="en-US" sz="2800" dirty="0"/>
              <a:t>仮説検定</a:t>
            </a:r>
            <a:endParaRPr kumimoji="1" lang="en-US" altLang="ja-JP" sz="2800" dirty="0"/>
          </a:p>
          <a:p>
            <a:pPr lvl="2"/>
            <a:r>
              <a:rPr lang="ja-JP" altLang="en-US" sz="2400" dirty="0"/>
              <a:t>仮説に対して</a:t>
            </a:r>
            <a:r>
              <a:rPr lang="ja-JP" altLang="en-US" sz="2400" b="1" dirty="0">
                <a:solidFill>
                  <a:schemeClr val="accent5"/>
                </a:solidFill>
              </a:rPr>
              <a:t>判断</a:t>
            </a:r>
            <a:r>
              <a:rPr lang="ja-JP" altLang="en-US" sz="2400" dirty="0"/>
              <a:t>を行うことが目的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7555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55F9B-D51C-0410-C48A-15AE8AA4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BC96D7-1EF5-42ED-C7DC-5B39F8D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1B9A8B-FC32-2E40-E0F2-F8503688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  <a:endParaRPr kumimoji="1" lang="en-US" altLang="ja-JP" dirty="0"/>
          </a:p>
          <a:p>
            <a:pPr lvl="1"/>
            <a:r>
              <a:rPr lang="ja-JP" altLang="en-US" dirty="0"/>
              <a:t>①　検定方式の決定</a:t>
            </a:r>
            <a:endParaRPr lang="en-US" altLang="ja-JP" dirty="0"/>
          </a:p>
          <a:p>
            <a:pPr lvl="1"/>
            <a:r>
              <a:rPr kumimoji="1" lang="ja-JP" altLang="en-US" dirty="0"/>
              <a:t>②　仮説の設定</a:t>
            </a:r>
            <a:endParaRPr kumimoji="1" lang="en-US" altLang="ja-JP" dirty="0"/>
          </a:p>
          <a:p>
            <a:pPr lvl="1"/>
            <a:r>
              <a:rPr lang="ja-JP" altLang="en-US" dirty="0"/>
              <a:t>③　有意水準</a:t>
            </a:r>
            <a:r>
              <a:rPr lang="ja-JP" altLang="en-US" sz="1800" dirty="0"/>
              <a:t>（棄却域）</a:t>
            </a:r>
            <a:r>
              <a:rPr lang="ja-JP" altLang="en-US" dirty="0"/>
              <a:t>の決定</a:t>
            </a:r>
            <a:endParaRPr lang="en-US" altLang="ja-JP" dirty="0"/>
          </a:p>
          <a:p>
            <a:pPr lvl="1"/>
            <a:r>
              <a:rPr kumimoji="1" lang="ja-JP" altLang="en-US" dirty="0"/>
              <a:t>④　データの収集</a:t>
            </a:r>
            <a:endParaRPr kumimoji="1" lang="en-US" altLang="ja-JP" dirty="0"/>
          </a:p>
          <a:p>
            <a:pPr lvl="1"/>
            <a:r>
              <a:rPr lang="ja-JP" altLang="en-US" dirty="0"/>
              <a:t>⑤　棄却域の臨界値の計算</a:t>
            </a:r>
            <a:endParaRPr lang="en-US" altLang="ja-JP" dirty="0"/>
          </a:p>
          <a:p>
            <a:pPr lvl="1"/>
            <a:r>
              <a:rPr kumimoji="1" lang="ja-JP" altLang="en-US" dirty="0"/>
              <a:t>⑥　検定統計量の計算</a:t>
            </a:r>
            <a:endParaRPr kumimoji="1" lang="en-US" altLang="ja-JP" dirty="0"/>
          </a:p>
          <a:p>
            <a:pPr lvl="1"/>
            <a:r>
              <a:rPr lang="ja-JP" altLang="en-US" dirty="0"/>
              <a:t>⑦　判断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A1FA04-E92A-1F67-C25D-4A401B2C20C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13292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AC2F4-AAE3-1EB7-7E3A-DD0EEB05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①検定方式の決定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595CF1-E73C-4E09-A31D-9746A587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29BCB3F-F8BB-5BBE-0BE0-837988849CB4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1262279774"/>
                  </p:ext>
                </p:extLst>
              </p:nvPr>
            </p:nvGraphicFramePr>
            <p:xfrm>
              <a:off x="131763" y="954088"/>
              <a:ext cx="8880474" cy="4709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0079">
                      <a:extLst>
                        <a:ext uri="{9D8B030D-6E8A-4147-A177-3AD203B41FA5}">
                          <a16:colId xmlns:a16="http://schemas.microsoft.com/office/drawing/2014/main" val="1610412142"/>
                        </a:ext>
                      </a:extLst>
                    </a:gridCol>
                    <a:gridCol w="1480079">
                      <a:extLst>
                        <a:ext uri="{9D8B030D-6E8A-4147-A177-3AD203B41FA5}">
                          <a16:colId xmlns:a16="http://schemas.microsoft.com/office/drawing/2014/main" val="4005636627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297812735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87382096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二項分布の母比率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正規分布の母平均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87039593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値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との比較</a:t>
                          </a:r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母平均の検定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0701525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𝜋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𝜇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17731310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二項分布，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142389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コインを投げて，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表の出る本当の確率は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50%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170cm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は本当か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7686576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群の比較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母比率の差の検定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平均値の差の検定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54537987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8778001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7992119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A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B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表の出る確率は同じか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男性の平均身長と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女性の平均身長に違いはあるか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6957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29BCB3F-F8BB-5BBE-0BE0-837988849CB4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1262279774"/>
                  </p:ext>
                </p:extLst>
              </p:nvPr>
            </p:nvGraphicFramePr>
            <p:xfrm>
              <a:off x="131763" y="954088"/>
              <a:ext cx="8880474" cy="4709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0079">
                      <a:extLst>
                        <a:ext uri="{9D8B030D-6E8A-4147-A177-3AD203B41FA5}">
                          <a16:colId xmlns:a16="http://schemas.microsoft.com/office/drawing/2014/main" val="1610412142"/>
                        </a:ext>
                      </a:extLst>
                    </a:gridCol>
                    <a:gridCol w="1480079">
                      <a:extLst>
                        <a:ext uri="{9D8B030D-6E8A-4147-A177-3AD203B41FA5}">
                          <a16:colId xmlns:a16="http://schemas.microsoft.com/office/drawing/2014/main" val="4005636627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297812735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87382096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06" t="-11475" r="-100412" b="-1185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06" t="-11475" r="-412" b="-1185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039593"/>
                      </a:ext>
                    </a:extLst>
                  </a:tr>
                  <a:tr h="640080">
                    <a:tc rowSpan="4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2" t="-19101" r="-500823" b="-1030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母平均の検定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0701525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06" t="-283607" r="-100412" b="-9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206" t="-283607" r="-412" b="-9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313102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二項分布，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1423895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コインを投げて，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表の出る本当の確率は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50%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170cm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は本当か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7686576"/>
                      </a:ext>
                    </a:extLst>
                  </a:tr>
                  <a:tr h="64008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群の比較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母比率の差の検定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平均値の差の検定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54537987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06" t="-504762" r="-100412" b="-14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206" t="-504762" r="-412" b="-14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778001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79921198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A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B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表の出る確率は同じか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男性の平均身長と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女性の平均身長に違いはあるか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69577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FFF623-18FD-6E6A-8A32-CFDFE72F6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5903912"/>
            <a:ext cx="8880843" cy="826826"/>
          </a:xfrm>
        </p:spPr>
        <p:txBody>
          <a:bodyPr/>
          <a:lstStyle/>
          <a:p>
            <a:r>
              <a:rPr lang="ja-JP" altLang="en-US" sz="2000" dirty="0"/>
              <a:t>入手するデータの形状によって，検定の方式が変わる．</a:t>
            </a:r>
            <a:endParaRPr lang="en-US" altLang="ja-JP" sz="2000" dirty="0"/>
          </a:p>
          <a:p>
            <a:pPr lvl="1"/>
            <a:r>
              <a:rPr kumimoji="1" lang="ja-JP" altLang="en-US" sz="1800" dirty="0"/>
              <a:t>詳細は</a:t>
            </a:r>
            <a:r>
              <a:rPr kumimoji="1" lang="en-US" altLang="ja-JP" sz="1800" dirty="0"/>
              <a:t>pp.140</a:t>
            </a:r>
            <a:r>
              <a:rPr kumimoji="1" lang="ja-JP" altLang="en-US" sz="1800" dirty="0"/>
              <a:t>表</a:t>
            </a:r>
            <a:r>
              <a:rPr kumimoji="1" lang="en-US" altLang="ja-JP" sz="1800" dirty="0"/>
              <a:t>1</a:t>
            </a:r>
            <a:r>
              <a:rPr kumimoji="1" lang="ja-JP" altLang="en-US" sz="1800" dirty="0"/>
              <a:t>を参照（一例）</a:t>
            </a:r>
          </a:p>
        </p:txBody>
      </p:sp>
    </p:spTree>
    <p:extLst>
      <p:ext uri="{BB962C8B-B14F-4D97-AF65-F5344CB8AC3E}">
        <p14:creationId xmlns:p14="http://schemas.microsoft.com/office/powerpoint/2010/main" val="395330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F3390-A5FE-125A-D372-F2C59BA6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605F23-B3DC-1146-0A27-CC2005B0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帰無仮説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null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否定したい仮説</a:t>
                </a:r>
                <a:r>
                  <a:rPr lang="ja-JP" altLang="en-US" sz="1800" dirty="0"/>
                  <a:t>（無に帰す）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例：男性の平均身長と女性の平均身長に差はない</a:t>
                </a:r>
                <a:endParaRPr kumimoji="1"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対立仮説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alternative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分析者が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立証したい仮説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/>
                  <a:t>例：男性の平均身長と女性の平均身長に差はない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8BE9CC-425E-D000-D3B1-A8D3CEB2672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568738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581A-0828-82EB-6128-4518239A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C27DE6-F501-624C-D856-01EFB461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6A067B4-6600-8E42-674D-0190E351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6231473-1855-3FF7-540E-44D1C2F2D7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コイン投げの例で考えると</a:t>
                </a:r>
                <a:r>
                  <a:rPr kumimoji="1" lang="en-US" altLang="ja-JP" sz="32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kumimoji="1" lang="ja-JP" altLang="en-US" sz="2400" dirty="0"/>
                  <a:t>コインの表が出る本当の確率は</a:t>
                </a:r>
                <a:r>
                  <a:rPr kumimoji="1" lang="en-US" altLang="ja-JP" sz="2400" dirty="0"/>
                  <a:t>0.5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≠0.5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kumimoji="1" lang="ja-JP" altLang="en-US" sz="2400" dirty="0"/>
                  <a:t>コインの表が出る本当の確率は</a:t>
                </a:r>
                <a:r>
                  <a:rPr kumimoji="1" lang="en-US" altLang="ja-JP" sz="2400" dirty="0"/>
                  <a:t>0.5</a:t>
                </a:r>
                <a:r>
                  <a:rPr kumimoji="1" lang="ja-JP" altLang="en-US" sz="2400" dirty="0"/>
                  <a:t>ではない</a:t>
                </a:r>
                <a:r>
                  <a:rPr kumimoji="1" lang="ja-JP" altLang="en-US" sz="1600" dirty="0"/>
                  <a:t>（コインが歪んでいる，など）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6231473-1855-3FF7-540E-44D1C2F2D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40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DD112-8492-C4B7-3D3B-9F49B2689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8C84B6-5121-FBD1-AE7F-D3E081FFB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8A71EF8-BDEA-8EFD-0DEF-A93CF618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72391E7-B138-0124-C9A2-654A55E301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両側検定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two-sided test</a:t>
                </a:r>
              </a:p>
              <a:p>
                <a:pPr lvl="1"/>
                <a:r>
                  <a:rPr lang="ja-JP" altLang="en-US" dirty="0"/>
                  <a:t>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違いがある</a:t>
                </a:r>
                <a:r>
                  <a:rPr lang="ja-JP" altLang="en-US" dirty="0"/>
                  <a:t>」ことを立証する場合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棄却域が両側</a:t>
                </a:r>
                <a:endParaRPr kumimoji="1" lang="en-US" altLang="ja-JP" dirty="0"/>
              </a:p>
              <a:p>
                <a:pPr lvl="1"/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片側検定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one-sided test</a:t>
                </a:r>
              </a:p>
              <a:p>
                <a:pPr lvl="1"/>
                <a:r>
                  <a:rPr kumimoji="1" lang="ja-JP" altLang="en-US" dirty="0"/>
                  <a:t>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以上</a:t>
                </a:r>
                <a:r>
                  <a:rPr kumimoji="1" lang="ja-JP" altLang="en-US" dirty="0"/>
                  <a:t>」や「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以下</a:t>
                </a:r>
                <a:r>
                  <a:rPr kumimoji="1" lang="ja-JP" altLang="en-US" dirty="0"/>
                  <a:t>」であることを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立証する場合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棄却域が片側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例：コインの表が出る確率が</a:t>
                </a:r>
                <a:r>
                  <a:rPr lang="en-US" altLang="ja-JP" dirty="0"/>
                  <a:t>0.5</a:t>
                </a:r>
                <a:r>
                  <a:rPr lang="ja-JP" altLang="en-US" dirty="0"/>
                  <a:t>未満であることを立証したい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≥0.5, 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endParaRPr kumimoji="1" lang="en-US" altLang="ja-JP" dirty="0"/>
              </a:p>
              <a:p>
                <a:pPr lvl="3"/>
                <a:r>
                  <a:rPr kumimoji="1" lang="en-US" altLang="ja-JP" dirty="0"/>
                  <a:t>0.5</a:t>
                </a:r>
                <a:r>
                  <a:rPr kumimoji="1" lang="ja-JP" altLang="en-US" dirty="0"/>
                  <a:t>以上であることはめったにない（帰無仮説）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72391E7-B138-0124-C9A2-654A55E301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866E1D47-FB37-C9CC-4FB1-83DAB589A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415" y="871978"/>
            <a:ext cx="3477609" cy="208702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70007B4-26D0-C06F-D2A2-704ED7325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424" y="2959007"/>
            <a:ext cx="3477600" cy="20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5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8918B-BA02-F376-83CF-BA23F0CA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③有意水準の設定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F4A1C8-531B-5465-5E49-D109F61C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35674D-8B38-A454-9021-418A217D9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有意水準　</a:t>
            </a:r>
            <a:r>
              <a:rPr kumimoji="1" lang="en-US" altLang="ja-JP" dirty="0">
                <a:solidFill>
                  <a:schemeClr val="accent2"/>
                </a:solidFill>
              </a:rPr>
              <a:t>significance level</a:t>
            </a:r>
          </a:p>
          <a:p>
            <a:pPr lvl="1"/>
            <a:r>
              <a:rPr lang="ja-JP" altLang="en-US" dirty="0"/>
              <a:t>確率的に偶然とは考えにくく，意味があると考えられる水準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帰無仮説を棄却する基準</a:t>
            </a:r>
            <a:r>
              <a:rPr kumimoji="1" lang="ja-JP" altLang="en-US" dirty="0"/>
              <a:t>となる確率</a:t>
            </a:r>
            <a:endParaRPr kumimoji="1"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分析者が設定</a:t>
            </a:r>
            <a:r>
              <a:rPr lang="ja-JP" altLang="en-US" dirty="0"/>
              <a:t>する</a:t>
            </a:r>
            <a:endParaRPr kumimoji="1" lang="en-US" altLang="ja-JP" dirty="0"/>
          </a:p>
          <a:p>
            <a:pPr lvl="1"/>
            <a:r>
              <a:rPr lang="en-US" altLang="ja-JP" dirty="0"/>
              <a:t>1%, 5%, 10%</a:t>
            </a:r>
            <a:r>
              <a:rPr lang="ja-JP" altLang="en-US" dirty="0"/>
              <a:t>が一般的に使われることが多い</a:t>
            </a:r>
            <a:endParaRPr lang="en-US" altLang="ja-JP" dirty="0"/>
          </a:p>
          <a:p>
            <a:pPr lvl="2"/>
            <a:r>
              <a:rPr kumimoji="1" lang="ja-JP" altLang="en-US" dirty="0"/>
              <a:t>学問分野による</a:t>
            </a:r>
            <a:endParaRPr kumimoji="1" lang="en-US" altLang="ja-JP" dirty="0"/>
          </a:p>
          <a:p>
            <a:r>
              <a:rPr lang="ja-JP" altLang="en-US" dirty="0"/>
              <a:t>有意水準</a:t>
            </a:r>
            <a:r>
              <a:rPr lang="en-US" altLang="ja-JP" dirty="0"/>
              <a:t>5%</a:t>
            </a:r>
          </a:p>
          <a:p>
            <a:pPr lvl="1"/>
            <a:r>
              <a:rPr kumimoji="1" lang="en-US" altLang="ja-JP" dirty="0"/>
              <a:t>5%</a:t>
            </a:r>
            <a:r>
              <a:rPr kumimoji="1" lang="ja-JP" altLang="en-US" dirty="0"/>
              <a:t>以下の確率で起こる事象は</a:t>
            </a:r>
            <a:br>
              <a:rPr kumimoji="1" lang="en-US" altLang="ja-JP" dirty="0"/>
            </a:br>
            <a:r>
              <a:rPr kumimoji="1" lang="en-US" altLang="ja-JP" dirty="0"/>
              <a:t>100</a:t>
            </a:r>
            <a:r>
              <a:rPr kumimoji="1" lang="ja-JP" altLang="en-US" dirty="0"/>
              <a:t>回中</a:t>
            </a:r>
            <a:r>
              <a:rPr kumimoji="1" lang="ja-JP" altLang="en-US" sz="1800" dirty="0"/>
              <a:t>（平均的に）</a:t>
            </a:r>
            <a:r>
              <a:rPr kumimoji="1" lang="en-US" altLang="ja-JP" dirty="0"/>
              <a:t>5</a:t>
            </a:r>
            <a:r>
              <a:rPr kumimoji="1" lang="ja-JP" altLang="en-US" dirty="0"/>
              <a:t>回しか起こらない事象．</a:t>
            </a:r>
            <a:br>
              <a:rPr kumimoji="1" lang="en-US" altLang="ja-JP" dirty="0"/>
            </a:br>
            <a:r>
              <a:rPr kumimoji="1" lang="ja-JP" altLang="en-US" dirty="0"/>
              <a:t>極めて珍しいことが起こった，</a:t>
            </a:r>
            <a:br>
              <a:rPr kumimoji="1" lang="en-US" altLang="ja-JP" dirty="0"/>
            </a:br>
            <a:r>
              <a:rPr kumimoji="1" lang="ja-JP" altLang="en-US" dirty="0"/>
              <a:t>意味がある（＝有意である）とみなす．</a:t>
            </a:r>
            <a:endParaRPr kumimoji="1" lang="en-US" altLang="ja-JP" dirty="0"/>
          </a:p>
          <a:p>
            <a:pPr lvl="1"/>
            <a:r>
              <a:rPr lang="ja-JP" altLang="en-US" dirty="0"/>
              <a:t>棄却域の面積</a:t>
            </a:r>
            <a:r>
              <a:rPr lang="en-US" altLang="ja-JP" dirty="0"/>
              <a:t>5%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BCB243E-5D49-07D0-82E4-47C180B9838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53762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91E7D-34A3-A0E9-06C9-0C4AF4F8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④データの収集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6D8F18B-66E4-0D98-4E47-34AEA1D9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B1AB19-53AC-72A1-78C3-6C4D0656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データの収集</a:t>
            </a:r>
            <a:endParaRPr kumimoji="1" lang="en-US" altLang="ja-JP" dirty="0"/>
          </a:p>
          <a:p>
            <a:pPr lvl="1"/>
            <a:r>
              <a:rPr lang="ja-JP" altLang="en-US" dirty="0"/>
              <a:t>検定方式に応じた測定尺度でデータを収集</a:t>
            </a:r>
            <a:endParaRPr lang="en-US" altLang="ja-JP" dirty="0"/>
          </a:p>
          <a:p>
            <a:pPr lvl="1"/>
            <a:r>
              <a:rPr kumimoji="1" lang="ja-JP" altLang="en-US" dirty="0"/>
              <a:t>標本数は大きいほど良いが，</a:t>
            </a:r>
            <a:br>
              <a:rPr kumimoji="1" lang="en-US" altLang="ja-JP" dirty="0"/>
            </a:br>
            <a:r>
              <a:rPr kumimoji="1" lang="ja-JP" altLang="en-US" dirty="0"/>
              <a:t>金銭的・時間的コストとのトレードオフ</a:t>
            </a:r>
            <a:endParaRPr kumimoji="1" lang="en-US" altLang="ja-JP" dirty="0"/>
          </a:p>
          <a:p>
            <a:pPr lvl="1"/>
            <a:r>
              <a:rPr lang="ja-JP" altLang="en-US" dirty="0"/>
              <a:t>偏った標本にならないような，</a:t>
            </a:r>
            <a:r>
              <a:rPr lang="ja-JP" altLang="en-US" dirty="0">
                <a:solidFill>
                  <a:schemeClr val="accent5"/>
                </a:solidFill>
              </a:rPr>
              <a:t>事前の調査設計</a:t>
            </a:r>
            <a:r>
              <a:rPr lang="ja-JP" altLang="en-US" dirty="0"/>
              <a:t>が必要</a:t>
            </a:r>
            <a:endParaRPr lang="en-US" altLang="ja-JP" dirty="0"/>
          </a:p>
          <a:p>
            <a:pPr lvl="2"/>
            <a:r>
              <a:rPr kumimoji="1" lang="ja-JP" altLang="en-US" dirty="0"/>
              <a:t>これが最も難しい！</a:t>
            </a:r>
          </a:p>
        </p:txBody>
      </p:sp>
    </p:spTree>
    <p:extLst>
      <p:ext uri="{BB962C8B-B14F-4D97-AF65-F5344CB8AC3E}">
        <p14:creationId xmlns:p14="http://schemas.microsoft.com/office/powerpoint/2010/main" val="209527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3BC1C-C484-DA43-EA49-D2F25454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⑤棄却域の臨界値の計算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85AE4A-B539-C6B7-15B6-8F476025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B52CCC-0B7C-25B8-B34E-61B77C9D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棄却域　</a:t>
            </a:r>
            <a:r>
              <a:rPr kumimoji="1" lang="en-US" altLang="ja-JP" dirty="0">
                <a:solidFill>
                  <a:schemeClr val="accent2"/>
                </a:solidFill>
              </a:rPr>
              <a:t>rejection region</a:t>
            </a:r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帰無仮説を棄却</a:t>
            </a:r>
            <a:r>
              <a:rPr lang="ja-JP" altLang="en-US" dirty="0"/>
              <a:t>する領域</a:t>
            </a:r>
            <a:endParaRPr lang="en-US" altLang="ja-JP" dirty="0"/>
          </a:p>
          <a:p>
            <a:pPr lvl="1"/>
            <a:r>
              <a:rPr kumimoji="1" lang="ja-JP" altLang="en-US" dirty="0"/>
              <a:t>有意水準によって決まる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臨界値　</a:t>
            </a:r>
            <a:r>
              <a:rPr lang="en-US" altLang="ja-JP" dirty="0">
                <a:solidFill>
                  <a:schemeClr val="accent2"/>
                </a:solidFill>
              </a:rPr>
              <a:t>critical value</a:t>
            </a:r>
          </a:p>
          <a:p>
            <a:pPr lvl="1"/>
            <a:r>
              <a:rPr kumimoji="1" lang="ja-JP" altLang="en-US" dirty="0"/>
              <a:t>仮説の棄却／採択を決定する</a:t>
            </a:r>
            <a:br>
              <a:rPr kumimoji="1" lang="en-US" altLang="ja-JP" dirty="0"/>
            </a:br>
            <a:r>
              <a:rPr kumimoji="1" lang="ja-JP" altLang="en-US" dirty="0"/>
              <a:t>特定の</a:t>
            </a:r>
            <a:r>
              <a:rPr kumimoji="1" lang="ja-JP" altLang="en-US" dirty="0">
                <a:solidFill>
                  <a:schemeClr val="accent5"/>
                </a:solidFill>
              </a:rPr>
              <a:t>カットオフ値（閾値）</a:t>
            </a:r>
            <a:endParaRPr kumimoji="1"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設定された有意水準と，</a:t>
            </a:r>
            <a:br>
              <a:rPr lang="en-US" altLang="ja-JP" dirty="0"/>
            </a:br>
            <a:r>
              <a:rPr lang="ja-JP" altLang="en-US" dirty="0"/>
              <a:t>検定に用いる確率分布の自由度によって決まる</a:t>
            </a:r>
            <a:endParaRPr lang="en-US" altLang="ja-JP" dirty="0"/>
          </a:p>
          <a:p>
            <a:pPr lvl="2"/>
            <a:r>
              <a:rPr kumimoji="1" lang="ja-JP" altLang="en-US" dirty="0"/>
              <a:t>数学の文脈での臨界値とは意味が異なるので注意</a:t>
            </a:r>
            <a:endParaRPr kumimoji="1"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分析者自身が設定する必要はない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F59F8B-437F-6587-4BF2-BDE420AE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8" y="1499299"/>
            <a:ext cx="4074728" cy="2445380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27E0E38-4284-EE48-0CAA-734AC0109102}"/>
              </a:ext>
            </a:extLst>
          </p:cNvPr>
          <p:cNvGrpSpPr/>
          <p:nvPr/>
        </p:nvGrpSpPr>
        <p:grpSpPr>
          <a:xfrm>
            <a:off x="5701085" y="3665551"/>
            <a:ext cx="3077023" cy="1137560"/>
            <a:chOff x="5701085" y="3665551"/>
            <a:chExt cx="3077023" cy="1137560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8201110-6862-805A-7C03-F68980A3816B}"/>
                </a:ext>
              </a:extLst>
            </p:cNvPr>
            <p:cNvSpPr txBox="1"/>
            <p:nvPr/>
          </p:nvSpPr>
          <p:spPr>
            <a:xfrm>
              <a:off x="7695760" y="4218336"/>
              <a:ext cx="10823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臨界値</a:t>
              </a:r>
              <a:b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</a:br>
              <a:r>
                <a:rPr kumimoji="1" lang="ja-JP" altLang="en-US" sz="1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（横軸の値）</a:t>
              </a: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D00BE436-349C-AABE-D540-22B75EF94681}"/>
                </a:ext>
              </a:extLst>
            </p:cNvPr>
            <p:cNvGrpSpPr/>
            <p:nvPr/>
          </p:nvGrpSpPr>
          <p:grpSpPr>
            <a:xfrm>
              <a:off x="5701085" y="3665551"/>
              <a:ext cx="2535849" cy="845173"/>
              <a:chOff x="5701085" y="3665551"/>
              <a:chExt cx="2535849" cy="845173"/>
            </a:xfrm>
          </p:grpSpPr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BF0AEBB1-0002-BAD7-33AE-0537BBBBFA26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flipH="1" flipV="1">
                <a:off x="5701085" y="3699370"/>
                <a:ext cx="1994675" cy="811354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1650B0D1-7002-E256-1B84-87A64D6EDC14}"/>
                  </a:ext>
                </a:extLst>
              </p:cNvPr>
              <p:cNvCxnSpPr>
                <a:cxnSpLocks/>
                <a:stCxn id="6" idx="0"/>
              </p:cNvCxnSpPr>
              <p:nvPr/>
            </p:nvCxnSpPr>
            <p:spPr>
              <a:xfrm flipH="1" flipV="1">
                <a:off x="8110330" y="3665551"/>
                <a:ext cx="126604" cy="552785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2B5FB75-D1B3-2412-FB14-3BDCF256C2FB}"/>
              </a:ext>
            </a:extLst>
          </p:cNvPr>
          <p:cNvGrpSpPr/>
          <p:nvPr/>
        </p:nvGrpSpPr>
        <p:grpSpPr>
          <a:xfrm>
            <a:off x="4784651" y="1376750"/>
            <a:ext cx="4227376" cy="2288801"/>
            <a:chOff x="4784651" y="1376750"/>
            <a:chExt cx="4227376" cy="2288801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2FD7CB88-2975-3A05-CE9D-D3F530C4F7FD}"/>
                </a:ext>
              </a:extLst>
            </p:cNvPr>
            <p:cNvGrpSpPr/>
            <p:nvPr/>
          </p:nvGrpSpPr>
          <p:grpSpPr>
            <a:xfrm>
              <a:off x="4784651" y="1376750"/>
              <a:ext cx="916434" cy="2288801"/>
              <a:chOff x="4784651" y="1376750"/>
              <a:chExt cx="916434" cy="2288801"/>
            </a:xfrm>
          </p:grpSpPr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7C2E74F0-ACB8-621C-9C81-AE200B67D7F3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矢印: 左 21">
                <a:extLst>
                  <a:ext uri="{FF2B5EF4-FFF2-40B4-BE49-F238E27FC236}">
                    <a16:creationId xmlns:a16="http://schemas.microsoft.com/office/drawing/2014/main" id="{1FDF4DA9-B2A9-81DD-E732-B8DF1B14A20B}"/>
                  </a:ext>
                </a:extLst>
              </p:cNvPr>
              <p:cNvSpPr/>
              <p:nvPr/>
            </p:nvSpPr>
            <p:spPr>
              <a:xfrm>
                <a:off x="4784651" y="1376750"/>
                <a:ext cx="916429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393B272-E3C9-26D2-1F36-C92D67A53038}"/>
                </a:ext>
              </a:extLst>
            </p:cNvPr>
            <p:cNvGrpSpPr/>
            <p:nvPr/>
          </p:nvGrpSpPr>
          <p:grpSpPr>
            <a:xfrm>
              <a:off x="8095598" y="1376750"/>
              <a:ext cx="916429" cy="2288801"/>
              <a:chOff x="8095598" y="1376750"/>
              <a:chExt cx="916429" cy="2288801"/>
            </a:xfrm>
          </p:grpSpPr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9CC8431A-1763-6966-3221-3F09E572475B}"/>
                  </a:ext>
                </a:extLst>
              </p:cNvPr>
              <p:cNvCxnSpPr/>
              <p:nvPr/>
            </p:nvCxnSpPr>
            <p:spPr>
              <a:xfrm flipV="1">
                <a:off x="8110330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矢印: 左 23">
                <a:extLst>
                  <a:ext uri="{FF2B5EF4-FFF2-40B4-BE49-F238E27FC236}">
                    <a16:creationId xmlns:a16="http://schemas.microsoft.com/office/drawing/2014/main" id="{226647F2-333E-D0E8-8CAA-BBC08D90A915}"/>
                  </a:ext>
                </a:extLst>
              </p:cNvPr>
              <p:cNvSpPr/>
              <p:nvPr/>
            </p:nvSpPr>
            <p:spPr>
              <a:xfrm flipH="1">
                <a:off x="8095598" y="1376750"/>
                <a:ext cx="916429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</a:p>
            </p:txBody>
          </p:sp>
        </p:grpSp>
      </p:grpSp>
      <p:sp>
        <p:nvSpPr>
          <p:cNvPr id="28" name="矢印: 左右 27">
            <a:extLst>
              <a:ext uri="{FF2B5EF4-FFF2-40B4-BE49-F238E27FC236}">
                <a16:creationId xmlns:a16="http://schemas.microsoft.com/office/drawing/2014/main" id="{0163413D-2C79-084D-8276-EDB21A5CA7E7}"/>
              </a:ext>
            </a:extLst>
          </p:cNvPr>
          <p:cNvSpPr/>
          <p:nvPr/>
        </p:nvSpPr>
        <p:spPr>
          <a:xfrm>
            <a:off x="5723187" y="1388777"/>
            <a:ext cx="2379777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</a:p>
        </p:txBody>
      </p:sp>
    </p:spTree>
    <p:extLst>
      <p:ext uri="{BB962C8B-B14F-4D97-AF65-F5344CB8AC3E}">
        <p14:creationId xmlns:p14="http://schemas.microsoft.com/office/powerpoint/2010/main" val="247083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206DF-0B9E-BECE-FFB9-BF73EA22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⑥検定統計量の計算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AE84A58-D370-FECE-4926-B6C4DB74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検定統計量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test statistics</a:t>
                </a:r>
              </a:p>
              <a:p>
                <a:pPr lvl="1"/>
                <a:r>
                  <a:rPr lang="ja-JP" altLang="en-US" dirty="0"/>
                  <a:t>標本データから計算される統計量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この値と，⑤の臨界値を比較して，</a:t>
                </a:r>
                <a:br>
                  <a:rPr kumimoji="1" lang="en-US" altLang="ja-JP" dirty="0"/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検定統計量の方が絶対値が大きければ，</a:t>
                </a:r>
                <a:br>
                  <a:rPr lang="en-US" altLang="ja-JP" dirty="0">
                    <a:solidFill>
                      <a:schemeClr val="accent5"/>
                    </a:solidFill>
                  </a:rPr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帰無仮説を棄却</a:t>
                </a:r>
                <a:r>
                  <a:rPr lang="ja-JP" altLang="en-US" dirty="0"/>
                  <a:t>する．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「データに想定する分布」と「検定統計量のしたがう分布」を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区別する必要があるため注意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t</a:t>
                </a:r>
                <a:r>
                  <a:rPr lang="ja-JP" altLang="en-US" sz="1800" dirty="0"/>
                  <a:t>分布の検定統計量）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dirty="0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21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FB646-AA2E-0856-24A7-62966014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⑦判断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99E2E5-07D3-951A-BDB0-627E3D2F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BEB1D5-D9B2-B93E-61D0-D357EF1BC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検定統計量が棄却域に含まれる</a:t>
            </a:r>
            <a:endParaRPr kumimoji="1" lang="en-US" altLang="ja-JP" dirty="0"/>
          </a:p>
          <a:p>
            <a:pPr lvl="1"/>
            <a:r>
              <a:rPr lang="ja-JP" altLang="en-US" dirty="0"/>
              <a:t>帰無仮説のもとでは，検定統計量の結果となることはほとんどない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帰無仮説を棄却して，</a:t>
            </a:r>
            <a:r>
              <a:rPr kumimoji="1" lang="ja-JP" altLang="en-US" b="1" dirty="0">
                <a:solidFill>
                  <a:schemeClr val="accent5"/>
                </a:solidFill>
              </a:rPr>
              <a:t>対立仮説を採用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検定統計量が棄却域に含まれない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帰無仮説と対立仮説の</a:t>
            </a:r>
            <a:r>
              <a:rPr kumimoji="1" lang="ja-JP" altLang="en-US" b="1" dirty="0">
                <a:solidFill>
                  <a:schemeClr val="accent5"/>
                </a:solidFill>
              </a:rPr>
              <a:t>どちらが正しいかは不明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帰無仮説が正しいかはわからないが，</a:t>
            </a:r>
            <a:br>
              <a:rPr lang="en-US" altLang="ja-JP" dirty="0"/>
            </a:br>
            <a:r>
              <a:rPr lang="ja-JP" altLang="en-US" dirty="0"/>
              <a:t>対立仮説が正しいとは言えない</a:t>
            </a:r>
            <a:endParaRPr kumimoji="1" lang="ja-JP" altLang="en-US" dirty="0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A769050C-2479-121D-AFF0-5B889CAE164B}"/>
              </a:ext>
            </a:extLst>
          </p:cNvPr>
          <p:cNvSpPr/>
          <p:nvPr/>
        </p:nvSpPr>
        <p:spPr>
          <a:xfrm>
            <a:off x="5305647" y="2636874"/>
            <a:ext cx="3125972" cy="978196"/>
          </a:xfrm>
          <a:prstGeom prst="wedgeRoundRectCallout">
            <a:avLst>
              <a:gd name="adj1" fmla="val -61309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立証したい仮説が</a:t>
            </a:r>
            <a:br>
              <a:rPr kumimoji="1" lang="en-US" altLang="ja-JP" dirty="0">
                <a:solidFill>
                  <a:schemeClr val="accent2"/>
                </a:solidFill>
              </a:rPr>
            </a:br>
            <a:r>
              <a:rPr kumimoji="1" lang="ja-JP" altLang="en-US" dirty="0">
                <a:solidFill>
                  <a:schemeClr val="accent2"/>
                </a:solidFill>
              </a:rPr>
              <a:t>統計的に立証された！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68F7E6B4-0575-9A8C-1887-9DBAEA8EB6CD}"/>
              </a:ext>
            </a:extLst>
          </p:cNvPr>
          <p:cNvSpPr/>
          <p:nvPr/>
        </p:nvSpPr>
        <p:spPr>
          <a:xfrm>
            <a:off x="5305647" y="5538430"/>
            <a:ext cx="3125972" cy="978196"/>
          </a:xfrm>
          <a:prstGeom prst="wedgeRoundRectCallout">
            <a:avLst>
              <a:gd name="adj1" fmla="val -70153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間違っているとも言えない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2AB3FB4-45FD-E601-ED76-7E8AD79BC66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92470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２：例①　母平均の検定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828E8-DCB1-7B81-16D9-FE11874F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CB71DCE-7EDD-7CAD-F0CB-1412B96A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母平均の検定（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群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母平均が</a:t>
                </a:r>
                <a:r>
                  <a:rPr kumimoji="1" lang="en-US" altLang="ja-JP" dirty="0"/>
                  <a:t>150g</a:t>
                </a:r>
                <a:r>
                  <a:rPr kumimoji="1" lang="ja-JP" altLang="en-US" dirty="0"/>
                  <a:t>ではないことを検証するため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ポテトの重量は平均的に</a:t>
                </a:r>
                <a:r>
                  <a:rPr lang="en-US" altLang="ja-JP" dirty="0"/>
                  <a:t>150g</a:t>
                </a:r>
                <a:r>
                  <a:rPr lang="ja-JP" altLang="en-US" dirty="0"/>
                  <a:t>である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≠150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ポテトの重量は平均的に</a:t>
                </a:r>
                <a:r>
                  <a:rPr lang="en-US" altLang="ja-JP" dirty="0"/>
                  <a:t>150g</a:t>
                </a:r>
                <a:r>
                  <a:rPr lang="ja-JP" altLang="en-US" dirty="0"/>
                  <a:t>ではない（表記はウソである）</a:t>
                </a:r>
                <a:endParaRPr kumimoji="1" lang="ja-JP" altLang="en-US" dirty="0"/>
              </a:p>
              <a:p>
                <a:r>
                  <a:rPr kumimoji="1" lang="ja-JP" altLang="en-US" dirty="0"/>
                  <a:t>③有意水準の設定</a:t>
                </a:r>
              </a:p>
              <a:p>
                <a:pPr lvl="1"/>
                <a:r>
                  <a:rPr kumimoji="1" lang="ja-JP" altLang="en-US" dirty="0"/>
                  <a:t>有意水準：</a:t>
                </a:r>
                <a:r>
                  <a:rPr kumimoji="1" lang="en-US" altLang="ja-JP" dirty="0"/>
                  <a:t>5%</a:t>
                </a:r>
              </a:p>
              <a:p>
                <a:pPr lvl="2"/>
                <a:r>
                  <a:rPr lang="ja-JP" altLang="en-US" dirty="0"/>
                  <a:t>例として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を設定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0D2E-0058-DC47-52D3-B745DC77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9C70A-1730-F90E-ADB0-F53C175E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3DDE1F-23E7-09AA-5871-DA043826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F9FC6E8-DBB8-110A-EC11-E5BD30147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④データの収集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サンプルデータを使用</a:t>
                </a:r>
              </a:p>
              <a:p>
                <a:r>
                  <a:rPr kumimoji="1" lang="ja-JP" altLang="en-US" dirty="0"/>
                  <a:t>⑤棄却域の臨界値の計算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t</a:t>
                </a:r>
                <a:r>
                  <a:rPr lang="ja-JP" altLang="en-US" dirty="0"/>
                  <a:t>分布表から，自由度</a:t>
                </a:r>
                <a:r>
                  <a:rPr lang="en-US" altLang="ja-JP" dirty="0"/>
                  <a:t>9</a:t>
                </a:r>
                <a:r>
                  <a:rPr lang="ja-JP" altLang="en-US" dirty="0"/>
                  <a:t>，上側確率</a:t>
                </a:r>
                <a:r>
                  <a:rPr lang="en-US" altLang="ja-JP" dirty="0"/>
                  <a:t>2.5%</a:t>
                </a:r>
                <a:r>
                  <a:rPr lang="ja-JP" altLang="en-US" dirty="0"/>
                  <a:t>の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値を探す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自由度：</a:t>
                </a:r>
                <a:r>
                  <a:rPr kumimoji="1" lang="en-US" altLang="ja-JP" dirty="0"/>
                  <a:t>			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9=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−1=10−1</m:t>
                    </m:r>
                  </m:oMath>
                </a14:m>
                <a:endParaRPr kumimoji="1" lang="en-US" altLang="ja-JP" b="0" dirty="0"/>
              </a:p>
              <a:p>
                <a:pPr lvl="2"/>
                <a:r>
                  <a:rPr kumimoji="1" lang="ja-JP" altLang="en-US" dirty="0"/>
                  <a:t>上側確率</a:t>
                </a:r>
                <a:r>
                  <a:rPr kumimoji="1" lang="en-US" altLang="ja-JP" dirty="0"/>
                  <a:t>2.5%</a:t>
                </a:r>
                <a:r>
                  <a:rPr kumimoji="1" lang="ja-JP" altLang="en-US" dirty="0"/>
                  <a:t>：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有意水準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より，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1−0.95</m:t>
                            </m:r>
                          </m:e>
                        </m:d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よって，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kumimoji="1" lang="ja-JP" altLang="en-US" dirty="0"/>
                  <a:t>の値を探せばよい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Excel</a:t>
                </a:r>
                <a:r>
                  <a:rPr lang="ja-JP" altLang="en-US" dirty="0"/>
                  <a:t>関数を使用する場合は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t.inv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上側確率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自由度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)</a:t>
                </a:r>
              </a:p>
              <a:p>
                <a:pPr lvl="3"/>
                <a:r>
                  <a:rPr lang="ja-JP" altLang="en-US" dirty="0"/>
                  <a:t>ただし出力されるのは下側確率なので，</a:t>
                </a:r>
                <a:br>
                  <a:rPr lang="en-US" altLang="ja-JP" dirty="0"/>
                </a:br>
                <a:r>
                  <a:rPr lang="ja-JP" altLang="en-US" dirty="0"/>
                  <a:t>上側確率を求めたいときは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abs()</a:t>
                </a:r>
                <a:r>
                  <a:rPr lang="ja-JP" altLang="en-US" dirty="0"/>
                  <a:t>などで絶対値を取ると良い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F9FC6E8-DBB8-110A-EC11-E5BD30147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2D6916E-C6ED-8B9D-4E0F-630E395C3692}"/>
                  </a:ext>
                </a:extLst>
              </p:cNvPr>
              <p:cNvSpPr/>
              <p:nvPr/>
            </p:nvSpPr>
            <p:spPr>
              <a:xfrm>
                <a:off x="5762846" y="5624624"/>
                <a:ext cx="3249177" cy="9699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=2.262</m:t>
                      </m:r>
                    </m:oMath>
                  </m:oMathPara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2D6916E-C6ED-8B9D-4E0F-630E395C3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846" y="5624624"/>
                <a:ext cx="3249177" cy="969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16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AFC6-6797-6706-9D3A-1063E7F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F15C-1A78-F243-475B-8FAAD41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06C196-8608-6ECF-9DEA-32FE71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t-value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</m:t>
                                    </m:r>
                                    <m:r>
                                      <a:rPr lang="ja-JP" altLang="en-US" sz="2400" i="1" smtClean="0">
                                        <a:latin typeface="Cambria Math" panose="02040503050406030204" pitchFamily="18" charset="0"/>
                                      </a:rPr>
                                      <m:t>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142.4−150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34.711</m:t>
                                </m:r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=−4.079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F092F4E-2932-B3AE-DBB7-8985AF08CC50}"/>
              </a:ext>
            </a:extLst>
          </p:cNvPr>
          <p:cNvSpPr/>
          <p:nvPr/>
        </p:nvSpPr>
        <p:spPr>
          <a:xfrm>
            <a:off x="5571460" y="2158409"/>
            <a:ext cx="2762540" cy="1270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33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0350A-DD3A-2E45-775B-67C141B8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3E6D60-E46F-B025-58C4-213A1B0F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</a:t>
            </a:r>
            <a:r>
              <a:rPr lang="ja-JP" altLang="en-US" dirty="0"/>
              <a:t>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3103EB-144D-53E3-0434-B803D1C8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4B192EB-A812-C27A-D638-DB1076C8D2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27451"/>
                <a:ext cx="8880049" cy="2393860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⑦判断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⑤臨界値と⑥検定統計量（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値）の絶対値を比べる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臨界値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値</m:t>
                        </m:r>
                      </m:e>
                    </m:d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→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2.262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−4.079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lvl="2"/>
                <a:r>
                  <a:rPr lang="en-US" altLang="ja-JP" dirty="0"/>
                  <a:t>t</a:t>
                </a:r>
                <a:r>
                  <a:rPr lang="ja-JP" altLang="en-US" dirty="0"/>
                  <a:t>値（検定統計量）が棄却域に含まれる</a:t>
                </a:r>
                <a:endParaRPr lang="en-US" altLang="ja-JP" dirty="0"/>
              </a:p>
              <a:p>
                <a:pPr lvl="3"/>
                <a:r>
                  <a:rPr lang="ja-JP" altLang="en-US" dirty="0"/>
                  <a:t>帰無仮説を棄却して，対立仮説を採択する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4B192EB-A812-C27A-D638-DB1076C8D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27451"/>
                <a:ext cx="8880049" cy="2393860"/>
              </a:xfrm>
              <a:blipFill>
                <a:blip r:embed="rId2"/>
                <a:stretch>
                  <a:fillRect l="-1099" t="-2799" b="-12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9342E504-D6F2-9C2B-C2CF-1780F8782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749" y="861701"/>
            <a:ext cx="6088071" cy="3653654"/>
          </a:xfrm>
          <a:prstGeom prst="rect">
            <a:avLst/>
          </a:prstGeom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D28C55B1-4EC2-E2BE-2633-F3055A0DD620}"/>
              </a:ext>
            </a:extLst>
          </p:cNvPr>
          <p:cNvGrpSpPr/>
          <p:nvPr/>
        </p:nvGrpSpPr>
        <p:grpSpPr>
          <a:xfrm>
            <a:off x="3751999" y="4106213"/>
            <a:ext cx="1066318" cy="780097"/>
            <a:chOff x="3751999" y="4106213"/>
            <a:chExt cx="1066318" cy="780097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49287FD-120C-08D2-2E95-3630FA41F676}"/>
                </a:ext>
              </a:extLst>
            </p:cNvPr>
            <p:cNvSpPr txBox="1"/>
            <p:nvPr/>
          </p:nvSpPr>
          <p:spPr>
            <a:xfrm>
              <a:off x="3751999" y="4516978"/>
              <a:ext cx="106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-2.262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4577175E-6E54-2EF7-99FE-ADC4DDD75C03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4285158" y="4106213"/>
              <a:ext cx="232384" cy="41076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1921F50A-A460-C9E5-D7DE-A0FB66386813}"/>
              </a:ext>
            </a:extLst>
          </p:cNvPr>
          <p:cNvGrpSpPr/>
          <p:nvPr/>
        </p:nvGrpSpPr>
        <p:grpSpPr>
          <a:xfrm>
            <a:off x="7272669" y="4122068"/>
            <a:ext cx="955711" cy="762619"/>
            <a:chOff x="7272669" y="4122068"/>
            <a:chExt cx="955711" cy="762619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33884ECA-AC14-1D7E-48E9-D005D1E1DA6F}"/>
                </a:ext>
              </a:extLst>
            </p:cNvPr>
            <p:cNvSpPr txBox="1"/>
            <p:nvPr/>
          </p:nvSpPr>
          <p:spPr>
            <a:xfrm>
              <a:off x="7272669" y="4515355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2.262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32CF3E8-664A-DD05-7527-EA2B33498F0F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H="1" flipV="1">
              <a:off x="7573444" y="4122068"/>
              <a:ext cx="177081" cy="39328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EB7C3108-BE54-82DB-F054-2A6052830200}"/>
              </a:ext>
            </a:extLst>
          </p:cNvPr>
          <p:cNvGrpSpPr/>
          <p:nvPr/>
        </p:nvGrpSpPr>
        <p:grpSpPr>
          <a:xfrm>
            <a:off x="2435195" y="967563"/>
            <a:ext cx="1066318" cy="3917124"/>
            <a:chOff x="2435195" y="967563"/>
            <a:chExt cx="1066318" cy="3917124"/>
          </a:xfrm>
        </p:grpSpPr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1BF0166E-1019-B9C9-E8AC-D3822D903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500" y="967563"/>
              <a:ext cx="0" cy="3547792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3F59B38C-545F-B9CA-A1D0-B6A12C125DF8}"/>
                </a:ext>
              </a:extLst>
            </p:cNvPr>
            <p:cNvSpPr txBox="1"/>
            <p:nvPr/>
          </p:nvSpPr>
          <p:spPr>
            <a:xfrm>
              <a:off x="2435195" y="4515355"/>
              <a:ext cx="106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00B0F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-4.079</a:t>
              </a:r>
              <a:endParaRPr kumimoji="1" lang="ja-JP" altLang="en-US" dirty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D68EE2D-082B-C96C-C26A-907B6F4CA622}"/>
              </a:ext>
            </a:extLst>
          </p:cNvPr>
          <p:cNvGrpSpPr/>
          <p:nvPr/>
        </p:nvGrpSpPr>
        <p:grpSpPr>
          <a:xfrm>
            <a:off x="2913324" y="916566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5D2F1360-0F5F-B34F-7CE0-0C6BD661C9A3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0C6A941-1AA5-031F-A29E-256217CB148D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E8A85E4B-AC9F-7DE9-8CC8-4CD4C561556C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77B96F-3D69-6E00-D932-D423C9DCC747}"/>
                </a:ext>
              </a:extLst>
            </p:cNvPr>
            <p:cNvGrpSpPr/>
            <p:nvPr/>
          </p:nvGrpSpPr>
          <p:grpSpPr>
            <a:xfrm>
              <a:off x="8095597" y="1376750"/>
              <a:ext cx="1121037" cy="2288801"/>
              <a:chOff x="8095597" y="1376750"/>
              <a:chExt cx="1121037" cy="2288801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02ADB676-D333-6676-9D11-209B455F1D1E}"/>
                  </a:ext>
                </a:extLst>
              </p:cNvPr>
              <p:cNvCxnSpPr/>
              <p:nvPr/>
            </p:nvCxnSpPr>
            <p:spPr>
              <a:xfrm flipV="1">
                <a:off x="8110330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5F4FE603-751F-50A1-30C9-9729C38E5BD1}"/>
                  </a:ext>
                </a:extLst>
              </p:cNvPr>
              <p:cNvSpPr/>
              <p:nvPr/>
            </p:nvSpPr>
            <p:spPr>
              <a:xfrm flipH="1">
                <a:off x="8095597" y="1376750"/>
                <a:ext cx="11210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30" name="矢印: 左右 29">
            <a:extLst>
              <a:ext uri="{FF2B5EF4-FFF2-40B4-BE49-F238E27FC236}">
                <a16:creationId xmlns:a16="http://schemas.microsoft.com/office/drawing/2014/main" id="{51F7E089-299A-177D-CF9E-90B9EB76A359}"/>
              </a:ext>
            </a:extLst>
          </p:cNvPr>
          <p:cNvSpPr/>
          <p:nvPr/>
        </p:nvSpPr>
        <p:spPr>
          <a:xfrm>
            <a:off x="4517542" y="1047620"/>
            <a:ext cx="3080940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  <a:r>
              <a:rPr kumimoji="1"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(95%)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556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E4862-06C8-1684-CFCF-86860015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スッパイで検証！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03D52E-57D1-B342-3B0F-D681728E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p:pic>
        <p:nvPicPr>
          <p:cNvPr id="1026" name="Picture 2" descr="Amazon | スッパイ大作戦 ・あまズッパイ大作戦 (ピンク・黄色・青・黒・白) | ノーブランド品 | グミ 通販">
            <a:extLst>
              <a:ext uri="{FF2B5EF4-FFF2-40B4-BE49-F238E27FC236}">
                <a16:creationId xmlns:a16="http://schemas.microsoft.com/office/drawing/2014/main" id="{C900AEA4-3842-6E67-4BB7-0B8FE10CE4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938212"/>
            <a:ext cx="6350000" cy="577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643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6893-026E-B424-C730-1DD51879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BBADC3-C189-6118-3FB7-C0A9A6AF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DAF53-2E7C-8AE8-9CFA-52627D5B7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24120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D1D6-2CBD-D503-08B3-CC82E00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6C000B8-FE4A-CA4D-1EE8-548F8B04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２：例②　母比率の差の検定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04953E-7383-0EC1-1C5D-89515F3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4143-C2DB-4525-901F-1BF416A5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C844BE-6E89-335E-AA2D-25B924B2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自社とライバル社の</a:t>
            </a:r>
            <a:r>
              <a:rPr kumimoji="1" lang="en-US" altLang="ja-JP" dirty="0"/>
              <a:t>2</a:t>
            </a:r>
            <a:r>
              <a:rPr kumimoji="1" lang="ja-JP" altLang="en-US" dirty="0"/>
              <a:t>社の満足度に差があるか①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6C1672-63FD-F3C2-428A-B6ADE80B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C84E9-7C6F-0907-D5D9-D821E325D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母比率の差の検定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「満足している</a:t>
                </a:r>
                <a:r>
                  <a:rPr kumimoji="1" lang="en-US" altLang="ja-JP" dirty="0"/>
                  <a:t>=1</a:t>
                </a:r>
                <a:r>
                  <a:rPr kumimoji="1" lang="ja-JP" altLang="en-US" dirty="0"/>
                  <a:t>」「満足していない</a:t>
                </a:r>
                <a:r>
                  <a:rPr kumimoji="1" lang="en-US" altLang="ja-JP" dirty="0"/>
                  <a:t>=0</a:t>
                </a:r>
                <a:r>
                  <a:rPr kumimoji="1" lang="ja-JP" altLang="en-US" dirty="0"/>
                  <a:t>」の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母比率の差が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でない（＝差がある）ことを検証するため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２社の満足度に差はない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２社の満足度には差がある</a:t>
                </a:r>
                <a:endParaRPr kumimoji="1" lang="ja-JP" altLang="en-US" dirty="0"/>
              </a:p>
              <a:p>
                <a:r>
                  <a:rPr kumimoji="1" lang="ja-JP" altLang="en-US" dirty="0"/>
                  <a:t>③有意水準の設定</a:t>
                </a:r>
              </a:p>
              <a:p>
                <a:pPr lvl="1"/>
                <a:r>
                  <a:rPr kumimoji="1" lang="ja-JP" altLang="en-US" dirty="0"/>
                  <a:t>有意水準：</a:t>
                </a:r>
                <a:r>
                  <a:rPr kumimoji="1" lang="en-US" altLang="ja-JP" dirty="0"/>
                  <a:t>5%</a:t>
                </a:r>
              </a:p>
              <a:p>
                <a:pPr lvl="2"/>
                <a:r>
                  <a:rPr lang="ja-JP" altLang="en-US" dirty="0"/>
                  <a:t>例として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を設定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C84E9-7C6F-0907-D5D9-D821E325D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441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89AB-71FF-0A6F-6316-20723440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D7228-8D37-D643-FD90-58E9C01D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CB1419-EEC0-FA68-8FFA-DB0611BB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74D8-30C6-9232-67D9-853BDB3ABD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④データの収集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サンプルデータを使用</a:t>
                </a:r>
              </a:p>
              <a:p>
                <a:r>
                  <a:rPr kumimoji="1" lang="ja-JP" altLang="en-US" dirty="0"/>
                  <a:t>⑤棄却域の臨界値の計算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正規分布表から，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のとき，</a:t>
                </a:r>
                <a:br>
                  <a:rPr lang="en-US" altLang="ja-JP" dirty="0"/>
                </a:br>
                <a:r>
                  <a:rPr lang="ja-JP" altLang="en-US" dirty="0"/>
                  <a:t>上側確率が</a:t>
                </a:r>
                <a:r>
                  <a:rPr lang="en-US" altLang="ja-JP" dirty="0"/>
                  <a:t>0.025</a:t>
                </a:r>
                <a:r>
                  <a:rPr lang="ja-JP" altLang="en-US" dirty="0"/>
                  <a:t>になる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の値を探す</a:t>
                </a:r>
                <a:endParaRPr lang="en-US" altLang="ja-JP" dirty="0"/>
              </a:p>
              <a:p>
                <a:pPr lvl="2"/>
                <a:r>
                  <a:rPr lang="en-US" altLang="ja-JP" dirty="0"/>
                  <a:t>Excel</a:t>
                </a:r>
                <a:r>
                  <a:rPr lang="ja-JP" altLang="en-US" dirty="0"/>
                  <a:t>関数を使用する場合は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norm.inv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上側確率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平均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標準偏差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)</a:t>
                </a:r>
              </a:p>
              <a:p>
                <a:pPr lvl="3"/>
                <a:r>
                  <a:rPr lang="ja-JP" altLang="en-US" dirty="0"/>
                  <a:t>標準正規分布なので，平均は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，標準偏差は</a:t>
                </a:r>
                <a:r>
                  <a:rPr lang="en-US" altLang="ja-JP" dirty="0"/>
                  <a:t>1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74D8-30C6-9232-67D9-853BDB3ABD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F51D87EB-17B1-00A2-331F-A3076C57A470}"/>
                  </a:ext>
                </a:extLst>
              </p:cNvPr>
              <p:cNvSpPr/>
              <p:nvPr/>
            </p:nvSpPr>
            <p:spPr>
              <a:xfrm>
                <a:off x="5603358" y="5539564"/>
                <a:ext cx="3249177" cy="9699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F51D87EB-17B1-00A2-331F-A3076C57A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58" y="5539564"/>
                <a:ext cx="3249177" cy="969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93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64F2-2F5C-8DE9-A191-C444CB28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C6C51-40EB-D4CA-E0D9-1B541EA0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82241F-A094-3FEA-0F8D-0C75D00C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D38A79A-A223-F471-EEF1-48C50BE38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z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z-value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ライバル社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自社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全体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ja-JP" altLang="en-US" i="1" smtClean="0">
                                    <a:latin typeface="Cambria Math" panose="02040503050406030204" pitchFamily="18" charset="0"/>
                                  </a:rPr>
                                  <m:t>全体の</m:t>
                                </m:r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標本比率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自社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ライバル社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0.806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0.864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0.836</m:t>
                            </m:r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800" b="0" i="1" smtClean="0">
                                    <a:latin typeface="Cambria Math" panose="02040503050406030204" pitchFamily="18" charset="0"/>
                                  </a:rPr>
                                  <m:t>0.836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103</m:t>
                                    </m:r>
                                  </m:den>
                                </m:f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98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=−1.11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D38A79A-A223-F471-EEF1-48C50BE38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75FA96-8D7F-4CD1-F31A-7D45D6F460B6}"/>
              </a:ext>
            </a:extLst>
          </p:cNvPr>
          <p:cNvSpPr/>
          <p:nvPr/>
        </p:nvSpPr>
        <p:spPr>
          <a:xfrm>
            <a:off x="828376" y="4106578"/>
            <a:ext cx="6677247" cy="1818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49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5EA0-BBAD-D986-A63F-EDB12586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1ED9A-BA41-077B-2B07-2FCD592B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89FED9-6B25-1E53-6A67-138E2C22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1122-3844-6A6E-B13D-910A5FA09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27451"/>
                <a:ext cx="8880049" cy="2393860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⑦判断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⑤臨界値と⑥検定統計量（</a:t>
                </a:r>
                <a:r>
                  <a:rPr lang="en-US" altLang="ja-JP" dirty="0"/>
                  <a:t>z</a:t>
                </a:r>
                <a:r>
                  <a:rPr lang="ja-JP" altLang="en-US" dirty="0"/>
                  <a:t>値）の絶対値を比べる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臨界値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値</m:t>
                        </m:r>
                      </m:e>
                    </m:d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→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1.96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1.11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lvl="2"/>
                <a:r>
                  <a:rPr lang="en-US" altLang="ja-JP" dirty="0"/>
                  <a:t>z</a:t>
                </a:r>
                <a:r>
                  <a:rPr lang="ja-JP" altLang="en-US" dirty="0"/>
                  <a:t>値（検定統計量）が棄却域に含まれない</a:t>
                </a:r>
                <a:endParaRPr lang="en-US" altLang="ja-JP" dirty="0"/>
              </a:p>
              <a:p>
                <a:pPr lvl="3"/>
                <a:r>
                  <a:rPr lang="ja-JP" altLang="en-US" dirty="0"/>
                  <a:t>満足度に差があるとは立証できなかった（差があるかどうかは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不明</a:t>
                </a:r>
                <a:r>
                  <a:rPr lang="ja-JP" altLang="en-US" dirty="0"/>
                  <a:t>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1122-3844-6A6E-B13D-910A5FA09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27451"/>
                <a:ext cx="8880049" cy="2393860"/>
              </a:xfrm>
              <a:blipFill>
                <a:blip r:embed="rId2"/>
                <a:stretch>
                  <a:fillRect l="-1099" t="-2799" b="-12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6AF67CF-A8E8-9EEE-313D-F342DDF20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932" y="861984"/>
            <a:ext cx="6087600" cy="3653371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5D199F7-6D87-1A0E-CB12-7EE25FE348B9}"/>
              </a:ext>
            </a:extLst>
          </p:cNvPr>
          <p:cNvGrpSpPr/>
          <p:nvPr/>
        </p:nvGrpSpPr>
        <p:grpSpPr>
          <a:xfrm>
            <a:off x="2795892" y="4122069"/>
            <a:ext cx="1612235" cy="783334"/>
            <a:chOff x="2892754" y="4102976"/>
            <a:chExt cx="1612235" cy="783334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6286E9D3-FCD5-0F21-90A8-5313F9D0F0F6}"/>
                </a:ext>
              </a:extLst>
            </p:cNvPr>
            <p:cNvSpPr txBox="1"/>
            <p:nvPr/>
          </p:nvSpPr>
          <p:spPr>
            <a:xfrm>
              <a:off x="2892754" y="4516978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-1.96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738192F-3355-364B-8F30-3BAA6A1CBE73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3324123" y="4102976"/>
              <a:ext cx="1180866" cy="414002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C063675-890E-EEA4-A95A-6B7EBE239E28}"/>
              </a:ext>
            </a:extLst>
          </p:cNvPr>
          <p:cNvGrpSpPr/>
          <p:nvPr/>
        </p:nvGrpSpPr>
        <p:grpSpPr>
          <a:xfrm>
            <a:off x="7169345" y="4122069"/>
            <a:ext cx="855453" cy="762618"/>
            <a:chOff x="7169345" y="4122069"/>
            <a:chExt cx="855453" cy="762618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78B643E-4311-2FA8-6AB9-CFADFB04AA55}"/>
                </a:ext>
              </a:extLst>
            </p:cNvPr>
            <p:cNvSpPr txBox="1"/>
            <p:nvPr/>
          </p:nvSpPr>
          <p:spPr>
            <a:xfrm>
              <a:off x="7272669" y="4515355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1.96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350E13D0-EB70-7D7E-51C8-89BF0E3E6529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H="1" flipV="1">
              <a:off x="7169345" y="4122069"/>
              <a:ext cx="479389" cy="39328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B7FA9C3-F459-7C87-F905-53B0FB41BBC5}"/>
              </a:ext>
            </a:extLst>
          </p:cNvPr>
          <p:cNvGrpSpPr/>
          <p:nvPr/>
        </p:nvGrpSpPr>
        <p:grpSpPr>
          <a:xfrm>
            <a:off x="4190163" y="967563"/>
            <a:ext cx="805029" cy="3917124"/>
            <a:chOff x="2435195" y="967563"/>
            <a:chExt cx="805029" cy="3917124"/>
          </a:xfrm>
        </p:grpSpPr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9852C1C7-8365-0457-8F9C-6FAE110C1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500" y="967563"/>
              <a:ext cx="0" cy="3547792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6F03F39-AA34-BBC7-475B-3D948B867A11}"/>
                </a:ext>
              </a:extLst>
            </p:cNvPr>
            <p:cNvSpPr txBox="1"/>
            <p:nvPr/>
          </p:nvSpPr>
          <p:spPr>
            <a:xfrm>
              <a:off x="2435195" y="4515355"/>
              <a:ext cx="805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00B0F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-1.11</a:t>
              </a:r>
              <a:endParaRPr kumimoji="1" lang="ja-JP" altLang="en-US" dirty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B3A2CF5-147F-E7DC-9EB2-83AE0F2B0218}"/>
              </a:ext>
            </a:extLst>
          </p:cNvPr>
          <p:cNvGrpSpPr/>
          <p:nvPr/>
        </p:nvGrpSpPr>
        <p:grpSpPr>
          <a:xfrm>
            <a:off x="2795892" y="902334"/>
            <a:ext cx="6098695" cy="3203879"/>
            <a:chOff x="4443473" y="1376750"/>
            <a:chExt cx="4773161" cy="2288801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56BA3620-6641-C4D7-5252-406AEBCB351C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B462DAD9-5964-9876-7843-DF7D4FD74F99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矢印: 左 38">
                <a:extLst>
                  <a:ext uri="{FF2B5EF4-FFF2-40B4-BE49-F238E27FC236}">
                    <a16:creationId xmlns:a16="http://schemas.microsoft.com/office/drawing/2014/main" id="{0C750C87-1B64-746B-36BE-D6558A9FF89B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D18416FE-7C7A-DE14-8389-5CD8BE482FED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6875ABD4-D56A-C889-F7FB-A1B44C107265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矢印: 左 36">
                <a:extLst>
                  <a:ext uri="{FF2B5EF4-FFF2-40B4-BE49-F238E27FC236}">
                    <a16:creationId xmlns:a16="http://schemas.microsoft.com/office/drawing/2014/main" id="{2F90A82C-B810-0A0A-1F2F-8E05E3DE23A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40" name="矢印: 左右 39">
            <a:extLst>
              <a:ext uri="{FF2B5EF4-FFF2-40B4-BE49-F238E27FC236}">
                <a16:creationId xmlns:a16="http://schemas.microsoft.com/office/drawing/2014/main" id="{5182921E-24CA-7DA2-2178-1E3AFBCE1C6E}"/>
              </a:ext>
            </a:extLst>
          </p:cNvPr>
          <p:cNvSpPr/>
          <p:nvPr/>
        </p:nvSpPr>
        <p:spPr>
          <a:xfrm>
            <a:off x="4401350" y="1056629"/>
            <a:ext cx="2771353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  <a:r>
              <a:rPr kumimoji="1"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(95%)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717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105B-C27C-1F34-AD9C-9367322F3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タバコ、本当に男子の方が多い？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BA8DFE-8341-4C3F-C420-30AB1A67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p:pic>
        <p:nvPicPr>
          <p:cNvPr id="5" name="Content Placeholder 4">
            <a:hlinkClick r:id="rId2"/>
            <a:extLst>
              <a:ext uri="{FF2B5EF4-FFF2-40B4-BE49-F238E27FC236}">
                <a16:creationId xmlns:a16="http://schemas.microsoft.com/office/drawing/2014/main" id="{9DE17258-CC4E-6ADD-625D-A13F973EF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6454" y="933450"/>
            <a:ext cx="8451093" cy="578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91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3C0F-3C46-DEBB-7F0C-373091CB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4007FC-705C-BBA1-0AD5-48D29B77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A779FF-7378-F3E7-2062-5983D141D6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/>
                  <a:t>「日本において、男性の喫煙率は女性よりも有意に高いと言えるか？」</a:t>
                </a:r>
              </a:p>
              <a:p>
                <a:r>
                  <a:rPr lang="ja-JP" altLang="en-US"/>
                  <a:t>男、女、</a:t>
                </a:r>
                <a:r>
                  <a:rPr lang="en-JP" altLang="ja-JP" dirty="0"/>
                  <a:t>1000</a:t>
                </a:r>
                <a:r>
                  <a:rPr lang="ja-JP" altLang="en-JP"/>
                  <a:t>人ずつ聞いたとする</a:t>
                </a:r>
                <a:endParaRPr lang="en-US" altLang="ja-JP" dirty="0"/>
              </a:p>
              <a:p>
                <a:r>
                  <a:rPr lang="ja-JP" altLang="en-US"/>
                  <a:t>仮説</a:t>
                </a:r>
                <a:r>
                  <a:rPr lang="ja-JP" altLang="en-US" dirty="0"/>
                  <a:t>の設定</a:t>
                </a:r>
              </a:p>
              <a:p>
                <a:pPr lvl="1"/>
                <a:r>
                  <a:rPr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𝑚𝑒𝑛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𝑤𝑜𝑚𝑒𝑛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/>
                  <a:t>男女のタバコ吸う率に</a:t>
                </a:r>
                <a:r>
                  <a:rPr lang="ja-JP" altLang="en-US" dirty="0"/>
                  <a:t>差はない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𝑚𝑒𝑛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𝑤𝑜𝑚𝑒𝑛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/>
                  <a:t>男女の</a:t>
                </a:r>
                <a:r>
                  <a:rPr lang="ja-JP" altLang="en-JP"/>
                  <a:t>タバコ吸う</a:t>
                </a:r>
                <a:r>
                  <a:rPr lang="ja-JP" altLang="en-US"/>
                  <a:t>率に差がある</a:t>
                </a:r>
                <a:endParaRPr lang="en-JP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6A779FF-7378-F3E7-2062-5983D141D6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3" t="-1094" r="-714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342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24F7-B53D-10B5-4D66-8BF20363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305293-B3D4-3EEF-FCDD-9C7BE5907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JP" dirty="0"/>
              <a:t>タバコ、本当に男子の方が多い？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9D86990-8495-394D-3202-879D0D26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3ECE48-8231-431F-13AE-E8BA9EC587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z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z-value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ライバル社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自社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全体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ja-JP" altLang="en-US" i="1" smtClean="0">
                                    <a:latin typeface="Cambria Math" panose="02040503050406030204" pitchFamily="18" charset="0"/>
                                  </a:rPr>
                                  <m:t>全体の</m:t>
                                </m:r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標本比率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自社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ライバル社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800" b="0" i="1" smtClean="0">
                                <a:latin typeface="Cambria Math" panose="02040503050406030204" pitchFamily="18" charset="0"/>
                              </a:rPr>
                              <m:t>　　　　　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en-US" sz="2800" b="0" i="1" smtClean="0">
                                <a:latin typeface="Cambria Math" panose="02040503050406030204" pitchFamily="18" charset="0"/>
                              </a:rPr>
                              <m:t>　　　　　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2800" b="0" i="1" smtClean="0">
                                <a:latin typeface="Cambria Math" panose="02040503050406030204" pitchFamily="18" charset="0"/>
                              </a:rPr>
                              <m:t>　　　　　</m:t>
                            </m:r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ja-JP" altLang="en-US" sz="2800" b="0" i="1" smtClean="0">
                                    <a:latin typeface="Cambria Math" panose="02040503050406030204" pitchFamily="18" charset="0"/>
                                  </a:rPr>
                                  <m:t>　　　　　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den>
                                </m:f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3ECE48-8231-431F-13AE-E8BA9EC587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7" t="-1532"/>
                </a:stretch>
              </a:blipFill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659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B9E5-64E5-6600-EDEA-90B389DC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73A9B0E-61C4-B854-D081-605A950DC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４</a:t>
            </a:r>
            <a:r>
              <a:rPr kumimoji="1" lang="ja-JP" altLang="en-US" dirty="0"/>
              <a:t>：仮説検定と</a:t>
            </a:r>
            <a:r>
              <a:rPr kumimoji="1" lang="en-US" altLang="ja-JP" dirty="0"/>
              <a:t>p</a:t>
            </a:r>
            <a:r>
              <a:rPr kumimoji="1" lang="ja-JP" altLang="en-US" dirty="0"/>
              <a:t>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D04B39-0E9D-60B2-DD5E-4FF9C054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466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3431-0ADD-DE62-1031-AB2CB5BF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41705-FB1F-5602-AB3C-C9B62E9C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仮説検定と</a:t>
            </a:r>
            <a:r>
              <a:rPr lang="en-US" altLang="ja-JP" dirty="0"/>
              <a:t>p</a:t>
            </a:r>
            <a:r>
              <a:rPr lang="ja-JP" altLang="en-US" dirty="0"/>
              <a:t>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F40F3D-BA1E-48A9-5373-9E0A9008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27452"/>
                <a:ext cx="8880049" cy="23938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ja-JP" dirty="0"/>
                  <a:t>p</a:t>
                </a:r>
                <a:r>
                  <a:rPr lang="ja-JP" altLang="en-US" dirty="0"/>
                  <a:t>値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p-value</a:t>
                </a:r>
              </a:p>
              <a:p>
                <a:pPr lvl="1"/>
                <a:r>
                  <a:rPr lang="ja-JP" altLang="en-US" dirty="0"/>
                  <a:t>検定統計量に対応する確率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帰無仮説を棄却できるか否かを示す値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差の大きさなどを示すものではないことに注意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=0.035&lt;0.05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有意水準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で帰無仮説を棄却できる　（有意水準</a:t>
                </a:r>
                <a:r>
                  <a:rPr lang="en-US" altLang="ja-JP" dirty="0"/>
                  <a:t>1%</a:t>
                </a:r>
                <a:r>
                  <a:rPr lang="ja-JP" altLang="en-US" dirty="0"/>
                  <a:t>ではできない）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27452"/>
                <a:ext cx="8880049" cy="2393860"/>
              </a:xfrm>
              <a:blipFill>
                <a:blip r:embed="rId2"/>
                <a:stretch>
                  <a:fillRect l="-962" t="-5598" b="-35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91C82AC8-AC58-3327-2CC6-622430ABE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8B5F096-D5C1-C4E5-4353-D424E8125D3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9B726AD8-4127-8AF0-CBCB-04A406557E5D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EC4EE05-E299-3908-81E1-8E42F795F5AA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7E03B6CD-A4EF-C93E-80C9-D6E807964072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66C751-041F-0B5F-1F07-4C5E48F24EC0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5A172DEF-D4ED-6C5B-7BED-47602AC4BA6C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2859728E-2420-8E89-1104-7DF4394E277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E4D63483-C8D3-4B4A-6E2E-7EA46EA1355D}"/>
              </a:ext>
            </a:extLst>
          </p:cNvPr>
          <p:cNvGrpSpPr/>
          <p:nvPr/>
        </p:nvGrpSpPr>
        <p:grpSpPr>
          <a:xfrm>
            <a:off x="4206427" y="4132487"/>
            <a:ext cx="3523881" cy="904615"/>
            <a:chOff x="4206427" y="4132487"/>
            <a:chExt cx="3523881" cy="904615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AAE285CC-AB3E-F65D-ADB6-31A718A2AF66}"/>
                </a:ext>
              </a:extLst>
            </p:cNvPr>
            <p:cNvGrpSpPr/>
            <p:nvPr/>
          </p:nvGrpSpPr>
          <p:grpSpPr>
            <a:xfrm>
              <a:off x="4206427" y="4132487"/>
              <a:ext cx="487278" cy="695017"/>
              <a:chOff x="4303289" y="4113394"/>
              <a:chExt cx="487278" cy="695017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1B65134-B9B6-0F9F-D68B-DE7E57B1D4BA}"/>
                  </a:ext>
                </a:extLst>
              </p:cNvPr>
              <p:cNvSpPr txBox="1"/>
              <p:nvPr/>
            </p:nvSpPr>
            <p:spPr>
              <a:xfrm>
                <a:off x="4386289" y="4439079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68B6FA5B-6410-6AB7-E89D-43AA4E1964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CAAE3972-3643-7937-AF9C-53E9DD6545F3}"/>
                </a:ext>
              </a:extLst>
            </p:cNvPr>
            <p:cNvGrpSpPr/>
            <p:nvPr/>
          </p:nvGrpSpPr>
          <p:grpSpPr>
            <a:xfrm>
              <a:off x="6992098" y="4146250"/>
              <a:ext cx="738210" cy="705863"/>
              <a:chOff x="6559195" y="4122069"/>
              <a:chExt cx="738210" cy="705863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0DACFF2-5B21-6DB7-3FA0-E7C655BC6470}"/>
                  </a:ext>
                </a:extLst>
              </p:cNvPr>
              <p:cNvSpPr txBox="1"/>
              <p:nvPr/>
            </p:nvSpPr>
            <p:spPr>
              <a:xfrm>
                <a:off x="6559195" y="44586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BC49E01C-2B45-10C6-F504-20E92D7ED7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7EC69BB9-22FB-0E76-F160-18EA7B6E3E4C}"/>
                </a:ext>
              </a:extLst>
            </p:cNvPr>
            <p:cNvSpPr txBox="1"/>
            <p:nvPr/>
          </p:nvSpPr>
          <p:spPr>
            <a:xfrm>
              <a:off x="5153548" y="466777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（検定統計量）</a:t>
              </a:r>
            </a:p>
          </p:txBody>
        </p: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9A41E20A-C0F1-B90E-6C19-95CB654DD20D}"/>
              </a:ext>
            </a:extLst>
          </p:cNvPr>
          <p:cNvSpPr/>
          <p:nvPr/>
        </p:nvSpPr>
        <p:spPr>
          <a:xfrm>
            <a:off x="1084526" y="3200400"/>
            <a:ext cx="2583703" cy="574158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</a:rPr>
              <a:t>値</a:t>
            </a:r>
          </a:p>
        </p:txBody>
      </p:sp>
    </p:spTree>
    <p:extLst>
      <p:ext uri="{BB962C8B-B14F-4D97-AF65-F5344CB8AC3E}">
        <p14:creationId xmlns:p14="http://schemas.microsoft.com/office/powerpoint/2010/main" val="197067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仮説検定とは何かを理解する</a:t>
            </a:r>
            <a:endParaRPr lang="en-US" altLang="ja-JP" dirty="0"/>
          </a:p>
          <a:p>
            <a:pPr lvl="2"/>
            <a:r>
              <a:rPr lang="ja-JP" altLang="en-US" dirty="0"/>
              <a:t>母数に関する仮説を，標本から検証する方法のひとつ</a:t>
            </a:r>
            <a:endParaRPr lang="en-US" altLang="ja-JP" dirty="0"/>
          </a:p>
          <a:p>
            <a:pPr lvl="1"/>
            <a:r>
              <a:rPr lang="ja-JP" altLang="en-US" dirty="0"/>
              <a:t>仮説検定の手順を理解する</a:t>
            </a:r>
            <a:endParaRPr lang="en-US" altLang="ja-JP" dirty="0"/>
          </a:p>
          <a:p>
            <a:pPr lvl="2"/>
            <a:r>
              <a:rPr lang="ja-JP" altLang="en-US" dirty="0"/>
              <a:t>①検定方式の決定</a:t>
            </a:r>
            <a:endParaRPr lang="en-US" altLang="ja-JP" dirty="0"/>
          </a:p>
          <a:p>
            <a:pPr lvl="2"/>
            <a:r>
              <a:rPr lang="ja-JP" altLang="en-US" dirty="0"/>
              <a:t>②仮説の設定</a:t>
            </a:r>
            <a:endParaRPr lang="en-US" altLang="ja-JP" dirty="0"/>
          </a:p>
          <a:p>
            <a:pPr lvl="3"/>
            <a:r>
              <a:rPr lang="ja-JP" altLang="en-US" dirty="0"/>
              <a:t>帰無仮説・対立仮説</a:t>
            </a:r>
            <a:endParaRPr lang="en-US" altLang="ja-JP" dirty="0"/>
          </a:p>
          <a:p>
            <a:pPr lvl="2"/>
            <a:r>
              <a:rPr lang="ja-JP" altLang="en-US" dirty="0"/>
              <a:t>③有意水準の設定</a:t>
            </a:r>
            <a:endParaRPr lang="en-US" altLang="ja-JP" dirty="0"/>
          </a:p>
          <a:p>
            <a:pPr lvl="3"/>
            <a:r>
              <a:rPr lang="ja-JP" altLang="en-US" dirty="0"/>
              <a:t>有意水準</a:t>
            </a:r>
            <a:endParaRPr lang="en-US" altLang="ja-JP" dirty="0"/>
          </a:p>
          <a:p>
            <a:pPr lvl="2"/>
            <a:r>
              <a:rPr lang="ja-JP" altLang="en-US" dirty="0"/>
              <a:t>④データの収集</a:t>
            </a:r>
            <a:endParaRPr lang="en-US" altLang="ja-JP" dirty="0"/>
          </a:p>
          <a:p>
            <a:pPr lvl="2"/>
            <a:r>
              <a:rPr lang="ja-JP" altLang="en-US" dirty="0"/>
              <a:t>⑤棄却域の臨界値の計算</a:t>
            </a:r>
            <a:endParaRPr lang="en-US" altLang="ja-JP" dirty="0"/>
          </a:p>
          <a:p>
            <a:pPr lvl="2"/>
            <a:r>
              <a:rPr lang="ja-JP" altLang="en-US" dirty="0"/>
              <a:t>⑥検定統計量の計算</a:t>
            </a:r>
            <a:endParaRPr lang="en-US" altLang="ja-JP" dirty="0"/>
          </a:p>
          <a:p>
            <a:pPr lvl="2"/>
            <a:r>
              <a:rPr lang="ja-JP" altLang="en-US" dirty="0"/>
              <a:t>⑦判断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9436</TotalTime>
  <Words>1944</Words>
  <Application>Microsoft Macintosh PowerPoint</Application>
  <PresentationFormat>On-screen Show (4:3)</PresentationFormat>
  <Paragraphs>290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BIZ UDPゴシック</vt:lpstr>
      <vt:lpstr>HG丸ｺﾞｼｯｸM-PRO</vt:lpstr>
      <vt:lpstr>Meiryo UI</vt:lpstr>
      <vt:lpstr>Ricty Diminished Discord</vt:lpstr>
      <vt:lpstr>游ゴシック</vt:lpstr>
      <vt:lpstr>Arial</vt:lpstr>
      <vt:lpstr>Cambria Math</vt:lpstr>
      <vt:lpstr>Impact</vt:lpstr>
      <vt:lpstr>Wingdings</vt:lpstr>
      <vt:lpstr>Wingdings 2</vt:lpstr>
      <vt:lpstr>配当</vt:lpstr>
      <vt:lpstr>統計的仮説検定</vt:lpstr>
      <vt:lpstr>今日の目標</vt:lpstr>
      <vt:lpstr>PowerPoint Presentation</vt:lpstr>
      <vt:lpstr>仮説検定とは</vt:lpstr>
      <vt:lpstr>仮説検定の手順</vt:lpstr>
      <vt:lpstr>①検定方式の決定</vt:lpstr>
      <vt:lpstr>②帰無仮説と対立仮説の設定</vt:lpstr>
      <vt:lpstr>②帰無仮説と対立仮説の設定</vt:lpstr>
      <vt:lpstr>②帰無仮説と対立仮説の設定</vt:lpstr>
      <vt:lpstr>③有意水準の設定</vt:lpstr>
      <vt:lpstr>④データの収集</vt:lpstr>
      <vt:lpstr>⑤棄却域の臨界値の計算</vt:lpstr>
      <vt:lpstr>⑥検定統計量の計算</vt:lpstr>
      <vt:lpstr>⑦判断</vt:lpstr>
      <vt:lpstr>PowerPoint Presentation</vt:lpstr>
      <vt:lpstr>ポテトの重量150ℊ表記は本当か①</vt:lpstr>
      <vt:lpstr>ポテトの重量150ℊ表記は本当か②</vt:lpstr>
      <vt:lpstr>ポテトの重量150ℊ表記は本当か③</vt:lpstr>
      <vt:lpstr>ポテトの重量150ℊ表記は本当か④</vt:lpstr>
      <vt:lpstr>スッパイで検証！</vt:lpstr>
      <vt:lpstr>PowerPoint Presentation</vt:lpstr>
      <vt:lpstr>PowerPoint Presentation</vt:lpstr>
      <vt:lpstr>自社とライバル社の2社の満足度に差があるか①</vt:lpstr>
      <vt:lpstr>自社とライバル社の2社の満足度に差があるか②</vt:lpstr>
      <vt:lpstr>自社とライバル社の2社の満足度に差があるか③</vt:lpstr>
      <vt:lpstr>自社とライバル社の2社の満足度に差があるか④</vt:lpstr>
      <vt:lpstr>タバコ、本当に男子の方が多い？</vt:lpstr>
      <vt:lpstr>PowerPoint Presentation</vt:lpstr>
      <vt:lpstr>タバコ、本当に男子の方が多い？</vt:lpstr>
      <vt:lpstr>PowerPoint Presentation</vt:lpstr>
      <vt:lpstr>仮説検定とp値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河野　洋</cp:lastModifiedBy>
  <cp:revision>84</cp:revision>
  <dcterms:created xsi:type="dcterms:W3CDTF">2025-03-03T09:28:12Z</dcterms:created>
  <dcterms:modified xsi:type="dcterms:W3CDTF">2025-12-10T01:15:57Z</dcterms:modified>
</cp:coreProperties>
</file>