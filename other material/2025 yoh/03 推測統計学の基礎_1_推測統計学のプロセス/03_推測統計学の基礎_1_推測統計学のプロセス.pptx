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17"/>
  </p:notesMasterIdLst>
  <p:sldIdLst>
    <p:sldId id="256" r:id="rId2"/>
    <p:sldId id="257" r:id="rId3"/>
    <p:sldId id="258" r:id="rId4"/>
    <p:sldId id="544" r:id="rId5"/>
    <p:sldId id="545" r:id="rId6"/>
    <p:sldId id="546" r:id="rId7"/>
    <p:sldId id="547" r:id="rId8"/>
    <p:sldId id="548" r:id="rId9"/>
    <p:sldId id="282" r:id="rId10"/>
    <p:sldId id="549" r:id="rId11"/>
    <p:sldId id="550" r:id="rId12"/>
    <p:sldId id="551" r:id="rId13"/>
    <p:sldId id="553" r:id="rId14"/>
    <p:sldId id="552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89919" autoAdjust="0"/>
  </p:normalViewPr>
  <p:slideViewPr>
    <p:cSldViewPr snapToGrid="0">
      <p:cViewPr varScale="1">
        <p:scale>
          <a:sx n="75" d="100"/>
          <a:sy n="75" d="100"/>
        </p:scale>
        <p:origin x="12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2025/10/14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クラスサイズや，周囲の教室の環境等によって適宜調整ください．</a:t>
            </a:r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コインの音がうるさい可能性があります．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387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f.go.jp/policy/currency/coin/general_coin/list.ht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推測統計学の基礎：推測統計学のプロセス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1</a:t>
            </a:r>
            <a:r>
              <a:rPr kumimoji="1" lang="ja-JP" altLang="en-US" dirty="0"/>
              <a:t>節　推測統計学の基礎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推測統計学のプロセスを学ぶ</a:t>
            </a:r>
            <a:endParaRPr kumimoji="1" lang="en-US" altLang="ja-JP" dirty="0"/>
          </a:p>
          <a:p>
            <a:pPr lvl="1"/>
            <a:r>
              <a:rPr lang="ja-JP" altLang="en-US" dirty="0"/>
              <a:t>確率の基礎となる概念を学ぶ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04530-AD0C-28F5-2E74-7C215C22B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推測統計学のプロセス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CA61FF7-A43D-F0BD-2A79-4921FA54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71AB72C-E4E8-32F8-A322-716C9497BBF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2"/>
                </a:solidFill>
              </a:rPr>
              <a:t>推測統計学　</a:t>
            </a:r>
            <a:r>
              <a:rPr lang="en-US" altLang="ja-JP" dirty="0">
                <a:solidFill>
                  <a:schemeClr val="accent2"/>
                </a:solidFill>
              </a:rPr>
              <a:t>inferential statistics</a:t>
            </a:r>
          </a:p>
          <a:p>
            <a:pPr lvl="1"/>
            <a:r>
              <a:rPr lang="ja-JP" altLang="en-US" dirty="0">
                <a:solidFill>
                  <a:schemeClr val="tx2"/>
                </a:solidFill>
              </a:rPr>
              <a:t>母集団からランダムに抽出した</a:t>
            </a:r>
            <a:r>
              <a:rPr lang="ja-JP" altLang="en-US" b="1" dirty="0">
                <a:solidFill>
                  <a:schemeClr val="accent5"/>
                </a:solidFill>
              </a:rPr>
              <a:t>標本を利用</a:t>
            </a:r>
            <a:r>
              <a:rPr lang="ja-JP" altLang="en-US" dirty="0">
                <a:solidFill>
                  <a:schemeClr val="tx2"/>
                </a:solidFill>
              </a:rPr>
              <a:t>して，</a:t>
            </a:r>
            <a:br>
              <a:rPr lang="en-US" altLang="ja-JP" dirty="0">
                <a:solidFill>
                  <a:schemeClr val="tx2"/>
                </a:solidFill>
              </a:rPr>
            </a:br>
            <a:r>
              <a:rPr lang="ja-JP" altLang="en-US" b="1" dirty="0">
                <a:solidFill>
                  <a:schemeClr val="accent5"/>
                </a:solidFill>
              </a:rPr>
              <a:t>母集団の未知の特性値</a:t>
            </a:r>
            <a:r>
              <a:rPr lang="ja-JP" altLang="en-US" dirty="0">
                <a:solidFill>
                  <a:schemeClr val="tx2"/>
                </a:solidFill>
              </a:rPr>
              <a:t>（平均値や分散など）を</a:t>
            </a:r>
            <a:r>
              <a:rPr lang="ja-JP" altLang="en-US" b="1" dirty="0">
                <a:solidFill>
                  <a:schemeClr val="accent5"/>
                </a:solidFill>
              </a:rPr>
              <a:t>推測</a:t>
            </a:r>
            <a:r>
              <a:rPr lang="ja-JP" altLang="en-US" dirty="0">
                <a:solidFill>
                  <a:schemeClr val="tx2"/>
                </a:solidFill>
              </a:rPr>
              <a:t>していく方法</a:t>
            </a:r>
            <a:endParaRPr lang="en-US" altLang="ja-JP" dirty="0">
              <a:solidFill>
                <a:schemeClr val="tx2"/>
              </a:solidFill>
            </a:endParaRPr>
          </a:p>
          <a:p>
            <a:pPr lvl="2"/>
            <a:r>
              <a:rPr kumimoji="1" lang="ja-JP" altLang="en-US" dirty="0">
                <a:solidFill>
                  <a:schemeClr val="tx2"/>
                </a:solidFill>
              </a:rPr>
              <a:t>母集団すべてに調査を行い，データを取得することが難しいため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DFAF5B2-B474-8138-BD89-7337E3361F6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SpPr/>
          <p:nvPr/>
        </p:nvSpPr>
        <p:spPr>
          <a:xfrm>
            <a:off x="1587500" y="1161460"/>
            <a:ext cx="1968500" cy="1943100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00000000-0008-0000-0000-000003000000}"/>
              </a:ext>
            </a:extLst>
          </p:cNvPr>
          <p:cNvSpPr/>
          <p:nvPr/>
        </p:nvSpPr>
        <p:spPr>
          <a:xfrm>
            <a:off x="5537200" y="1161460"/>
            <a:ext cx="2019300" cy="2019300"/>
          </a:xfrm>
          <a:prstGeom prst="ellipse">
            <a:avLst/>
          </a:prstGeom>
          <a:noFill/>
          <a:ln>
            <a:solidFill>
              <a:sysClr val="windowText" lastClr="0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0000000-0008-0000-0000-000005000000}"/>
              </a:ext>
            </a:extLst>
          </p:cNvPr>
          <p:cNvSpPr/>
          <p:nvPr/>
        </p:nvSpPr>
        <p:spPr>
          <a:xfrm>
            <a:off x="1749425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母集団の特性値</a:t>
            </a:r>
            <a:endParaRPr kumimoji="1" lang="en-US" altLang="ja-JP" sz="1400" dirty="0">
              <a:solidFill>
                <a:sysClr val="windowText" lastClr="00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平均・分散など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SpPr/>
          <p:nvPr/>
        </p:nvSpPr>
        <p:spPr>
          <a:xfrm>
            <a:off x="5721350" y="3799885"/>
            <a:ext cx="1676400" cy="790575"/>
          </a:xfrm>
          <a:prstGeom prst="rect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14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標本の推定量</a:t>
            </a:r>
          </a:p>
        </p:txBody>
      </p: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00000000-0008-0000-0000-000009000000}"/>
              </a:ext>
            </a:extLst>
          </p:cNvPr>
          <p:cNvCxnSpPr>
            <a:cxnSpLocks/>
            <a:stCxn id="8" idx="4"/>
            <a:endCxn id="11" idx="0"/>
          </p:cNvCxnSpPr>
          <p:nvPr/>
        </p:nvCxnSpPr>
        <p:spPr>
          <a:xfrm>
            <a:off x="2571750" y="3104560"/>
            <a:ext cx="15875" cy="695325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00000000-0008-0000-0000-00000C000000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6559550" y="2690222"/>
            <a:ext cx="4763" cy="1109663"/>
          </a:xfrm>
          <a:prstGeom prst="straightConnector1">
            <a:avLst/>
          </a:prstGeom>
          <a:ln w="38100">
            <a:solidFill>
              <a:sysClr val="windowText" lastClr="000000"/>
            </a:solidFill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BEF6E616-D040-C3B1-0A4B-779E35794DC8}"/>
              </a:ext>
            </a:extLst>
          </p:cNvPr>
          <p:cNvGrpSpPr/>
          <p:nvPr/>
        </p:nvGrpSpPr>
        <p:grpSpPr>
          <a:xfrm>
            <a:off x="3556000" y="1557459"/>
            <a:ext cx="2451100" cy="695325"/>
            <a:chOff x="4619625" y="1786649"/>
            <a:chExt cx="2451100" cy="695325"/>
          </a:xfrm>
        </p:grpSpPr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00000000-0008-0000-0000-00000800000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19625" y="2362200"/>
              <a:ext cx="2451100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テキスト ボックス 17">
              <a:extLst>
                <a:ext uri="{FF2B5EF4-FFF2-40B4-BE49-F238E27FC236}">
                  <a16:creationId xmlns:a16="http://schemas.microsoft.com/office/drawing/2014/main" id="{00000000-0008-0000-0000-000012000000}"/>
                </a:ext>
              </a:extLst>
            </p:cNvPr>
            <p:cNvSpPr txBox="1"/>
            <p:nvPr/>
          </p:nvSpPr>
          <p:spPr>
            <a:xfrm>
              <a:off x="4900743" y="1786649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無作為抽出</a:t>
              </a:r>
            </a:p>
          </p:txBody>
        </p:sp>
      </p:grp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A63D6071-726B-7E14-E5B2-B52BBCB65FDB}"/>
              </a:ext>
            </a:extLst>
          </p:cNvPr>
          <p:cNvGrpSpPr/>
          <p:nvPr/>
        </p:nvGrpSpPr>
        <p:grpSpPr>
          <a:xfrm>
            <a:off x="3425825" y="3631527"/>
            <a:ext cx="2295525" cy="695325"/>
            <a:chOff x="4489450" y="3860717"/>
            <a:chExt cx="2295525" cy="695325"/>
          </a:xfrm>
        </p:grpSpPr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00000000-0008-0000-0000-00000F000000}"/>
                </a:ext>
              </a:extLst>
            </p:cNvPr>
            <p:cNvCxnSpPr>
              <a:cxnSpLocks/>
              <a:stCxn id="12" idx="1"/>
              <a:endCxn id="11" idx="3"/>
            </p:cNvCxnSpPr>
            <p:nvPr/>
          </p:nvCxnSpPr>
          <p:spPr>
            <a:xfrm flipH="1">
              <a:off x="4489450" y="4424363"/>
              <a:ext cx="2295525" cy="0"/>
            </a:xfrm>
            <a:prstGeom prst="straightConnector1">
              <a:avLst/>
            </a:prstGeom>
            <a:ln w="38100">
              <a:solidFill>
                <a:sysClr val="windowText" lastClr="000000"/>
              </a:solidFill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テキスト ボックス 6">
              <a:extLst>
                <a:ext uri="{FF2B5EF4-FFF2-40B4-BE49-F238E27FC236}">
                  <a16:creationId xmlns:a16="http://schemas.microsoft.com/office/drawing/2014/main" id="{10097B8C-2A05-44ED-8ED3-C698495B0B29}"/>
                </a:ext>
              </a:extLst>
            </p:cNvPr>
            <p:cNvSpPr txBox="1"/>
            <p:nvPr/>
          </p:nvSpPr>
          <p:spPr>
            <a:xfrm>
              <a:off x="4921232" y="3860717"/>
              <a:ext cx="1581150" cy="695325"/>
            </a:xfrm>
            <a:prstGeom prst="rect">
              <a:avLst/>
            </a:prstGeom>
            <a:noFill/>
            <a:ln w="9525" cmpd="sng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ja-JP" altLang="en-US" sz="1600" dirty="0"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推測</a:t>
              </a:r>
            </a:p>
          </p:txBody>
        </p:sp>
      </p:grpSp>
      <p:sp>
        <p:nvSpPr>
          <p:cNvPr id="35" name="楕円 34">
            <a:extLst>
              <a:ext uri="{FF2B5EF4-FFF2-40B4-BE49-F238E27FC236}">
                <a16:creationId xmlns:a16="http://schemas.microsoft.com/office/drawing/2014/main" id="{8AFF1FC0-D64C-6526-A4B8-3857BE5B442F}"/>
              </a:ext>
            </a:extLst>
          </p:cNvPr>
          <p:cNvSpPr/>
          <p:nvPr/>
        </p:nvSpPr>
        <p:spPr>
          <a:xfrm>
            <a:off x="6007100" y="1575797"/>
            <a:ext cx="1114425" cy="1114425"/>
          </a:xfrm>
          <a:prstGeom prst="ellipse">
            <a:avLst/>
          </a:prstGeom>
          <a:solidFill>
            <a:schemeClr val="bg1"/>
          </a:solidFill>
          <a:ln>
            <a:solidFill>
              <a:sysClr val="windowText" lastClr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ja-JP" altLang="en-US" sz="2000" dirty="0">
                <a:solidFill>
                  <a:sysClr val="windowText" lastClr="00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</a:t>
            </a:r>
          </a:p>
        </p:txBody>
      </p:sp>
    </p:spTree>
    <p:extLst>
      <p:ext uri="{BB962C8B-B14F-4D97-AF65-F5344CB8AC3E}">
        <p14:creationId xmlns:p14="http://schemas.microsoft.com/office/powerpoint/2010/main" val="951225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74C11C-1C33-A319-D9AD-BF5B6472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推定量と推定値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2274281-CCC6-9503-BE76-BB8154C7A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093C567-F2D4-7AC4-FCC1-C20503B001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推定量　</a:t>
            </a:r>
            <a:r>
              <a:rPr kumimoji="1" lang="en-US" altLang="ja-JP" dirty="0">
                <a:solidFill>
                  <a:schemeClr val="accent2"/>
                </a:solidFill>
              </a:rPr>
              <a:t>estimator</a:t>
            </a:r>
          </a:p>
          <a:p>
            <a:pPr lvl="1"/>
            <a:r>
              <a:rPr lang="ja-JP" altLang="en-US" dirty="0"/>
              <a:t>母集団の特性値を推定するための標本データの統計量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推定値　</a:t>
            </a:r>
            <a:r>
              <a:rPr lang="en-US" altLang="ja-JP" dirty="0">
                <a:solidFill>
                  <a:schemeClr val="accent2"/>
                </a:solidFill>
              </a:rPr>
              <a:t>estimate</a:t>
            </a:r>
          </a:p>
          <a:p>
            <a:pPr lvl="1"/>
            <a:r>
              <a:rPr kumimoji="1" lang="ja-JP" altLang="en-US" dirty="0"/>
              <a:t>実際のデータで推定量を計算した値</a:t>
            </a:r>
          </a:p>
        </p:txBody>
      </p:sp>
    </p:spTree>
    <p:extLst>
      <p:ext uri="{BB962C8B-B14F-4D97-AF65-F5344CB8AC3E}">
        <p14:creationId xmlns:p14="http://schemas.microsoft.com/office/powerpoint/2010/main" val="1820739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DCCAEC-B68C-9DCA-9181-9FE12008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標本誤差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732A986-5513-57C2-3509-7292BD50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標本誤差　</a:t>
                </a:r>
                <a:r>
                  <a:rPr kumimoji="1" lang="en-US" altLang="ja-JP" sz="3200" dirty="0">
                    <a:solidFill>
                      <a:schemeClr val="accent2"/>
                    </a:solidFill>
                  </a:rPr>
                  <a:t>sampling error</a:t>
                </a:r>
              </a:p>
              <a:p>
                <a:pPr lvl="1"/>
                <a:r>
                  <a:rPr lang="ja-JP" altLang="en-US" sz="2800" dirty="0"/>
                  <a:t>母集団の特性値と，</a:t>
                </a:r>
                <a:br>
                  <a:rPr lang="en-US" altLang="ja-JP" sz="2800" dirty="0"/>
                </a:br>
                <a:r>
                  <a:rPr lang="ja-JP" altLang="en-US" sz="2800" dirty="0"/>
                  <a:t>標本データから計算する推定量との乖離</a:t>
                </a:r>
                <a:r>
                  <a:rPr lang="ja-JP" altLang="en-US" sz="1800" dirty="0"/>
                  <a:t>（誤差）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母集団の特性値</a:t>
                </a:r>
                <a:r>
                  <a:rPr kumimoji="1" lang="ja-JP" altLang="en-US" sz="1400" dirty="0"/>
                  <a:t>（母平均</a:t>
                </a:r>
                <a14:m>
                  <m:oMath xmlns:m="http://schemas.openxmlformats.org/officeDocument/2006/math">
                    <m:r>
                      <a:rPr kumimoji="1" lang="en-US" altLang="ja-JP" sz="1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sz="1400" dirty="0"/>
                  <a:t>，母分散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kumimoji="1" lang="ja-JP" altLang="en-US" sz="1400" dirty="0"/>
                  <a:t>）　</a:t>
                </a:r>
                <a:r>
                  <a:rPr kumimoji="1" lang="ja-JP" altLang="en-US" sz="2400" dirty="0"/>
                  <a:t>→　</a:t>
                </a:r>
                <a:r>
                  <a:rPr kumimoji="1" lang="ja-JP" altLang="en-US" sz="2400" dirty="0">
                    <a:solidFill>
                      <a:schemeClr val="accent5"/>
                    </a:solidFill>
                  </a:rPr>
                  <a:t>固定値</a:t>
                </a:r>
                <a:endParaRPr kumimoji="1" lang="en-US" altLang="ja-JP" sz="2400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sz="2400" dirty="0">
                    <a:solidFill>
                      <a:schemeClr val="accent5"/>
                    </a:solidFill>
                  </a:rPr>
                  <a:t>標本</a:t>
                </a:r>
                <a:r>
                  <a:rPr lang="ja-JP" altLang="en-US" sz="2400" dirty="0"/>
                  <a:t>から計算した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推定量</a:t>
                </a:r>
                <a:r>
                  <a:rPr lang="ja-JP" altLang="en-US" sz="1400" dirty="0"/>
                  <a:t>（標本平均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ja-JP" altLang="en-US" sz="1400" dirty="0"/>
                  <a:t>，標本分散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1400" dirty="0"/>
                  <a:t>）　</a:t>
                </a:r>
                <a:r>
                  <a:rPr lang="ja-JP" altLang="en-US" sz="2400" dirty="0"/>
                  <a:t>→　</a:t>
                </a:r>
                <a:r>
                  <a:rPr lang="ja-JP" altLang="en-US" sz="2400" dirty="0">
                    <a:solidFill>
                      <a:schemeClr val="accent5"/>
                    </a:solidFill>
                  </a:rPr>
                  <a:t>確率変数</a:t>
                </a:r>
                <a:endParaRPr lang="en-US" altLang="ja-JP" sz="2400" dirty="0">
                  <a:solidFill>
                    <a:schemeClr val="accent5"/>
                  </a:solidFill>
                </a:endParaRPr>
              </a:p>
              <a:p>
                <a:pPr lvl="3"/>
                <a:r>
                  <a:rPr kumimoji="1" lang="ja-JP" altLang="en-US" sz="2000" dirty="0"/>
                  <a:t>確率変数：偶然性を持って変動する値</a:t>
                </a:r>
                <a:r>
                  <a:rPr kumimoji="1" lang="ja-JP" altLang="en-US" sz="1050" dirty="0"/>
                  <a:t>（詳細は次回）</a:t>
                </a:r>
                <a:endParaRPr kumimoji="1" lang="en-US" altLang="ja-JP" sz="2000" dirty="0"/>
              </a:p>
              <a:p>
                <a:pPr lvl="3"/>
                <a:r>
                  <a:rPr lang="ja-JP" altLang="en-US" sz="2000" dirty="0"/>
                  <a:t>母集団から標本を抽出する際に，偶然性</a:t>
                </a:r>
                <a:r>
                  <a:rPr lang="ja-JP" altLang="en-US" sz="1050" dirty="0"/>
                  <a:t>（ランダム性）</a:t>
                </a:r>
                <a:r>
                  <a:rPr lang="ja-JP" altLang="en-US" sz="2000" dirty="0"/>
                  <a:t>をもつため</a:t>
                </a:r>
                <a:endParaRPr lang="en-US" altLang="ja-JP" sz="2000" dirty="0"/>
              </a:p>
              <a:p>
                <a:pPr lvl="3"/>
                <a:r>
                  <a:rPr kumimoji="1" lang="ja-JP" altLang="en-US" sz="2000" dirty="0"/>
                  <a:t>無作為抽出</a:t>
                </a:r>
                <a:r>
                  <a:rPr kumimoji="1" lang="ja-JP" altLang="en-US" sz="1050" dirty="0"/>
                  <a:t>（ランダムサンプリング）</a:t>
                </a:r>
                <a:endParaRPr kumimoji="1"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694CD8-0EEF-B42B-BC54-544C67732A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6760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A7E2EE-5BD7-55C1-2241-597733047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コイン投げの事例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CC61F13-2B04-560C-6EE7-48DCAF01D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母集団</a:t>
                </a:r>
                <a:endParaRPr kumimoji="1" lang="en-US" altLang="ja-JP" sz="3200" dirty="0"/>
              </a:p>
              <a:p>
                <a:pPr lvl="1"/>
                <a:r>
                  <a:rPr kumimoji="1" lang="ja-JP" altLang="en-US" sz="2800" dirty="0"/>
                  <a:t>コインを投げて，表の出る比率は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=50%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lang="ja-JP" altLang="en-US" sz="2400" dirty="0"/>
                  <a:t>母集団の特徴を事前に知っている特殊な事例</a:t>
                </a:r>
                <a:endParaRPr lang="en-US" altLang="ja-JP" sz="2400" dirty="0"/>
              </a:p>
              <a:p>
                <a:endParaRPr kumimoji="1" lang="en-US" altLang="ja-JP" sz="3200" dirty="0"/>
              </a:p>
              <a:p>
                <a:r>
                  <a:rPr kumimoji="1" lang="ja-JP" altLang="en-US" sz="3200" dirty="0"/>
                  <a:t>標本</a:t>
                </a:r>
                <a:endParaRPr kumimoji="1" lang="en-US" altLang="ja-JP" sz="3200" dirty="0"/>
              </a:p>
              <a:p>
                <a:pPr lvl="1"/>
                <a:r>
                  <a:rPr lang="ja-JP" altLang="en-US" sz="2800" dirty="0"/>
                  <a:t>コインを</a:t>
                </a:r>
                <a:r>
                  <a:rPr lang="en-US" altLang="ja-JP" sz="2800" dirty="0"/>
                  <a:t>10</a:t>
                </a:r>
                <a:r>
                  <a:rPr lang="ja-JP" altLang="en-US" sz="2800" dirty="0"/>
                  <a:t>回投げて表が出た回数</a:t>
                </a:r>
                <a:endParaRPr lang="en-US" altLang="ja-JP" sz="2800" dirty="0"/>
              </a:p>
              <a:p>
                <a:pPr lvl="2"/>
                <a:r>
                  <a:rPr kumimoji="1" lang="ja-JP" altLang="en-US" sz="2400" dirty="0"/>
                  <a:t>表の出る比率の推定量</a:t>
                </a:r>
                <a:endParaRPr kumimoji="1" lang="en-US" altLang="ja-JP" sz="2400" dirty="0"/>
              </a:p>
              <a:p>
                <a:pPr lvl="2"/>
                <a:r>
                  <a:rPr lang="ja-JP" altLang="en-US" sz="2400" dirty="0"/>
                  <a:t>本当に</a:t>
                </a:r>
                <a:r>
                  <a:rPr lang="en-US" altLang="ja-JP" sz="2400" dirty="0"/>
                  <a:t>50%</a:t>
                </a:r>
                <a:r>
                  <a:rPr lang="ja-JP" altLang="en-US" sz="2400" dirty="0"/>
                  <a:t>なら</a:t>
                </a:r>
                <a:r>
                  <a:rPr lang="en-US" altLang="ja-JP" sz="2400" dirty="0"/>
                  <a:t>5</a:t>
                </a:r>
                <a:r>
                  <a:rPr lang="ja-JP" altLang="en-US" sz="2400" dirty="0"/>
                  <a:t>回のはず</a:t>
                </a:r>
                <a:r>
                  <a:rPr lang="en-US" altLang="ja-JP" sz="2400" dirty="0"/>
                  <a:t>…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3BF9B1B-DFDC-B157-A13B-9A9EEABC0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906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AFEA77-053C-37CA-5019-48A022C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[AL]</a:t>
            </a:r>
            <a:r>
              <a:rPr kumimoji="1" lang="ja-JP" altLang="en-US" dirty="0"/>
              <a:t>　コイン投げの実験をしてみよう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6536298-3350-DC89-E180-813F8C81B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ja-JP" altLang="en-US" sz="1400" dirty="0"/>
                  <a:t>コインを投げて表が出る比率</a:t>
                </a:r>
                <a:r>
                  <a:rPr lang="ja-JP" altLang="en-US" sz="1100" dirty="0"/>
                  <a:t>（母比率</a:t>
                </a:r>
                <a:r>
                  <a:rPr lang="en-US" altLang="ja-JP" sz="1100" dirty="0"/>
                  <a:t>=50%</a:t>
                </a:r>
                <a:r>
                  <a:rPr lang="ja-JP" altLang="en-US" sz="1100" dirty="0"/>
                  <a:t>）</a:t>
                </a:r>
                <a:r>
                  <a:rPr lang="ja-JP" altLang="en-US" sz="1400" dirty="0"/>
                  <a:t>と，実際にコインを</a:t>
                </a:r>
                <a:r>
                  <a:rPr lang="en-US" altLang="ja-JP" sz="1400" dirty="0"/>
                  <a:t>10</a:t>
                </a:r>
                <a:r>
                  <a:rPr lang="ja-JP" altLang="en-US" sz="1400" dirty="0"/>
                  <a:t>回投げて表が出る回数</a:t>
                </a:r>
                <a:r>
                  <a:rPr lang="ja-JP" altLang="en-US" sz="1100" dirty="0"/>
                  <a:t>（＝推定量）</a:t>
                </a:r>
                <a:r>
                  <a:rPr lang="ja-JP" altLang="en-US" sz="1400" dirty="0"/>
                  <a:t>の誤差は？</a:t>
                </a:r>
                <a:endParaRPr lang="en-US" altLang="ja-JP" sz="1400" dirty="0"/>
              </a:p>
              <a:p>
                <a:pPr lvl="1"/>
                <a:r>
                  <a:rPr kumimoji="1" lang="ja-JP" altLang="en-US" sz="1600" dirty="0"/>
                  <a:t>①</a:t>
                </a:r>
                <a:r>
                  <a:rPr kumimoji="1" lang="en-US" altLang="ja-JP" sz="1600" dirty="0"/>
                  <a:t>10</a:t>
                </a:r>
                <a:r>
                  <a:rPr kumimoji="1" lang="ja-JP" altLang="en-US" sz="1600" dirty="0"/>
                  <a:t>円玉を用意する</a:t>
                </a:r>
                <a:r>
                  <a:rPr kumimoji="1" lang="ja-JP" altLang="en-US" sz="1200" dirty="0"/>
                  <a:t>（重さを統一するため）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②実際にコイントスを</a:t>
                </a:r>
                <a:r>
                  <a:rPr lang="en-US" altLang="ja-JP" sz="1600" dirty="0"/>
                  <a:t>10</a:t>
                </a:r>
                <a:r>
                  <a:rPr lang="ja-JP" altLang="en-US" sz="1600" dirty="0"/>
                  <a:t>回行い，表が出た回数を記録する</a:t>
                </a:r>
                <a:endParaRPr lang="en-US" altLang="ja-JP" sz="1600" dirty="0"/>
              </a:p>
              <a:p>
                <a:pPr lvl="2"/>
                <a:r>
                  <a:rPr kumimoji="1" lang="ja-JP" altLang="en-US" sz="1600" dirty="0"/>
                  <a:t>「</a:t>
                </a:r>
                <a:r>
                  <a:rPr kumimoji="1" lang="en-US" altLang="ja-JP" sz="1600" dirty="0"/>
                  <a:t>100</a:t>
                </a:r>
                <a:r>
                  <a:rPr kumimoji="1" lang="ja-JP" altLang="en-US" sz="1600" dirty="0"/>
                  <a:t>」の記載がある方が「裏」です！</a:t>
                </a:r>
                <a:endParaRPr kumimoji="1" lang="en-US" altLang="ja-JP" sz="1600" dirty="0"/>
              </a:p>
              <a:p>
                <a:pPr lvl="3"/>
                <a:r>
                  <a:rPr kumimoji="1" lang="en-US" altLang="ja-JP" sz="1400" dirty="0">
                    <a:hlinkClick r:id="rId3"/>
                  </a:rPr>
                  <a:t>https://www.mof.go.jp/policy/currency/coin/general_coin/list.htm</a:t>
                </a:r>
                <a:endParaRPr kumimoji="1" lang="en-US" altLang="ja-JP" sz="1400" dirty="0"/>
              </a:p>
              <a:p>
                <a:pPr lvl="2"/>
                <a:r>
                  <a:rPr lang="ja-JP" altLang="en-US" sz="1600" dirty="0"/>
                  <a:t>回数を</a:t>
                </a:r>
                <a:r>
                  <a:rPr lang="en-US" altLang="ja-JP" sz="1600" dirty="0"/>
                  <a:t>Google Form</a:t>
                </a:r>
                <a:r>
                  <a:rPr lang="ja-JP" altLang="en-US" sz="1600" dirty="0"/>
                  <a:t>に送信してください</a:t>
                </a:r>
                <a:r>
                  <a:rPr lang="ja-JP" altLang="en-US" sz="1200" dirty="0"/>
                  <a:t>（収集したデータは，後ほど使用します）</a:t>
                </a:r>
                <a:endParaRPr kumimoji="1" lang="en-US" altLang="ja-JP" sz="1600" dirty="0"/>
              </a:p>
              <a:p>
                <a:pPr lvl="1"/>
                <a:r>
                  <a:rPr lang="ja-JP" altLang="en-US" sz="1600" dirty="0"/>
                  <a:t>③表の出る比率の推定量を計算する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ja-JP" altLang="en-US" sz="1400" b="0" i="1" dirty="0">
                        <a:latin typeface="Cambria Math" panose="02040503050406030204" pitchFamily="18" charset="0"/>
                      </a:rPr>
                      <m:t>表の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出る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比率</m:t>
                    </m:r>
                    <m:r>
                      <a:rPr lang="ja-JP" altLang="en-US" sz="1400" i="1" dirty="0" smtClean="0">
                        <a:latin typeface="Cambria Math" panose="02040503050406030204" pitchFamily="18" charset="0"/>
                      </a:rPr>
                      <m:t>の</m:t>
                    </m:r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推定量</m:t>
                    </m:r>
                    <m:r>
                      <a:rPr lang="en-US" altLang="ja-JP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</m:t>
                        </m:r>
                        <m:r>
                          <a:rPr lang="ja-JP" altLang="en-US" sz="1400" i="1" smtClean="0">
                            <a:latin typeface="Cambria Math" panose="02040503050406030204" pitchFamily="18" charset="0"/>
                          </a:rPr>
                          <m:t>出た</m:t>
                        </m:r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回数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kumimoji="1" lang="ja-JP" altLang="en-US" sz="1400" dirty="0"/>
                  <a:t>　：個人の記録</a:t>
                </a:r>
                <a:endParaRPr kumimoji="1" lang="en-US" altLang="ja-JP" sz="1400" dirty="0"/>
              </a:p>
              <a:p>
                <a:pPr lvl="1"/>
                <a:r>
                  <a:rPr lang="ja-JP" altLang="en-US" sz="1600" dirty="0"/>
                  <a:t>④</a:t>
                </a:r>
                <a:r>
                  <a:rPr lang="en-US" altLang="ja-JP" sz="1600" dirty="0"/>
                  <a:t>5</a:t>
                </a:r>
                <a:r>
                  <a:rPr lang="ja-JP" altLang="en-US" sz="1600" dirty="0"/>
                  <a:t>人</a:t>
                </a:r>
                <a:r>
                  <a:rPr lang="en-US" altLang="ja-JP" sz="1600" dirty="0"/>
                  <a:t>1</a:t>
                </a:r>
                <a:r>
                  <a:rPr lang="ja-JP" altLang="en-US" sz="1600" dirty="0"/>
                  <a:t>組でグループを組み，表の出る比率の推定量を計算する</a:t>
                </a:r>
                <a:endParaRPr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sz="14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：グループの記録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  <a:p>
                <a:pPr lvl="1"/>
                <a:r>
                  <a:rPr kumimoji="1" lang="ja-JP" altLang="en-US" sz="1600" dirty="0"/>
                  <a:t>⑤クラス全体の表の出る比率の推定量を計算する</a:t>
                </a:r>
                <a:endParaRPr kumimoji="1" lang="en-US" altLang="ja-JP" sz="1600" dirty="0"/>
              </a:p>
              <a:p>
                <a:pPr lvl="2"/>
                <a14:m>
                  <m:oMath xmlns:m="http://schemas.openxmlformats.org/officeDocument/2006/math">
                    <m:r>
                      <a:rPr lang="ja-JP" altLang="en-US" sz="1400" i="1" dirty="0">
                        <a:latin typeface="Cambria Math" panose="02040503050406030204" pitchFamily="18" charset="0"/>
                      </a:rPr>
                      <m:t>表の出る比率の推定量</m:t>
                    </m:r>
                    <m:r>
                      <a:rPr lang="en-US" altLang="ja-JP" sz="1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表の出た回数</m:t>
                        </m:r>
                      </m:num>
                      <m:den>
                        <m:r>
                          <a:rPr lang="ja-JP" altLang="en-US" sz="1400" i="1">
                            <a:latin typeface="Cambria Math" panose="02040503050406030204" pitchFamily="18" charset="0"/>
                          </a:rPr>
                          <m:t>クラス人数</m:t>
                        </m:r>
                        <m:r>
                          <a:rPr lang="en-US" altLang="ja-JP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ja-JP" altLang="en-US" sz="1400" dirty="0"/>
                  <a:t>　：クラスの記録</a:t>
                </a:r>
                <a:endParaRPr lang="en-US" altLang="ja-JP" sz="1400" dirty="0"/>
              </a:p>
              <a:p>
                <a:pPr lvl="2"/>
                <a:r>
                  <a:rPr lang="ja-JP" altLang="en-US" sz="1600" dirty="0"/>
                  <a:t>個人・グループの記録よりも</a:t>
                </a:r>
                <a:r>
                  <a:rPr lang="en-US" altLang="ja-JP" sz="1600" dirty="0"/>
                  <a:t>50%</a:t>
                </a:r>
                <a:r>
                  <a:rPr lang="ja-JP" altLang="en-US" sz="1600" dirty="0"/>
                  <a:t>に近づいた</a:t>
                </a:r>
                <a:r>
                  <a:rPr lang="en-US" altLang="ja-JP" sz="1600" dirty="0"/>
                  <a:t>…</a:t>
                </a:r>
                <a:r>
                  <a:rPr lang="ja-JP" altLang="en-US" sz="1600" dirty="0"/>
                  <a:t>？</a:t>
                </a:r>
                <a:endParaRPr lang="en-US" altLang="ja-JP" sz="16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FA1F3DC-F400-956D-49BF-C3A814C40C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69" t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EA370AB-58C2-1DBE-052D-C30EE583F081}"/>
              </a:ext>
            </a:extLst>
          </p:cNvPr>
          <p:cNvSpPr/>
          <p:nvPr/>
        </p:nvSpPr>
        <p:spPr>
          <a:xfrm>
            <a:off x="5932967" y="4412512"/>
            <a:ext cx="3079057" cy="2309675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一般的に，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標本数が大きくなるほど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推定量の分布の幅</a:t>
            </a:r>
            <a:r>
              <a:rPr kumimoji="1" lang="ja-JP" altLang="en-US" sz="1400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（ブレ）</a:t>
            </a: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</a:t>
            </a:r>
            <a:br>
              <a:rPr kumimoji="1" lang="en-US" altLang="ja-JP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b="1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小さくなる</a:t>
            </a: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．</a:t>
            </a:r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endParaRPr kumimoji="1" lang="en-US" altLang="ja-JP" dirty="0">
              <a:solidFill>
                <a:schemeClr val="accent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ctr"/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推測をする際には，</a:t>
            </a:r>
            <a:br>
              <a:rPr kumimoji="1" lang="en-US" altLang="ja-JP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</a:br>
            <a:r>
              <a:rPr kumimoji="1" lang="ja-JP" altLang="en-US" dirty="0">
                <a:solidFill>
                  <a:schemeClr val="accent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標本数が多い方が良い．</a:t>
            </a:r>
          </a:p>
        </p:txBody>
      </p:sp>
    </p:spTree>
    <p:extLst>
      <p:ext uri="{BB962C8B-B14F-4D97-AF65-F5344CB8AC3E}">
        <p14:creationId xmlns:p14="http://schemas.microsoft.com/office/powerpoint/2010/main" val="2722971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２：確率の基礎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84C7C7-AA52-A182-E9B2-D1B773B09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4974728-CB10-711D-B4E0-227502FC1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10B4531-3E2C-0635-CFBF-03A691A74D25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580997766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全事象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起こり得る可能性がある，すべての事象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根元事象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elementary event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ひとつひとつの事象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空事象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empty set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根元事象が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つもないもの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kumimoji="1"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kumimoji="1" lang="ja-JP" altLang="en-US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A9F7148E-65B1-03B1-7962-E46F2F980A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484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B4299-5D28-5B4B-58D9-6E4CA72AE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D63934-B708-A01A-8344-6157A498A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9C0CA69-3B6E-8216-533E-11BD4AD86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43C8863F-48CC-0156-E991-25B4862945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A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 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余事象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complementary event</a:t>
                </a:r>
              </a:p>
              <a:p>
                <a:pPr lvl="1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が起こらない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例：　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の余事象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2"/>
                    </a:solidFill>
                  </a:rPr>
                  <a:t>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さんが当たらない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08B2CAB-2A4C-DFD5-EE93-ECFCD6F167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41A89B44-A225-25F5-1586-7C02C5D3B17D}"/>
              </a:ext>
            </a:extLst>
          </p:cNvPr>
          <p:cNvGrpSpPr/>
          <p:nvPr/>
        </p:nvGrpSpPr>
        <p:grpSpPr>
          <a:xfrm>
            <a:off x="5953270" y="3429000"/>
            <a:ext cx="2785730" cy="2563733"/>
            <a:chOff x="5688419" y="3581886"/>
            <a:chExt cx="2785730" cy="2563733"/>
          </a:xfrm>
        </p:grpSpPr>
        <p:sp>
          <p:nvSpPr>
            <p:cNvPr id="19" name="四角形: 角を丸くする 18">
              <a:extLst>
                <a:ext uri="{FF2B5EF4-FFF2-40B4-BE49-F238E27FC236}">
                  <a16:creationId xmlns:a16="http://schemas.microsoft.com/office/drawing/2014/main" id="{72420FB3-83D1-AD47-899C-CB080FF8D3D6}"/>
                </a:ext>
              </a:extLst>
            </p:cNvPr>
            <p:cNvSpPr/>
            <p:nvPr/>
          </p:nvSpPr>
          <p:spPr>
            <a:xfrm>
              <a:off x="5688419" y="3753293"/>
              <a:ext cx="2785730" cy="2392326"/>
            </a:xfrm>
            <a:prstGeom prst="roundRect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5C9F1B60-6AF0-142E-06E7-20E8468B09FA}"/>
                </a:ext>
              </a:extLst>
            </p:cNvPr>
            <p:cNvGrpSpPr/>
            <p:nvPr/>
          </p:nvGrpSpPr>
          <p:grpSpPr>
            <a:xfrm>
              <a:off x="5912665" y="3581886"/>
              <a:ext cx="2170107" cy="2358796"/>
              <a:chOff x="5912665" y="3581886"/>
              <a:chExt cx="2170107" cy="2358796"/>
            </a:xfrm>
          </p:grpSpPr>
          <p:grpSp>
            <p:nvGrpSpPr>
              <p:cNvPr id="21" name="グループ化 20">
                <a:extLst>
                  <a:ext uri="{FF2B5EF4-FFF2-40B4-BE49-F238E27FC236}">
                    <a16:creationId xmlns:a16="http://schemas.microsoft.com/office/drawing/2014/main" id="{81B5035A-6227-E6BD-067E-562D415A91E3}"/>
                  </a:ext>
                </a:extLst>
              </p:cNvPr>
              <p:cNvGrpSpPr/>
              <p:nvPr/>
            </p:nvGrpSpPr>
            <p:grpSpPr>
              <a:xfrm>
                <a:off x="5912665" y="4064192"/>
                <a:ext cx="2170107" cy="1876490"/>
                <a:chOff x="5635256" y="4027422"/>
                <a:chExt cx="2170107" cy="1876490"/>
              </a:xfrm>
            </p:grpSpPr>
            <p:sp>
              <p:nvSpPr>
                <p:cNvPr id="23" name="楕円 22">
                  <a:extLst>
                    <a:ext uri="{FF2B5EF4-FFF2-40B4-BE49-F238E27FC236}">
                      <a16:creationId xmlns:a16="http://schemas.microsoft.com/office/drawing/2014/main" id="{4329BEB1-EAEC-3879-198A-E3817DB67FAE}"/>
                    </a:ext>
                  </a:extLst>
                </p:cNvPr>
                <p:cNvSpPr/>
                <p:nvPr/>
              </p:nvSpPr>
              <p:spPr>
                <a:xfrm flipV="1">
                  <a:off x="5635256" y="4170805"/>
                  <a:ext cx="1733107" cy="1733107"/>
                </a:xfrm>
                <a:prstGeom prst="ellipse">
                  <a:avLst/>
                </a:prstGeom>
                <a:noFill/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24" name="グループ化 23">
                  <a:extLst>
                    <a:ext uri="{FF2B5EF4-FFF2-40B4-BE49-F238E27FC236}">
                      <a16:creationId xmlns:a16="http://schemas.microsoft.com/office/drawing/2014/main" id="{CF513FB5-049F-2522-B324-E1661B1333B0}"/>
                    </a:ext>
                  </a:extLst>
                </p:cNvPr>
                <p:cNvGrpSpPr/>
                <p:nvPr/>
              </p:nvGrpSpPr>
              <p:grpSpPr>
                <a:xfrm>
                  <a:off x="6303357" y="4027422"/>
                  <a:ext cx="1502006" cy="628362"/>
                  <a:chOff x="6303357" y="4027422"/>
                  <a:chExt cx="1502006" cy="628362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5" name="テキスト ボックス 24">
                        <a:extLst>
                          <a:ext uri="{FF2B5EF4-FFF2-40B4-BE49-F238E27FC236}">
                            <a16:creationId xmlns:a16="http://schemas.microsoft.com/office/drawing/2014/main" id="{3899309E-5824-776D-5281-EA6E7510B54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303357" y="4286452"/>
                        <a:ext cx="396904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p>
                              </m:sSup>
                            </m:oMath>
                          </m:oMathPara>
                        </a14:m>
                        <a:endParaRPr kumimoji="1" lang="ja-JP" altLang="en-US" dirty="0"/>
                      </a:p>
                    </p:txBody>
                  </p:sp>
                </mc:Choice>
                <mc:Fallback xmlns="">
                  <p:sp>
                    <p:nvSpPr>
                      <p:cNvPr id="26" name="テキスト ボックス 25">
                        <a:extLst>
                          <a:ext uri="{FF2B5EF4-FFF2-40B4-BE49-F238E27FC236}">
                            <a16:creationId xmlns:a16="http://schemas.microsoft.com/office/drawing/2014/main" id="{E0DD989B-902F-024C-3DCD-0A241BB37B6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313112" y="4027422"/>
                        <a:ext cx="492251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ja-JP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/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22" name="テキスト ボックス 21">
                    <a:extLst>
                      <a:ext uri="{FF2B5EF4-FFF2-40B4-BE49-F238E27FC236}">
                        <a16:creationId xmlns:a16="http://schemas.microsoft.com/office/drawing/2014/main" id="{15F8AD3F-8FCE-63A1-003C-7DECEC25C3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58827" y="3581886"/>
                    <a:ext cx="405880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01672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F5194-CC45-EAB8-C219-0257504D1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724C94-6C95-3AF4-45D3-62F048E8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積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2F05257-2EF0-A358-9287-22101519B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57EB36AD-F87D-796C-E471-8B3D35CC9BE2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積事象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intersection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どちらにも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かつ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さんもどちらも当たり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3618D5B6-9CDF-1658-73CE-DE274AF936B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5101EE2-2BA9-D313-69E1-37D93D8A60A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25FB92BC-175A-C061-8EEA-9FCC153EAF9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DF6015B8-7AA6-A1AD-D988-5F098385D44A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E1A67B97-3C93-70D8-2970-D5CCFCCFE5E3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BC7A5CC5-0D76-5C9B-112E-0616C660728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438C259D-6882-21E8-8F15-160B967AF7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EE067B56-D468-33C7-B7AA-31293A6349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26C411-8DCF-1F43-7723-ED8DCF2DE0C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3AFF44D8-E155-D9EC-63DD-EE7125431CEF}"/>
              </a:ext>
            </a:extLst>
          </p:cNvPr>
          <p:cNvGrpSpPr/>
          <p:nvPr/>
        </p:nvGrpSpPr>
        <p:grpSpPr>
          <a:xfrm>
            <a:off x="1743740" y="947000"/>
            <a:ext cx="3242531" cy="1168879"/>
            <a:chOff x="1743740" y="947000"/>
            <a:chExt cx="3242531" cy="1168879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9990F797-6663-DBE1-E8E6-C372E042CB8D}"/>
                </a:ext>
              </a:extLst>
            </p:cNvPr>
            <p:cNvSpPr/>
            <p:nvPr/>
          </p:nvSpPr>
          <p:spPr>
            <a:xfrm>
              <a:off x="1743740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0BA84148-B1A9-18F1-F07F-B099C9DF477A}"/>
                </a:ext>
              </a:extLst>
            </p:cNvPr>
            <p:cNvSpPr/>
            <p:nvPr/>
          </p:nvSpPr>
          <p:spPr>
            <a:xfrm>
              <a:off x="4156932" y="947000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C9B1AC6-9CF3-7630-626F-A2DD4D0E550A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5849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1B80D-1B10-C022-16BE-D6AD8FEA6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C8E2A-8FBB-0889-173C-9D453B58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排反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24B1C7B-2110-3747-575A-8BAC6B2C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9AA2DE24-C1C7-9033-51EF-5F1B4F4503BC}"/>
              </a:ext>
            </a:extLst>
          </p:cNvPr>
          <p:cNvGraphicFramePr>
            <a:graphicFrameLocks noGrp="1"/>
          </p:cNvGraphicFramePr>
          <p:nvPr>
            <p:ph idx="13"/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排反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mutually exclusive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積事象が空事象</a:t>
                </a:r>
                <a:r>
                  <a:rPr lang="ja-JP" altLang="en-US" sz="1600" dirty="0">
                    <a:solidFill>
                      <a:schemeClr val="tx2"/>
                    </a:solidFill>
                  </a:rPr>
                  <a:t>（存在しない）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つの事象のこと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さんと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さんが同時に当たり</a:t>
                </a:r>
                <a:r>
                  <a:rPr lang="ja-JP" altLang="en-US" sz="1400" dirty="0">
                    <a:solidFill>
                      <a:schemeClr val="tx2"/>
                    </a:solidFill>
                  </a:rPr>
                  <a:t>（積事象）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は存在しない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互いに排反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である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C66302CE-E60B-9A99-598D-5E15F77BF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8646CBD8-8F6B-E4CC-61FD-274F34B43C00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CA073EA-BE21-DBAB-41F0-AF97F73A57F7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37BB5409-1C8D-2C3B-8C4D-B7B6A547E4B5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55C2C1DF-2A4C-6718-DEAA-3AE5CBE66FB8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noFill/>
              <a:ln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CCE0B0FB-806F-520E-D495-A953BCF1344B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ED1DEB71-2063-996E-3475-D6D3E5C3398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7DC45708-2D56-4B99-9017-F15AE9E9C3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EA990383-EDC8-8B56-D91A-5FABAC7895A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5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377872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72A0A-9BBB-0EBB-30A1-46F4AD068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23D36-3351-F29D-A6C5-F566F96BD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和</a:t>
            </a:r>
            <a:r>
              <a:rPr kumimoji="1" lang="ja-JP" altLang="en-US" dirty="0"/>
              <a:t>事象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6D3CB01-609A-697A-5837-1AAF11D0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7D7E6154-8B1F-361A-7525-63F8A29D4C48}"/>
              </a:ext>
            </a:extLst>
          </p:cNvPr>
          <p:cNvGraphicFramePr>
            <a:graphicFrameLocks noGrp="1"/>
          </p:cNvGraphicFramePr>
          <p:nvPr>
            <p:ph idx="13"/>
            <p:extLst>
              <p:ext uri="{D42A27DB-BD31-4B8C-83A1-F6EECF244321}">
                <p14:modId xmlns:p14="http://schemas.microsoft.com/office/powerpoint/2010/main" val="20715051"/>
              </p:ext>
            </p:extLst>
          </p:nvPr>
        </p:nvGraphicFramePr>
        <p:xfrm>
          <a:off x="131763" y="954088"/>
          <a:ext cx="888046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15">
                  <a:extLst>
                    <a:ext uri="{9D8B030D-6E8A-4147-A177-3AD203B41FA5}">
                      <a16:colId xmlns:a16="http://schemas.microsoft.com/office/drawing/2014/main" val="204556858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644709772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368000791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356693903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71039151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99476829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1512387936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4178709087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024215834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3538224885"/>
                    </a:ext>
                  </a:extLst>
                </a:gridCol>
                <a:gridCol w="807315">
                  <a:extLst>
                    <a:ext uri="{9D8B030D-6E8A-4147-A177-3AD203B41FA5}">
                      <a16:colId xmlns:a16="http://schemas.microsoft.com/office/drawing/2014/main" val="2229382450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全事象 </a:t>
                      </a:r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Ω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q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v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583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kumimoji="1" lang="ja-JP" altLang="en-US" sz="1600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当たり枠</a:t>
                      </a:r>
                    </a:p>
                  </a:txBody>
                  <a:tcPr vert="wordArtVertRtl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A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p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s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29616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B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o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r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u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1667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C</a:t>
                      </a:r>
                      <a:r>
                        <a:rPr kumimoji="1" lang="ja-JP" altLang="en-US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t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w</a:t>
                      </a:r>
                      <a:endParaRPr kumimoji="1" lang="ja-JP" altLang="en-US" dirty="0"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4692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</p:spPr>
            <p:txBody>
              <a:bodyPr/>
              <a:lstStyle/>
              <a:p>
                <a:r>
                  <a:rPr kumimoji="1" lang="ja-JP" altLang="en-US" dirty="0">
                    <a:solidFill>
                      <a:schemeClr val="tx2"/>
                    </a:solidFill>
                  </a:rPr>
                  <a:t>前提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A: 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B: 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さんが当たる／事象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C: C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さんが当たる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和事象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union of events</a:t>
                </a: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と事象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の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どちらかに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該当する事象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事象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または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b="0" i="1" dirty="0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en-US" altLang="ja-JP" dirty="0">
                    <a:solidFill>
                      <a:schemeClr val="tx2"/>
                    </a:solidFill>
                  </a:rPr>
                  <a:t>A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さんか</a:t>
                </a:r>
                <a:r>
                  <a:rPr lang="en-US" altLang="ja-JP" dirty="0">
                    <a:solidFill>
                      <a:schemeClr val="tx2"/>
                    </a:solidFill>
                  </a:rPr>
                  <a:t>B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さんが当たり</a:t>
                </a:r>
                <a:endParaRPr lang="en-US" altLang="ja-JP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5" name="テキスト プレースホルダー 4">
                <a:extLst>
                  <a:ext uri="{FF2B5EF4-FFF2-40B4-BE49-F238E27FC236}">
                    <a16:creationId xmlns:a16="http://schemas.microsoft.com/office/drawing/2014/main" id="{5DEFFD47-0024-D765-C7F6-570D5EF3D7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5"/>
              </p:nvPr>
            </p:nvSpPr>
            <p:spPr>
              <a:xfrm>
                <a:off x="131181" y="2580831"/>
                <a:ext cx="8880843" cy="4149907"/>
              </a:xfrm>
              <a:blipFill>
                <a:blip r:embed="rId2"/>
                <a:stretch>
                  <a:fillRect l="-824" t="-11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618A1F7C-3533-B070-6914-2B2C13B33544}"/>
              </a:ext>
            </a:extLst>
          </p:cNvPr>
          <p:cNvGrpSpPr/>
          <p:nvPr/>
        </p:nvGrpSpPr>
        <p:grpSpPr>
          <a:xfrm>
            <a:off x="5912665" y="4207574"/>
            <a:ext cx="2826335" cy="1733108"/>
            <a:chOff x="5635256" y="4170804"/>
            <a:chExt cx="2826335" cy="1733108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41586000-EBD7-B133-6325-5893D88F76B2}"/>
                </a:ext>
              </a:extLst>
            </p:cNvPr>
            <p:cNvGrpSpPr/>
            <p:nvPr/>
          </p:nvGrpSpPr>
          <p:grpSpPr>
            <a:xfrm>
              <a:off x="5635256" y="4170804"/>
              <a:ext cx="2826335" cy="1733108"/>
              <a:chOff x="5348177" y="4090345"/>
              <a:chExt cx="2826335" cy="1733108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998C0D69-56F7-D9E8-CA73-1593A6BEDEB6}"/>
                  </a:ext>
                </a:extLst>
              </p:cNvPr>
              <p:cNvSpPr/>
              <p:nvPr/>
            </p:nvSpPr>
            <p:spPr>
              <a:xfrm flipV="1">
                <a:off x="5348177" y="4090346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楕円 6">
                <a:extLst>
                  <a:ext uri="{FF2B5EF4-FFF2-40B4-BE49-F238E27FC236}">
                    <a16:creationId xmlns:a16="http://schemas.microsoft.com/office/drawing/2014/main" id="{B5D69CE5-2C5C-73BE-3319-79E55CFF5341}"/>
                  </a:ext>
                </a:extLst>
              </p:cNvPr>
              <p:cNvSpPr/>
              <p:nvPr/>
            </p:nvSpPr>
            <p:spPr>
              <a:xfrm flipV="1">
                <a:off x="6441405" y="4090345"/>
                <a:ext cx="1733107" cy="173310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32D061DE-806C-B156-4D2D-2B14F9AEAC5F}"/>
                </a:ext>
              </a:extLst>
            </p:cNvPr>
            <p:cNvGrpSpPr/>
            <p:nvPr/>
          </p:nvGrpSpPr>
          <p:grpSpPr>
            <a:xfrm>
              <a:off x="6303357" y="4286452"/>
              <a:ext cx="1543868" cy="956778"/>
              <a:chOff x="6303357" y="4286452"/>
              <a:chExt cx="1543868" cy="95677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/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CEC569D4-AF1F-9C59-3B24-BD54E80098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03357" y="4286452"/>
                    <a:ext cx="39690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/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BC6B5994-679A-EBCF-1471-B65646ABA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39934" y="4286452"/>
                    <a:ext cx="40729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/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1" name="テキスト ボックス 10">
                    <a:extLst>
                      <a:ext uri="{FF2B5EF4-FFF2-40B4-BE49-F238E27FC236}">
                        <a16:creationId xmlns:a16="http://schemas.microsoft.com/office/drawing/2014/main" id="{B504A04C-09E0-F482-E146-312AA0F79E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660436" y="4873898"/>
                    <a:ext cx="81509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84C3A9B3-632A-DE9C-97B3-3DC0508A966B}"/>
              </a:ext>
            </a:extLst>
          </p:cNvPr>
          <p:cNvGrpSpPr/>
          <p:nvPr/>
        </p:nvGrpSpPr>
        <p:grpSpPr>
          <a:xfrm>
            <a:off x="1743740" y="947000"/>
            <a:ext cx="5656520" cy="1168879"/>
            <a:chOff x="1743740" y="947000"/>
            <a:chExt cx="5656520" cy="1168879"/>
          </a:xfrm>
        </p:grpSpPr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829C4FF4-47CC-E0CA-9587-88D9065A0118}"/>
                </a:ext>
              </a:extLst>
            </p:cNvPr>
            <p:cNvSpPr/>
            <p:nvPr/>
          </p:nvSpPr>
          <p:spPr>
            <a:xfrm>
              <a:off x="1743740" y="954088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41A7F0AB-BF9C-49F1-5480-5B2E132F650A}"/>
                </a:ext>
              </a:extLst>
            </p:cNvPr>
            <p:cNvSpPr/>
            <p:nvPr/>
          </p:nvSpPr>
          <p:spPr>
            <a:xfrm>
              <a:off x="4156932" y="947000"/>
              <a:ext cx="1594883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234D2B68-1896-204D-6124-F7A865D9635C}"/>
                </a:ext>
              </a:extLst>
            </p:cNvPr>
            <p:cNvSpPr/>
            <p:nvPr/>
          </p:nvSpPr>
          <p:spPr>
            <a:xfrm>
              <a:off x="6570921" y="954088"/>
              <a:ext cx="829339" cy="1161791"/>
            </a:xfrm>
            <a:prstGeom prst="rect">
              <a:avLst/>
            </a:prstGeom>
            <a:noFill/>
            <a:ln w="762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5A31ECB2-D65A-3290-BE0C-4325A24B8598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39030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節　推測統計学の基礎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推測統計学のプロセスを学ぶ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母集団の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未知の特性値</a:t>
                </a:r>
                <a:r>
                  <a:rPr lang="ja-JP" altLang="en-US" dirty="0"/>
                  <a:t>を，標本を利用して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推測</a:t>
                </a:r>
                <a:r>
                  <a:rPr lang="ja-JP" altLang="en-US" dirty="0"/>
                  <a:t>していく方法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推定量・推定値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標準誤差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確率の基礎となる概念を学ぶ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全事象　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根元事象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空事象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余事象　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和事象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積事象　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1971</TotalTime>
  <Words>1118</Words>
  <Application>Microsoft Macintosh PowerPoint</Application>
  <PresentationFormat>On-screen Show (4:3)</PresentationFormat>
  <Paragraphs>266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推測統計学の基礎：推測統計学のプロセス</vt:lpstr>
      <vt:lpstr>今日の目標</vt:lpstr>
      <vt:lpstr>PowerPoint Presentation</vt:lpstr>
      <vt:lpstr>推測統計学のプロセス</vt:lpstr>
      <vt:lpstr>推定量と推定値</vt:lpstr>
      <vt:lpstr>標本誤差</vt:lpstr>
      <vt:lpstr>コイン投げの事例</vt:lpstr>
      <vt:lpstr>[AL]　コイン投げの実験をしてみよう</vt:lpstr>
      <vt:lpstr>PowerPoint Presentation</vt:lpstr>
      <vt:lpstr>事象</vt:lpstr>
      <vt:lpstr>事象</vt:lpstr>
      <vt:lpstr>積事象</vt:lpstr>
      <vt:lpstr>排反</vt:lpstr>
      <vt:lpstr>和事象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河野　洋</cp:lastModifiedBy>
  <cp:revision>70</cp:revision>
  <dcterms:created xsi:type="dcterms:W3CDTF">2025-03-03T09:28:12Z</dcterms:created>
  <dcterms:modified xsi:type="dcterms:W3CDTF">2025-10-15T04:01:33Z</dcterms:modified>
</cp:coreProperties>
</file>