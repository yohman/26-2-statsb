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4"/>
  </p:notesMasterIdLst>
  <p:sldIdLst>
    <p:sldId id="256" r:id="rId2"/>
    <p:sldId id="660" r:id="rId3"/>
    <p:sldId id="617" r:id="rId4"/>
    <p:sldId id="649" r:id="rId5"/>
    <p:sldId id="657" r:id="rId6"/>
    <p:sldId id="661" r:id="rId7"/>
    <p:sldId id="668" r:id="rId8"/>
    <p:sldId id="669" r:id="rId9"/>
    <p:sldId id="670" r:id="rId10"/>
    <p:sldId id="667" r:id="rId11"/>
    <p:sldId id="662" r:id="rId12"/>
    <p:sldId id="663" r:id="rId13"/>
    <p:sldId id="664" r:id="rId14"/>
    <p:sldId id="665" r:id="rId15"/>
    <p:sldId id="666" r:id="rId16"/>
    <p:sldId id="671" r:id="rId17"/>
    <p:sldId id="672" r:id="rId18"/>
    <p:sldId id="673" r:id="rId19"/>
    <p:sldId id="674" r:id="rId20"/>
    <p:sldId id="675" r:id="rId21"/>
    <p:sldId id="676" r:id="rId22"/>
    <p:sldId id="26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60" d="100"/>
          <a:sy n="60" d="100"/>
        </p:scale>
        <p:origin x="1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#10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 </a:t>
            </a:r>
            <a:r>
              <a:rPr lang="ja-JP" altLang="en-US" dirty="0"/>
              <a:t>母平均の区間推定・母分散の区間推定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EEF4-A11E-1515-2E17-D2FBB5D4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6558F4-E0F1-153D-6F34-36AFD040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A6AD420-9A41-B502-4430-C860989C7F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母数と推定量の違いを理解する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母数：母集団の特徴を表す統計量・固定値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推定量：母数を推定するための統計量・確率変数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不偏推定量の特徴について理解する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偏りのない推定量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母平均の区間推定について理解する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2CC85E-7997-294D-C625-3C02BF8C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8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EDEA-300D-EADF-390C-31302575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915DE-2E96-2A2A-0AEF-E25B2B4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3EF744-DA7F-BA53-555F-88B6B972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からの偏差二乗和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</m:oMath>
                </a14:m>
                <a:r>
                  <a:rPr lang="ja-JP" altLang="en-US" dirty="0"/>
                  <a:t>を，</a:t>
                </a:r>
                <a:br>
                  <a:rPr lang="en-US" altLang="ja-JP" dirty="0"/>
                </a:br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kumimoji="1" lang="en-US" altLang="ja-JP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  <m:t>元のデータ</m:t>
                              </m:r>
                              <m:r>
                                <a:rPr lang="en-US" altLang="ja-JP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  <m:t>標本平均</m:t>
                              </m:r>
                            </m:e>
                          </m:d>
                        </m:e>
                      </m:nary>
                      <m:r>
                        <a:rPr lang="en-US" altLang="ja-JP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からの</m:t>
                          </m:r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偏差二乗和</m:t>
                          </m:r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A610BE-9103-E6B3-F6F2-ECB69AF25A0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29639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633E-2AD6-BB9C-2294-775C265D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652A2-A050-B9D7-73EE-4421B55A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F1186-52A5-1D11-3BC4-88873E0E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i="1" dirty="0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パーセント</m:t>
                        </m:r>
                        <m:r>
                          <a:rPr lang="ja-JP" alt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標本不偏分散</m:t>
                                </m:r>
                              </m:num>
                              <m:den>
                                <m:r>
                                  <a:rPr lang="ja-JP" altLang="en-US" i="1" dirty="0" smtClean="0"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</a:t>
                </a:r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000" dirty="0"/>
                  <a:t>分布パーセント点</a:t>
                </a:r>
                <a:endParaRPr lang="en-US" altLang="ja-JP" sz="2000" dirty="0"/>
              </a:p>
              <a:p>
                <a:pPr lvl="2"/>
                <a:r>
                  <a:rPr lang="en-US" altLang="ja-JP" sz="1600" dirty="0"/>
                  <a:t>t</a:t>
                </a:r>
                <a:r>
                  <a:rPr lang="ja-JP" altLang="en-US" sz="1600" dirty="0"/>
                  <a:t>分布表から読み取る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1B2240-C1C4-D427-C6A1-6B27239A05C9}"/>
              </a:ext>
            </a:extLst>
          </p:cNvPr>
          <p:cNvGrpSpPr/>
          <p:nvPr/>
        </p:nvGrpSpPr>
        <p:grpSpPr>
          <a:xfrm>
            <a:off x="1541722" y="2920168"/>
            <a:ext cx="3009013" cy="598878"/>
            <a:chOff x="4572001" y="6014242"/>
            <a:chExt cx="3009013" cy="598878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39604EF9-816C-5D7F-B0BF-FA354746ABA9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77A21A9-EF29-B186-18D6-A743D56EBDF4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499D4F-63C3-867C-4103-0D32FE37BF09}"/>
              </a:ext>
            </a:extLst>
          </p:cNvPr>
          <p:cNvGrpSpPr/>
          <p:nvPr/>
        </p:nvGrpSpPr>
        <p:grpSpPr>
          <a:xfrm>
            <a:off x="4649974" y="2912950"/>
            <a:ext cx="3009013" cy="598878"/>
            <a:chOff x="4572001" y="6014242"/>
            <a:chExt cx="3009013" cy="598878"/>
          </a:xfrm>
        </p:grpSpPr>
        <p:sp>
          <p:nvSpPr>
            <p:cNvPr id="9" name="左中かっこ 8">
              <a:extLst>
                <a:ext uri="{FF2B5EF4-FFF2-40B4-BE49-F238E27FC236}">
                  <a16:creationId xmlns:a16="http://schemas.microsoft.com/office/drawing/2014/main" id="{FF97C053-2E71-4C47-0207-DBEC1B337CE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4942338-78FB-B184-C3FA-832342277D86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B9780DB-301F-5CE0-4122-5983CDD00A3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4345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C636-6DD1-DD2A-07FE-F1B16C0A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ADBA2-6DC4-3702-80E9-BD12191C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22CBE5-D787-C545-D2E3-B3B72BB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kumimoji="1" lang="en-US" altLang="ja-JP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からの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偏差二乗和</m:t>
                            </m:r>
                          </m:num>
                          <m:den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カイ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二乗分布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標本平均からの偏差二乗和</m:t>
                            </m:r>
                          </m:num>
                          <m:den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カイ二乗分布の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のカイ二乗分布パーセント点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カイ二乗分布表から読み取る</a:t>
                </a:r>
                <a:endParaRPr lang="en-US" altLang="ja-JP" sz="1600" dirty="0"/>
              </a:p>
              <a:p>
                <a:pPr lvl="2"/>
                <a:r>
                  <a:rPr lang="ja-JP" altLang="en-US" sz="1600" dirty="0"/>
                  <a:t>教科書に記載がないので，配布の</a:t>
                </a:r>
                <a:r>
                  <a:rPr lang="en-US" altLang="ja-JP" sz="1600" dirty="0"/>
                  <a:t>Excel</a:t>
                </a:r>
                <a:r>
                  <a:rPr lang="ja-JP" altLang="en-US" sz="1600" dirty="0"/>
                  <a:t>を利用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0DEBB01-C9DA-ABAB-BB30-AECA0DCEF877}"/>
              </a:ext>
            </a:extLst>
          </p:cNvPr>
          <p:cNvGrpSpPr/>
          <p:nvPr/>
        </p:nvGrpSpPr>
        <p:grpSpPr>
          <a:xfrm>
            <a:off x="2305947" y="2537396"/>
            <a:ext cx="2223521" cy="584413"/>
            <a:chOff x="4572001" y="6014242"/>
            <a:chExt cx="3009013" cy="584413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A26C853B-5CD8-07B7-8AD5-0508490841F2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8B04375-AB51-A0F1-C0B6-5F5BACDF3492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69E8E4E-7328-8D93-E23B-82B22D9C6BCF}"/>
              </a:ext>
            </a:extLst>
          </p:cNvPr>
          <p:cNvGrpSpPr/>
          <p:nvPr/>
        </p:nvGrpSpPr>
        <p:grpSpPr>
          <a:xfrm>
            <a:off x="4614532" y="2537395"/>
            <a:ext cx="2223521" cy="584413"/>
            <a:chOff x="4572001" y="6014242"/>
            <a:chExt cx="3009013" cy="584413"/>
          </a:xfrm>
        </p:grpSpPr>
        <p:sp>
          <p:nvSpPr>
            <p:cNvPr id="13" name="左中かっこ 12">
              <a:extLst>
                <a:ext uri="{FF2B5EF4-FFF2-40B4-BE49-F238E27FC236}">
                  <a16:creationId xmlns:a16="http://schemas.microsoft.com/office/drawing/2014/main" id="{A55C07FA-B5D4-6CEA-3677-43EC8D4420C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8932B95-2287-0925-389B-09D66D3AA65A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F996A7-A67D-06BF-D526-75226A57C14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0443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20537-1C4B-3E75-7BD8-B5088FDE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6D0826-46B1-38F9-BB31-9A97C213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2D1B8E-DCBC-D61E-6B4D-4839C518B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ある学級の生徒</a:t>
            </a:r>
            <a:r>
              <a:rPr lang="en-US" altLang="ja-JP" dirty="0"/>
              <a:t>12</a:t>
            </a:r>
            <a:r>
              <a:rPr lang="ja-JP" altLang="en-US" dirty="0"/>
              <a:t>人のテスト得点は表の通りであった．</a:t>
            </a:r>
            <a:endParaRPr lang="en-US" altLang="ja-JP" dirty="0"/>
          </a:p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信頼区間を求めよ．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9CCF20-3C63-CA7E-771F-A565BF53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674" y="1468619"/>
            <a:ext cx="2260350" cy="523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0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9255-E42E-A086-726B-AA871FD3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172689-D2B5-4B90-4370-C79A04FF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F0E8470-833B-0DC4-FAF0-24E51730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FD14E-63B1-DEFB-0597-6F10DF56E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問題文からわかっている統計量を整理する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12</a:t>
                </a:r>
              </a:p>
              <a:p>
                <a:pPr lvl="1"/>
                <a:r>
                  <a:rPr lang="ja-JP" altLang="en-US" dirty="0"/>
                  <a:t>手順②　必要な統計量を計算する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	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68.1667</a:t>
                </a:r>
              </a:p>
              <a:p>
                <a:pPr lvl="2"/>
                <a:r>
                  <a:rPr lang="ja-JP" altLang="en-US" dirty="0"/>
                  <a:t>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301.6667</a:t>
                </a:r>
              </a:p>
              <a:p>
                <a:pPr lvl="2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11</a:t>
                </a:r>
              </a:p>
              <a:p>
                <a:pPr lvl="2"/>
                <a:r>
                  <a:rPr lang="ja-JP" altLang="en-US" dirty="0"/>
                  <a:t>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27.4242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FD14E-63B1-DEFB-0597-6F10DF56E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065B8AD-337E-40A2-7439-FADC909A619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06895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6C1F-5679-BD79-8AE8-A0CA33C4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C3A89-8E21-4CAF-C201-E54B0605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8CBF672-F6DE-3D53-B350-EC2FEE16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6898-DD7E-2427-126E-919B9F1A9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分布表からパーセント点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ja-JP" altLang="en-US" dirty="0"/>
                  <a:t>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2.20099</a:t>
                </a:r>
              </a:p>
              <a:p>
                <a:pPr lvl="1"/>
                <a:r>
                  <a:rPr lang="ja-JP" altLang="en-US" dirty="0"/>
                  <a:t>手順④　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の後の部分を計算する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=2.20099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dirty="0"/>
                              <m:t>27.4242</m:t>
                            </m:r>
                          </m:num>
                          <m:den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=3.3273</m:t>
                    </m:r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6898-DD7E-2427-126E-919B9F1A9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8C44D8-E32D-360D-BBFA-DD1BA9A95A2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62426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1969-BC6F-1962-C3A3-7C1B331D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DA8FB-38B1-EFCB-9AA8-9910B0D8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814C041-D3AE-843F-94D1-81EC67EC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742DA59-6310-B8DF-65A5-9386FEA26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手順⑤　標本平均から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して，下限値と上限値を求める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68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667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3.3273=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4.8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68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667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3.3273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71.494</m:t>
                    </m:r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742DA59-6310-B8DF-65A5-9386FEA26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09E8A8-6AA4-476F-355F-013B8E27828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57746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F174-EEBD-154F-D24B-C029F168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77635-C690-A0BF-EDA3-BB5D676E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59EA9F-0E9F-9075-8EDA-4DD860E1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88BDCA-34E2-6539-2D51-332C33235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ある工場で製造されるネジの長さは正規分布に従い，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/>
                  <a:t>である</a:t>
                </a:r>
                <a:r>
                  <a:rPr lang="ja-JP" altLang="en-US" dirty="0"/>
                  <a:t>．</a:t>
                </a:r>
                <a:endParaRPr lang="en-US" altLang="ja-JP" dirty="0"/>
              </a:p>
              <a:p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本を無作為抽出したところ，平均は</a:t>
                </a:r>
                <a:r>
                  <a:rPr kumimoji="1" lang="en-US" altLang="ja-JP" dirty="0"/>
                  <a:t>5.12cm</a:t>
                </a:r>
                <a:r>
                  <a:rPr kumimoji="1" lang="ja-JP" altLang="en-US" dirty="0"/>
                  <a:t>であった．</a:t>
                </a:r>
                <a:endParaRPr kumimoji="1" lang="en-US" altLang="ja-JP" dirty="0"/>
              </a:p>
              <a:p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信頼区間における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母平均の下限値と上限値を求めよ．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88BDCA-34E2-6539-2D51-332C33235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4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87CEE-7964-23F8-3022-C3A3E516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01476C-A7C8-7EAB-873E-C8FC7A8D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2046A0-56DB-BCEA-5DDC-0EE55807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F02B092-1D7C-9FA6-3FEB-2D744B187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手順①　問題文からわかっている統計量を整理する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0.25</a:t>
                </a: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F02B092-1D7C-9FA6-3FEB-2D744B187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FB6CE0B-F736-D3A1-4B1A-74B93991671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09472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F8F2-1A1B-2755-C967-521AB2B63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5F52C-3D38-4055-CB6B-5333189E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DB07DA3-893A-25EB-706A-647779DB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E258C3-1258-94AA-34A0-7DB86FED8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手順②　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母分散が既知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を使う必要がない！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　→　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よって，上限値と下限値は　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ja-JP" alt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パーセント</m:t>
                        </m:r>
                        <m:r>
                          <a:rPr lang="ja-JP" alt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標本分散</m:t>
                                </m:r>
                              </m:num>
                              <m:den>
                                <m:r>
                                  <a:rPr lang="ja-JP" altLang="en-US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E258C3-1258-94AA-34A0-7DB86FED8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26DF40E-98B2-FB0D-6A2A-3F3E6ABE20C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61644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F7B2-640C-6334-5ADE-064F1FC5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9C9A11-DFB2-FA67-40EB-9A54FCF8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3651A87-6C68-B1C9-34EF-2F5C9966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E796DD4-CE24-8361-3D2B-F1B6C148D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手順③　標準正規分布表から逆算して，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z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パーセント点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kumimoji="1" lang="ja-JP" altLang="en-US" dirty="0">
                    <a:solidFill>
                      <a:schemeClr val="tx2"/>
                    </a:solidFill>
                  </a:rPr>
                  <a:t>標準正規分布表から，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表中の数値が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0.025(=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片側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2.5%)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になるときの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表側＋表頭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E796DD4-CE24-8361-3D2B-F1B6C148D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B8A85A-37FE-4BC7-B0D6-44FC6CB5AA0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96842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596C-8340-9D81-1C51-581D345C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A774E2-7107-8BCB-8DDD-D8FE0CC3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5AB231-41DC-7F13-153D-D2D3AE4B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44C30D-94E7-68D5-944A-FFF7FC161A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手順④　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±</a:t>
                </a:r>
                <a:r>
                  <a:rPr lang="ja-JP" altLang="en-US" dirty="0"/>
                  <a:t>の後の部分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=1.96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=0.309903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44C30D-94E7-68D5-944A-FFF7FC161A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ADD70E-2851-992A-34EE-00B54AB934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66560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347AC-5601-E6FE-509B-6B35CABF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E31F2-48F1-A047-D981-C23CCFF6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C0276F-9ABC-38D7-387B-58244AD2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A93AE3-F5D1-11F8-6EF6-ED28CF0FAD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手順⑤　標本平均から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±</a:t>
                </a:r>
                <a:r>
                  <a:rPr lang="ja-JP" altLang="en-US" dirty="0"/>
                  <a:t>して，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下限値と上限値を求める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=5.12−</m:t>
                    </m:r>
                    <m:d>
                      <m:d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1.96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0.25</m:t>
                                </m:r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=4.81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=5.12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1.96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0.25</m:t>
                                </m:r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5.43</m:t>
                    </m:r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A93AE3-F5D1-11F8-6EF6-ED28CF0FAD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C26135-CED1-2713-B88B-364552E2F9E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56502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CB43-0E93-9DF6-C1ED-9C27E869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E414B-1447-43E2-227F-EB5873EB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2F184D-DB8F-1B21-4CAE-C641B4DD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A3EEB9-BA6E-8176-D2C2-D4B2A4A47E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A3EEB9-BA6E-8176-D2C2-D4B2A4A47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5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AB3F-53B3-79B2-677F-18798261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725FE-9DCB-264E-5477-B8F31FFB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482111-50E9-B9E6-D12F-3CDEDF2E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872F2D-A975-7D72-3161-D6DBCB7C65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問題文からわかっている統計量を整理する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36</a:t>
                </a:r>
              </a:p>
              <a:p>
                <a:pPr lvl="2"/>
                <a:r>
                  <a:rPr lang="ja-JP" altLang="en-US" dirty="0"/>
                  <a:t>標本数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20</a:t>
                </a:r>
              </a:p>
              <a:p>
                <a:pPr lvl="1"/>
                <a:r>
                  <a:rPr lang="ja-JP" altLang="en-US" dirty="0"/>
                  <a:t>手順②　必要な統計量を計算する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19</a:t>
                </a:r>
              </a:p>
              <a:p>
                <a:pPr lvl="2"/>
                <a:r>
                  <a:rPr lang="ja-JP" altLang="en-US" dirty="0"/>
                  <a:t>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684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872F2D-A975-7D72-3161-D6DBCB7C6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5A69B2-8CA9-E2DD-7C8C-AE6C026D5B8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12654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8717-6B1A-8FA1-3B60-C6A8DDAF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BE3DC-41C9-874D-3E73-9F79F7B0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BA3A216-348C-C3BD-949C-473E2261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7376C1-8E99-4BF0-504B-22D8689B7D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分布表から</a:t>
                </a:r>
                <a:br>
                  <a:rPr lang="en-US" altLang="ja-JP" dirty="0"/>
                </a:b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0.975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を求める</a:t>
                </a:r>
                <a:endParaRPr lang="en-US" altLang="ja-JP" dirty="0"/>
              </a:p>
              <a:p>
                <a:pPr lvl="2"/>
                <a:r>
                  <a:rPr lang="en-US" altLang="ja-JP" dirty="0"/>
                  <a:t>2.5</a:t>
                </a: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32.85233</a:t>
                </a:r>
              </a:p>
              <a:p>
                <a:pPr lvl="2"/>
                <a:r>
                  <a:rPr lang="en-US" altLang="ja-JP" dirty="0"/>
                  <a:t>97.5</a:t>
                </a: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8.90652</a:t>
                </a:r>
              </a:p>
              <a:p>
                <a:pPr lvl="1"/>
                <a:r>
                  <a:rPr lang="ja-JP" altLang="en-US" dirty="0"/>
                  <a:t>手順④　代入して，下限値と上限値を求める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684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32.85233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.8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684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8.90652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=76.80</m:t>
                    </m:r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7376C1-8E99-4BF0-504B-22D8689B7D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A40DEE5-8A44-0429-F4DF-58745A8B505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20353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70F5CE-7DFA-9C99-978D-22ADE768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D351129-084D-1721-4AD2-8BB1CFF7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303FBB-50E4-033C-8DB3-C6771B99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ある農家のトマト</a:t>
            </a:r>
            <a:r>
              <a:rPr kumimoji="1" lang="en-US" altLang="ja-JP" dirty="0"/>
              <a:t>1</a:t>
            </a:r>
            <a:r>
              <a:rPr kumimoji="1" lang="ja-JP" altLang="en-US" dirty="0"/>
              <a:t>箱の重量を</a:t>
            </a:r>
            <a:r>
              <a:rPr kumimoji="1" lang="en-US" altLang="ja-JP" dirty="0"/>
              <a:t>8</a:t>
            </a:r>
            <a:r>
              <a:rPr kumimoji="1" lang="ja-JP" altLang="en-US" dirty="0"/>
              <a:t>箱測定したところ，</a:t>
            </a:r>
            <a:br>
              <a:rPr kumimoji="1" lang="en-US" altLang="ja-JP" dirty="0"/>
            </a:br>
            <a:r>
              <a:rPr kumimoji="1" lang="ja-JP" altLang="en-US" dirty="0"/>
              <a:t>表の結果を得た．</a:t>
            </a:r>
            <a:endParaRPr kumimoji="1" lang="en-US" altLang="ja-JP" dirty="0"/>
          </a:p>
          <a:p>
            <a:r>
              <a:rPr lang="ja-JP" altLang="en-US" dirty="0"/>
              <a:t>母平均の</a:t>
            </a:r>
            <a:r>
              <a:rPr lang="en-US" altLang="ja-JP" dirty="0"/>
              <a:t>99%</a:t>
            </a:r>
            <a:r>
              <a:rPr lang="ja-JP" altLang="en-US" dirty="0"/>
              <a:t>信頼区間を求めよ．</a:t>
            </a:r>
            <a:endParaRPr lang="en-US" altLang="ja-JP" dirty="0"/>
          </a:p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信頼区間を求めよ．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CCE9DA-A848-1D03-102F-8BFFE8562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23" y="1626523"/>
            <a:ext cx="3165401" cy="50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25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00D0-D9FD-B65B-23FB-12BC2288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99D9B-A20F-2680-9F83-6E4CF6CB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5901C35-F2F8-ABE3-5143-920CD66D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A55DC85-3AD3-EA9D-C658-3DCC2B5DA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ある農家のトマト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箱の重量を</a:t>
                </a:r>
                <a:r>
                  <a:rPr kumimoji="1" lang="en-US" altLang="ja-JP" dirty="0"/>
                  <a:t>8</a:t>
                </a:r>
                <a:r>
                  <a:rPr kumimoji="1" lang="ja-JP" altLang="en-US" dirty="0"/>
                  <a:t>箱測定したところ，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表の結果を得た．</a:t>
                </a:r>
                <a:endParaRPr kumimoji="1" lang="en-US" altLang="ja-JP" dirty="0"/>
              </a:p>
              <a:p>
                <a:r>
                  <a:rPr lang="ja-JP" altLang="en-US" dirty="0"/>
                  <a:t>母平均の</a:t>
                </a:r>
                <a:r>
                  <a:rPr lang="en-US" altLang="ja-JP" dirty="0"/>
                  <a:t>99%</a:t>
                </a:r>
                <a:r>
                  <a:rPr lang="ja-JP" altLang="en-US" dirty="0"/>
                  <a:t>信頼区間を求めよ．</a:t>
                </a:r>
                <a:endParaRPr lang="en-US" altLang="ja-JP" dirty="0"/>
              </a:p>
              <a:p>
                <a:r>
                  <a:rPr kumimoji="1" lang="ja-JP" altLang="en-US" dirty="0"/>
                  <a:t>母分散の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必要な統計量を計算する</a:t>
                </a:r>
                <a:endParaRPr lang="en-US" altLang="ja-JP" dirty="0"/>
              </a:p>
              <a:p>
                <a:pPr lvl="2"/>
                <a:r>
                  <a:rPr kumimoji="1" lang="ja-JP" altLang="en-US" b="0" dirty="0"/>
                  <a:t>標本数：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標本平均：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=20.35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偏差二乗和：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=2.66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自由度：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dirty="0"/>
                  <a:t>0.5%</a:t>
                </a:r>
                <a:r>
                  <a:rPr lang="ja-JP" altLang="en-US" dirty="0"/>
                  <a:t>点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0.005</m:t>
                        </m:r>
                      </m:sub>
                    </m:sSub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=3.49948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/>
                  <a:t>2.5%</a:t>
                </a:r>
                <a:r>
                  <a:rPr lang="ja-JP" altLang="en-US" dirty="0"/>
                  <a:t>点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=16.01276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97.5%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点</m:t>
                    </m:r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1.68987</m:t>
                    </m:r>
                  </m:oMath>
                </a14:m>
                <a:endParaRPr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A55DC85-3AD3-EA9D-C658-3DCC2B5DA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BFBAF7-96B7-3F44-B22B-E1A40F388F2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30417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3B0C-6037-9F86-4D68-6EC06B87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5E45C-07AB-3515-93E5-9373F288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356443F-D066-4D4A-31E7-5BEBAB85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3B4F80D-FFB0-239D-EAF9-23F5870CB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ある農家のトマト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箱の重量を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8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箱測定したところ，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表の結果を得た．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母平均の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99%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信頼区間を求めよ．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母分散の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母平均の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99%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altLang="ja-JP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19.59, 21.11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母分散の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0.17, 1.57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3B4F80D-FFB0-239D-EAF9-23F5870CB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2F58C94-4F92-F970-4176-E7323209C87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62719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母数と推定量の違いを理解する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母数：母集団の特徴を表す統計量・固定値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推定量：母数を推定するための統計量・確率変数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不偏推定量の特徴について理解する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偏りのない推定量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母平均の区間推定について理解する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2213</TotalTime>
  <Words>2484</Words>
  <Application>Microsoft Office PowerPoint</Application>
  <PresentationFormat>画面に合わせる (4:3)</PresentationFormat>
  <Paragraphs>203</Paragraphs>
  <Slides>22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[AL] 母平均の区間推定・母分散の区間推定</vt:lpstr>
      <vt:lpstr>Summary</vt:lpstr>
      <vt:lpstr>標本不偏分散</vt:lpstr>
      <vt:lpstr>母平均の95%信頼区間</vt:lpstr>
      <vt:lpstr>母分散の95%信頼区間</vt:lpstr>
      <vt:lpstr>①テストの得点</vt:lpstr>
      <vt:lpstr>①テストの得点</vt:lpstr>
      <vt:lpstr>①テストの得点</vt:lpstr>
      <vt:lpstr>①テストの得点</vt:lpstr>
      <vt:lpstr>②ネジの長さ</vt:lpstr>
      <vt:lpstr>②ネジの長さ</vt:lpstr>
      <vt:lpstr>②ネジの長さ</vt:lpstr>
      <vt:lpstr>②ネジの長さ</vt:lpstr>
      <vt:lpstr>②ネジの長さ</vt:lpstr>
      <vt:lpstr>②ネジの長さ</vt:lpstr>
      <vt:lpstr>③バッテリーの寿命</vt:lpstr>
      <vt:lpstr>③バッテリーの寿命</vt:lpstr>
      <vt:lpstr>③バッテリーの寿命</vt:lpstr>
      <vt:lpstr>④トマトの重量</vt:lpstr>
      <vt:lpstr>④トマトの重量</vt:lpstr>
      <vt:lpstr>④トマトの重量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Maria Ikegawa</cp:lastModifiedBy>
  <cp:revision>266</cp:revision>
  <dcterms:created xsi:type="dcterms:W3CDTF">2025-03-03T09:28:12Z</dcterms:created>
  <dcterms:modified xsi:type="dcterms:W3CDTF">2025-09-04T12:40:44Z</dcterms:modified>
</cp:coreProperties>
</file>