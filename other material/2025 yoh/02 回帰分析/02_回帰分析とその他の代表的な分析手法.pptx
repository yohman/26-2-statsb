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32"/>
  </p:notesMasterIdLst>
  <p:sldIdLst>
    <p:sldId id="256" r:id="rId2"/>
    <p:sldId id="257" r:id="rId3"/>
    <p:sldId id="258" r:id="rId4"/>
    <p:sldId id="281" r:id="rId5"/>
    <p:sldId id="282" r:id="rId6"/>
    <p:sldId id="283" r:id="rId7"/>
    <p:sldId id="284" r:id="rId8"/>
    <p:sldId id="526" r:id="rId9"/>
    <p:sldId id="528" r:id="rId10"/>
    <p:sldId id="529" r:id="rId11"/>
    <p:sldId id="288" r:id="rId12"/>
    <p:sldId id="286" r:id="rId13"/>
    <p:sldId id="289" r:id="rId14"/>
    <p:sldId id="291" r:id="rId15"/>
    <p:sldId id="292" r:id="rId16"/>
    <p:sldId id="542" r:id="rId17"/>
    <p:sldId id="530" r:id="rId18"/>
    <p:sldId id="531" r:id="rId19"/>
    <p:sldId id="532" r:id="rId20"/>
    <p:sldId id="533" r:id="rId21"/>
    <p:sldId id="535" r:id="rId22"/>
    <p:sldId id="534" r:id="rId23"/>
    <p:sldId id="543" r:id="rId24"/>
    <p:sldId id="536" r:id="rId25"/>
    <p:sldId id="537" r:id="rId26"/>
    <p:sldId id="538" r:id="rId27"/>
    <p:sldId id="539" r:id="rId28"/>
    <p:sldId id="541" r:id="rId29"/>
    <p:sldId id="540" r:id="rId30"/>
    <p:sldId id="262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60" d="100"/>
          <a:sy n="60" d="100"/>
        </p:scale>
        <p:origin x="14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rais\Desktop\02_AL&#29992;&#12527;&#12540;&#12463;&#12471;&#12540;&#12488;_&#35299;&#31572;&#20837;&#1242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73004028566197"/>
          <c:y val="4.49438202247191E-2"/>
          <c:w val="0.80703740157480308"/>
          <c:h val="0.7674023790948501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演習用ワークシート_解答!$E$7:$E$18</c:f>
              <c:numCache>
                <c:formatCode>General</c:formatCode>
                <c:ptCount val="12"/>
                <c:pt idx="0">
                  <c:v>5.7</c:v>
                </c:pt>
                <c:pt idx="1">
                  <c:v>7.3</c:v>
                </c:pt>
                <c:pt idx="2">
                  <c:v>12.9</c:v>
                </c:pt>
                <c:pt idx="3">
                  <c:v>16.3</c:v>
                </c:pt>
                <c:pt idx="4">
                  <c:v>19</c:v>
                </c:pt>
                <c:pt idx="5">
                  <c:v>23.2</c:v>
                </c:pt>
                <c:pt idx="6">
                  <c:v>28.7</c:v>
                </c:pt>
                <c:pt idx="7">
                  <c:v>29.2</c:v>
                </c:pt>
                <c:pt idx="8">
                  <c:v>26.7</c:v>
                </c:pt>
                <c:pt idx="9">
                  <c:v>18.899999999999999</c:v>
                </c:pt>
                <c:pt idx="10">
                  <c:v>14.4</c:v>
                </c:pt>
                <c:pt idx="11">
                  <c:v>9.4</c:v>
                </c:pt>
              </c:numCache>
            </c:numRef>
          </c:xVal>
          <c:yVal>
            <c:numRef>
              <c:f>演習用ワークシート_解答!$D$7:$D$18</c:f>
              <c:numCache>
                <c:formatCode>General</c:formatCode>
                <c:ptCount val="12"/>
                <c:pt idx="0">
                  <c:v>550</c:v>
                </c:pt>
                <c:pt idx="1">
                  <c:v>500</c:v>
                </c:pt>
                <c:pt idx="2">
                  <c:v>665</c:v>
                </c:pt>
                <c:pt idx="3">
                  <c:v>797</c:v>
                </c:pt>
                <c:pt idx="4">
                  <c:v>1063</c:v>
                </c:pt>
                <c:pt idx="5">
                  <c:v>1142</c:v>
                </c:pt>
                <c:pt idx="6">
                  <c:v>1688</c:v>
                </c:pt>
                <c:pt idx="7">
                  <c:v>1710</c:v>
                </c:pt>
                <c:pt idx="8">
                  <c:v>1234</c:v>
                </c:pt>
                <c:pt idx="9">
                  <c:v>823</c:v>
                </c:pt>
                <c:pt idx="10">
                  <c:v>682</c:v>
                </c:pt>
                <c:pt idx="11">
                  <c:v>724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826-43DE-A1E3-2E200CFC43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6554768"/>
        <c:axId val="526526448"/>
      </c:scatterChart>
      <c:valAx>
        <c:axId val="5265547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演習用ワークシート_解答!$E$5</c:f>
              <c:strCache>
                <c:ptCount val="1"/>
                <c:pt idx="0">
                  <c:v>気温</c:v>
                </c:pt>
              </c:strCache>
            </c:strRef>
          </c:tx>
          <c:layout>
            <c:manualLayout>
              <c:xMode val="edge"/>
              <c:yMode val="edge"/>
              <c:x val="0.91462071964841585"/>
              <c:y val="0.9030439223697650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26526448"/>
        <c:crosses val="autoZero"/>
        <c:crossBetween val="midCat"/>
      </c:valAx>
      <c:valAx>
        <c:axId val="526526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演習用ワークシート_解答!$D$6</c:f>
              <c:strCache>
                <c:ptCount val="1"/>
                <c:pt idx="0">
                  <c:v>支出金額</c:v>
                </c:pt>
              </c:strCache>
            </c:strRef>
          </c:tx>
          <c:layout>
            <c:manualLayout>
              <c:xMode val="edge"/>
              <c:yMode val="edge"/>
              <c:x val="1.4534883720930232E-2"/>
              <c:y val="2.210772683036683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265547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0" y="1844824"/>
            <a:ext cx="4507200" cy="360040"/>
          </a:xfrm>
          <a:ln>
            <a:solidFill>
              <a:schemeClr val="tx1"/>
            </a:solidFill>
          </a:ln>
        </p:spPr>
        <p:txBody>
          <a:bodyPr anchor="b">
            <a:norm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0" y="2276872"/>
            <a:ext cx="4507732" cy="423932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36800" y="1844824"/>
            <a:ext cx="4507200" cy="360040"/>
          </a:xfrm>
          <a:ln>
            <a:solidFill>
              <a:schemeClr val="tx1"/>
            </a:solidFill>
          </a:ln>
        </p:spPr>
        <p:txBody>
          <a:bodyPr anchor="b">
            <a:norm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6921" y="2276872"/>
            <a:ext cx="4507200" cy="423932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2019/5/13</a:t>
            </a:r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4BC44-1CD2-4666-A5F4-A286043144F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7"/>
          <p:cNvSpPr>
            <a:spLocks noGrp="1"/>
          </p:cNvSpPr>
          <p:nvPr>
            <p:ph sz="quarter" idx="13"/>
          </p:nvPr>
        </p:nvSpPr>
        <p:spPr>
          <a:xfrm>
            <a:off x="0" y="692696"/>
            <a:ext cx="9143999" cy="1152128"/>
          </a:xfrm>
          <a:ln w="38100">
            <a:solidFill>
              <a:schemeClr val="tx1"/>
            </a:solidFill>
          </a:ln>
        </p:spPr>
        <p:txBody>
          <a:bodyPr anchor="ctr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029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  <p:sldLayoutId id="2147483736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#02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回帰分析とその他の代表的な分析手法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節　回帰分析とその他の代表的な分析手法</a:t>
            </a:r>
            <a:endParaRPr kumimoji="1" lang="en-US" altLang="ja-JP" dirty="0"/>
          </a:p>
          <a:p>
            <a:pPr lvl="1"/>
            <a:r>
              <a:rPr lang="ja-JP" altLang="en-US" dirty="0"/>
              <a:t>相関関係と因果関係の違いを理解する</a:t>
            </a:r>
            <a:endParaRPr lang="en-US" altLang="ja-JP" dirty="0"/>
          </a:p>
          <a:p>
            <a:pPr lvl="1"/>
            <a:r>
              <a:rPr lang="ja-JP" altLang="en-US" dirty="0"/>
              <a:t>回帰分析について理解する</a:t>
            </a:r>
            <a:endParaRPr lang="en-US" altLang="ja-JP" dirty="0"/>
          </a:p>
          <a:p>
            <a:pPr lvl="1"/>
            <a:r>
              <a:rPr kumimoji="1" lang="en-US" altLang="ja-JP" dirty="0"/>
              <a:t>Excel</a:t>
            </a:r>
            <a:r>
              <a:rPr kumimoji="1" lang="ja-JP" altLang="en-US" dirty="0"/>
              <a:t>での単回帰分析を修得する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：変数間の関係性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8DFE95-A9B0-C1DC-8C9B-33AE745E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つのデータの間の関係性を考える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53080F3-BABE-0FAA-D2B8-EAEF697A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D9BA9A-6049-2263-7A61-11566B9026E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2137693"/>
          </a:xfrm>
        </p:spPr>
        <p:txBody>
          <a:bodyPr/>
          <a:lstStyle/>
          <a:p>
            <a:r>
              <a:rPr kumimoji="1" lang="ja-JP" altLang="en-US" b="1" dirty="0">
                <a:solidFill>
                  <a:schemeClr val="accent5"/>
                </a:solidFill>
              </a:rPr>
              <a:t>片方の変数が増えた</a:t>
            </a:r>
            <a:r>
              <a:rPr kumimoji="1" lang="ja-JP" altLang="en-US" dirty="0"/>
              <a:t>とき，</a:t>
            </a:r>
            <a:br>
              <a:rPr kumimoji="1" lang="en-US" altLang="ja-JP" dirty="0"/>
            </a:br>
            <a:r>
              <a:rPr kumimoji="1" lang="ja-JP" altLang="en-US" dirty="0"/>
              <a:t>もう片方の変数は</a:t>
            </a:r>
            <a:br>
              <a:rPr kumimoji="1" lang="en-US" altLang="ja-JP" dirty="0"/>
            </a:br>
            <a:r>
              <a:rPr kumimoji="1" lang="ja-JP" altLang="en-US" dirty="0"/>
              <a:t>どの程度増えるか</a:t>
            </a:r>
            <a:endParaRPr kumimoji="1" lang="en-US" altLang="ja-JP" dirty="0"/>
          </a:p>
          <a:p>
            <a:pPr lvl="1"/>
            <a:r>
              <a:rPr lang="ja-JP" altLang="en-US" dirty="0"/>
              <a:t>回帰分析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BF37169-DCFF-27A8-F979-2832AD2D4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accent5"/>
                </a:solidFill>
              </a:rPr>
              <a:t>因果関係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D6956DE-E773-8251-6BA0-199A1DC8C6E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2137693"/>
          </a:xfrm>
        </p:spPr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つの変数の間に</a:t>
            </a:r>
            <a:br>
              <a:rPr kumimoji="1" lang="en-US" altLang="ja-JP" dirty="0"/>
            </a:br>
            <a:r>
              <a:rPr kumimoji="1" lang="ja-JP" altLang="en-US" b="1" dirty="0">
                <a:solidFill>
                  <a:schemeClr val="accent5"/>
                </a:solidFill>
              </a:rPr>
              <a:t>関係性がある</a:t>
            </a:r>
            <a:r>
              <a:rPr kumimoji="1" lang="ja-JP" altLang="en-US" dirty="0"/>
              <a:t>か</a:t>
            </a:r>
            <a:endParaRPr kumimoji="1" lang="en-US" altLang="ja-JP" dirty="0"/>
          </a:p>
          <a:p>
            <a:pPr lvl="1"/>
            <a:r>
              <a:rPr lang="ja-JP" altLang="en-US" dirty="0"/>
              <a:t>散布図</a:t>
            </a:r>
            <a:endParaRPr lang="en-US" altLang="ja-JP" dirty="0"/>
          </a:p>
          <a:p>
            <a:pPr lvl="1"/>
            <a:r>
              <a:rPr kumimoji="1" lang="ja-JP" altLang="en-US" dirty="0"/>
              <a:t>相関係数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08EBB7FF-5D04-4FE5-C875-3336AC0079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accent5"/>
                </a:solidFill>
              </a:rPr>
              <a:t>相関関係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29515B2-F2BF-DB85-3B87-6B3085DA2E83}"/>
              </a:ext>
            </a:extLst>
          </p:cNvPr>
          <p:cNvGrpSpPr/>
          <p:nvPr/>
        </p:nvGrpSpPr>
        <p:grpSpPr>
          <a:xfrm>
            <a:off x="131975" y="3988033"/>
            <a:ext cx="4348743" cy="1297172"/>
            <a:chOff x="131975" y="3988033"/>
            <a:chExt cx="4348743" cy="1297172"/>
          </a:xfrm>
        </p:grpSpPr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B822E92D-DFEE-2A76-417F-C8A955AC6CFF}"/>
                </a:ext>
              </a:extLst>
            </p:cNvPr>
            <p:cNvSpPr/>
            <p:nvPr/>
          </p:nvSpPr>
          <p:spPr>
            <a:xfrm>
              <a:off x="131975" y="3988033"/>
              <a:ext cx="1297172" cy="1297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A</a:t>
              </a:r>
              <a:endParaRPr kumimoji="1" lang="ja-JP" altLang="en-US" sz="36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6E405DBE-495C-8F25-2FD5-9158766D2AC0}"/>
                </a:ext>
              </a:extLst>
            </p:cNvPr>
            <p:cNvSpPr/>
            <p:nvPr/>
          </p:nvSpPr>
          <p:spPr>
            <a:xfrm>
              <a:off x="3183546" y="3988033"/>
              <a:ext cx="1297172" cy="1297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B</a:t>
              </a:r>
              <a:endParaRPr kumimoji="1" lang="ja-JP" altLang="en-US" sz="36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0" name="矢印: 左右 9">
              <a:extLst>
                <a:ext uri="{FF2B5EF4-FFF2-40B4-BE49-F238E27FC236}">
                  <a16:creationId xmlns:a16="http://schemas.microsoft.com/office/drawing/2014/main" id="{787EF76C-353D-7D05-71CD-ED9119FA47D8}"/>
                </a:ext>
              </a:extLst>
            </p:cNvPr>
            <p:cNvSpPr/>
            <p:nvPr/>
          </p:nvSpPr>
          <p:spPr>
            <a:xfrm>
              <a:off x="1429146" y="4200821"/>
              <a:ext cx="1754399" cy="871595"/>
            </a:xfrm>
            <a:prstGeom prst="left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関係がある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35CC0C7-90FA-A4D1-1E7E-0A64D99234C1}"/>
              </a:ext>
            </a:extLst>
          </p:cNvPr>
          <p:cNvGrpSpPr/>
          <p:nvPr/>
        </p:nvGrpSpPr>
        <p:grpSpPr>
          <a:xfrm>
            <a:off x="4663281" y="3988033"/>
            <a:ext cx="4348743" cy="1297172"/>
            <a:chOff x="4663281" y="3988033"/>
            <a:chExt cx="4348743" cy="1297172"/>
          </a:xfrm>
        </p:grpSpPr>
        <p:sp>
          <p:nvSpPr>
            <p:cNvPr id="15" name="矢印: 右 14">
              <a:extLst>
                <a:ext uri="{FF2B5EF4-FFF2-40B4-BE49-F238E27FC236}">
                  <a16:creationId xmlns:a16="http://schemas.microsoft.com/office/drawing/2014/main" id="{E29A19E7-1AB9-5093-9B7E-1E8A3FEF800E}"/>
                </a:ext>
              </a:extLst>
            </p:cNvPr>
            <p:cNvSpPr/>
            <p:nvPr/>
          </p:nvSpPr>
          <p:spPr>
            <a:xfrm>
              <a:off x="5960453" y="4137299"/>
              <a:ext cx="1754399" cy="998637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原因 → 結果</a:t>
              </a: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9034CBA7-E611-B9CD-1874-A51EFF6FAA0E}"/>
                </a:ext>
              </a:extLst>
            </p:cNvPr>
            <p:cNvGrpSpPr/>
            <p:nvPr/>
          </p:nvGrpSpPr>
          <p:grpSpPr>
            <a:xfrm>
              <a:off x="4663281" y="3988033"/>
              <a:ext cx="4348743" cy="1297172"/>
              <a:chOff x="5143454" y="4351420"/>
              <a:chExt cx="4348743" cy="1297172"/>
            </a:xfrm>
          </p:grpSpPr>
          <p:sp>
            <p:nvSpPr>
              <p:cNvPr id="17" name="楕円 16">
                <a:extLst>
                  <a:ext uri="{FF2B5EF4-FFF2-40B4-BE49-F238E27FC236}">
                    <a16:creationId xmlns:a16="http://schemas.microsoft.com/office/drawing/2014/main" id="{59C833A7-C7DF-04D3-4011-1B4876B614B9}"/>
                  </a:ext>
                </a:extLst>
              </p:cNvPr>
              <p:cNvSpPr/>
              <p:nvPr/>
            </p:nvSpPr>
            <p:spPr>
              <a:xfrm>
                <a:off x="5143454" y="4351420"/>
                <a:ext cx="1297172" cy="12971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600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A</a:t>
                </a:r>
                <a:endParaRPr kumimoji="1" lang="ja-JP" altLang="en-US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18" name="楕円 17">
                <a:extLst>
                  <a:ext uri="{FF2B5EF4-FFF2-40B4-BE49-F238E27FC236}">
                    <a16:creationId xmlns:a16="http://schemas.microsoft.com/office/drawing/2014/main" id="{25809759-8693-D39A-01C1-CB89BF1F68B6}"/>
                  </a:ext>
                </a:extLst>
              </p:cNvPr>
              <p:cNvSpPr/>
              <p:nvPr/>
            </p:nvSpPr>
            <p:spPr>
              <a:xfrm>
                <a:off x="8195025" y="4351420"/>
                <a:ext cx="1297172" cy="12971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600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B</a:t>
                </a:r>
                <a:endParaRPr kumimoji="1" lang="ja-JP" altLang="en-US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EC4D029-0947-7916-E307-40F3BE89AF3C}"/>
              </a:ext>
            </a:extLst>
          </p:cNvPr>
          <p:cNvSpPr/>
          <p:nvPr/>
        </p:nvSpPr>
        <p:spPr>
          <a:xfrm>
            <a:off x="131975" y="5551840"/>
            <a:ext cx="8880049" cy="9986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相関関係があるからといって，</a:t>
            </a:r>
            <a:r>
              <a:rPr kumimoji="1" lang="ja-JP" altLang="en-US" sz="2400" b="1" u="sng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因果関係があるとは限らない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166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/>
      <p:bldP spid="6" grpId="0" uiExpand="1" build="p" animBg="1"/>
      <p:bldP spid="7" grpId="0" build="p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２：回帰分析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BD80E-D156-0E80-73BA-590A19B4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回帰分析とは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2B7498-9159-6942-328C-169E3528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8B9A80-48DD-E1FC-CB98-D8AA6F571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回帰分析　</a:t>
            </a:r>
            <a:r>
              <a:rPr kumimoji="1" lang="en-US" altLang="ja-JP" dirty="0">
                <a:solidFill>
                  <a:schemeClr val="accent2"/>
                </a:solidFill>
              </a:rPr>
              <a:t>regression analysis</a:t>
            </a:r>
          </a:p>
          <a:p>
            <a:pPr lvl="1"/>
            <a:r>
              <a:rPr lang="ja-JP" altLang="en-US" dirty="0"/>
              <a:t>原因と結果</a:t>
            </a:r>
            <a:r>
              <a:rPr lang="ja-JP" altLang="en-US" sz="1800" dirty="0"/>
              <a:t>（予測を行いたい変数）</a:t>
            </a:r>
            <a:r>
              <a:rPr lang="ja-JP" altLang="en-US" dirty="0"/>
              <a:t>を分析者が設定し，</a:t>
            </a:r>
            <a:br>
              <a:rPr lang="en-US" altLang="ja-JP" dirty="0"/>
            </a:br>
            <a:r>
              <a:rPr lang="ja-JP" altLang="en-US" dirty="0"/>
              <a:t>その変数間の関係性を明らかにする</a:t>
            </a:r>
            <a:br>
              <a:rPr lang="en-US" altLang="ja-JP" dirty="0"/>
            </a:br>
            <a:r>
              <a:rPr lang="ja-JP" altLang="en-US" dirty="0"/>
              <a:t>統計的な分析手法</a:t>
            </a:r>
            <a:endParaRPr lang="en-US" altLang="ja-JP" dirty="0"/>
          </a:p>
          <a:p>
            <a:r>
              <a:rPr kumimoji="1" lang="ja-JP" altLang="en-US" b="1" dirty="0">
                <a:solidFill>
                  <a:schemeClr val="accent5"/>
                </a:solidFill>
              </a:rPr>
              <a:t>目的変数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：結果（</a:t>
            </a:r>
            <a:r>
              <a:rPr kumimoji="1" lang="en-US" altLang="ja-JP" dirty="0"/>
              <a:t>y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予測を行いたい変数</a:t>
            </a:r>
            <a:endParaRPr kumimoji="1" lang="en-US" altLang="ja-JP" dirty="0"/>
          </a:p>
          <a:p>
            <a:pPr lvl="1"/>
            <a:r>
              <a:rPr lang="ja-JP" altLang="en-US" dirty="0"/>
              <a:t>分析の目的</a:t>
            </a:r>
            <a:endParaRPr lang="en-US" altLang="ja-JP" dirty="0"/>
          </a:p>
          <a:p>
            <a:pPr lvl="1"/>
            <a:r>
              <a:rPr kumimoji="1" lang="ja-JP" altLang="en-US" dirty="0"/>
              <a:t>被説明変数</a:t>
            </a:r>
            <a:endParaRPr kumimoji="1" lang="en-US" altLang="ja-JP" dirty="0"/>
          </a:p>
          <a:p>
            <a:r>
              <a:rPr kumimoji="1" lang="ja-JP" altLang="en-US" b="1" dirty="0">
                <a:solidFill>
                  <a:schemeClr val="accent5"/>
                </a:solidFill>
              </a:rPr>
              <a:t>説明変数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：原因（</a:t>
            </a:r>
            <a:r>
              <a:rPr kumimoji="1" lang="en-US" altLang="ja-JP" dirty="0"/>
              <a:t>x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lang="ja-JP" altLang="en-US" dirty="0"/>
              <a:t>原因となり得る変数</a:t>
            </a:r>
            <a:endParaRPr lang="en-US" altLang="ja-JP" dirty="0"/>
          </a:p>
          <a:p>
            <a:pPr lvl="1"/>
            <a:r>
              <a:rPr kumimoji="1" lang="ja-JP" altLang="en-US" dirty="0"/>
              <a:t>独立変数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E795C04-446A-786E-AC55-0020E103F805}"/>
              </a:ext>
            </a:extLst>
          </p:cNvPr>
          <p:cNvGrpSpPr/>
          <p:nvPr/>
        </p:nvGrpSpPr>
        <p:grpSpPr>
          <a:xfrm>
            <a:off x="5543056" y="2382376"/>
            <a:ext cx="3018616" cy="3222954"/>
            <a:chOff x="5523133" y="2292004"/>
            <a:chExt cx="3018616" cy="3222954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5487666B-829A-A057-8065-D90CF0DF1FCE}"/>
                </a:ext>
              </a:extLst>
            </p:cNvPr>
            <p:cNvGrpSpPr/>
            <p:nvPr/>
          </p:nvGrpSpPr>
          <p:grpSpPr>
            <a:xfrm>
              <a:off x="5909777" y="2615170"/>
              <a:ext cx="2424223" cy="2424224"/>
              <a:chOff x="5061098" y="3040912"/>
              <a:chExt cx="2424223" cy="2424224"/>
            </a:xfrm>
          </p:grpSpPr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DB718FD2-A13D-EEC9-9C80-CCEF286CA46B}"/>
                  </a:ext>
                </a:extLst>
              </p:cNvPr>
              <p:cNvCxnSpPr/>
              <p:nvPr/>
            </p:nvCxnSpPr>
            <p:spPr>
              <a:xfrm flipV="1">
                <a:off x="5061098" y="3040912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矢印コネクタ 6">
                <a:extLst>
                  <a:ext uri="{FF2B5EF4-FFF2-40B4-BE49-F238E27FC236}">
                    <a16:creationId xmlns:a16="http://schemas.microsoft.com/office/drawing/2014/main" id="{4B4B2820-4CD8-18EA-F38F-E94DCD9FFCB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273210" y="4253024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C92627DA-F43D-583E-E23E-70DA82DBF565}"/>
                </a:ext>
              </a:extLst>
            </p:cNvPr>
            <p:cNvGrpSpPr/>
            <p:nvPr/>
          </p:nvGrpSpPr>
          <p:grpSpPr>
            <a:xfrm>
              <a:off x="5523133" y="2292004"/>
              <a:ext cx="3018616" cy="3222954"/>
              <a:chOff x="5523133" y="2292004"/>
              <a:chExt cx="3018616" cy="3222954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D0E2DF4-3531-F936-31B9-EB2C43F56861}"/>
                  </a:ext>
                </a:extLst>
              </p:cNvPr>
              <p:cNvSpPr txBox="1"/>
              <p:nvPr/>
            </p:nvSpPr>
            <p:spPr>
              <a:xfrm>
                <a:off x="5523133" y="2292004"/>
                <a:ext cx="3866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y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6077FAD-4C49-9787-6D07-1A8B73486D92}"/>
                  </a:ext>
                </a:extLst>
              </p:cNvPr>
              <p:cNvSpPr txBox="1"/>
              <p:nvPr/>
            </p:nvSpPr>
            <p:spPr>
              <a:xfrm>
                <a:off x="8126251" y="4868627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x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13" name="フローチャート: 代替処理 12">
            <a:extLst>
              <a:ext uri="{FF2B5EF4-FFF2-40B4-BE49-F238E27FC236}">
                <a16:creationId xmlns:a16="http://schemas.microsoft.com/office/drawing/2014/main" id="{5872115F-1F10-D6DA-7A84-45FE42749909}"/>
              </a:ext>
            </a:extLst>
          </p:cNvPr>
          <p:cNvSpPr/>
          <p:nvPr/>
        </p:nvSpPr>
        <p:spPr>
          <a:xfrm>
            <a:off x="5230259" y="5595136"/>
            <a:ext cx="3644210" cy="861224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縦軸に結果，横軸に原因をとり</a:t>
            </a:r>
            <a:br>
              <a:rPr kumimoji="1" lang="en-US" altLang="ja-JP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散布図を描いていくイメージ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CCE7F4-93E5-0097-BEF2-60CB1752D67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32328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4CEBD9-D9A2-D3A8-9740-3AACA19C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回帰分析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3990451-74AE-3149-9AD7-2E88BD10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C78588-2BA3-1CFF-5581-E5905BB446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仮説を立てる：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目的変数</a:t>
                </a:r>
                <a:r>
                  <a:rPr kumimoji="1" lang="ja-JP" altLang="en-US" sz="1800" dirty="0"/>
                  <a:t>（結果）</a:t>
                </a:r>
                <a:r>
                  <a:rPr kumimoji="1" lang="ja-JP" altLang="en-US" dirty="0"/>
                  <a:t>は，説明変数</a:t>
                </a:r>
                <a:r>
                  <a:rPr kumimoji="1" lang="ja-JP" altLang="en-US" sz="1800" dirty="0"/>
                  <a:t>（原因）</a:t>
                </a:r>
                <a:r>
                  <a:rPr kumimoji="1" lang="ja-JP" altLang="en-US" dirty="0"/>
                  <a:t>によって決まるのでは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アイスクリームへの消費額は，気温によって決まるのではないか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気温は，アイスクリームへの消費額によって決まるのではないか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（原因と結果が逆）は成り立たないことに注意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式を立てる：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目的変数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説明変数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直線の関係式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1</a:t>
                </a:r>
                <a:r>
                  <a:rPr lang="ja-JP" altLang="en-US" sz="1800" dirty="0"/>
                  <a:t>次関数）</a:t>
                </a:r>
                <a:r>
                  <a:rPr lang="ja-JP" altLang="en-US" dirty="0"/>
                  <a:t>を立てて，</a:t>
                </a:r>
                <a:br>
                  <a:rPr lang="en-US" altLang="ja-JP" dirty="0"/>
                </a:br>
                <a:r>
                  <a:rPr lang="ja-JP" altLang="en-US" dirty="0"/>
                  <a:t>切片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と傾き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を見つけることで，</a:t>
                </a:r>
                <a:br>
                  <a:rPr kumimoji="1" lang="en-US" altLang="ja-JP" dirty="0"/>
                </a:br>
                <a:r>
                  <a:rPr kumimoji="1" lang="en-US" altLang="ja-JP" b="1" dirty="0">
                    <a:solidFill>
                      <a:schemeClr val="accent5"/>
                    </a:solidFill>
                  </a:rPr>
                  <a:t>2</a:t>
                </a:r>
                <a:r>
                  <a:rPr kumimoji="1" lang="ja-JP" altLang="en-US" b="1" dirty="0">
                    <a:solidFill>
                      <a:schemeClr val="accent5"/>
                    </a:solidFill>
                  </a:rPr>
                  <a:t>つの関係性を</a:t>
                </a:r>
                <a:r>
                  <a:rPr kumimoji="1" lang="en-US" altLang="ja-JP" b="1" dirty="0">
                    <a:solidFill>
                      <a:schemeClr val="accent5"/>
                    </a:solidFill>
                  </a:rPr>
                  <a:t>1</a:t>
                </a:r>
                <a:r>
                  <a:rPr kumimoji="1" lang="ja-JP" altLang="en-US" b="1" dirty="0">
                    <a:solidFill>
                      <a:schemeClr val="accent5"/>
                    </a:solidFill>
                  </a:rPr>
                  <a:t>次関数で</a:t>
                </a:r>
                <a:r>
                  <a:rPr kumimoji="1" lang="ja-JP" altLang="en-US" dirty="0"/>
                  <a:t>表す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と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の求め方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：最小二乗法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：誤差項（余り</a:t>
                </a:r>
                <a:r>
                  <a:rPr kumimoji="1" lang="ja-JP" altLang="en-US" sz="1600" dirty="0"/>
                  <a:t>（誤差）</a:t>
                </a:r>
                <a:r>
                  <a:rPr kumimoji="1" lang="ja-JP" altLang="en-US" dirty="0"/>
                  <a:t>．今回は無視．）</a:t>
                </a: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C78588-2BA3-1CFF-5581-E5905BB44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33D8886-1E73-0FE9-20D1-3BB616D083C2}"/>
              </a:ext>
            </a:extLst>
          </p:cNvPr>
          <p:cNvGrpSpPr/>
          <p:nvPr/>
        </p:nvGrpSpPr>
        <p:grpSpPr>
          <a:xfrm>
            <a:off x="5993408" y="3105390"/>
            <a:ext cx="3018616" cy="3222954"/>
            <a:chOff x="5523133" y="2292004"/>
            <a:chExt cx="3018616" cy="3222954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A1A3886-0BA5-0F71-3ACC-E37A54346F4B}"/>
                </a:ext>
              </a:extLst>
            </p:cNvPr>
            <p:cNvGrpSpPr/>
            <p:nvPr/>
          </p:nvGrpSpPr>
          <p:grpSpPr>
            <a:xfrm>
              <a:off x="5909777" y="2615170"/>
              <a:ext cx="2424223" cy="2424224"/>
              <a:chOff x="5061098" y="3040912"/>
              <a:chExt cx="2424223" cy="2424224"/>
            </a:xfrm>
          </p:grpSpPr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D476C695-CE12-79D5-811F-4DCB942202AD}"/>
                  </a:ext>
                </a:extLst>
              </p:cNvPr>
              <p:cNvCxnSpPr/>
              <p:nvPr/>
            </p:nvCxnSpPr>
            <p:spPr>
              <a:xfrm flipV="1">
                <a:off x="5061098" y="3040912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矢印コネクタ 10">
                <a:extLst>
                  <a:ext uri="{FF2B5EF4-FFF2-40B4-BE49-F238E27FC236}">
                    <a16:creationId xmlns:a16="http://schemas.microsoft.com/office/drawing/2014/main" id="{1F10EB8C-55B3-D578-C8C7-29D00E10875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273210" y="4253024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63D76FA0-3DD2-D98E-8370-D7E8B07CF48B}"/>
                </a:ext>
              </a:extLst>
            </p:cNvPr>
            <p:cNvGrpSpPr/>
            <p:nvPr/>
          </p:nvGrpSpPr>
          <p:grpSpPr>
            <a:xfrm>
              <a:off x="5523133" y="2292004"/>
              <a:ext cx="3018616" cy="3222954"/>
              <a:chOff x="5523133" y="2292004"/>
              <a:chExt cx="3018616" cy="3222954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CAA8B3E-7B51-2563-CB42-88EC6C113A21}"/>
                  </a:ext>
                </a:extLst>
              </p:cNvPr>
              <p:cNvSpPr txBox="1"/>
              <p:nvPr/>
            </p:nvSpPr>
            <p:spPr>
              <a:xfrm>
                <a:off x="5523133" y="2292004"/>
                <a:ext cx="3866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y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2FE23ED5-5352-B81A-A95B-924A94208C08}"/>
                  </a:ext>
                </a:extLst>
              </p:cNvPr>
              <p:cNvSpPr txBox="1"/>
              <p:nvPr/>
            </p:nvSpPr>
            <p:spPr>
              <a:xfrm>
                <a:off x="8126251" y="4868627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x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FF4D92F-B0B2-114E-FE82-2EC7AEFAA0EF}"/>
              </a:ext>
            </a:extLst>
          </p:cNvPr>
          <p:cNvGrpSpPr/>
          <p:nvPr/>
        </p:nvGrpSpPr>
        <p:grpSpPr>
          <a:xfrm>
            <a:off x="6766697" y="3797473"/>
            <a:ext cx="1731179" cy="1686389"/>
            <a:chOff x="6929142" y="3624130"/>
            <a:chExt cx="1731179" cy="1686389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A4C61E3-8883-8E40-23FB-ECF2366942F8}"/>
                </a:ext>
              </a:extLst>
            </p:cNvPr>
            <p:cNvSpPr/>
            <p:nvPr/>
          </p:nvSpPr>
          <p:spPr>
            <a:xfrm>
              <a:off x="7123814" y="4449281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86C99D7-6271-859F-9D8F-0F20A5BF7EEE}"/>
                </a:ext>
              </a:extLst>
            </p:cNvPr>
            <p:cNvSpPr/>
            <p:nvPr/>
          </p:nvSpPr>
          <p:spPr>
            <a:xfrm>
              <a:off x="7733414" y="4513076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0B96F56-8D42-0F5A-CC59-CFF07CE51453}"/>
                </a:ext>
              </a:extLst>
            </p:cNvPr>
            <p:cNvSpPr/>
            <p:nvPr/>
          </p:nvSpPr>
          <p:spPr>
            <a:xfrm>
              <a:off x="8045303" y="3827282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BFEF693C-682C-BDEA-9E7C-B9632B8B9B4B}"/>
                </a:ext>
              </a:extLst>
            </p:cNvPr>
            <p:cNvSpPr/>
            <p:nvPr/>
          </p:nvSpPr>
          <p:spPr>
            <a:xfrm>
              <a:off x="8206409" y="4181700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7A57BD9F-199E-6286-6BFC-4BCBC46FAF8F}"/>
                </a:ext>
              </a:extLst>
            </p:cNvPr>
            <p:cNvSpPr/>
            <p:nvPr/>
          </p:nvSpPr>
          <p:spPr>
            <a:xfrm>
              <a:off x="6929142" y="5182928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7A3A7F65-D8FC-9D6B-2F6A-C13359C4C94D}"/>
                </a:ext>
              </a:extLst>
            </p:cNvPr>
            <p:cNvSpPr/>
            <p:nvPr/>
          </p:nvSpPr>
          <p:spPr>
            <a:xfrm>
              <a:off x="8532730" y="3624130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E96F9D7-B24F-858E-B411-6172BC651887}"/>
              </a:ext>
            </a:extLst>
          </p:cNvPr>
          <p:cNvCxnSpPr/>
          <p:nvPr/>
        </p:nvCxnSpPr>
        <p:spPr>
          <a:xfrm flipV="1">
            <a:off x="6380052" y="3925064"/>
            <a:ext cx="2216474" cy="1558798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644812E-FD1B-6D9B-3B0E-E30E14ED3E10}"/>
              </a:ext>
            </a:extLst>
          </p:cNvPr>
          <p:cNvGrpSpPr/>
          <p:nvPr/>
        </p:nvGrpSpPr>
        <p:grpSpPr>
          <a:xfrm>
            <a:off x="5908897" y="5136869"/>
            <a:ext cx="2425103" cy="584775"/>
            <a:chOff x="5908897" y="5136869"/>
            <a:chExt cx="2425103" cy="584775"/>
          </a:xfrm>
        </p:grpSpPr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267F3A74-EF8F-BFB9-B02A-F52EE1CC400B}"/>
                </a:ext>
              </a:extLst>
            </p:cNvPr>
            <p:cNvCxnSpPr>
              <a:cxnSpLocks/>
            </p:cNvCxnSpPr>
            <p:nvPr/>
          </p:nvCxnSpPr>
          <p:spPr>
            <a:xfrm>
              <a:off x="6336447" y="5483862"/>
              <a:ext cx="1997553" cy="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638AE6D-36E4-9350-1018-2423FB5B1AEA}"/>
                    </a:ext>
                  </a:extLst>
                </p:cNvPr>
                <p:cNvSpPr txBox="1"/>
                <p:nvPr/>
              </p:nvSpPr>
              <p:spPr>
                <a:xfrm>
                  <a:off x="5908897" y="5136869"/>
                  <a:ext cx="53771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1" lang="ja-JP" altLang="en-US" sz="32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638AE6D-36E4-9350-1018-2423FB5B1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897" y="5136869"/>
                  <a:ext cx="537711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787D258-8364-91F2-CF61-E10CC537B44B}"/>
              </a:ext>
            </a:extLst>
          </p:cNvPr>
          <p:cNvGrpSpPr/>
          <p:nvPr/>
        </p:nvGrpSpPr>
        <p:grpSpPr>
          <a:xfrm>
            <a:off x="6297410" y="4844481"/>
            <a:ext cx="1383122" cy="1023322"/>
            <a:chOff x="6297410" y="4844481"/>
            <a:chExt cx="1383122" cy="1023322"/>
          </a:xfrm>
        </p:grpSpPr>
        <p:sp>
          <p:nvSpPr>
            <p:cNvPr id="27" name="円弧 26">
              <a:extLst>
                <a:ext uri="{FF2B5EF4-FFF2-40B4-BE49-F238E27FC236}">
                  <a16:creationId xmlns:a16="http://schemas.microsoft.com/office/drawing/2014/main" id="{8B272879-AD99-5ADB-9066-F5974D3D68DE}"/>
                </a:ext>
              </a:extLst>
            </p:cNvPr>
            <p:cNvSpPr/>
            <p:nvPr/>
          </p:nvSpPr>
          <p:spPr>
            <a:xfrm rot="1873028">
              <a:off x="6297410" y="4909426"/>
              <a:ext cx="950942" cy="958377"/>
            </a:xfrm>
            <a:prstGeom prst="arc">
              <a:avLst>
                <a:gd name="adj1" fmla="val 16642065"/>
                <a:gd name="adj2" fmla="val 20442519"/>
              </a:avLst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C812C34-2130-E1AB-192D-47D6F0281970}"/>
                    </a:ext>
                  </a:extLst>
                </p:cNvPr>
                <p:cNvSpPr txBox="1"/>
                <p:nvPr/>
              </p:nvSpPr>
              <p:spPr>
                <a:xfrm>
                  <a:off x="7151798" y="4844481"/>
                  <a:ext cx="52873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1" lang="ja-JP" altLang="en-US" sz="32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C812C34-2130-E1AB-192D-47D6F02819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98" y="4844481"/>
                  <a:ext cx="528734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8902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最小二乗法①</a:t>
            </a:r>
            <a:endParaRPr kumimoji="1" lang="ja-JP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32" y="1628459"/>
            <a:ext cx="3600944" cy="3601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右矢印 11"/>
          <p:cNvSpPr/>
          <p:nvPr/>
        </p:nvSpPr>
        <p:spPr>
          <a:xfrm>
            <a:off x="1187624" y="5085184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X</a:t>
            </a:r>
            <a:r>
              <a:rPr lang="ja-JP" altLang="en-US" sz="2000" dirty="0"/>
              <a:t>（原因）</a:t>
            </a:r>
          </a:p>
        </p:txBody>
      </p:sp>
      <p:sp>
        <p:nvSpPr>
          <p:cNvPr id="14" name="右矢印 13"/>
          <p:cNvSpPr/>
          <p:nvPr/>
        </p:nvSpPr>
        <p:spPr>
          <a:xfrm rot="16200000">
            <a:off x="-1008619" y="2960948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Y</a:t>
            </a:r>
            <a:r>
              <a:rPr kumimoji="1" lang="ja-JP" altLang="en-US" sz="2000" dirty="0"/>
              <a:t>（結果）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26E07BA0-C7F1-5D3A-6DC5-D50414A61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9992" y="836711"/>
            <a:ext cx="4507200" cy="5819269"/>
          </a:xfrm>
          <a:ln>
            <a:solidFill>
              <a:schemeClr val="accent2"/>
            </a:solidFill>
          </a:ln>
        </p:spPr>
        <p:txBody>
          <a:bodyPr anchor="t">
            <a:normAutofit/>
          </a:bodyPr>
          <a:lstStyle/>
          <a:p>
            <a:r>
              <a:rPr lang="ja-JP" altLang="en-US" dirty="0">
                <a:solidFill>
                  <a:schemeClr val="tx2"/>
                </a:solidFill>
              </a:rPr>
              <a:t>ふたつのデータの散布図を描く</a:t>
            </a:r>
            <a:endParaRPr lang="en-US" altLang="ja-JP" dirty="0">
              <a:solidFill>
                <a:schemeClr val="tx2"/>
              </a:solidFill>
            </a:endParaRPr>
          </a:p>
          <a:p>
            <a:pPr lvl="1"/>
            <a:r>
              <a:rPr lang="ja-JP" altLang="en-US" dirty="0"/>
              <a:t>横軸：</a:t>
            </a:r>
            <a:r>
              <a:rPr lang="en-US" altLang="ja-JP" dirty="0"/>
              <a:t>X</a:t>
            </a:r>
            <a:r>
              <a:rPr lang="ja-JP" altLang="en-US" dirty="0"/>
              <a:t>（原因）</a:t>
            </a:r>
            <a:endParaRPr lang="en-US" altLang="ja-JP" dirty="0"/>
          </a:p>
          <a:p>
            <a:pPr lvl="1"/>
            <a:r>
              <a:rPr lang="ja-JP" altLang="en-US" dirty="0"/>
              <a:t>縦軸：</a:t>
            </a:r>
            <a:r>
              <a:rPr lang="en-US" altLang="ja-JP" dirty="0"/>
              <a:t>Y</a:t>
            </a:r>
            <a:r>
              <a:rPr lang="ja-JP" altLang="en-US" dirty="0"/>
              <a:t>（結果）</a:t>
            </a:r>
            <a:endParaRPr lang="en-US" altLang="ja-JP" dirty="0"/>
          </a:p>
          <a:p>
            <a:r>
              <a:rPr kumimoji="1" lang="ja-JP" altLang="en-US" dirty="0">
                <a:solidFill>
                  <a:schemeClr val="tx2"/>
                </a:solidFill>
              </a:rPr>
              <a:t>散布図に近似線を引く</a:t>
            </a:r>
            <a:endParaRPr kumimoji="1" lang="en-US" altLang="ja-JP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972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/>
          <p:cNvSpPr>
            <a:spLocks noGrp="1"/>
          </p:cNvSpPr>
          <p:nvPr>
            <p:ph sz="quarter" idx="4"/>
          </p:nvPr>
        </p:nvSpPr>
        <p:spPr>
          <a:xfrm>
            <a:off x="4499992" y="836711"/>
            <a:ext cx="4507200" cy="5819269"/>
          </a:xfrm>
          <a:ln>
            <a:solidFill>
              <a:schemeClr val="accent2"/>
            </a:solidFill>
          </a:ln>
        </p:spPr>
        <p:txBody>
          <a:bodyPr anchor="t">
            <a:normAutofit/>
          </a:bodyPr>
          <a:lstStyle/>
          <a:p>
            <a:r>
              <a:rPr lang="ja-JP" altLang="en-US" dirty="0">
                <a:solidFill>
                  <a:schemeClr val="tx2"/>
                </a:solidFill>
              </a:rPr>
              <a:t>ふたつのデータの散布図を描く</a:t>
            </a:r>
            <a:endParaRPr lang="en-US" altLang="ja-JP" dirty="0">
              <a:solidFill>
                <a:schemeClr val="tx2"/>
              </a:solidFill>
            </a:endParaRPr>
          </a:p>
          <a:p>
            <a:pPr lvl="1"/>
            <a:r>
              <a:rPr lang="ja-JP" altLang="en-US" dirty="0"/>
              <a:t>横軸：</a:t>
            </a:r>
            <a:r>
              <a:rPr lang="en-US" altLang="ja-JP" dirty="0"/>
              <a:t>X</a:t>
            </a:r>
            <a:r>
              <a:rPr lang="ja-JP" altLang="en-US" dirty="0"/>
              <a:t>（原因）</a:t>
            </a:r>
            <a:endParaRPr lang="en-US" altLang="ja-JP" dirty="0"/>
          </a:p>
          <a:p>
            <a:pPr lvl="1"/>
            <a:r>
              <a:rPr lang="ja-JP" altLang="en-US" dirty="0"/>
              <a:t>縦軸：</a:t>
            </a:r>
            <a:r>
              <a:rPr lang="en-US" altLang="ja-JP" dirty="0"/>
              <a:t>Y</a:t>
            </a:r>
            <a:r>
              <a:rPr lang="ja-JP" altLang="en-US" dirty="0"/>
              <a:t>（結果）</a:t>
            </a:r>
            <a:endParaRPr lang="en-US" altLang="ja-JP" dirty="0"/>
          </a:p>
          <a:p>
            <a:r>
              <a:rPr kumimoji="1" lang="ja-JP" altLang="en-US" dirty="0">
                <a:solidFill>
                  <a:schemeClr val="tx2"/>
                </a:solidFill>
              </a:rPr>
              <a:t>散布図に近似線を引く</a:t>
            </a:r>
            <a:endParaRPr kumimoji="1"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近似線と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各データ</a:t>
            </a:r>
            <a:r>
              <a:rPr lang="ja-JP" altLang="en-US" sz="1800" dirty="0">
                <a:solidFill>
                  <a:schemeClr val="tx2"/>
                </a:solidFill>
              </a:rPr>
              <a:t>（点）</a:t>
            </a:r>
            <a:r>
              <a:rPr lang="ja-JP" altLang="en-US" dirty="0">
                <a:solidFill>
                  <a:schemeClr val="tx2"/>
                </a:solidFill>
              </a:rPr>
              <a:t>のズレ</a:t>
            </a:r>
            <a:r>
              <a:rPr lang="ja-JP" altLang="en-US" sz="1800" dirty="0">
                <a:solidFill>
                  <a:schemeClr val="tx2"/>
                </a:solidFill>
              </a:rPr>
              <a:t>（誤差）</a:t>
            </a:r>
            <a:r>
              <a:rPr lang="ja-JP" altLang="en-US" dirty="0">
                <a:solidFill>
                  <a:schemeClr val="tx2"/>
                </a:solidFill>
              </a:rPr>
              <a:t>が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最小になるような近似線の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切片と傾きを求める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誤差は＋も－もある得るため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二乗して合計する</a:t>
            </a:r>
            <a:r>
              <a:rPr lang="ja-JP" altLang="en-US" sz="1800" dirty="0">
                <a:solidFill>
                  <a:schemeClr val="tx2"/>
                </a:solidFill>
              </a:rPr>
              <a:t>（残差二乗和）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残差二乗和が最小になるように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切片と傾きを決めるので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accent5"/>
                </a:solidFill>
              </a:rPr>
              <a:t>最小二乗法</a:t>
            </a:r>
            <a:r>
              <a:rPr lang="ja-JP" altLang="en-US" dirty="0">
                <a:solidFill>
                  <a:schemeClr val="tx2"/>
                </a:solidFill>
              </a:rPr>
              <a:t>という</a:t>
            </a:r>
            <a:endParaRPr lang="en-US" altLang="ja-JP" dirty="0">
              <a:solidFill>
                <a:schemeClr val="tx2"/>
              </a:solidFill>
            </a:endParaRPr>
          </a:p>
        </p:txBody>
      </p:sp>
      <p:sp>
        <p:nvSpPr>
          <p:cNvPr id="7" name="フッター プレースホルダー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最小二乗法②</a:t>
            </a:r>
            <a:endParaRPr kumimoji="1" lang="ja-JP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47" r="67275"/>
          <a:stretch/>
        </p:blipFill>
        <p:spPr bwMode="auto">
          <a:xfrm>
            <a:off x="323528" y="2060848"/>
            <a:ext cx="4125835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右矢印 11"/>
          <p:cNvSpPr/>
          <p:nvPr/>
        </p:nvSpPr>
        <p:spPr>
          <a:xfrm>
            <a:off x="1187624" y="5085184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X</a:t>
            </a:r>
            <a:r>
              <a:rPr lang="ja-JP" altLang="en-US" sz="2000" dirty="0"/>
              <a:t>（原因）</a:t>
            </a:r>
          </a:p>
        </p:txBody>
      </p:sp>
      <p:sp>
        <p:nvSpPr>
          <p:cNvPr id="14" name="右矢印 13"/>
          <p:cNvSpPr/>
          <p:nvPr/>
        </p:nvSpPr>
        <p:spPr>
          <a:xfrm rot="16200000">
            <a:off x="-1008619" y="2960948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Y</a:t>
            </a:r>
            <a:r>
              <a:rPr kumimoji="1" lang="ja-JP" altLang="en-US" sz="2000" dirty="0"/>
              <a:t>（結果）</a:t>
            </a:r>
          </a:p>
        </p:txBody>
      </p:sp>
      <p:cxnSp>
        <p:nvCxnSpPr>
          <p:cNvPr id="3" name="直線コネクタ 2"/>
          <p:cNvCxnSpPr/>
          <p:nvPr/>
        </p:nvCxnSpPr>
        <p:spPr>
          <a:xfrm>
            <a:off x="2926449" y="3418366"/>
            <a:ext cx="0" cy="36004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3353143" y="3068958"/>
            <a:ext cx="0" cy="36004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角丸四角形吹き出し 14"/>
          <p:cNvSpPr/>
          <p:nvPr/>
        </p:nvSpPr>
        <p:spPr>
          <a:xfrm>
            <a:off x="1189840" y="3104963"/>
            <a:ext cx="736648" cy="504056"/>
          </a:xfrm>
          <a:prstGeom prst="wedgeRoundRectCallout">
            <a:avLst>
              <a:gd name="adj1" fmla="val 179470"/>
              <a:gd name="adj2" fmla="val 53024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ズレ</a:t>
            </a:r>
            <a:endParaRPr kumimoji="1" lang="ja-JP" altLang="en-US" sz="20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角丸四角形吹き出し 15"/>
          <p:cNvSpPr/>
          <p:nvPr/>
        </p:nvSpPr>
        <p:spPr>
          <a:xfrm>
            <a:off x="2179168" y="1880827"/>
            <a:ext cx="736648" cy="504056"/>
          </a:xfrm>
          <a:prstGeom prst="wedgeRoundRectCallout">
            <a:avLst>
              <a:gd name="adj1" fmla="val 99805"/>
              <a:gd name="adj2" fmla="val 164035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ズレ</a:t>
            </a:r>
            <a:endParaRPr kumimoji="1" lang="ja-JP" altLang="en-US" sz="20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0325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E89E-AA51-3729-4056-8D289C80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D60A2E0-0764-5E05-267B-7E051EC9F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Excel</a:t>
            </a:r>
            <a:r>
              <a:rPr lang="ja-JP" altLang="en-US" dirty="0"/>
              <a:t>アドインを用いた回帰分析：下準備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5B309F-459C-27CD-9F0F-5933C9EC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90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767A-8770-B868-B44F-00D4B411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50703-5FEF-3187-EDA1-0EBE77D0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演習用</a:t>
            </a:r>
            <a:r>
              <a:rPr kumimoji="1" lang="en-US" altLang="ja-JP" dirty="0"/>
              <a:t>Excel</a:t>
            </a:r>
            <a:r>
              <a:rPr kumimoji="1" lang="ja-JP" altLang="en-US" dirty="0"/>
              <a:t>ファイルを開いてみよう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B15050-DE8C-E1B9-BB91-84407465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A725FD-F1C5-7ECA-318C-86203BE6E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4348716"/>
            <a:ext cx="8880049" cy="2372595"/>
          </a:xfrm>
        </p:spPr>
        <p:txBody>
          <a:bodyPr/>
          <a:lstStyle/>
          <a:p>
            <a:r>
              <a:rPr lang="ja-JP" altLang="en-US" dirty="0"/>
              <a:t>演習用</a:t>
            </a:r>
            <a:r>
              <a:rPr lang="en-US" altLang="ja-JP" dirty="0"/>
              <a:t>Excel</a:t>
            </a:r>
            <a:r>
              <a:rPr lang="ja-JP" altLang="en-US" dirty="0"/>
              <a:t>ファイルを開く</a:t>
            </a:r>
            <a:endParaRPr lang="en-US" altLang="ja-JP" dirty="0"/>
          </a:p>
          <a:p>
            <a:r>
              <a:rPr kumimoji="1" lang="en-US" altLang="ja-JP" dirty="0"/>
              <a:t>[</a:t>
            </a:r>
            <a:r>
              <a:rPr lang="ja-JP" altLang="en-US" dirty="0"/>
              <a:t>保護ビュー</a:t>
            </a:r>
            <a:r>
              <a:rPr lang="en-US" altLang="ja-JP" dirty="0"/>
              <a:t>]</a:t>
            </a:r>
            <a:r>
              <a:rPr lang="ja-JP" altLang="en-US" dirty="0"/>
              <a:t>の警告が出た場合は</a:t>
            </a:r>
            <a:br>
              <a:rPr lang="en-US" altLang="ja-JP" dirty="0"/>
            </a:br>
            <a:r>
              <a:rPr lang="en-US" altLang="ja-JP" dirty="0"/>
              <a:t>[</a:t>
            </a:r>
            <a:r>
              <a:rPr lang="ja-JP" altLang="en-US" dirty="0"/>
              <a:t>編集を有効にする</a:t>
            </a:r>
            <a:r>
              <a:rPr lang="en-US" altLang="ja-JP" dirty="0"/>
              <a:t>]</a:t>
            </a:r>
            <a:r>
              <a:rPr lang="ja-JP" altLang="en-US" dirty="0"/>
              <a:t>をクリック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ADA5E0E-B672-8D73-DC0A-6245E79A93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0" b="85000"/>
          <a:stretch/>
        </p:blipFill>
        <p:spPr>
          <a:xfrm>
            <a:off x="0" y="3011220"/>
            <a:ext cx="9144000" cy="360040"/>
          </a:xfrm>
          <a:prstGeom prst="rect">
            <a:avLst/>
          </a:prstGeom>
        </p:spPr>
      </p:pic>
      <p:sp>
        <p:nvSpPr>
          <p:cNvPr id="10" name="角丸四角形 8">
            <a:extLst>
              <a:ext uri="{FF2B5EF4-FFF2-40B4-BE49-F238E27FC236}">
                <a16:creationId xmlns:a16="http://schemas.microsoft.com/office/drawing/2014/main" id="{AA0E7740-EA82-E996-0E77-C5484C07EE49}"/>
              </a:ext>
            </a:extLst>
          </p:cNvPr>
          <p:cNvSpPr/>
          <p:nvPr/>
        </p:nvSpPr>
        <p:spPr>
          <a:xfrm>
            <a:off x="6068079" y="2939212"/>
            <a:ext cx="1183325" cy="48978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04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FFD3C6-7A2C-CBE7-7255-D4211EE9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Excel</a:t>
            </a:r>
            <a:r>
              <a:rPr kumimoji="1" lang="ja-JP" altLang="en-US" dirty="0"/>
              <a:t>の下準備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52F9F6-0381-A60A-F7EB-B6675126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34B205-DB23-4416-9F0C-2C3532C86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4348716"/>
            <a:ext cx="8880049" cy="2372595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lang="ja-JP" altLang="en-US" dirty="0"/>
              <a:t>データ</a:t>
            </a:r>
            <a:r>
              <a:rPr lang="en-US" altLang="ja-JP" dirty="0"/>
              <a:t>]</a:t>
            </a:r>
            <a:r>
              <a:rPr lang="ja-JP" altLang="en-US" dirty="0"/>
              <a:t>タブに</a:t>
            </a:r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ツールが表示されているか確認</a:t>
            </a:r>
            <a:endParaRPr lang="en-US" altLang="ja-JP" dirty="0"/>
          </a:p>
          <a:p>
            <a:pPr lvl="1"/>
            <a:r>
              <a:rPr kumimoji="1" lang="ja-JP" altLang="en-US" dirty="0"/>
              <a:t>アイコンのみ表示されている場合もあります</a:t>
            </a:r>
          </a:p>
        </p:txBody>
      </p:sp>
      <p:pic>
        <p:nvPicPr>
          <p:cNvPr id="5" name="コンテンツ プレースホルダー 7">
            <a:extLst>
              <a:ext uri="{FF2B5EF4-FFF2-40B4-BE49-F238E27FC236}">
                <a16:creationId xmlns:a16="http://schemas.microsoft.com/office/drawing/2014/main" id="{4BECBAAC-0786-AFDD-FF25-A981369C6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" y="1637088"/>
            <a:ext cx="9012025" cy="859608"/>
          </a:xfrm>
          <a:prstGeom prst="rect">
            <a:avLst/>
          </a:prstGeom>
        </p:spPr>
      </p:pic>
      <p:sp>
        <p:nvSpPr>
          <p:cNvPr id="6" name="角丸四角形 8">
            <a:extLst>
              <a:ext uri="{FF2B5EF4-FFF2-40B4-BE49-F238E27FC236}">
                <a16:creationId xmlns:a16="http://schemas.microsoft.com/office/drawing/2014/main" id="{70F3335E-33DC-8B31-478F-C044FE2BA4BB}"/>
              </a:ext>
            </a:extLst>
          </p:cNvPr>
          <p:cNvSpPr/>
          <p:nvPr/>
        </p:nvSpPr>
        <p:spPr>
          <a:xfrm>
            <a:off x="2144993" y="1520691"/>
            <a:ext cx="720080" cy="4320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9">
            <a:extLst>
              <a:ext uri="{FF2B5EF4-FFF2-40B4-BE49-F238E27FC236}">
                <a16:creationId xmlns:a16="http://schemas.microsoft.com/office/drawing/2014/main" id="{0E08914D-6BCE-8CC5-DCC5-0AAC76C88755}"/>
              </a:ext>
            </a:extLst>
          </p:cNvPr>
          <p:cNvSpPr/>
          <p:nvPr/>
        </p:nvSpPr>
        <p:spPr>
          <a:xfrm>
            <a:off x="8334000" y="1630683"/>
            <a:ext cx="744012" cy="8786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391A2D7F-885D-5B22-66C6-5BDE7DE3C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13" t="23568" r="872" b="57082"/>
          <a:stretch>
            <a:fillRect/>
          </a:stretch>
        </p:blipFill>
        <p:spPr>
          <a:xfrm>
            <a:off x="6068080" y="4890799"/>
            <a:ext cx="2265920" cy="67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6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8323E-9D51-975A-3C92-253C481BB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ADCAB9-9C6E-45EF-A431-38DA4DFB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ツールが表示されていない場合①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E83F1B5-7EE6-13B0-01A0-92782225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30EBE8-29A9-D137-CB94-047D61D5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316" y="4348716"/>
            <a:ext cx="5577709" cy="2372595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lang="ja-JP" altLang="en-US" dirty="0"/>
              <a:t>ファイル</a:t>
            </a:r>
            <a:r>
              <a:rPr lang="en-US" altLang="ja-JP" dirty="0"/>
              <a:t>]</a:t>
            </a:r>
            <a:r>
              <a:rPr lang="ja-JP" altLang="en-US" dirty="0"/>
              <a:t>タブから</a:t>
            </a:r>
            <a:r>
              <a:rPr lang="en-US" altLang="ja-JP" dirty="0"/>
              <a:t>[</a:t>
            </a:r>
            <a:r>
              <a:rPr lang="ja-JP" altLang="en-US" dirty="0"/>
              <a:t>オプション</a:t>
            </a:r>
            <a:r>
              <a:rPr lang="en-US" altLang="ja-JP" dirty="0"/>
              <a:t>]</a:t>
            </a:r>
            <a:r>
              <a:rPr lang="ja-JP" altLang="en-US" dirty="0"/>
              <a:t>を選択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ED262A6-2ACF-B431-54C6-386C6376F1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01" r="75200" b="7363"/>
          <a:stretch/>
        </p:blipFill>
        <p:spPr>
          <a:xfrm>
            <a:off x="339001" y="1000712"/>
            <a:ext cx="2880320" cy="5620652"/>
          </a:xfrm>
          <a:prstGeom prst="rect">
            <a:avLst/>
          </a:prstGeom>
        </p:spPr>
      </p:pic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0A8650C0-FAEC-821F-33D7-C92E423E1CD8}"/>
              </a:ext>
            </a:extLst>
          </p:cNvPr>
          <p:cNvSpPr/>
          <p:nvPr/>
        </p:nvSpPr>
        <p:spPr>
          <a:xfrm>
            <a:off x="253257" y="6039293"/>
            <a:ext cx="1352260" cy="58207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8">
            <a:extLst>
              <a:ext uri="{FF2B5EF4-FFF2-40B4-BE49-F238E27FC236}">
                <a16:creationId xmlns:a16="http://schemas.microsoft.com/office/drawing/2014/main" id="{1E2E6206-388C-55C1-E795-13CF09707429}"/>
              </a:ext>
            </a:extLst>
          </p:cNvPr>
          <p:cNvSpPr/>
          <p:nvPr/>
        </p:nvSpPr>
        <p:spPr>
          <a:xfrm>
            <a:off x="1605517" y="6114304"/>
            <a:ext cx="1265274" cy="4034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77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3204-0DA4-561C-80AA-C39042551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A821CB-9FAE-05A6-C084-6D066E8B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ツールが表示されていない場合②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46FB29-8551-46AB-DB62-12189191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7857DB-A16F-59A0-888A-B4BF0DE10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5535013"/>
            <a:ext cx="8880049" cy="1186298"/>
          </a:xfrm>
        </p:spPr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オプション</a:t>
            </a:r>
            <a:r>
              <a:rPr lang="en-US" altLang="ja-JP" dirty="0"/>
              <a:t>]</a:t>
            </a:r>
            <a:r>
              <a:rPr lang="ja-JP" altLang="en-US" dirty="0"/>
              <a:t>内の</a:t>
            </a:r>
            <a:r>
              <a:rPr lang="en-US" altLang="ja-JP" dirty="0"/>
              <a:t>[</a:t>
            </a:r>
            <a:r>
              <a:rPr lang="ja-JP" altLang="en-US" dirty="0"/>
              <a:t>アドイン</a:t>
            </a:r>
            <a:r>
              <a:rPr lang="en-US" altLang="ja-JP" dirty="0"/>
              <a:t>]</a:t>
            </a:r>
            <a:r>
              <a:rPr lang="ja-JP" altLang="en-US" dirty="0"/>
              <a:t>を表示</a:t>
            </a:r>
            <a:endParaRPr lang="en-US" altLang="ja-JP" dirty="0"/>
          </a:p>
          <a:p>
            <a:r>
              <a:rPr kumimoji="1" lang="en-US" altLang="ja-JP" dirty="0"/>
              <a:t>[</a:t>
            </a:r>
            <a:r>
              <a:rPr kumimoji="1" lang="ja-JP" altLang="en-US" dirty="0"/>
              <a:t>設定</a:t>
            </a:r>
            <a:r>
              <a:rPr kumimoji="1" lang="en-US" altLang="ja-JP" dirty="0"/>
              <a:t>]</a:t>
            </a:r>
            <a:r>
              <a:rPr kumimoji="1" lang="ja-JP" altLang="en-US" dirty="0"/>
              <a:t>をクリック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429B90A-03E9-450B-1701-C58FBA2817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82" r="13381" b="6601"/>
          <a:stretch/>
        </p:blipFill>
        <p:spPr>
          <a:xfrm>
            <a:off x="1376296" y="880378"/>
            <a:ext cx="6391409" cy="4584962"/>
          </a:xfrm>
          <a:prstGeom prst="rect">
            <a:avLst/>
          </a:prstGeom>
        </p:spPr>
      </p:pic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0F68DCCC-568B-2CBB-F189-C70FA8D71CBF}"/>
              </a:ext>
            </a:extLst>
          </p:cNvPr>
          <p:cNvSpPr/>
          <p:nvPr/>
        </p:nvSpPr>
        <p:spPr>
          <a:xfrm>
            <a:off x="1286540" y="3040913"/>
            <a:ext cx="1254641" cy="388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9">
            <a:extLst>
              <a:ext uri="{FF2B5EF4-FFF2-40B4-BE49-F238E27FC236}">
                <a16:creationId xmlns:a16="http://schemas.microsoft.com/office/drawing/2014/main" id="{9FDDBC12-102B-77D3-6098-F4286DB22ADC}"/>
              </a:ext>
            </a:extLst>
          </p:cNvPr>
          <p:cNvSpPr/>
          <p:nvPr/>
        </p:nvSpPr>
        <p:spPr>
          <a:xfrm>
            <a:off x="3944679" y="4918047"/>
            <a:ext cx="627321" cy="3344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68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34EC-9E94-AED1-BBD4-5689372E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C6E3F6-313B-F60D-5423-6D8279D7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ツールが表示されていない場合③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29FE22-1691-D7DD-1726-D2FADB9E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9AB60E-4435-187B-E66A-14C569A09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1745" y="4348716"/>
            <a:ext cx="4360280" cy="2372595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lang="ja-JP" altLang="en-US" dirty="0"/>
              <a:t>分析ツール</a:t>
            </a:r>
            <a:r>
              <a:rPr lang="en-US" altLang="ja-JP" dirty="0"/>
              <a:t>]</a:t>
            </a:r>
            <a:r>
              <a:rPr lang="ja-JP" altLang="en-US" dirty="0"/>
              <a:t>に</a:t>
            </a:r>
            <a:br>
              <a:rPr lang="en-US" altLang="ja-JP" dirty="0"/>
            </a:br>
            <a:r>
              <a:rPr lang="ja-JP" altLang="en-US" dirty="0"/>
              <a:t>☑を入れて</a:t>
            </a:r>
            <a:r>
              <a:rPr lang="en-US" altLang="ja-JP" dirty="0"/>
              <a:t>[OK]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CFEBAD1-3DEF-D89B-EB9B-62BE1A9778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913" t="15001" r="31100" b="24800"/>
          <a:stretch/>
        </p:blipFill>
        <p:spPr>
          <a:xfrm>
            <a:off x="243785" y="1077560"/>
            <a:ext cx="4248472" cy="5535891"/>
          </a:xfrm>
          <a:prstGeom prst="rect">
            <a:avLst/>
          </a:prstGeom>
        </p:spPr>
      </p:pic>
      <p:sp>
        <p:nvSpPr>
          <p:cNvPr id="6" name="角丸四角形 8">
            <a:extLst>
              <a:ext uri="{FF2B5EF4-FFF2-40B4-BE49-F238E27FC236}">
                <a16:creationId xmlns:a16="http://schemas.microsoft.com/office/drawing/2014/main" id="{A4FDE9EF-5A76-1CD1-47DB-B45C20548000}"/>
              </a:ext>
            </a:extLst>
          </p:cNvPr>
          <p:cNvSpPr/>
          <p:nvPr/>
        </p:nvSpPr>
        <p:spPr>
          <a:xfrm>
            <a:off x="159487" y="2284132"/>
            <a:ext cx="2488019" cy="4165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8">
            <a:extLst>
              <a:ext uri="{FF2B5EF4-FFF2-40B4-BE49-F238E27FC236}">
                <a16:creationId xmlns:a16="http://schemas.microsoft.com/office/drawing/2014/main" id="{115A2E2D-BD28-3C56-FC55-5C44FA7A0DE9}"/>
              </a:ext>
            </a:extLst>
          </p:cNvPr>
          <p:cNvSpPr/>
          <p:nvPr/>
        </p:nvSpPr>
        <p:spPr>
          <a:xfrm>
            <a:off x="2789274" y="1724149"/>
            <a:ext cx="1702984" cy="4661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48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2F2E0-89EE-AD30-008C-E9B6F5E4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8C7F81C-D22B-C371-410A-647DAE0C3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Excel</a:t>
            </a:r>
            <a:r>
              <a:rPr lang="ja-JP" altLang="en-US" dirty="0"/>
              <a:t>アドインを用いた回帰分析：分析手順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20184C0-837D-3D1F-165C-3268156B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488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AC8D6-B489-BACA-0EA7-F5AACE30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E68909E-A8FD-4BC5-295F-FF84AC4A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252D68-6ECC-68E1-7DC3-647F85FFD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5674" y="933254"/>
            <a:ext cx="4546351" cy="5788057"/>
          </a:xfrm>
        </p:spPr>
        <p:txBody>
          <a:bodyPr/>
          <a:lstStyle/>
          <a:p>
            <a:r>
              <a:rPr kumimoji="1" lang="en-US" altLang="ja-JP" dirty="0"/>
              <a:t>2023</a:t>
            </a:r>
            <a:r>
              <a:rPr kumimoji="1" lang="ja-JP" altLang="en-US" dirty="0"/>
              <a:t>年</a:t>
            </a:r>
            <a:r>
              <a:rPr kumimoji="1" lang="en-US" altLang="ja-JP" dirty="0"/>
              <a:t>1</a:t>
            </a:r>
            <a:r>
              <a:rPr kumimoji="1" lang="ja-JP" altLang="en-US" dirty="0"/>
              <a:t>月～</a:t>
            </a:r>
            <a:r>
              <a:rPr kumimoji="1" lang="en-US" altLang="ja-JP" dirty="0"/>
              <a:t>12</a:t>
            </a:r>
            <a:r>
              <a:rPr kumimoji="1" lang="ja-JP" altLang="en-US" dirty="0"/>
              <a:t>月の</a:t>
            </a:r>
            <a:br>
              <a:rPr kumimoji="1" lang="en-US" altLang="ja-JP" dirty="0"/>
            </a:br>
            <a:r>
              <a:rPr kumimoji="1" lang="en-US" altLang="ja-JP" sz="2000" dirty="0"/>
              <a:t>1</a:t>
            </a:r>
            <a:r>
              <a:rPr kumimoji="1" lang="ja-JP" altLang="en-US" sz="2000" dirty="0"/>
              <a:t>世帯あたりのアイスクリーム類への</a:t>
            </a:r>
            <a:br>
              <a:rPr kumimoji="1" lang="en-US" altLang="ja-JP" sz="2000" dirty="0"/>
            </a:br>
            <a:r>
              <a:rPr kumimoji="1" lang="ja-JP" altLang="en-US" dirty="0"/>
              <a:t>支出金額</a:t>
            </a:r>
            <a:r>
              <a:rPr kumimoji="1" lang="ja-JP" altLang="en-US" sz="2000" dirty="0"/>
              <a:t>（円）</a:t>
            </a:r>
            <a:r>
              <a:rPr kumimoji="1" lang="ja-JP" altLang="en-US" dirty="0"/>
              <a:t>と</a:t>
            </a:r>
            <a:br>
              <a:rPr kumimoji="1" lang="en-US" altLang="ja-JP" dirty="0"/>
            </a:br>
            <a:r>
              <a:rPr kumimoji="1" lang="ja-JP" altLang="en-US" dirty="0"/>
              <a:t>東京の月別平均気温</a:t>
            </a:r>
            <a:r>
              <a:rPr kumimoji="1" lang="ja-JP" altLang="en-US" sz="2000" dirty="0"/>
              <a:t>（℃）</a:t>
            </a:r>
            <a:endParaRPr kumimoji="1" lang="en-US" altLang="ja-JP" dirty="0"/>
          </a:p>
          <a:p>
            <a:r>
              <a:rPr kumimoji="1" lang="ja-JP" altLang="en-US" dirty="0"/>
              <a:t>月次の時系列データ</a:t>
            </a:r>
            <a:endParaRPr kumimoji="1" lang="en-US" altLang="ja-JP" dirty="0"/>
          </a:p>
          <a:p>
            <a:r>
              <a:rPr lang="ja-JP" altLang="en-US" dirty="0"/>
              <a:t>仮説</a:t>
            </a:r>
            <a:endParaRPr lang="en-US" altLang="ja-JP" dirty="0"/>
          </a:p>
          <a:p>
            <a:pPr lvl="1"/>
            <a:r>
              <a:rPr kumimoji="1" lang="ja-JP" altLang="en-US" dirty="0"/>
              <a:t>気温が高い月ほど，</a:t>
            </a:r>
            <a:br>
              <a:rPr kumimoji="1" lang="en-US" altLang="ja-JP" dirty="0"/>
            </a:br>
            <a:r>
              <a:rPr kumimoji="1" lang="ja-JP" altLang="en-US" dirty="0"/>
              <a:t>アイス類への支出金額は</a:t>
            </a:r>
            <a:br>
              <a:rPr kumimoji="1" lang="en-US" altLang="ja-JP" dirty="0"/>
            </a:br>
            <a:r>
              <a:rPr kumimoji="1" lang="ja-JP" altLang="en-US" dirty="0"/>
              <a:t>増えるのではないか？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目的変数</a:t>
            </a:r>
            <a:r>
              <a:rPr kumimoji="1" lang="ja-JP" altLang="en-US" sz="1800" dirty="0"/>
              <a:t>（結果）</a:t>
            </a:r>
            <a:r>
              <a:rPr kumimoji="1" lang="ja-JP" altLang="en-US" dirty="0"/>
              <a:t>→</a:t>
            </a:r>
            <a:endParaRPr kumimoji="1" lang="en-US" altLang="ja-JP" dirty="0"/>
          </a:p>
          <a:p>
            <a:pPr lvl="1"/>
            <a:r>
              <a:rPr lang="ja-JP" altLang="en-US" dirty="0"/>
              <a:t>説明変数</a:t>
            </a:r>
            <a:r>
              <a:rPr lang="ja-JP" altLang="en-US" sz="1800" dirty="0"/>
              <a:t>（原因）</a:t>
            </a:r>
            <a:r>
              <a:rPr lang="ja-JP" altLang="en-US" dirty="0"/>
              <a:t>→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BAE45CB-27E4-0A71-F0FF-E9C73BC0A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67" y="933253"/>
            <a:ext cx="4085687" cy="578805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5D9756-9101-1B14-59BB-9B5B6D49E070}"/>
              </a:ext>
            </a:extLst>
          </p:cNvPr>
          <p:cNvSpPr txBox="1"/>
          <p:nvPr/>
        </p:nvSpPr>
        <p:spPr>
          <a:xfrm>
            <a:off x="7626114" y="557398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気温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6B42D3-E679-716F-289F-D20A971E0433}"/>
              </a:ext>
            </a:extLst>
          </p:cNvPr>
          <p:cNvSpPr txBox="1"/>
          <p:nvPr/>
        </p:nvSpPr>
        <p:spPr>
          <a:xfrm>
            <a:off x="7626114" y="506978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支出金額</a:t>
            </a:r>
          </a:p>
        </p:txBody>
      </p:sp>
    </p:spTree>
    <p:extLst>
      <p:ext uri="{BB962C8B-B14F-4D97-AF65-F5344CB8AC3E}">
        <p14:creationId xmlns:p14="http://schemas.microsoft.com/office/powerpoint/2010/main" val="216850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0E558F-3CFA-5984-3D19-EA1CF1E79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②式を立てる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1165254-82DE-8AB8-4D26-5996ACDF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FDF15D-DFB9-15BE-406E-B0A9A2A8C0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目的変数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説明変数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今回の例では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支出金額</m:t>
                            </m:r>
                          </m:e>
                        </m:d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気温</m:t>
                            </m:r>
                          </m:e>
                        </m:d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散布図を描いてデータを確認してみよう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横軸：原因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縦軸：結果</a:t>
                </a:r>
                <a:endParaRPr lang="en-US" altLang="ja-JP" dirty="0"/>
              </a:p>
              <a:p>
                <a:endParaRPr kumimoji="1" lang="ja-JP" altLang="en-US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FDF15D-DFB9-15BE-406E-B0A9A2A8C0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F06BEE68-CBBD-46A8-92A5-4DB9FF6615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8104185"/>
              </p:ext>
            </p:extLst>
          </p:nvPr>
        </p:nvGraphicFramePr>
        <p:xfrm>
          <a:off x="3274828" y="2955851"/>
          <a:ext cx="5635255" cy="376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8006D7D5-E11C-F0C0-E7BD-AD83A62D14DF}"/>
              </a:ext>
            </a:extLst>
          </p:cNvPr>
          <p:cNvSpPr/>
          <p:nvPr/>
        </p:nvSpPr>
        <p:spPr>
          <a:xfrm>
            <a:off x="754912" y="5156791"/>
            <a:ext cx="2662523" cy="1350335"/>
          </a:xfrm>
          <a:prstGeom prst="wedgeRoundRectCallout">
            <a:avLst>
              <a:gd name="adj1" fmla="val 65425"/>
              <a:gd name="adj2" fmla="val 6594"/>
              <a:gd name="adj3" fmla="val 16667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なんとなく</a:t>
            </a:r>
            <a:endParaRPr kumimoji="1" lang="en-US" altLang="ja-JP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右肩上がりに</a:t>
            </a:r>
            <a:endParaRPr kumimoji="1" lang="en-US" altLang="ja-JP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なっていそう</a:t>
            </a:r>
            <a:r>
              <a:rPr kumimoji="1" lang="en-US" altLang="ja-JP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05153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054B38-C2C1-080F-2ACF-25147C2B7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5552D36-80AA-C6BA-B4FD-BC0A149D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237DB3-AED0-AD76-8075-5F36B954F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データ</a:t>
            </a:r>
            <a:r>
              <a:rPr kumimoji="1" lang="en-US" altLang="ja-JP" dirty="0"/>
              <a:t>]</a:t>
            </a:r>
            <a:r>
              <a:rPr kumimoji="1" lang="ja-JP" altLang="en-US" dirty="0"/>
              <a:t>タブから</a:t>
            </a:r>
            <a:r>
              <a:rPr kumimoji="1" lang="en-US" altLang="ja-JP" dirty="0"/>
              <a:t>[</a:t>
            </a:r>
            <a:r>
              <a:rPr kumimoji="1" lang="ja-JP" altLang="en-US" dirty="0"/>
              <a:t>データ分析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のアイコンをクリック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[</a:t>
            </a:r>
            <a:r>
              <a:rPr lang="ja-JP" altLang="en-US" dirty="0"/>
              <a:t>回帰分析</a:t>
            </a:r>
            <a:r>
              <a:rPr lang="en-US" altLang="ja-JP" dirty="0"/>
              <a:t>]</a:t>
            </a:r>
            <a:r>
              <a:rPr lang="ja-JP" altLang="en-US" dirty="0"/>
              <a:t>を</a:t>
            </a:r>
            <a:br>
              <a:rPr lang="en-US" altLang="ja-JP" dirty="0"/>
            </a:br>
            <a:r>
              <a:rPr lang="ja-JP" altLang="en-US" dirty="0"/>
              <a:t>選んで</a:t>
            </a:r>
            <a:r>
              <a:rPr lang="en-US" altLang="ja-JP" dirty="0"/>
              <a:t>[OK]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7D1EBFA-EC62-CBCF-2403-86663EBE3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907" t="8550" b="66847"/>
          <a:stretch>
            <a:fillRect/>
          </a:stretch>
        </p:blipFill>
        <p:spPr>
          <a:xfrm>
            <a:off x="5985168" y="1597737"/>
            <a:ext cx="2753832" cy="222954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970C9DF-8405-A4A5-9D4C-790DB97472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930" t="36047" r="7209" b="29338"/>
          <a:stretch>
            <a:fillRect/>
          </a:stretch>
        </p:blipFill>
        <p:spPr>
          <a:xfrm>
            <a:off x="3532151" y="3999816"/>
            <a:ext cx="5479873" cy="254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77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72FE-47F4-B9A1-48B6-458CA9B95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B5559-CA85-E439-AC26-17AF6715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</a:t>
            </a:r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83A1E3-27EE-E781-27F0-A5283D96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F70A18-40EF-B646-EBA1-CDE118F0A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入力</a:t>
            </a:r>
            <a:r>
              <a:rPr kumimoji="1" lang="en-US" altLang="ja-JP" dirty="0"/>
              <a:t>Y</a:t>
            </a:r>
            <a:r>
              <a:rPr kumimoji="1" lang="ja-JP" altLang="en-US" dirty="0"/>
              <a:t>範囲</a:t>
            </a:r>
            <a:r>
              <a:rPr kumimoji="1" lang="en-US" altLang="ja-JP" dirty="0"/>
              <a:t>]</a:t>
            </a:r>
            <a:r>
              <a:rPr kumimoji="1" lang="ja-JP" altLang="en-US" dirty="0"/>
              <a:t>に，目的変数を選択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ja-JP" altLang="en-US" dirty="0"/>
              <a:t>支出金額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の記述があるセルから，</a:t>
            </a:r>
            <a:r>
              <a:rPr kumimoji="1" lang="en-US" altLang="ja-JP" dirty="0"/>
              <a:t>724</a:t>
            </a:r>
            <a:r>
              <a:rPr kumimoji="1" lang="ja-JP" altLang="en-US" sz="1800" dirty="0"/>
              <a:t>（</a:t>
            </a:r>
            <a:r>
              <a:rPr kumimoji="1" lang="en-US" altLang="ja-JP" sz="1800" dirty="0"/>
              <a:t>12</a:t>
            </a:r>
            <a:r>
              <a:rPr kumimoji="1" lang="ja-JP" altLang="en-US" sz="1800" dirty="0"/>
              <a:t>月の値）</a:t>
            </a:r>
            <a:r>
              <a:rPr kumimoji="1" lang="ja-JP" altLang="en-US" dirty="0"/>
              <a:t>のセルまで</a:t>
            </a:r>
            <a:endParaRPr kumimoji="1"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7DA26E1-0E33-6049-9780-60DD4440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1" t="21576" r="26163" b="13308"/>
          <a:stretch>
            <a:fillRect/>
          </a:stretch>
        </p:blipFill>
        <p:spPr>
          <a:xfrm>
            <a:off x="742259" y="2069566"/>
            <a:ext cx="8269765" cy="465174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8F3B59A-AA90-D181-D569-0B687E34A4B8}"/>
              </a:ext>
            </a:extLst>
          </p:cNvPr>
          <p:cNvSpPr/>
          <p:nvPr/>
        </p:nvSpPr>
        <p:spPr>
          <a:xfrm>
            <a:off x="1392866" y="3482165"/>
            <a:ext cx="946297" cy="3159404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499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7038E-C454-ACFA-C6FE-EF472912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A31D45-442D-C58A-43CC-C8B411A3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E02DF1A-38F6-0283-7602-CA7A80A2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ED24CA-D892-555D-83FE-A187A7E3C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入力</a:t>
            </a:r>
            <a:r>
              <a:rPr kumimoji="1" lang="en-US" altLang="ja-JP" dirty="0"/>
              <a:t>X</a:t>
            </a:r>
            <a:r>
              <a:rPr kumimoji="1" lang="ja-JP" altLang="en-US" dirty="0"/>
              <a:t>範囲</a:t>
            </a:r>
            <a:r>
              <a:rPr kumimoji="1" lang="en-US" altLang="ja-JP" dirty="0"/>
              <a:t>]</a:t>
            </a:r>
            <a:r>
              <a:rPr kumimoji="1" lang="ja-JP" altLang="en-US" dirty="0"/>
              <a:t>に，説明変数を選択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lang="ja-JP" altLang="en-US" dirty="0"/>
              <a:t>月別平均気温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の記述があるセルから，</a:t>
            </a:r>
            <a:r>
              <a:rPr kumimoji="1" lang="en-US" altLang="ja-JP" dirty="0"/>
              <a:t>9.4</a:t>
            </a:r>
            <a:r>
              <a:rPr kumimoji="1" lang="ja-JP" altLang="en-US" sz="1800" dirty="0"/>
              <a:t>（</a:t>
            </a:r>
            <a:r>
              <a:rPr kumimoji="1" lang="en-US" altLang="ja-JP" sz="1800" dirty="0"/>
              <a:t>12</a:t>
            </a:r>
            <a:r>
              <a:rPr kumimoji="1" lang="ja-JP" altLang="en-US" sz="1800" dirty="0"/>
              <a:t>月の値）</a:t>
            </a:r>
            <a:r>
              <a:rPr kumimoji="1" lang="ja-JP" altLang="en-US" dirty="0"/>
              <a:t>のセルまで</a:t>
            </a:r>
            <a:endParaRPr kumimoji="1"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1AB499F-7A43-901C-27E0-30F9AF239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1" t="21576" r="26163" b="13308"/>
          <a:stretch>
            <a:fillRect/>
          </a:stretch>
        </p:blipFill>
        <p:spPr>
          <a:xfrm>
            <a:off x="742259" y="2069566"/>
            <a:ext cx="8269765" cy="465174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C3D6BEB-A168-2ADC-0989-0F67C679300A}"/>
              </a:ext>
            </a:extLst>
          </p:cNvPr>
          <p:cNvSpPr/>
          <p:nvPr/>
        </p:nvSpPr>
        <p:spPr>
          <a:xfrm>
            <a:off x="2317898" y="3471532"/>
            <a:ext cx="946297" cy="3159404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923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0C9D-7120-407B-059E-8E33763F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1912A2-7E9E-1059-4A53-25ED8854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</a:t>
            </a:r>
            <a:r>
              <a:rPr lang="ja-JP" altLang="en-US" dirty="0"/>
              <a:t>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A2791F5-7D3C-4A3A-F764-82B10FE0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A4FFAD-4CE2-0164-A996-3465BF1CF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accent5"/>
                </a:solidFill>
              </a:rPr>
              <a:t>[</a:t>
            </a:r>
            <a:r>
              <a:rPr kumimoji="1" lang="ja-JP" altLang="en-US" dirty="0">
                <a:solidFill>
                  <a:schemeClr val="accent5"/>
                </a:solidFill>
              </a:rPr>
              <a:t>ラベル</a:t>
            </a:r>
            <a:r>
              <a:rPr kumimoji="1" lang="en-US" altLang="ja-JP" dirty="0">
                <a:solidFill>
                  <a:schemeClr val="accent5"/>
                </a:solidFill>
              </a:rPr>
              <a:t>]</a:t>
            </a:r>
            <a:r>
              <a:rPr kumimoji="1" lang="ja-JP" altLang="en-US" dirty="0">
                <a:solidFill>
                  <a:schemeClr val="accent5"/>
                </a:solidFill>
              </a:rPr>
              <a:t>に☑</a:t>
            </a:r>
            <a:r>
              <a:rPr lang="ja-JP" altLang="en-US" sz="2000" dirty="0"/>
              <a:t>（忘れやすいので注意！）</a:t>
            </a:r>
            <a:endParaRPr kumimoji="1" lang="en-US" altLang="ja-JP" dirty="0"/>
          </a:p>
          <a:p>
            <a:r>
              <a:rPr lang="en-US" altLang="ja-JP" dirty="0"/>
              <a:t>[</a:t>
            </a:r>
            <a:r>
              <a:rPr lang="ja-JP" altLang="en-US" dirty="0"/>
              <a:t>出力オプション</a:t>
            </a:r>
            <a:r>
              <a:rPr lang="en-US" altLang="ja-JP" dirty="0"/>
              <a:t>]</a:t>
            </a:r>
            <a:r>
              <a:rPr lang="ja-JP" altLang="en-US" dirty="0"/>
              <a:t>は結果の出力先</a:t>
            </a:r>
            <a:r>
              <a:rPr lang="ja-JP" altLang="en-US" sz="2000" dirty="0"/>
              <a:t>（お好みで）</a:t>
            </a:r>
            <a:endParaRPr lang="en-US" altLang="ja-JP" sz="2000" dirty="0"/>
          </a:p>
          <a:p>
            <a:pPr lvl="1"/>
            <a:r>
              <a:rPr kumimoji="1" lang="ja-JP" altLang="en-US" dirty="0"/>
              <a:t>ここまで出来たら</a:t>
            </a:r>
            <a:r>
              <a:rPr kumimoji="1" lang="en-US" altLang="ja-JP" dirty="0"/>
              <a:t>[OK]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13A77D6-397D-43F9-89A3-7DD854AEE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86" t="20749" r="26628" b="17648"/>
          <a:stretch>
            <a:fillRect/>
          </a:stretch>
        </p:blipFill>
        <p:spPr>
          <a:xfrm>
            <a:off x="3613869" y="2488019"/>
            <a:ext cx="5398155" cy="4233291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B1D15E7-4FA2-CC2A-A3EF-A57C9E78F12D}"/>
              </a:ext>
            </a:extLst>
          </p:cNvPr>
          <p:cNvSpPr/>
          <p:nvPr/>
        </p:nvSpPr>
        <p:spPr>
          <a:xfrm>
            <a:off x="3785191" y="3698596"/>
            <a:ext cx="946297" cy="320511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DC7EDFB-B837-1430-027C-433FA918B2D8}"/>
              </a:ext>
            </a:extLst>
          </p:cNvPr>
          <p:cNvSpPr/>
          <p:nvPr/>
        </p:nvSpPr>
        <p:spPr>
          <a:xfrm>
            <a:off x="3693852" y="4284153"/>
            <a:ext cx="3387433" cy="1042759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208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9E95-2631-6399-C0FD-03EF26D2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751DD66-ED87-5B59-DECE-15417DCF7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Excel</a:t>
            </a:r>
            <a:r>
              <a:rPr lang="ja-JP" altLang="en-US" dirty="0"/>
              <a:t>アドインを用いた回帰分析：結果の読み方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A5C437-C7F4-022E-CED9-A93BFDA0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25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C29184-2D09-32FC-A96A-F87E5386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33CC9DF-D877-6BC6-7A5C-343CEB8E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A6D1447-1851-CE3A-4AD5-395FB50254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D48F46B-92BA-526A-8D24-E7994870797E}"/>
              </a:ext>
            </a:extLst>
          </p:cNvPr>
          <p:cNvSpPr/>
          <p:nvPr/>
        </p:nvSpPr>
        <p:spPr>
          <a:xfrm>
            <a:off x="170122" y="3242930"/>
            <a:ext cx="3051544" cy="46783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B6A2335E-083F-2E4A-CDF4-700916342753}"/>
                  </a:ext>
                </a:extLst>
              </p:cNvPr>
              <p:cNvSpPr/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5202"/>
                  <a:gd name="adj2" fmla="val 42332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標本数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𝑛</m:t>
                    </m:r>
                  </m:oMath>
                </a14:m>
                <a:r>
                  <a:rPr kumimoji="1" lang="ja-JP" altLang="en-US" sz="20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（データの数）</a:t>
                </a:r>
                <a:endParaRPr kumimoji="1" lang="en-US" altLang="ja-JP" sz="28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まずはここを確認．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今回は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12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か月のデータなので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[12]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ここが合わない場合は，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[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ラベル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]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の☑を忘れているか，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データの選択範囲が間違っているので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確認してみよう．</a:t>
                </a:r>
              </a:p>
            </p:txBody>
          </p:sp>
        </mc:Choice>
        <mc:Fallback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B6A2335E-083F-2E4A-CDF4-7009163427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5202"/>
                  <a:gd name="adj2" fmla="val 42332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93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EEC45-D2D0-EB50-3094-5278476E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0A1AD9-2B9F-2669-F2DC-C41342F1D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D682C34-BE1D-513C-C7E6-CC4790EF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239F8F0-8A97-CFDF-595D-ED96A635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B7F41B-C2A3-8E9E-FE4C-D0310542BE7F}"/>
              </a:ext>
            </a:extLst>
          </p:cNvPr>
          <p:cNvSpPr/>
          <p:nvPr/>
        </p:nvSpPr>
        <p:spPr>
          <a:xfrm>
            <a:off x="170122" y="2424224"/>
            <a:ext cx="3051544" cy="5847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E7796139-B9B0-1D84-7D85-CEBEB4C1A1EC}"/>
                  </a:ext>
                </a:extLst>
              </p:cNvPr>
              <p:cNvSpPr/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4752"/>
                  <a:gd name="adj2" fmla="val 24685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決定係数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𝑅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自由度修正済み決定係数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Adj</m:t>
                    </m:r>
                    <m:r>
                      <a:rPr kumimoji="1"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.</m:t>
                    </m:r>
                    <m:sSup>
                      <m:sSupPr>
                        <m:ctrlP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R</m:t>
                        </m:r>
                      </m:e>
                      <m:sup>
                        <m: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仮定した直線の関係式で，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どの程度データの関係性を説明できているか．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kumimoji="1"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R</m:t>
                          </m:r>
                        </m:e>
                        <m:sup>
                          <m: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に近いほど説明力が高い．</a:t>
                </a:r>
              </a:p>
            </p:txBody>
          </p:sp>
        </mc:Choice>
        <mc:Fallback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E7796139-B9B0-1D84-7D85-CEBEB4C1A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4752"/>
                  <a:gd name="adj2" fmla="val 24685"/>
                </a:avLst>
              </a:prstGeom>
              <a:blipFill>
                <a:blip r:embed="rId3"/>
                <a:stretch>
                  <a:fillRect r="-1454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204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2C7D-D178-3EC1-EF2B-0F266F45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52DF1-EC7B-376B-67A2-3730F739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69EAAB9-AA86-B2F6-AC6D-428A6590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8353630-FC2F-17DD-69C7-3E257FF9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4CF49F-ACA9-395E-F012-D1E413975F9A}"/>
              </a:ext>
            </a:extLst>
          </p:cNvPr>
          <p:cNvSpPr/>
          <p:nvPr/>
        </p:nvSpPr>
        <p:spPr>
          <a:xfrm>
            <a:off x="116959" y="5486401"/>
            <a:ext cx="3030278" cy="6911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9B92980D-6948-BB68-1AD5-E2992CE4FE40}"/>
                  </a:ext>
                </a:extLst>
              </p:cNvPr>
              <p:cNvSpPr/>
              <p:nvPr/>
            </p:nvSpPr>
            <p:spPr>
              <a:xfrm>
                <a:off x="3636337" y="4253024"/>
                <a:ext cx="4720856" cy="1233377"/>
              </a:xfrm>
              <a:prstGeom prst="wedgeRectCallout">
                <a:avLst>
                  <a:gd name="adj1" fmla="val -61148"/>
                  <a:gd name="adj2" fmla="val 936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定数項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（切片）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これが切片の値．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今回は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=129.7238</m:t>
                    </m:r>
                  </m:oMath>
                </a14:m>
                <a:endParaRPr kumimoji="1" lang="ja-JP" altLang="en-US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9B92980D-6948-BB68-1AD5-E2992CE4F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37" y="4253024"/>
                <a:ext cx="4720856" cy="1233377"/>
              </a:xfrm>
              <a:prstGeom prst="wedgeRectCallout">
                <a:avLst>
                  <a:gd name="adj1" fmla="val -61148"/>
                  <a:gd name="adj2" fmla="val 9365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2120DCCA-89B4-B5D5-86EC-E1147C485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40" y="911463"/>
            <a:ext cx="4370832" cy="310896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6CD9EC2-9445-0498-A89A-A487827CE89A}"/>
              </a:ext>
            </a:extLst>
          </p:cNvPr>
          <p:cNvGrpSpPr/>
          <p:nvPr/>
        </p:nvGrpSpPr>
        <p:grpSpPr>
          <a:xfrm>
            <a:off x="3350082" y="3059668"/>
            <a:ext cx="5388918" cy="369332"/>
            <a:chOff x="5062190" y="5281846"/>
            <a:chExt cx="5388918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39B63C57-9647-D688-3F28-27AE1C35D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6447" y="5466512"/>
              <a:ext cx="4114661" cy="173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F29484A-8FE1-9AB0-664F-10247931AFB7}"/>
                    </a:ext>
                  </a:extLst>
                </p:cNvPr>
                <p:cNvSpPr txBox="1"/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=129.72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F29484A-8FE1-9AB0-664F-10247931A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E94B082-2E5D-45BC-66BB-BFBC982948AF}"/>
              </a:ext>
            </a:extLst>
          </p:cNvPr>
          <p:cNvCxnSpPr>
            <a:cxnSpLocks/>
          </p:cNvCxnSpPr>
          <p:nvPr/>
        </p:nvCxnSpPr>
        <p:spPr>
          <a:xfrm flipH="1">
            <a:off x="4875670" y="1371599"/>
            <a:ext cx="3279502" cy="209990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01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B4F18-87DD-E6E2-1552-FCBC1D8B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03ABD4-067B-4066-A900-E7149B7C2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F1C30A-10E1-E87A-13FA-87CEFF7B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48DD08D-37CC-B830-1BC0-F81734BA3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FFD9366-AA2A-7842-326C-3D98F5E7D6D9}"/>
              </a:ext>
            </a:extLst>
          </p:cNvPr>
          <p:cNvSpPr/>
          <p:nvPr/>
        </p:nvSpPr>
        <p:spPr>
          <a:xfrm>
            <a:off x="116959" y="6177516"/>
            <a:ext cx="3030278" cy="32960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22395A2A-AAE3-46FC-A320-7E68D1DA3EE1}"/>
                  </a:ext>
                </a:extLst>
              </p:cNvPr>
              <p:cNvSpPr/>
              <p:nvPr/>
            </p:nvSpPr>
            <p:spPr>
              <a:xfrm>
                <a:off x="3636337" y="4205088"/>
                <a:ext cx="4719600" cy="2100019"/>
              </a:xfrm>
              <a:prstGeom prst="wedgeRectCallout">
                <a:avLst>
                  <a:gd name="adj1" fmla="val -61373"/>
                  <a:gd name="adj2" fmla="val 462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（傾き）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次関数の傾き．今回は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=47.33734</m:t>
                    </m:r>
                  </m:oMath>
                </a14:m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原因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（説明変数）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が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単位増えたとき，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結果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（目的変数）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が何単位増えるか，を表す．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＋なのか－なのかで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意味が真逆になるので注意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（符号条件）</a:t>
                </a:r>
                <a:endParaRPr kumimoji="1" lang="ja-JP" altLang="en-US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22395A2A-AAE3-46FC-A320-7E68D1DA3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37" y="4205088"/>
                <a:ext cx="4719600" cy="2100019"/>
              </a:xfrm>
              <a:prstGeom prst="wedgeRectCallout">
                <a:avLst>
                  <a:gd name="adj1" fmla="val -61373"/>
                  <a:gd name="adj2" fmla="val 4625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A17DD047-DF86-56D0-3F94-59FE17797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40" y="911463"/>
            <a:ext cx="4370832" cy="310896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ED83A69-EAD1-A224-23B2-6730911BF9D0}"/>
              </a:ext>
            </a:extLst>
          </p:cNvPr>
          <p:cNvGrpSpPr/>
          <p:nvPr/>
        </p:nvGrpSpPr>
        <p:grpSpPr>
          <a:xfrm>
            <a:off x="3350082" y="3059668"/>
            <a:ext cx="5388918" cy="369332"/>
            <a:chOff x="5062190" y="5281846"/>
            <a:chExt cx="5388918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58BFE326-447F-6AE8-3490-BB1497512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6447" y="5466512"/>
              <a:ext cx="4114661" cy="173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00F3927-2500-CD77-E5C3-B71269F560A7}"/>
                    </a:ext>
                  </a:extLst>
                </p:cNvPr>
                <p:cNvSpPr txBox="1"/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=129.72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00F3927-2500-CD77-E5C3-B71269F56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5B511A0-6992-AEDC-E556-52D51766B7F3}"/>
              </a:ext>
            </a:extLst>
          </p:cNvPr>
          <p:cNvCxnSpPr>
            <a:cxnSpLocks/>
          </p:cNvCxnSpPr>
          <p:nvPr/>
        </p:nvCxnSpPr>
        <p:spPr>
          <a:xfrm flipH="1">
            <a:off x="4875670" y="1371599"/>
            <a:ext cx="3279502" cy="209990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9561774-FD9C-4B3A-EC5C-83434563E34D}"/>
              </a:ext>
            </a:extLst>
          </p:cNvPr>
          <p:cNvGrpSpPr/>
          <p:nvPr/>
        </p:nvGrpSpPr>
        <p:grpSpPr>
          <a:xfrm>
            <a:off x="5201704" y="2642718"/>
            <a:ext cx="2118905" cy="958377"/>
            <a:chOff x="6297410" y="4909426"/>
            <a:chExt cx="2118905" cy="958377"/>
          </a:xfrm>
        </p:grpSpPr>
        <p:sp>
          <p:nvSpPr>
            <p:cNvPr id="12" name="円弧 11">
              <a:extLst>
                <a:ext uri="{FF2B5EF4-FFF2-40B4-BE49-F238E27FC236}">
                  <a16:creationId xmlns:a16="http://schemas.microsoft.com/office/drawing/2014/main" id="{C28D0C37-401A-1B3E-29E5-14E36AD68F42}"/>
                </a:ext>
              </a:extLst>
            </p:cNvPr>
            <p:cNvSpPr/>
            <p:nvPr/>
          </p:nvSpPr>
          <p:spPr>
            <a:xfrm rot="1873028">
              <a:off x="6297410" y="4909426"/>
              <a:ext cx="950942" cy="958377"/>
            </a:xfrm>
            <a:prstGeom prst="arc">
              <a:avLst>
                <a:gd name="adj1" fmla="val 16642065"/>
                <a:gd name="adj2" fmla="val 20442519"/>
              </a:avLst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B32E639-5FB6-17C2-E997-169DABA2449C}"/>
                    </a:ext>
                  </a:extLst>
                </p:cNvPr>
                <p:cNvSpPr txBox="1"/>
                <p:nvPr/>
              </p:nvSpPr>
              <p:spPr>
                <a:xfrm>
                  <a:off x="7175014" y="5028665"/>
                  <a:ext cx="12413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1"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=47.34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B32E639-5FB6-17C2-E997-169DABA244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014" y="5028665"/>
                  <a:ext cx="12413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5422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00D4-71B5-CCF4-4D19-B05E3E05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501BC5-10C9-FA09-1C41-86998602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01A3EB7-4023-C006-3732-3E11576C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1222C5F-8BC0-4B68-121A-8EAB969D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423FE9E-B19B-D5EC-4B30-F378592645AF}"/>
              </a:ext>
            </a:extLst>
          </p:cNvPr>
          <p:cNvSpPr/>
          <p:nvPr/>
        </p:nvSpPr>
        <p:spPr>
          <a:xfrm>
            <a:off x="116959" y="6177516"/>
            <a:ext cx="2169041" cy="32961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7D5123F8-7F0B-CA5B-662E-AFB3F1F26272}"/>
                  </a:ext>
                </a:extLst>
              </p:cNvPr>
              <p:cNvSpPr/>
              <p:nvPr/>
            </p:nvSpPr>
            <p:spPr>
              <a:xfrm>
                <a:off x="4171172" y="1063256"/>
                <a:ext cx="4719600" cy="3551364"/>
              </a:xfrm>
              <a:prstGeom prst="wedgeRectCallout">
                <a:avLst>
                  <a:gd name="adj1" fmla="val -27355"/>
                  <a:gd name="adj2" fmla="val 78584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p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推定した係数の有意性を示す指標．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現時点では，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0.05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よりも小さい値であれば，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推定した係数（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=47.34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）に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意味がある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（有意）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と考えればよい．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切片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についても同様に見る．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=0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とする仮説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（帰無仮説）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のもとで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検定統計量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</a:t>
                </a:r>
                <a:r>
                  <a:rPr kumimoji="1" lang="en-US" altLang="ja-JP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を計算した場合，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その絶対値以上の極端な値が出る確率．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（詳細は授業の後半回でやります）</a:t>
                </a:r>
              </a:p>
            </p:txBody>
          </p:sp>
        </mc:Choice>
        <mc:Fallback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7D5123F8-7F0B-CA5B-662E-AFB3F1F26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172" y="1063256"/>
                <a:ext cx="4719600" cy="3551364"/>
              </a:xfrm>
              <a:prstGeom prst="wedgeRectCallout">
                <a:avLst>
                  <a:gd name="adj1" fmla="val -27355"/>
                  <a:gd name="adj2" fmla="val 78584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D2DBA4C-9D8B-827F-204A-B7687A5252DE}"/>
              </a:ext>
            </a:extLst>
          </p:cNvPr>
          <p:cNvSpPr/>
          <p:nvPr/>
        </p:nvSpPr>
        <p:spPr>
          <a:xfrm>
            <a:off x="4788197" y="6177516"/>
            <a:ext cx="804530" cy="32961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F5B21A-E5DE-8ECF-2C7F-494C5CC839E4}"/>
                  </a:ext>
                </a:extLst>
              </p:cNvPr>
              <p:cNvSpPr txBox="1"/>
              <p:nvPr/>
            </p:nvSpPr>
            <p:spPr>
              <a:xfrm>
                <a:off x="6046677" y="4678483"/>
                <a:ext cx="31101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Excel</a:t>
                </a:r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上での表記</a:t>
                </a:r>
                <a:endParaRPr kumimoji="1" lang="en-US" altLang="ja-JP" sz="16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8.02E-06=0.00000802…</a:t>
                </a:r>
              </a:p>
              <a:p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</a:t>
                </a:r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※</a:t>
                </a:r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指数表示：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8.02</m:t>
                    </m:r>
                    <m:r>
                      <a:rPr kumimoji="1" lang="en-US" altLang="ja-JP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）</a:t>
                </a:r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F5B21A-E5DE-8ECF-2C7F-494C5CC83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7" y="4678483"/>
                <a:ext cx="3110147" cy="830997"/>
              </a:xfrm>
              <a:prstGeom prst="rect">
                <a:avLst/>
              </a:prstGeom>
              <a:blipFill>
                <a:blip r:embed="rId4"/>
                <a:stretch>
                  <a:fillRect l="-1176" t="-2190" b="-6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066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9EBE9A-4DAF-22EA-B16E-E1577B1A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結果の読み方⑥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B6B3E4A-C21B-D749-C56E-F57162D6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961E53-4E9D-0C21-2238-2840B00FF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仮定した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次関数の式に当てはめて考える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今回の例では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支出金額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気温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推定した結果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支出金額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129.72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47.34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気温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ここからわかること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気温が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℃上がると，</a:t>
                </a:r>
                <a:br>
                  <a:rPr lang="en-US" altLang="ja-JP" dirty="0"/>
                </a:br>
                <a:r>
                  <a:rPr lang="ja-JP" altLang="en-US" dirty="0"/>
                  <a:t>アイスへの支出金額が</a:t>
                </a:r>
                <a:br>
                  <a:rPr lang="en-US" altLang="ja-JP" dirty="0"/>
                </a:br>
                <a:r>
                  <a:rPr lang="en-US" altLang="ja-JP" dirty="0"/>
                  <a:t>129.72</a:t>
                </a:r>
                <a:r>
                  <a:rPr lang="ja-JP" altLang="en-US" dirty="0"/>
                  <a:t>円上がる</a:t>
                </a:r>
                <a:endParaRPr lang="en-US" altLang="ja-JP" dirty="0"/>
              </a:p>
              <a:p>
                <a:endParaRPr kumimoji="1" lang="ja-JP" altLang="en-US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961E53-4E9D-0C21-2238-2840B00FF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7DCBD24-4872-708E-B09A-E23B3191EC33}"/>
              </a:ext>
            </a:extLst>
          </p:cNvPr>
          <p:cNvGrpSpPr/>
          <p:nvPr/>
        </p:nvGrpSpPr>
        <p:grpSpPr>
          <a:xfrm>
            <a:off x="3471334" y="3749040"/>
            <a:ext cx="5540690" cy="3108960"/>
            <a:chOff x="3350082" y="911463"/>
            <a:chExt cx="5540690" cy="310896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298DFAF-D1DE-A1E6-1546-15549D885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9940" y="911463"/>
              <a:ext cx="4370832" cy="3108960"/>
            </a:xfrm>
            <a:prstGeom prst="rect">
              <a:avLst/>
            </a:prstGeom>
          </p:spPr>
        </p:pic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8D6B76EC-94F7-3869-ADA8-C24611385E80}"/>
                </a:ext>
              </a:extLst>
            </p:cNvPr>
            <p:cNvGrpSpPr/>
            <p:nvPr/>
          </p:nvGrpSpPr>
          <p:grpSpPr>
            <a:xfrm>
              <a:off x="3350082" y="3059668"/>
              <a:ext cx="5388918" cy="369332"/>
              <a:chOff x="5062190" y="5281846"/>
              <a:chExt cx="5388918" cy="369332"/>
            </a:xfrm>
          </p:grpSpPr>
          <p:cxnSp>
            <p:nvCxnSpPr>
              <p:cNvPr id="7" name="直線コネクタ 6">
                <a:extLst>
                  <a:ext uri="{FF2B5EF4-FFF2-40B4-BE49-F238E27FC236}">
                    <a16:creationId xmlns:a16="http://schemas.microsoft.com/office/drawing/2014/main" id="{30FCF3F0-4C0D-BF6A-709D-6F2A46930D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36447" y="5466512"/>
                <a:ext cx="4114661" cy="17350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225B373A-9EE3-A083-DA00-47D2F298FD51}"/>
                      </a:ext>
                    </a:extLst>
                  </p:cNvPr>
                  <p:cNvSpPr txBox="1"/>
                  <p:nvPr/>
                </p:nvSpPr>
                <p:spPr>
                  <a:xfrm>
                    <a:off x="5062190" y="5281846"/>
                    <a:ext cx="13733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=129.72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225B373A-9EE3-A083-DA00-47D2F298FD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2190" y="5281846"/>
                    <a:ext cx="137332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8C6BBF52-1980-A416-52D6-A66F952A38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75670" y="1371599"/>
              <a:ext cx="3279502" cy="209990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DD3AFC6B-6AAE-DA5D-8EED-BC2B599BCF6E}"/>
                </a:ext>
              </a:extLst>
            </p:cNvPr>
            <p:cNvGrpSpPr/>
            <p:nvPr/>
          </p:nvGrpSpPr>
          <p:grpSpPr>
            <a:xfrm>
              <a:off x="5201704" y="2642718"/>
              <a:ext cx="2118905" cy="958377"/>
              <a:chOff x="6297410" y="4909426"/>
              <a:chExt cx="2118905" cy="958377"/>
            </a:xfrm>
          </p:grpSpPr>
          <p:sp>
            <p:nvSpPr>
              <p:cNvPr id="11" name="円弧 10">
                <a:extLst>
                  <a:ext uri="{FF2B5EF4-FFF2-40B4-BE49-F238E27FC236}">
                    <a16:creationId xmlns:a16="http://schemas.microsoft.com/office/drawing/2014/main" id="{52D0B303-ED6F-A029-B72E-2C3E2F7F6A38}"/>
                  </a:ext>
                </a:extLst>
              </p:cNvPr>
              <p:cNvSpPr/>
              <p:nvPr/>
            </p:nvSpPr>
            <p:spPr>
              <a:xfrm rot="1873028">
                <a:off x="6297410" y="4909426"/>
                <a:ext cx="950942" cy="958377"/>
              </a:xfrm>
              <a:prstGeom prst="arc">
                <a:avLst>
                  <a:gd name="adj1" fmla="val 16642065"/>
                  <a:gd name="adj2" fmla="val 20442519"/>
                </a:avLst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テキスト ボックス 11">
                    <a:extLst>
                      <a:ext uri="{FF2B5EF4-FFF2-40B4-BE49-F238E27FC236}">
                        <a16:creationId xmlns:a16="http://schemas.microsoft.com/office/drawing/2014/main" id="{E95D5E50-8B53-D150-24AE-7271614FB7D5}"/>
                      </a:ext>
                    </a:extLst>
                  </p:cNvPr>
                  <p:cNvSpPr txBox="1"/>
                  <p:nvPr/>
                </p:nvSpPr>
                <p:spPr>
                  <a:xfrm>
                    <a:off x="7175014" y="5028665"/>
                    <a:ext cx="12413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b="0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=47.34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2" name="テキスト ボックス 11">
                    <a:extLst>
                      <a:ext uri="{FF2B5EF4-FFF2-40B4-BE49-F238E27FC236}">
                        <a16:creationId xmlns:a16="http://schemas.microsoft.com/office/drawing/2014/main" id="{E95D5E50-8B53-D150-24AE-7271614FB7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5014" y="5028665"/>
                    <a:ext cx="124130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22065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章　第</a:t>
                </a:r>
                <a:r>
                  <a:rPr kumimoji="1" lang="en-US" altLang="ja-JP" dirty="0"/>
                  <a:t>7</a:t>
                </a:r>
                <a:r>
                  <a:rPr kumimoji="1" lang="ja-JP" altLang="en-US" dirty="0"/>
                  <a:t>節　回帰分析とその他の代表的な分析手法</a:t>
                </a:r>
              </a:p>
              <a:p>
                <a:pPr lvl="1"/>
                <a:r>
                  <a:rPr kumimoji="1" lang="ja-JP" altLang="en-US" dirty="0"/>
                  <a:t>相関関係と因果関係の違いを理解する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相関関係：関係性はあるか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因果関係：原因と結果の関係</a:t>
                </a:r>
              </a:p>
              <a:p>
                <a:pPr lvl="1"/>
                <a:r>
                  <a:rPr kumimoji="1" lang="ja-JP" altLang="en-US" dirty="0"/>
                  <a:t>回帰分析について理解する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回帰分析：原因と結果を分析者が設定し，</a:t>
                </a:r>
                <a:br>
                  <a:rPr lang="en-US" altLang="ja-JP" dirty="0"/>
                </a:br>
                <a:r>
                  <a:rPr lang="ja-JP" altLang="en-US" dirty="0"/>
                  <a:t>その変数間の関係性を明らかにする分析手法</a:t>
                </a:r>
                <a:endParaRPr lang="en-US" altLang="ja-JP" dirty="0"/>
              </a:p>
              <a:p>
                <a:pPr lvl="2"/>
                <a:r>
                  <a:rPr kumimoji="1" lang="ja-JP" altLang="en-US" dirty="0">
                    <a:solidFill>
                      <a:schemeClr val="accent5"/>
                    </a:solidFill>
                  </a:rPr>
                  <a:t>目的変数</a:t>
                </a:r>
                <a:r>
                  <a:rPr kumimoji="1" lang="ja-JP" altLang="en-US" dirty="0"/>
                  <a:t>（結果，</a:t>
                </a:r>
                <a:r>
                  <a:rPr kumimoji="1" lang="en-US" altLang="ja-JP" dirty="0"/>
                  <a:t>y</a:t>
                </a:r>
                <a:r>
                  <a:rPr kumimoji="1" lang="ja-JP" altLang="en-US" dirty="0"/>
                  <a:t>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>
                    <a:solidFill>
                      <a:schemeClr val="accent5"/>
                    </a:solidFill>
                  </a:rPr>
                  <a:t>説明変数</a:t>
                </a:r>
                <a:r>
                  <a:rPr kumimoji="1" lang="ja-JP" altLang="en-US" dirty="0"/>
                  <a:t>（原因，</a:t>
                </a:r>
                <a:r>
                  <a:rPr kumimoji="1" lang="en-US" altLang="ja-JP" dirty="0"/>
                  <a:t>x</a:t>
                </a:r>
                <a:r>
                  <a:rPr kumimoji="1" lang="ja-JP" altLang="en-US" dirty="0"/>
                  <a:t>）</a:t>
                </a:r>
              </a:p>
              <a:p>
                <a:pPr lvl="1"/>
                <a:r>
                  <a:rPr kumimoji="1" lang="en-US" altLang="ja-JP" dirty="0"/>
                  <a:t>Excel</a:t>
                </a:r>
                <a:r>
                  <a:rPr kumimoji="1" lang="ja-JP" altLang="en-US" dirty="0"/>
                  <a:t>での単回帰分析を修得する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決定係数：説明力を示す指標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定数項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，回帰係数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en-US" altLang="ja-JP" dirty="0"/>
                  <a:t>p</a:t>
                </a:r>
                <a:r>
                  <a:rPr lang="ja-JP" altLang="en-US" dirty="0"/>
                  <a:t>値：係数の有意性を示す指標</a:t>
                </a:r>
                <a:endParaRPr kumimoji="1" lang="ja-JP" altLang="en-US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567</TotalTime>
  <Words>2374</Words>
  <Application>Microsoft Office PowerPoint</Application>
  <PresentationFormat>画面に合わせる (4:3)</PresentationFormat>
  <Paragraphs>203</Paragraphs>
  <Slides>30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9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回帰分析とその他の代表的な分析手法</vt:lpstr>
      <vt:lpstr>今日の目標</vt:lpstr>
      <vt:lpstr>PowerPoint プレゼンテーション</vt:lpstr>
      <vt:lpstr>2つのデータの間の関係性を考える</vt:lpstr>
      <vt:lpstr>PowerPoint プレゼンテーション</vt:lpstr>
      <vt:lpstr>回帰分析とは</vt:lpstr>
      <vt:lpstr>回帰分析</vt:lpstr>
      <vt:lpstr>（Advanced） 最小二乗法①</vt:lpstr>
      <vt:lpstr>（Advanced） 最小二乗法②</vt:lpstr>
      <vt:lpstr>PowerPoint プレゼンテーション</vt:lpstr>
      <vt:lpstr>演習用Excelファイルを開いてみよう</vt:lpstr>
      <vt:lpstr>Excelの下準備</vt:lpstr>
      <vt:lpstr>[データ分析]ツールが表示されていない場合①</vt:lpstr>
      <vt:lpstr>[データ分析]ツールが表示されていない場合②</vt:lpstr>
      <vt:lpstr>[データ分析]ツールが表示されていない場合③</vt:lpstr>
      <vt:lpstr>PowerPoint プレゼンテーション</vt:lpstr>
      <vt:lpstr>①仮説の設定</vt:lpstr>
      <vt:lpstr>②式を立てる</vt:lpstr>
      <vt:lpstr>分析ツールでの分析①</vt:lpstr>
      <vt:lpstr>分析ツールでの分析②</vt:lpstr>
      <vt:lpstr>分析ツールでの分析③</vt:lpstr>
      <vt:lpstr>分析ツールでの分析④</vt:lpstr>
      <vt:lpstr>PowerPoint プレゼンテーション</vt:lpstr>
      <vt:lpstr>結果の読み方①</vt:lpstr>
      <vt:lpstr>結果の読み方②</vt:lpstr>
      <vt:lpstr>結果の読み方③</vt:lpstr>
      <vt:lpstr>結果の読み方④</vt:lpstr>
      <vt:lpstr>結果の読み方⑤</vt:lpstr>
      <vt:lpstr>結果の読み方⑥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Maria Ikegawa</cp:lastModifiedBy>
  <cp:revision>49</cp:revision>
  <dcterms:created xsi:type="dcterms:W3CDTF">2025-03-03T09:28:12Z</dcterms:created>
  <dcterms:modified xsi:type="dcterms:W3CDTF">2025-08-31T17:24:25Z</dcterms:modified>
</cp:coreProperties>
</file>