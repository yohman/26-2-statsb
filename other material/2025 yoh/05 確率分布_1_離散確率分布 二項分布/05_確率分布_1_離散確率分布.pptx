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9"/>
  </p:notesMasterIdLst>
  <p:sldIdLst>
    <p:sldId id="256" r:id="rId2"/>
    <p:sldId id="257" r:id="rId3"/>
    <p:sldId id="258" r:id="rId4"/>
    <p:sldId id="554" r:id="rId5"/>
    <p:sldId id="555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3" r:id="rId14"/>
    <p:sldId id="564" r:id="rId15"/>
    <p:sldId id="566" r:id="rId16"/>
    <p:sldId id="568" r:id="rId17"/>
    <p:sldId id="569" r:id="rId18"/>
    <p:sldId id="572" r:id="rId19"/>
    <p:sldId id="573" r:id="rId20"/>
    <p:sldId id="574" r:id="rId21"/>
    <p:sldId id="575" r:id="rId22"/>
    <p:sldId id="576" r:id="rId23"/>
    <p:sldId id="578" r:id="rId24"/>
    <p:sldId id="577" r:id="rId25"/>
    <p:sldId id="579" r:id="rId26"/>
    <p:sldId id="580" r:id="rId27"/>
    <p:sldId id="581" r:id="rId28"/>
    <p:sldId id="582" r:id="rId29"/>
    <p:sldId id="584" r:id="rId30"/>
    <p:sldId id="585" r:id="rId31"/>
    <p:sldId id="567" r:id="rId32"/>
    <p:sldId id="570" r:id="rId33"/>
    <p:sldId id="571" r:id="rId34"/>
    <p:sldId id="586" r:id="rId35"/>
    <p:sldId id="587" r:id="rId36"/>
    <p:sldId id="588" r:id="rId37"/>
    <p:sldId id="262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60" d="100"/>
          <a:sy n="60" d="100"/>
        </p:scale>
        <p:origin x="14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2025/9/2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  <a:p>
            <a:r>
              <a:rPr kumimoji="1" lang="ja-JP" altLang="en-US" dirty="0"/>
              <a:t>時間が余ったときや積分が必修の分野用に．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93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#05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確率分布：離散確率分布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  <a:p>
            <a:pPr lvl="1"/>
            <a:r>
              <a:rPr kumimoji="1" lang="ja-JP" altLang="en-US" dirty="0"/>
              <a:t>二項分布の確率の計算方法を修得する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F0E526-6936-4B97-E126-9D23D5A5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71C0B8-C8D1-36A5-1C9D-ADF41FF9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2631B0-1FD4-4183-9E88-56B10A7F8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random variable</a:t>
                </a:r>
              </a:p>
              <a:p>
                <a:pPr lvl="1"/>
                <a:r>
                  <a:rPr kumimoji="1" lang="ja-JP" altLang="en-US" dirty="0"/>
                  <a:t>観測値に確率が対応している変数</a:t>
                </a:r>
                <a:endParaRPr kumimoji="1" lang="en-US" altLang="ja-JP" dirty="0"/>
              </a:p>
              <a:p>
                <a:r>
                  <a:rPr lang="ja-JP" altLang="en-US" dirty="0"/>
                  <a:t>例：サイコロの出た目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がとる可能性のある値：</a:t>
                </a:r>
                <a:r>
                  <a:rPr lang="en-US" altLang="ja-JP" dirty="0"/>
                  <a:t>1,2,3,4,5,6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がいくつになるかは，実際にサイコロを振らないとわからない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偶然性を伴う</a:t>
                </a:r>
                <a:r>
                  <a:rPr lang="ja-JP" altLang="en-US" dirty="0"/>
                  <a:t>事象</a:t>
                </a:r>
                <a:endParaRPr lang="en-US" altLang="ja-JP" dirty="0"/>
              </a:p>
              <a:p>
                <a:r>
                  <a:rPr kumimoji="1" lang="ja-JP" altLang="en-US" b="0" dirty="0"/>
                  <a:t>確率変数には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が含まれる</a:t>
                </a:r>
                <a:r>
                  <a:rPr kumimoji="1" lang="ja-JP" altLang="en-US" dirty="0"/>
                  <a:t>場合もある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くじで当たりが出る本数</a:t>
                </a:r>
                <a:r>
                  <a:rPr lang="ja-JP" altLang="en-US" sz="1800" dirty="0"/>
                  <a:t>（すべてハズレの場合）</a:t>
                </a:r>
                <a:endParaRPr lang="en-US" altLang="ja-JP" sz="1800" dirty="0"/>
              </a:p>
              <a:p>
                <a:pPr lvl="1"/>
                <a:r>
                  <a:rPr kumimoji="1" lang="ja-JP" altLang="en-US" dirty="0"/>
                  <a:t>コイン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枚投げたときに表が出る枚数</a:t>
                </a:r>
                <a:r>
                  <a:rPr kumimoji="1" lang="ja-JP" altLang="en-US" sz="1800" dirty="0"/>
                  <a:t>（すべて裏の場合）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10</a:t>
                </a:r>
                <a:r>
                  <a:rPr lang="ja-JP" altLang="en-US" dirty="0"/>
                  <a:t>連ガチャで当たり枠のキャラ数</a:t>
                </a:r>
                <a:r>
                  <a:rPr lang="ja-JP" altLang="en-US" sz="1800" dirty="0"/>
                  <a:t>（すべてハズレの場合）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2631B0-1FD4-4183-9E88-56B10A7F8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71B78F-3D3A-64FA-3EB6-270349DFD9B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428176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C97D-0FF2-6B04-252A-0645A04A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275170D-C312-A9F5-82D7-010D5D820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3DEBA4-C5B3-C992-DFD9-44B8AFA8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42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07F50-DCEA-AA50-CC7A-B1C5799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9FF2FE-D8A4-659D-052B-CF2613E4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期待値</a:t>
                </a:r>
                <a:endParaRPr kumimoji="1" lang="en-US" altLang="ja-JP" b="1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確率変数のとる値に，対応する確率の重み付けをした加重平均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確率変数と確率の積和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離散確率分布の場合：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ja-JP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サイコロの目の例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=3.5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確率変数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その目が出る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𝑷𝒓</m:t>
                              </m:r>
                              <m:d>
                                <m:d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𝑷𝒓</m:t>
                                </m:r>
                                <m:d>
                                  <m:d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433" t="-11475" r="-30779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50766" t="-11475" r="-55580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275600" t="-11475" r="-1600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570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4C76E-0036-64B9-932D-3F4C366D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 </a:t>
            </a:r>
            <a:r>
              <a:rPr kumimoji="1" lang="ja-JP" altLang="en-US" dirty="0"/>
              <a:t>考えてみよう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C9E6BD-1D3A-885A-EC98-5789B0F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択問題の試験問題の得点の期待値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4</a:t>
                </a:r>
                <a:r>
                  <a:rPr lang="ja-JP" altLang="en-US" dirty="0"/>
                  <a:t>択のうち，どれが正解かの確率は一定　→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各問の得点は同じ　→　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問</a:t>
                </a:r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点</a:t>
                </a:r>
                <a:r>
                  <a:rPr kumimoji="1" lang="en-US" altLang="ja-JP" dirty="0"/>
                  <a:t>×10</a:t>
                </a:r>
                <a:r>
                  <a:rPr kumimoji="1" lang="ja-JP" altLang="en-US" dirty="0"/>
                  <a:t>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すべて</a:t>
                </a:r>
                <a:r>
                  <a:rPr lang="en-US" altLang="ja-JP" dirty="0"/>
                  <a:t>[1]</a:t>
                </a:r>
                <a:r>
                  <a:rPr lang="ja-JP" altLang="en-US" dirty="0"/>
                  <a:t>をマークしたときの，期待値</a:t>
                </a:r>
                <a:r>
                  <a:rPr lang="ja-JP" altLang="en-US" sz="1800" dirty="0"/>
                  <a:t>（見込みの点数）</a:t>
                </a:r>
                <a:r>
                  <a:rPr lang="ja-JP" altLang="en-US" dirty="0"/>
                  <a:t>はいくつ？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BCCFCE3-4A1E-859D-7418-6FAB8B9BD383}"/>
              </a:ext>
            </a:extLst>
          </p:cNvPr>
          <p:cNvGrpSpPr/>
          <p:nvPr/>
        </p:nvGrpSpPr>
        <p:grpSpPr>
          <a:xfrm>
            <a:off x="2262076" y="3429000"/>
            <a:ext cx="1395523" cy="745809"/>
            <a:chOff x="2272709" y="3121784"/>
            <a:chExt cx="1395523" cy="745809"/>
          </a:xfrm>
        </p:grpSpPr>
        <p:sp>
          <p:nvSpPr>
            <p:cNvPr id="5" name="右中かっこ 4">
              <a:extLst>
                <a:ext uri="{FF2B5EF4-FFF2-40B4-BE49-F238E27FC236}">
                  <a16:creationId xmlns:a16="http://schemas.microsoft.com/office/drawing/2014/main" id="{793D6B84-035B-F191-74DC-6CB91ABE2F9E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737" t="-3333" r="-9474" b="-28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0733E59-BFE0-4249-3877-9B180340AD68}"/>
              </a:ext>
            </a:extLst>
          </p:cNvPr>
          <p:cNvGrpSpPr/>
          <p:nvPr/>
        </p:nvGrpSpPr>
        <p:grpSpPr>
          <a:xfrm>
            <a:off x="4090880" y="3425427"/>
            <a:ext cx="1395523" cy="745809"/>
            <a:chOff x="2272709" y="3121784"/>
            <a:chExt cx="1395523" cy="745809"/>
          </a:xfrm>
        </p:grpSpPr>
        <p:sp>
          <p:nvSpPr>
            <p:cNvPr id="10" name="右中かっこ 9">
              <a:extLst>
                <a:ext uri="{FF2B5EF4-FFF2-40B4-BE49-F238E27FC236}">
                  <a16:creationId xmlns:a16="http://schemas.microsoft.com/office/drawing/2014/main" id="{FA60175E-3D82-6151-006B-093F8FFA1B63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4737" t="-3333" r="-9474" b="-3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C78E93-2C59-7685-F86D-1223311089FD}"/>
              </a:ext>
            </a:extLst>
          </p:cNvPr>
          <p:cNvGrpSpPr/>
          <p:nvPr/>
        </p:nvGrpSpPr>
        <p:grpSpPr>
          <a:xfrm>
            <a:off x="5919682" y="3421854"/>
            <a:ext cx="1395523" cy="745809"/>
            <a:chOff x="2272709" y="3121784"/>
            <a:chExt cx="1395523" cy="745809"/>
          </a:xfrm>
        </p:grpSpPr>
        <p:sp>
          <p:nvSpPr>
            <p:cNvPr id="13" name="右中かっこ 12">
              <a:extLst>
                <a:ext uri="{FF2B5EF4-FFF2-40B4-BE49-F238E27FC236}">
                  <a16:creationId xmlns:a16="http://schemas.microsoft.com/office/drawing/2014/main" id="{A34A1203-B0C5-6F4F-93DD-58CE424876AC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4737" t="-1639" r="-9474" b="-278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BD0DB99-E447-5C89-16F4-68080FE6619E}"/>
              </a:ext>
            </a:extLst>
          </p:cNvPr>
          <p:cNvGrpSpPr/>
          <p:nvPr/>
        </p:nvGrpSpPr>
        <p:grpSpPr>
          <a:xfrm>
            <a:off x="1705967" y="4174810"/>
            <a:ext cx="1253869" cy="1328306"/>
            <a:chOff x="1705967" y="4174810"/>
            <a:chExt cx="1253869" cy="1328306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26ED7B48-F820-6066-ED04-90652645DB3E}"/>
                </a:ext>
              </a:extLst>
            </p:cNvPr>
            <p:cNvGrpSpPr/>
            <p:nvPr/>
          </p:nvGrpSpPr>
          <p:grpSpPr>
            <a:xfrm>
              <a:off x="2445488" y="4174810"/>
              <a:ext cx="467833" cy="1024511"/>
              <a:chOff x="2445488" y="4174810"/>
              <a:chExt cx="467833" cy="1024511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8A561A7-AA0F-D149-C99A-B9D92AD2E9DE}"/>
                  </a:ext>
                </a:extLst>
              </p:cNvPr>
              <p:cNvSpPr/>
              <p:nvPr/>
            </p:nvSpPr>
            <p:spPr>
              <a:xfrm>
                <a:off x="2445488" y="4174810"/>
                <a:ext cx="467833" cy="567311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4FEC6D27-C138-B76C-6300-04A70D9F03EF}"/>
                  </a:ext>
                </a:extLst>
              </p:cNvPr>
              <p:cNvCxnSpPr>
                <a:stCxn id="15" idx="2"/>
              </p:cNvCxnSpPr>
              <p:nvPr/>
            </p:nvCxnSpPr>
            <p:spPr>
              <a:xfrm flipH="1">
                <a:off x="2445488" y="4742121"/>
                <a:ext cx="233917" cy="45720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E795A491-64E5-FEE0-60EA-7705DA5A0518}"/>
                </a:ext>
              </a:extLst>
            </p:cNvPr>
            <p:cNvSpPr txBox="1"/>
            <p:nvPr/>
          </p:nvSpPr>
          <p:spPr>
            <a:xfrm>
              <a:off x="1705967" y="5133784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の得点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04C4B2F-069D-18E3-EACD-613D0765BD70}"/>
              </a:ext>
            </a:extLst>
          </p:cNvPr>
          <p:cNvGrpSpPr/>
          <p:nvPr/>
        </p:nvGrpSpPr>
        <p:grpSpPr>
          <a:xfrm>
            <a:off x="3224320" y="4105548"/>
            <a:ext cx="2144522" cy="1402716"/>
            <a:chOff x="2543837" y="4112695"/>
            <a:chExt cx="2144522" cy="1402716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1A50002C-252E-E65D-15F2-71C7CAFA5F8E}"/>
                </a:ext>
              </a:extLst>
            </p:cNvPr>
            <p:cNvGrpSpPr/>
            <p:nvPr/>
          </p:nvGrpSpPr>
          <p:grpSpPr>
            <a:xfrm>
              <a:off x="2543837" y="4112695"/>
              <a:ext cx="433279" cy="1069363"/>
              <a:chOff x="2543837" y="4112695"/>
              <a:chExt cx="433279" cy="106936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148C33B7-21E1-BD52-24F2-DF2EABA2AEEC}"/>
                  </a:ext>
                </a:extLst>
              </p:cNvPr>
              <p:cNvSpPr/>
              <p:nvPr/>
            </p:nvSpPr>
            <p:spPr>
              <a:xfrm>
                <a:off x="2543837" y="4112695"/>
                <a:ext cx="295984" cy="817327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5" name="直線矢印コネクタ 24">
                <a:extLst>
                  <a:ext uri="{FF2B5EF4-FFF2-40B4-BE49-F238E27FC236}">
                    <a16:creationId xmlns:a16="http://schemas.microsoft.com/office/drawing/2014/main" id="{24CE5CCC-70B4-CB0F-6381-9C65C02FA01B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>
                <a:off x="2691829" y="4930022"/>
                <a:ext cx="285287" cy="252036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BF1C3F4-3E4C-C210-9728-447DA670BE3F}"/>
                </a:ext>
              </a:extLst>
            </p:cNvPr>
            <p:cNvSpPr txBox="1"/>
            <p:nvPr/>
          </p:nvSpPr>
          <p:spPr>
            <a:xfrm>
              <a:off x="2756420" y="5146079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が当たる確率</a:t>
              </a:r>
            </a:p>
          </p:txBody>
        </p: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EB700B2-42B1-D48A-C074-E444551AF5FB}"/>
              </a:ext>
            </a:extLst>
          </p:cNvPr>
          <p:cNvSpPr/>
          <p:nvPr/>
        </p:nvSpPr>
        <p:spPr>
          <a:xfrm>
            <a:off x="2262076" y="3798332"/>
            <a:ext cx="5978157" cy="14009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B9494B2-F5FB-E6C1-F9E0-61B1FE63A98B}"/>
              </a:ext>
            </a:extLst>
          </p:cNvPr>
          <p:cNvSpPr/>
          <p:nvPr/>
        </p:nvSpPr>
        <p:spPr>
          <a:xfrm>
            <a:off x="2262075" y="5575799"/>
            <a:ext cx="4065223" cy="886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189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288A9-ED90-D85E-B81D-886E1183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積分の計算練習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8EACDD-4C75-2337-90C3-E4450EE3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連続確率変数の場合の期待値：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は確率密度関数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kumimoji="1" lang="ja-JP" altLang="en-US" dirty="0"/>
                  <a:t> において，確率変数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kumimoji="1" lang="ja-JP" altLang="en-US" dirty="0"/>
                  <a:t> のとき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312506A-280E-DE21-E336-8771449C0524}"/>
              </a:ext>
            </a:extLst>
          </p:cNvPr>
          <p:cNvGrpSpPr/>
          <p:nvPr/>
        </p:nvGrpSpPr>
        <p:grpSpPr>
          <a:xfrm>
            <a:off x="2392326" y="3040473"/>
            <a:ext cx="5422604" cy="1573618"/>
            <a:chOff x="2392326" y="3040473"/>
            <a:chExt cx="5422604" cy="157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/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ja-JP" alt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08CE979B-4386-21F1-909F-9368608879C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2392326" y="3827282"/>
              <a:ext cx="1584250" cy="14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3AB2663-91ED-ECE2-9F16-AA4C6D1DDDCB}"/>
              </a:ext>
            </a:extLst>
          </p:cNvPr>
          <p:cNvGrpSpPr/>
          <p:nvPr/>
        </p:nvGrpSpPr>
        <p:grpSpPr>
          <a:xfrm>
            <a:off x="1892595" y="4880892"/>
            <a:ext cx="4221126" cy="935117"/>
            <a:chOff x="1892595" y="4880892"/>
            <a:chExt cx="4221126" cy="935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/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ja-JP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D4A4A066-04E3-5935-FAB1-D20EF675F0BD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1892595" y="5220586"/>
              <a:ext cx="2083981" cy="127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2DCB85-6E78-13DE-F9E6-FD547B766DBD}"/>
              </a:ext>
            </a:extLst>
          </p:cNvPr>
          <p:cNvSpPr/>
          <p:nvPr/>
        </p:nvSpPr>
        <p:spPr>
          <a:xfrm>
            <a:off x="507705" y="3614789"/>
            <a:ext cx="1884622" cy="733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FD4CC0-132A-63C4-09CA-31E8A7BC8B85}"/>
              </a:ext>
            </a:extLst>
          </p:cNvPr>
          <p:cNvSpPr/>
          <p:nvPr/>
        </p:nvSpPr>
        <p:spPr>
          <a:xfrm>
            <a:off x="507703" y="4417966"/>
            <a:ext cx="2083981" cy="866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E7DA8AF-2F35-C8C4-2FD4-6043FF63478B}"/>
              </a:ext>
            </a:extLst>
          </p:cNvPr>
          <p:cNvSpPr/>
          <p:nvPr/>
        </p:nvSpPr>
        <p:spPr>
          <a:xfrm>
            <a:off x="507703" y="5347892"/>
            <a:ext cx="1161609" cy="4681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08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776F-AC53-65B0-1D62-14B20FD8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F4ED18F-86E6-6608-FE61-D4B45772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7B8BA9-7F4C-0994-DB5C-4063CA3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17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1E794-AA5C-EBF5-F842-F187C4CE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CE30BB-D09A-C351-533C-429C6F00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ED93B9-D58F-D635-2B79-A46C795B9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確率分布</a:t>
            </a:r>
            <a:r>
              <a:rPr kumimoji="1" lang="ja-JP" altLang="en-US" dirty="0"/>
              <a:t>　</a:t>
            </a:r>
            <a:r>
              <a:rPr kumimoji="1" lang="en-US" altLang="ja-JP" dirty="0">
                <a:solidFill>
                  <a:schemeClr val="accent2"/>
                </a:solidFill>
              </a:rPr>
              <a:t>probability distribution</a:t>
            </a:r>
          </a:p>
          <a:p>
            <a:pPr lvl="1"/>
            <a:r>
              <a:rPr lang="ja-JP" altLang="en-US" dirty="0"/>
              <a:t>確率変数に対して，それぞれの値をとる確率全体を表すもの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確率変数が，ある値となる確率を与える関数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離散確率分布と連続確率分布がある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8A6991-167D-3104-D4F0-862C248101B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9445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F7A22-C5B7-8A99-E380-552F200B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7314CE-9906-A292-74CC-40C46A8F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1D5212-D2CF-6B8F-E721-9854D3EEC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離散確率分布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discrete probability distribution</a:t>
            </a:r>
          </a:p>
          <a:p>
            <a:pPr lvl="1"/>
            <a:r>
              <a:rPr lang="en-US" altLang="ja-JP" dirty="0"/>
              <a:t>0</a:t>
            </a:r>
            <a:r>
              <a:rPr lang="ja-JP" altLang="en-US" dirty="0"/>
              <a:t>でない確率をとる確率変数の値が取り得る範囲</a:t>
            </a:r>
            <a:r>
              <a:rPr lang="ja-JP" altLang="en-US" sz="1800" dirty="0"/>
              <a:t>（値域）</a:t>
            </a:r>
            <a:r>
              <a:rPr lang="ja-JP" altLang="en-US" dirty="0"/>
              <a:t>が</a:t>
            </a:r>
            <a:br>
              <a:rPr lang="en-US" altLang="ja-JP" dirty="0"/>
            </a:br>
            <a:r>
              <a:rPr lang="ja-JP" altLang="en-US" dirty="0"/>
              <a:t>加算個である確率分布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確率変数が離散変数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離散変数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中間の値が存在しない変数</a:t>
            </a:r>
            <a:endParaRPr kumimoji="1" lang="en-US" altLang="ja-JP" dirty="0"/>
          </a:p>
          <a:p>
            <a:pPr lvl="1"/>
            <a:r>
              <a:rPr lang="ja-JP" altLang="en-US" dirty="0"/>
              <a:t>通常は整数値のみをとる</a:t>
            </a:r>
            <a:endParaRPr lang="en-US" altLang="ja-JP" dirty="0"/>
          </a:p>
          <a:p>
            <a:pPr lvl="2"/>
            <a:r>
              <a:rPr kumimoji="1" lang="ja-JP" altLang="en-US" dirty="0"/>
              <a:t>サイコロの目，人数，など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9D1630-D0F5-ABE2-5BCC-B16D841C645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B4EEFE4-9182-801A-A6CE-F9E6FA21BC4A}"/>
              </a:ext>
            </a:extLst>
          </p:cNvPr>
          <p:cNvGrpSpPr/>
          <p:nvPr/>
        </p:nvGrpSpPr>
        <p:grpSpPr>
          <a:xfrm>
            <a:off x="5220586" y="2229780"/>
            <a:ext cx="3359888" cy="2204271"/>
            <a:chOff x="5103628" y="1857640"/>
            <a:chExt cx="3359888" cy="2204271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48AAF6A7-D5CA-1F99-6D4B-3C4851B942DF}"/>
                </a:ext>
              </a:extLst>
            </p:cNvPr>
            <p:cNvCxnSpPr/>
            <p:nvPr/>
          </p:nvCxnSpPr>
          <p:spPr>
            <a:xfrm>
              <a:off x="5103628" y="3668233"/>
              <a:ext cx="3359888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7CF3C02-7BCB-A03E-3687-882A6A38449A}"/>
                </a:ext>
              </a:extLst>
            </p:cNvPr>
            <p:cNvGrpSpPr/>
            <p:nvPr/>
          </p:nvGrpSpPr>
          <p:grpSpPr>
            <a:xfrm>
              <a:off x="5170201" y="1857640"/>
              <a:ext cx="3027726" cy="2204271"/>
              <a:chOff x="5170201" y="1857640"/>
              <a:chExt cx="3027726" cy="2204271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0FCFE5D5-F789-0FFA-AB42-A55183B81F49}"/>
                  </a:ext>
                </a:extLst>
              </p:cNvPr>
              <p:cNvGrpSpPr/>
              <p:nvPr/>
            </p:nvGrpSpPr>
            <p:grpSpPr>
              <a:xfrm>
                <a:off x="5170201" y="2477251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12" name="グループ化 11">
                  <a:extLst>
                    <a:ext uri="{FF2B5EF4-FFF2-40B4-BE49-F238E27FC236}">
                      <a16:creationId xmlns:a16="http://schemas.microsoft.com/office/drawing/2014/main" id="{21D5D60E-5228-D8F5-D248-2637A1FBCA5F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9" name="直線コネクタ 8">
                    <a:extLst>
                      <a:ext uri="{FF2B5EF4-FFF2-40B4-BE49-F238E27FC236}">
                        <a16:creationId xmlns:a16="http://schemas.microsoft.com/office/drawing/2014/main" id="{424C8329-EA43-689D-B047-53CB03524DBB}"/>
                      </a:ext>
                    </a:extLst>
                  </p:cNvPr>
                  <p:cNvCxnSpPr>
                    <a:cxnSpLocks/>
                    <a:stCxn id="11" idx="4"/>
                    <a:endCxn id="10" idx="0"/>
                  </p:cNvCxnSpPr>
                  <p:nvPr/>
                </p:nvCxnSpPr>
                <p:spPr>
                  <a:xfrm>
                    <a:off x="5473329" y="3031681"/>
                    <a:ext cx="0" cy="550089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楕円 9">
                    <a:extLst>
                      <a:ext uri="{FF2B5EF4-FFF2-40B4-BE49-F238E27FC236}">
                        <a16:creationId xmlns:a16="http://schemas.microsoft.com/office/drawing/2014/main" id="{FE705B3C-1592-3BA8-422E-EBAF0E9A8191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1" name="楕円 10">
                    <a:extLst>
                      <a:ext uri="{FF2B5EF4-FFF2-40B4-BE49-F238E27FC236}">
                        <a16:creationId xmlns:a16="http://schemas.microsoft.com/office/drawing/2014/main" id="{DD710A21-BB21-DC34-6AD1-10BFF872B871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1A7AAABB-6A2F-2646-E35D-7CC6AE01F4DC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61F2FDA8-8411-EB08-9CC3-56F9AB4BE97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5592BAED-7D7E-91B9-93DD-7F952B05B659}"/>
                  </a:ext>
                </a:extLst>
              </p:cNvPr>
              <p:cNvGrpSpPr/>
              <p:nvPr/>
            </p:nvGrpSpPr>
            <p:grpSpPr>
              <a:xfrm>
                <a:off x="5772044" y="2784466"/>
                <a:ext cx="606256" cy="1275378"/>
                <a:chOff x="5163152" y="2786533"/>
                <a:chExt cx="606256" cy="1275378"/>
              </a:xfrm>
            </p:grpSpPr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5E86F980-70CF-43D5-8DA5-C31E9713736B}"/>
                    </a:ext>
                  </a:extLst>
                </p:cNvPr>
                <p:cNvGrpSpPr/>
                <p:nvPr/>
              </p:nvGrpSpPr>
              <p:grpSpPr>
                <a:xfrm>
                  <a:off x="5381177" y="3132032"/>
                  <a:ext cx="178615" cy="622664"/>
                  <a:chOff x="5381177" y="3132032"/>
                  <a:chExt cx="178615" cy="622664"/>
                </a:xfrm>
              </p:grpSpPr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2806E7CA-516B-435C-619E-4BF6BB0C56DE}"/>
                      </a:ext>
                    </a:extLst>
                  </p:cNvPr>
                  <p:cNvCxnSpPr>
                    <a:cxnSpLocks/>
                    <a:stCxn id="22" idx="4"/>
                    <a:endCxn id="21" idx="0"/>
                  </p:cNvCxnSpPr>
                  <p:nvPr/>
                </p:nvCxnSpPr>
                <p:spPr>
                  <a:xfrm>
                    <a:off x="5467640" y="3304958"/>
                    <a:ext cx="5689" cy="276812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楕円 20">
                    <a:extLst>
                      <a:ext uri="{FF2B5EF4-FFF2-40B4-BE49-F238E27FC236}">
                        <a16:creationId xmlns:a16="http://schemas.microsoft.com/office/drawing/2014/main" id="{81156A56-F949-8B5B-3F7B-431175A0A427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楕円 21">
                    <a:extLst>
                      <a:ext uri="{FF2B5EF4-FFF2-40B4-BE49-F238E27FC236}">
                        <a16:creationId xmlns:a16="http://schemas.microsoft.com/office/drawing/2014/main" id="{20CFD3C3-5F67-0DD4-40BD-D01E0429FCD7}"/>
                      </a:ext>
                    </a:extLst>
                  </p:cNvPr>
                  <p:cNvSpPr/>
                  <p:nvPr/>
                </p:nvSpPr>
                <p:spPr>
                  <a:xfrm>
                    <a:off x="5381177" y="3132032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78B1464-E12B-2246-A30F-35771540014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3A87A07-F39E-CB26-7C77-C0D01723A24D}"/>
                    </a:ext>
                  </a:extLst>
                </p:cNvPr>
                <p:cNvSpPr txBox="1"/>
                <p:nvPr/>
              </p:nvSpPr>
              <p:spPr>
                <a:xfrm>
                  <a:off x="5163152" y="2786533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892AED9B-58C1-FF3E-74A2-56F75AA43354}"/>
                  </a:ext>
                </a:extLst>
              </p:cNvPr>
              <p:cNvGrpSpPr/>
              <p:nvPr/>
            </p:nvGrpSpPr>
            <p:grpSpPr>
              <a:xfrm>
                <a:off x="6387984" y="1857640"/>
                <a:ext cx="606256" cy="2202204"/>
                <a:chOff x="5170201" y="1859707"/>
                <a:chExt cx="606256" cy="2202204"/>
              </a:xfrm>
            </p:grpSpPr>
            <p:grpSp>
              <p:nvGrpSpPr>
                <p:cNvPr id="31" name="グループ化 30">
                  <a:extLst>
                    <a:ext uri="{FF2B5EF4-FFF2-40B4-BE49-F238E27FC236}">
                      <a16:creationId xmlns:a16="http://schemas.microsoft.com/office/drawing/2014/main" id="{FD0C6250-63FE-4297-F843-CAE89E4AB457}"/>
                    </a:ext>
                  </a:extLst>
                </p:cNvPr>
                <p:cNvGrpSpPr/>
                <p:nvPr/>
              </p:nvGrpSpPr>
              <p:grpSpPr>
                <a:xfrm>
                  <a:off x="5386866" y="2227044"/>
                  <a:ext cx="172926" cy="1527652"/>
                  <a:chOff x="5386866" y="2227044"/>
                  <a:chExt cx="172926" cy="1527652"/>
                </a:xfrm>
              </p:grpSpPr>
              <p:cxnSp>
                <p:nvCxnSpPr>
                  <p:cNvPr id="34" name="直線コネクタ 33">
                    <a:extLst>
                      <a:ext uri="{FF2B5EF4-FFF2-40B4-BE49-F238E27FC236}">
                        <a16:creationId xmlns:a16="http://schemas.microsoft.com/office/drawing/2014/main" id="{3B5B9B63-7403-112E-37EA-FF68B1291274}"/>
                      </a:ext>
                    </a:extLst>
                  </p:cNvPr>
                  <p:cNvCxnSpPr>
                    <a:cxnSpLocks/>
                    <a:stCxn id="36" idx="4"/>
                    <a:endCxn id="35" idx="0"/>
                  </p:cNvCxnSpPr>
                  <p:nvPr/>
                </p:nvCxnSpPr>
                <p:spPr>
                  <a:xfrm>
                    <a:off x="5473329" y="2399970"/>
                    <a:ext cx="0" cy="118180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楕円 34">
                    <a:extLst>
                      <a:ext uri="{FF2B5EF4-FFF2-40B4-BE49-F238E27FC236}">
                        <a16:creationId xmlns:a16="http://schemas.microsoft.com/office/drawing/2014/main" id="{B7F49FB9-B14C-2D91-0CFF-741241AA3B35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楕円 35">
                    <a:extLst>
                      <a:ext uri="{FF2B5EF4-FFF2-40B4-BE49-F238E27FC236}">
                        <a16:creationId xmlns:a16="http://schemas.microsoft.com/office/drawing/2014/main" id="{5A87278F-E5D6-0D75-1C90-60CD133793F3}"/>
                      </a:ext>
                    </a:extLst>
                  </p:cNvPr>
                  <p:cNvSpPr/>
                  <p:nvPr/>
                </p:nvSpPr>
                <p:spPr>
                  <a:xfrm>
                    <a:off x="5386866" y="2227044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559C9CE-EDF9-79D0-45A7-F8A4327B0BA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CE3547B-D59C-F370-48F6-B3EE9BF568D8}"/>
                    </a:ext>
                  </a:extLst>
                </p:cNvPr>
                <p:cNvSpPr txBox="1"/>
                <p:nvPr/>
              </p:nvSpPr>
              <p:spPr>
                <a:xfrm>
                  <a:off x="5170201" y="1859707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C5141C35-66D7-8759-9CD4-8849F4BD19A0}"/>
                  </a:ext>
                </a:extLst>
              </p:cNvPr>
              <p:cNvGrpSpPr/>
              <p:nvPr/>
            </p:nvGrpSpPr>
            <p:grpSpPr>
              <a:xfrm>
                <a:off x="7591671" y="2473416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45" name="グループ化 44">
                  <a:extLst>
                    <a:ext uri="{FF2B5EF4-FFF2-40B4-BE49-F238E27FC236}">
                      <a16:creationId xmlns:a16="http://schemas.microsoft.com/office/drawing/2014/main" id="{4D21FD3C-16F4-0420-07E4-11E5A5D265EB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8D7C9D9B-0358-3209-A237-0BFD059DBBFD}"/>
                      </a:ext>
                    </a:extLst>
                  </p:cNvPr>
                  <p:cNvCxnSpPr/>
                  <p:nvPr/>
                </p:nvCxnSpPr>
                <p:spPr>
                  <a:xfrm>
                    <a:off x="5475767" y="2945219"/>
                    <a:ext cx="0" cy="723014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楕円 48">
                    <a:extLst>
                      <a:ext uri="{FF2B5EF4-FFF2-40B4-BE49-F238E27FC236}">
                        <a16:creationId xmlns:a16="http://schemas.microsoft.com/office/drawing/2014/main" id="{0E6C1F06-302D-D6C0-8365-17613CA42C6B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0" name="楕円 49">
                    <a:extLst>
                      <a:ext uri="{FF2B5EF4-FFF2-40B4-BE49-F238E27FC236}">
                        <a16:creationId xmlns:a16="http://schemas.microsoft.com/office/drawing/2014/main" id="{3B7A725C-CA0D-6EB2-130E-44CAEFFE82F8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814D2B95-8891-514E-1857-D6E0EA488E44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DFEAC2C2-A6EE-E0CB-CBDE-BC83A6ABC6B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508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C0DD-EA13-4DFB-A6B9-0DE72911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95FA8-0113-78D2-87B4-F834290C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D79CA6-F10C-B8BC-1B03-AA59D788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4E1D21-A962-F0B2-83BD-487B6A359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連続確率分布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continuous probability distribution</a:t>
            </a:r>
          </a:p>
          <a:p>
            <a:pPr lvl="1"/>
            <a:r>
              <a:rPr lang="ja-JP" altLang="en-US" dirty="0"/>
              <a:t>累積確率分布関数が連続な確率分布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確率変数が連続変数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連続変数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連続的で，</a:t>
            </a:r>
            <a:br>
              <a:rPr kumimoji="1" lang="en-US" altLang="ja-JP" dirty="0"/>
            </a:br>
            <a:r>
              <a:rPr kumimoji="1" lang="ja-JP" altLang="en-US" dirty="0"/>
              <a:t>無限に中間の値が存在する変数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重さ，温度，距離，など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3C2569-9907-54D0-C8C4-2009EB528F1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68BB6-B94A-FE81-75F0-67DE1E78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88" y="2152334"/>
            <a:ext cx="3823336" cy="229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6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4388-0A7B-B766-92A3-AD5CE52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2BE8A5-5FF8-F89E-4FE2-2D8BFBC03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4A92F3-BEFE-3151-A1AD-B371138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06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二項分布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binomial distribution</a:t>
                </a:r>
              </a:p>
              <a:p>
                <a:pPr lvl="1"/>
                <a:r>
                  <a:rPr lang="ja-JP" altLang="en-US" dirty="0"/>
                  <a:t>成功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で，成功か失敗のいずれかの結果となる試行を，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独立に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行った時の，成功回数を確率変数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ベルヌーイ分布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Bernoulli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kumimoji="1" lang="ja-JP" altLang="en-US" dirty="0"/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をとる確率分布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二項分布の特殊型（試行回数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dirty="0"/>
                  <a:t>のみ）</a:t>
                </a:r>
                <a:endParaRPr lang="en-US" altLang="ja-JP" dirty="0"/>
              </a:p>
              <a:p>
                <a:r>
                  <a:rPr kumimoji="1" lang="ja-JP" altLang="en-US" dirty="0"/>
                  <a:t>ポアソン分布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Poisson distribution</a:t>
                </a:r>
              </a:p>
              <a:p>
                <a:pPr lvl="1"/>
                <a:r>
                  <a:rPr kumimoji="1" lang="ja-JP" altLang="en-US" dirty="0"/>
                  <a:t>ある事象が一定の時間内に発生する回数を表す確率分布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二項分布のうち，起こる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が限りなく小さい</a:t>
                </a:r>
                <a:r>
                  <a:rPr kumimoji="1" lang="ja-JP" altLang="en-US" dirty="0"/>
                  <a:t>とき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F6182-AA5F-26C3-15E4-73E9C47C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CB85EB-4C39-0C42-1D6F-5EE3B856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5358246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成功確率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独立に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回行った時の，成功回数を確率変数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とする確率分布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：試行回数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nary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5358246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72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B7AE-D4D1-9880-C836-0F868657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67388-47ED-5931-45BC-2A22AE55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ベルヌーイ分布の特徴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39DD8D-2D0E-EAE9-1A2F-C736349C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60011715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をとる確率分布</a:t>
                          </a:r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      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&amp;1−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0,  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0≤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&lt;1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≥1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60011715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676" r="-274" b="-50810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1361" r="-359" b="-411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0000" r="-359" b="-308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67169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79245" r="-359" b="-187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10204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6757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96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5874-70A7-5CBC-46ED-2B2842FC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178A6-F263-4F0E-C216-DA2ED12C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ポアソン分布の特徴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2B3F43-845C-0252-919E-ACCDCAC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6572205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：母平均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6572205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1361" r="-359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0000" r="-359" b="-3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0000" r="-359" b="-2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2721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99324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87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23EB-8AE7-89CB-C123-2DFEC88E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D272C-E715-18A6-3A94-A8E3599C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088F7A-6F20-23ED-62B8-A87A4B4A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幾何分布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geometric distribution</a:t>
                </a:r>
              </a:p>
              <a:p>
                <a:pPr lvl="1"/>
                <a:r>
                  <a:rPr lang="ja-JP" altLang="en-US" dirty="0"/>
                  <a:t>ベルヌーイ試行を繰り返して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①初めて成功させるまでの試行回数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={1, 2, …}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②初めて成功するまでに失敗した試行回数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={0,1,2,…}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負の二項分布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negative binomial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/>
                  <a:t>成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功確率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で，成</a:t>
                </a:r>
                <a:r>
                  <a:rPr lang="ja-JP" altLang="en-US" dirty="0"/>
                  <a:t>功か失敗のいずれかの結果となる試行を，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dirty="0"/>
                  <a:t>回の成功が起こるまで続けた場合の，失敗回数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の分布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二項分布：コインを</a:t>
                </a:r>
                <a:r>
                  <a:rPr kumimoji="1" lang="en-US" altLang="ja-JP" dirty="0"/>
                  <a:t>5</a:t>
                </a:r>
                <a:r>
                  <a:rPr kumimoji="1" lang="ja-JP" altLang="en-US" dirty="0"/>
                  <a:t>回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1900" dirty="0"/>
                  <a:t>）</a:t>
                </a:r>
                <a:r>
                  <a:rPr kumimoji="1" lang="ja-JP" altLang="en-US" dirty="0"/>
                  <a:t>を投げたときに，表が出る回数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1900" dirty="0"/>
                  <a:t>）</a:t>
                </a:r>
                <a:endParaRPr kumimoji="1" lang="en-US" altLang="ja-JP" sz="1900" dirty="0"/>
              </a:p>
              <a:p>
                <a:pPr lvl="1"/>
                <a:r>
                  <a:rPr lang="ja-JP" altLang="en-US" dirty="0"/>
                  <a:t>負の二項分布：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sz="1900" dirty="0"/>
                  <a:t>）</a:t>
                </a:r>
                <a:r>
                  <a:rPr lang="ja-JP" altLang="en-US" dirty="0"/>
                  <a:t>表が出るまでコインを投げ続けたときに，</a:t>
                </a:r>
                <a:br>
                  <a:rPr lang="en-US" altLang="ja-JP" dirty="0"/>
                </a:br>
                <a:r>
                  <a:rPr lang="ja-JP" altLang="en-US" dirty="0"/>
                  <a:t>裏が出る回数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900" dirty="0"/>
                  <a:t>）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326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D6D5-A15C-2EC3-CBC8-AF328201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3283B-EC50-9AA9-477B-BB3A3C21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幾何分布の特徴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697918-E714-E515-92B1-E995170C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6674536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幾何分布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ベルヌーイ試行を繰り返して成功確率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𝑟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回の成功が起こるまで続けた場合の，失敗回数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：試行をやめるまでの成功回数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96674536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56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BF1C-6EDE-B9B3-0194-5DFD591E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35855-CFBD-621B-5E0A-4FEE2794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負の二項分布の特徴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ECA1C75-C7F8-721C-0956-B4681390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6577718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負の二項分布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</a:t>
                          </a:r>
                          <a:endParaRPr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①初めて成功させるまでの試行回数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={1, 2, …}</m:t>
                              </m:r>
                            </m:oMath>
                          </a14:m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6577718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842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B8821-0334-C4BB-BB8D-D0BAB516FF7E}"/>
              </a:ext>
            </a:extLst>
          </p:cNvPr>
          <p:cNvSpPr/>
          <p:nvPr/>
        </p:nvSpPr>
        <p:spPr>
          <a:xfrm>
            <a:off x="2539389" y="4767724"/>
            <a:ext cx="3255354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ACBF3D-9368-2892-79A9-39DC10856E8A}"/>
              </a:ext>
            </a:extLst>
          </p:cNvPr>
          <p:cNvSpPr/>
          <p:nvPr/>
        </p:nvSpPr>
        <p:spPr>
          <a:xfrm>
            <a:off x="522746" y="5273749"/>
            <a:ext cx="5271997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1600" dirty="0"/>
                  <a:t>とおくと</a:t>
                </a:r>
                <a:endParaRPr kumimoji="1"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:pPr lvl="1"/>
                <a:r>
                  <a:rPr lang="en-US" altLang="ja-JP" sz="1600" dirty="0"/>
                  <a:t>…</a:t>
                </a:r>
                <a:r>
                  <a:rPr lang="ja-JP" altLang="en-US" sz="1600" dirty="0"/>
                  <a:t>以下同様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316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1600" dirty="0"/>
                  <a:t>とする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tx2"/>
                    </a:solidFill>
                  </a:rPr>
                  <a:t>が十分に大きい場合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1055</TotalTime>
  <Words>3603</Words>
  <Application>Microsoft Office PowerPoint</Application>
  <PresentationFormat>画面に合わせる (4:3)</PresentationFormat>
  <Paragraphs>400</Paragraphs>
  <Slides>37</Slides>
  <Notes>3</Notes>
  <HiddenSlides>4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6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</vt:lpstr>
      <vt:lpstr>今日の目標</vt:lpstr>
      <vt:lpstr>PowerPoint プレゼンテーション</vt:lpstr>
      <vt:lpstr>確率変数</vt:lpstr>
      <vt:lpstr>PowerPoint プレゼンテーション</vt:lpstr>
      <vt:lpstr>期待値</vt:lpstr>
      <vt:lpstr>[AL] 考えてみよう</vt:lpstr>
      <vt:lpstr>(Advanced) 積分の計算練習</vt:lpstr>
      <vt:lpstr>PowerPoint プレゼンテーション</vt:lpstr>
      <vt:lpstr>確率分布</vt:lpstr>
      <vt:lpstr>離散確率分布</vt:lpstr>
      <vt:lpstr>連続確率分布</vt:lpstr>
      <vt:lpstr>PowerPoint プレゼンテーション</vt:lpstr>
      <vt:lpstr>離散確率分布</vt:lpstr>
      <vt:lpstr>(Advanced) 二項分布の特徴</vt:lpstr>
      <vt:lpstr>(Advanced) ベルヌーイ分布の特徴</vt:lpstr>
      <vt:lpstr>(Advanced) ポアソン分布の特徴</vt:lpstr>
      <vt:lpstr>離散確率分布</vt:lpstr>
      <vt:lpstr>(Advanced) 幾何分布の特徴</vt:lpstr>
      <vt:lpstr>(Advanced) 負の二項分布の特徴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Maria Ikegawa</cp:lastModifiedBy>
  <cp:revision>116</cp:revision>
  <dcterms:created xsi:type="dcterms:W3CDTF">2025-03-03T09:28:12Z</dcterms:created>
  <dcterms:modified xsi:type="dcterms:W3CDTF">2025-09-02T13:15:12Z</dcterms:modified>
</cp:coreProperties>
</file>