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3"/>
  </p:notesMasterIdLst>
  <p:sldIdLst>
    <p:sldId id="256" r:id="rId2"/>
    <p:sldId id="262" r:id="rId3"/>
    <p:sldId id="576" r:id="rId4"/>
    <p:sldId id="577" r:id="rId5"/>
    <p:sldId id="579" r:id="rId6"/>
    <p:sldId id="585" r:id="rId7"/>
    <p:sldId id="588" r:id="rId8"/>
    <p:sldId id="589" r:id="rId9"/>
    <p:sldId id="591" r:id="rId10"/>
    <p:sldId id="593" r:id="rId11"/>
    <p:sldId id="592" r:id="rId12"/>
    <p:sldId id="595" r:id="rId13"/>
    <p:sldId id="596" r:id="rId14"/>
    <p:sldId id="597" r:id="rId15"/>
    <p:sldId id="598" r:id="rId16"/>
    <p:sldId id="599" r:id="rId17"/>
    <p:sldId id="600" r:id="rId18"/>
    <p:sldId id="601" r:id="rId19"/>
    <p:sldId id="602" r:id="rId20"/>
    <p:sldId id="603" r:id="rId21"/>
    <p:sldId id="60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46" autoAdjust="0"/>
  </p:normalViewPr>
  <p:slideViewPr>
    <p:cSldViewPr snapToGrid="0">
      <p:cViewPr varScale="1">
        <p:scale>
          <a:sx n="60" d="100"/>
          <a:sy n="60" d="100"/>
        </p:scale>
        <p:origin x="14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手計算ができる程度の問題は，試験に備えて電卓を使った練習もしてみてください．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5136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0.png"/><Relationship Id="rId4" Type="http://schemas.openxmlformats.org/officeDocument/2006/relationships/image" Target="../media/image2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#06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[AL] </a:t>
            </a:r>
            <a:r>
              <a:rPr lang="ja-JP" altLang="en-US" dirty="0"/>
              <a:t>確率分布：離散確率分布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節　確率分布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確率変数について理解する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確率変数：観測値に確率が対応している変数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ja-JP" altLang="en-US" dirty="0"/>
                  <a:t>の場合もある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期待値について理解する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期待値：確率変数と確率の積和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離散確率分布について学ぶ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二項分布，ポアソン分布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二項分布の確率の計算方法を修得する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分散：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AF39C-E11E-48C0-8D49-6BF3020F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5946E87-4C85-2CBD-D701-8AF49E29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9967FAD-6DCB-6505-7656-4621582927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二項分布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rgbClr val="0070C0"/>
                    </a:solidFill>
                  </a:rPr>
                  <a:t>起こる確率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kumimoji="1" lang="en-US" altLang="ja-JP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ja-JP" altLang="en-US" dirty="0"/>
                  <a:t>結果は「起こる」「起こらない」の二択</a:t>
                </a:r>
                <a:endParaRPr lang="en-US" altLang="ja-JP" dirty="0"/>
              </a:p>
              <a:p>
                <a:pPr lvl="1"/>
                <a:r>
                  <a:rPr kumimoji="1" lang="ja-JP" altLang="en-US" dirty="0">
                    <a:solidFill>
                      <a:schemeClr val="accent5"/>
                    </a:solidFill>
                  </a:rPr>
                  <a:t>試行</a:t>
                </a:r>
                <a:r>
                  <a:rPr kumimoji="1" lang="ja-JP" altLang="en-US" sz="1800" dirty="0"/>
                  <a:t>（ベルヌーイ試行）</a:t>
                </a:r>
                <a:r>
                  <a:rPr kumimoji="1" lang="ja-JP" altLang="en-US" dirty="0"/>
                  <a:t>を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回</a:t>
                </a:r>
                <a:r>
                  <a:rPr kumimoji="1" lang="ja-JP" altLang="en-US" dirty="0"/>
                  <a:t>行ったときの，</a:t>
                </a:r>
                <a:br>
                  <a:rPr kumimoji="1" lang="en-US" altLang="ja-JP" dirty="0"/>
                </a:br>
                <a:r>
                  <a:rPr kumimoji="1" lang="ja-JP" altLang="en-US" dirty="0">
                    <a:solidFill>
                      <a:schemeClr val="accent2"/>
                    </a:solidFill>
                  </a:rPr>
                  <a:t>「起こる」回数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を確率変数とする確率分布</a:t>
                </a:r>
                <a:endParaRPr kumimoji="1" lang="en-US" altLang="ja-JP" dirty="0"/>
              </a:p>
              <a:p>
                <a:r>
                  <a:rPr lang="ja-JP" altLang="en-US" dirty="0"/>
                  <a:t>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ある野球選手の打率は 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割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分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0.32</a:t>
                </a:r>
                <a:r>
                  <a:rPr lang="ja-JP" altLang="en-US" sz="1800" dirty="0"/>
                  <a:t>）</a:t>
                </a:r>
                <a:r>
                  <a:rPr lang="ja-JP" altLang="en-US" dirty="0"/>
                  <a:t>である．</a:t>
                </a:r>
                <a:br>
                  <a:rPr lang="en-US" altLang="ja-JP" dirty="0"/>
                </a:br>
                <a:br>
                  <a:rPr lang="en-US" altLang="ja-JP" dirty="0"/>
                </a:br>
                <a:r>
                  <a:rPr lang="ja-JP" altLang="en-US" dirty="0"/>
                  <a:t>この選手が </a:t>
                </a:r>
                <a:r>
                  <a:rPr lang="en-US" altLang="ja-JP" dirty="0"/>
                  <a:t>5</a:t>
                </a:r>
                <a:r>
                  <a:rPr lang="ja-JP" altLang="en-US" dirty="0"/>
                  <a:t>回 打席に立つとき，</a:t>
                </a:r>
                <a:br>
                  <a:rPr lang="en-US" altLang="ja-JP" dirty="0"/>
                </a:br>
                <a:br>
                  <a:rPr lang="en-US" altLang="ja-JP" dirty="0"/>
                </a:br>
                <a:r>
                  <a:rPr lang="en-US" altLang="ja-JP" dirty="0"/>
                  <a:t>3</a:t>
                </a:r>
                <a:r>
                  <a:rPr lang="ja-JP" altLang="en-US" dirty="0"/>
                  <a:t>回ヒットを打つ 確率を求めたい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9967FAD-6DCB-6505-7656-4621582927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DC73B378-C1A5-3B95-E6EE-999FBD73B523}"/>
              </a:ext>
            </a:extLst>
          </p:cNvPr>
          <p:cNvGrpSpPr/>
          <p:nvPr/>
        </p:nvGrpSpPr>
        <p:grpSpPr>
          <a:xfrm>
            <a:off x="3668233" y="3362143"/>
            <a:ext cx="4980663" cy="1103531"/>
            <a:chOff x="3668233" y="3362143"/>
            <a:chExt cx="4980663" cy="110353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B9BFCF7-604E-6A7E-7236-83F97A03F583}"/>
                </a:ext>
              </a:extLst>
            </p:cNvPr>
            <p:cNvSpPr/>
            <p:nvPr/>
          </p:nvSpPr>
          <p:spPr>
            <a:xfrm>
              <a:off x="3668233" y="4008474"/>
              <a:ext cx="1988288" cy="457200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/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起こる確率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𝜋</m:t>
                      </m:r>
                    </m:oMath>
                  </a14:m>
                  <a:endParaRPr kumimoji="1" lang="en-US" altLang="ja-JP" dirty="0">
                    <a:solidFill>
                      <a:srgbClr val="0070C0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en-US" altLang="ja-JP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回の打席で「打つ」確率</a:t>
                  </a: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1852" t="-7547" r="-1620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4867279B-C9FD-F71F-883F-649E45711527}"/>
                </a:ext>
              </a:extLst>
            </p:cNvPr>
            <p:cNvCxnSpPr>
              <a:stCxn id="8" idx="1"/>
              <a:endCxn id="5" idx="0"/>
            </p:cNvCxnSpPr>
            <p:nvPr/>
          </p:nvCxnSpPr>
          <p:spPr>
            <a:xfrm flipH="1">
              <a:off x="4662377" y="3685309"/>
              <a:ext cx="1357273" cy="323165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5CCBAF1E-BEDE-9B9A-EC8E-B1FC97D38C7F}"/>
              </a:ext>
            </a:extLst>
          </p:cNvPr>
          <p:cNvGrpSpPr/>
          <p:nvPr/>
        </p:nvGrpSpPr>
        <p:grpSpPr>
          <a:xfrm>
            <a:off x="2189345" y="4756297"/>
            <a:ext cx="4211457" cy="973140"/>
            <a:chOff x="2189345" y="4756297"/>
            <a:chExt cx="4211457" cy="973140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DEEB29A1-6073-F50D-538B-E1308D11B3F2}"/>
                </a:ext>
              </a:extLst>
            </p:cNvPr>
            <p:cNvSpPr/>
            <p:nvPr/>
          </p:nvSpPr>
          <p:spPr>
            <a:xfrm>
              <a:off x="2189345" y="4756297"/>
              <a:ext cx="638916" cy="457200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/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試行回数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𝑛</m:t>
                      </m:r>
                    </m:oMath>
                  </a14:m>
                  <a:endPara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チャンスの数</a:t>
                  </a: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3704" t="-7547" r="-3704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834E9053-0676-A955-F47D-FDFDFDE59EF6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 flipV="1">
              <a:off x="2828261" y="5213497"/>
              <a:ext cx="2089443" cy="192775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D19F055-1DDD-A294-D922-C0155F933DBD}"/>
              </a:ext>
            </a:extLst>
          </p:cNvPr>
          <p:cNvGrpSpPr/>
          <p:nvPr/>
        </p:nvGrpSpPr>
        <p:grpSpPr>
          <a:xfrm>
            <a:off x="789392" y="5467546"/>
            <a:ext cx="7374173" cy="1348268"/>
            <a:chOff x="789392" y="5467546"/>
            <a:chExt cx="7374173" cy="1348268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5658168-A733-E104-547B-F4610916FAD5}"/>
                </a:ext>
              </a:extLst>
            </p:cNvPr>
            <p:cNvSpPr/>
            <p:nvPr/>
          </p:nvSpPr>
          <p:spPr>
            <a:xfrm>
              <a:off x="789392" y="5467546"/>
              <a:ext cx="1953808" cy="4572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9E17342C-689F-45C6-CD66-031AB5F92167}"/>
                </a:ext>
              </a:extLst>
            </p:cNvPr>
            <p:cNvGrpSpPr/>
            <p:nvPr/>
          </p:nvGrpSpPr>
          <p:grpSpPr>
            <a:xfrm>
              <a:off x="1766296" y="5861707"/>
              <a:ext cx="6397269" cy="954107"/>
              <a:chOff x="1766296" y="5861707"/>
              <a:chExt cx="6397269" cy="954107"/>
            </a:xfrm>
          </p:grpSpPr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1B26D5B9-AB3F-82AD-DE16-E6E42D9654CE}"/>
                  </a:ext>
                </a:extLst>
              </p:cNvPr>
              <p:cNvCxnSpPr>
                <a:cxnSpLocks/>
                <a:stCxn id="17" idx="1"/>
                <a:endCxn id="7" idx="2"/>
              </p:cNvCxnSpPr>
              <p:nvPr/>
            </p:nvCxnSpPr>
            <p:spPr>
              <a:xfrm flipH="1" flipV="1">
                <a:off x="1766296" y="5924746"/>
                <a:ext cx="430606" cy="414015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5966F12E-1196-AC11-B673-F319E2554993}"/>
                  </a:ext>
                </a:extLst>
              </p:cNvPr>
              <p:cNvGrpSpPr/>
              <p:nvPr/>
            </p:nvGrpSpPr>
            <p:grpSpPr>
              <a:xfrm>
                <a:off x="2196902" y="5861707"/>
                <a:ext cx="5966663" cy="954107"/>
                <a:chOff x="2196902" y="5861707"/>
                <a:chExt cx="5966663" cy="95410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ja-JP" altLang="en-US" dirty="0">
                          <a:solidFill>
                            <a:schemeClr val="accent2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確率変数</a:t>
                      </a:r>
                      <a14:m>
                        <m:oMath xmlns:m="http://schemas.openxmlformats.org/officeDocument/2006/math"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𝑋</m:t>
                          </m:r>
                        </m:oMath>
                      </a14:m>
                      <a:endParaRPr kumimoji="1" lang="en-US" altLang="ja-JP" dirty="0">
                        <a:solidFill>
                          <a:schemeClr val="accent2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3846" t="-13333" b="-2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9A5C527F-38E6-5DDD-DB0C-4DEC5959F417}"/>
                    </a:ext>
                  </a:extLst>
                </p:cNvPr>
                <p:cNvSpPr txBox="1"/>
                <p:nvPr/>
              </p:nvSpPr>
              <p:spPr>
                <a:xfrm>
                  <a:off x="4013070" y="5861707"/>
                  <a:ext cx="4150495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結果は「打つ」「打たない」の二択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打席で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回のヒットはない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回目の打席の結果は，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回目の結果に関係ない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よって，各試行は独立である</a:t>
                  </a:r>
                </a:p>
              </p:txBody>
            </p:sp>
            <p:sp>
              <p:nvSpPr>
                <p:cNvPr id="24" name="左中かっこ 23">
                  <a:extLst>
                    <a:ext uri="{FF2B5EF4-FFF2-40B4-BE49-F238E27FC236}">
                      <a16:creationId xmlns:a16="http://schemas.microsoft.com/office/drawing/2014/main" id="{E00B2E7D-F350-96AF-D8F1-8D364DD8CFCC}"/>
                    </a:ext>
                  </a:extLst>
                </p:cNvPr>
                <p:cNvSpPr/>
                <p:nvPr/>
              </p:nvSpPr>
              <p:spPr>
                <a:xfrm>
                  <a:off x="3400616" y="5924746"/>
                  <a:ext cx="612454" cy="891068"/>
                </a:xfrm>
                <a:prstGeom prst="leftBrac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</p:grp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291E1C6-B8C3-318D-42F1-7C5FA6D8F90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83706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C02335-9718-A20F-D284-7612E30FB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11B7EA1-2C4A-0D15-EABD-3C4EC85F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141BC-AABA-A5D6-D816-521E20E47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回起こる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回中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組み合わせ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確率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回数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乗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らない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確率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起こらない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回数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乗</m:t>
                        </m:r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141BC-AABA-A5D6-D816-521E20E47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15AC54-9553-F939-7061-CC2B9A4E7150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2303651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D1258-DC77-DB92-4E71-71D4AE230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A5ECDC-534B-6236-6895-48FCD577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BF0B1E8-7D71-6725-D08C-04B2B639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514376-E543-56E8-9A81-78E7C2329C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r>
                  <a:rPr lang="ja-JP" altLang="en-US" dirty="0"/>
                  <a:t>第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項：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回中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回起こる組み合わせ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3!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5−3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</m:t>
                        </m:r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3×2×1</m:t>
                        </m:r>
                      </m:num>
                      <m:den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×2×1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ja-JP" altLang="en-US" dirty="0"/>
                  <a:t>　：階乗，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から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までの積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0!=1</m:t>
                    </m:r>
                  </m:oMath>
                </a14:m>
                <a:endParaRPr lang="ja-JP" altLang="en-US" dirty="0"/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第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2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起こる確率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の，起こる回数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乗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第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3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起こらない確率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の，起こらない回数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乗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「起こらない」＝「起こる」の余事象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altLang="ja-JP" dirty="0">
                    <a:solidFill>
                      <a:schemeClr val="tx2"/>
                    </a:solidFill>
                  </a:rPr>
                  <a:t>100%</a:t>
                </a:r>
                <a:r>
                  <a:rPr lang="ja-JP" altLang="en-US" sz="1600" dirty="0">
                    <a:solidFill>
                      <a:schemeClr val="tx2"/>
                    </a:solidFill>
                  </a:rPr>
                  <a:t>（</a:t>
                </a:r>
                <a:r>
                  <a:rPr lang="en-US" altLang="ja-JP" sz="1600" dirty="0">
                    <a:solidFill>
                      <a:schemeClr val="tx2"/>
                    </a:solidFill>
                  </a:rPr>
                  <a:t>=1</a:t>
                </a:r>
                <a:r>
                  <a:rPr lang="ja-JP" altLang="en-US" sz="1600" dirty="0">
                    <a:solidFill>
                      <a:schemeClr val="tx2"/>
                    </a:solidFill>
                  </a:rPr>
                  <a:t>）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から「起こる確率」を引けば良い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514376-E543-56E8-9A81-78E7C2329C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2105" b="-1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2FEB124-A7E8-C6B2-38B6-5FB72AE867C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4149136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220EF-A2F3-1159-202D-2DDC7F9EB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AA28D6-E888-6925-9879-21A2DB6A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二項分布の期待値と分散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91D5F53-B640-7669-70B5-4B319DE7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二項分布の期待値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kumimoji="1" lang="en-US" altLang="ja-JP" sz="3600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二項分布の分散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d>
                    </m:oMath>
                  </m:oMathPara>
                </a14:m>
                <a:endParaRPr lang="en-US" altLang="ja-JP" sz="36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991A56D-0980-77E4-093C-DA237746EBC9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3889541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3AF9DE-59F4-91D0-6A4C-A6D6B3F36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ポアソン分布の期待値と分散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7A86320-337D-67F1-62B8-A2D4FFEDC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C0B9A2C-7ADE-6789-1335-62821CB77C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二項分布のうち，</a:t>
                </a:r>
                <a:r>
                  <a:rPr kumimoji="1" lang="ja-JP" altLang="en-US" dirty="0"/>
                  <a:t>起こる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が極端に小さい</a:t>
                </a:r>
                <a:r>
                  <a:rPr kumimoji="1" lang="ja-JP" altLang="en-US" dirty="0"/>
                  <a:t>場合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≒1</m:t>
                    </m:r>
                  </m:oMath>
                </a14:m>
                <a:endParaRPr kumimoji="1" lang="en-US" altLang="ja-JP" dirty="0"/>
              </a:p>
              <a:p>
                <a:pPr lvl="1"/>
                <a:endParaRPr lang="en-US" altLang="ja-JP" dirty="0"/>
              </a:p>
              <a:p>
                <a:r>
                  <a:rPr lang="ja-JP" altLang="en-US" dirty="0"/>
                  <a:t>ポアソン分布の期待値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US" altLang="ja-JP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ポアソン分布の分散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C0B9A2C-7ADE-6789-1335-62821CB77C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1AA4E95-42CA-9C81-5D84-791EB955B38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3877036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9FAF12D-807F-F3C3-AF05-E4FCA099A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練習問題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1C76A74-C3B3-7F79-DFD5-59B6BA0A0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99138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AF39C-E11E-48C0-8D49-6BF3020F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①ヒットを打つ確率をさらに細かく考えてみよう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5946E87-4C85-2CBD-D701-8AF49E29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967FAD-6DCB-6505-7656-462158292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前回の演習例</a:t>
            </a:r>
            <a:endParaRPr lang="en-US" altLang="ja-JP" dirty="0"/>
          </a:p>
          <a:p>
            <a:pPr lvl="1"/>
            <a:r>
              <a:rPr lang="ja-JP" altLang="en-US" dirty="0"/>
              <a:t>ある野球選手の打率は </a:t>
            </a:r>
            <a:r>
              <a:rPr lang="en-US" altLang="ja-JP" dirty="0"/>
              <a:t>3</a:t>
            </a:r>
            <a:r>
              <a:rPr lang="ja-JP" altLang="en-US" dirty="0"/>
              <a:t>割</a:t>
            </a:r>
            <a:r>
              <a:rPr lang="en-US" altLang="ja-JP" dirty="0"/>
              <a:t>2</a:t>
            </a:r>
            <a:r>
              <a:rPr lang="ja-JP" altLang="en-US" dirty="0"/>
              <a:t>分</a:t>
            </a:r>
            <a:r>
              <a:rPr lang="ja-JP" altLang="en-US" sz="1800" dirty="0"/>
              <a:t>（</a:t>
            </a:r>
            <a:r>
              <a:rPr lang="en-US" altLang="ja-JP" sz="1800" dirty="0"/>
              <a:t>0.32</a:t>
            </a:r>
            <a:r>
              <a:rPr lang="ja-JP" altLang="en-US" sz="1800" dirty="0"/>
              <a:t>）</a:t>
            </a:r>
            <a:r>
              <a:rPr lang="ja-JP" altLang="en-US" dirty="0"/>
              <a:t>である．</a:t>
            </a:r>
            <a:br>
              <a:rPr lang="en-US" altLang="ja-JP" dirty="0"/>
            </a:br>
            <a:br>
              <a:rPr lang="en-US" altLang="ja-JP" dirty="0"/>
            </a:br>
            <a:r>
              <a:rPr lang="ja-JP" altLang="en-US" dirty="0"/>
              <a:t>この選手が </a:t>
            </a:r>
            <a:r>
              <a:rPr lang="en-US" altLang="ja-JP" dirty="0"/>
              <a:t>5</a:t>
            </a:r>
            <a:r>
              <a:rPr lang="ja-JP" altLang="en-US" dirty="0"/>
              <a:t>回 打席に立つとき，</a:t>
            </a:r>
            <a:br>
              <a:rPr lang="en-US" altLang="ja-JP" dirty="0"/>
            </a:br>
            <a:br>
              <a:rPr lang="en-US" altLang="ja-JP" dirty="0"/>
            </a:br>
            <a:r>
              <a:rPr lang="en-US" altLang="ja-JP" dirty="0"/>
              <a:t>3</a:t>
            </a:r>
            <a:r>
              <a:rPr lang="ja-JP" altLang="en-US" dirty="0"/>
              <a:t>回ヒットを打つ 確率を求めたい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endParaRPr lang="en-US" altLang="ja-JP" dirty="0"/>
          </a:p>
          <a:p>
            <a:r>
              <a:rPr lang="ja-JP" altLang="en-US" dirty="0"/>
              <a:t>ヒットが</a:t>
            </a:r>
            <a:r>
              <a:rPr lang="en-US" altLang="ja-JP" dirty="0"/>
              <a:t>1</a:t>
            </a:r>
            <a:r>
              <a:rPr lang="ja-JP" altLang="en-US" dirty="0"/>
              <a:t>度も打てない確率から，</a:t>
            </a:r>
            <a:br>
              <a:rPr lang="en-US" altLang="ja-JP" dirty="0"/>
            </a:br>
            <a:r>
              <a:rPr lang="en-US" altLang="ja-JP" dirty="0"/>
              <a:t>5</a:t>
            </a:r>
            <a:r>
              <a:rPr lang="ja-JP" altLang="en-US" dirty="0"/>
              <a:t>回ともヒットを打つ確率まで，</a:t>
            </a:r>
            <a:br>
              <a:rPr lang="en-US" altLang="ja-JP" dirty="0"/>
            </a:br>
            <a:r>
              <a:rPr lang="ja-JP" altLang="en-US" dirty="0"/>
              <a:t>すべてのパターンの確率を求めてみよう</a:t>
            </a:r>
            <a:endParaRPr kumimoji="1" lang="ja-JP" altLang="en-US" dirty="0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DC73B378-C1A5-3B95-E6EE-999FBD73B523}"/>
              </a:ext>
            </a:extLst>
          </p:cNvPr>
          <p:cNvGrpSpPr/>
          <p:nvPr/>
        </p:nvGrpSpPr>
        <p:grpSpPr>
          <a:xfrm>
            <a:off x="3706843" y="899962"/>
            <a:ext cx="4980663" cy="1103531"/>
            <a:chOff x="3668233" y="3362143"/>
            <a:chExt cx="4980663" cy="110353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B9BFCF7-604E-6A7E-7236-83F97A03F583}"/>
                </a:ext>
              </a:extLst>
            </p:cNvPr>
            <p:cNvSpPr/>
            <p:nvPr/>
          </p:nvSpPr>
          <p:spPr>
            <a:xfrm>
              <a:off x="3668233" y="4008474"/>
              <a:ext cx="1988288" cy="457200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/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起こる確率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𝜋</m:t>
                      </m:r>
                    </m:oMath>
                  </a14:m>
                  <a:endParaRPr kumimoji="1" lang="en-US" altLang="ja-JP" dirty="0">
                    <a:solidFill>
                      <a:srgbClr val="0070C0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en-US" altLang="ja-JP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回の打席で「打つ」確率</a:t>
                  </a: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1852" t="-7547" r="-1620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4867279B-C9FD-F71F-883F-649E45711527}"/>
                </a:ext>
              </a:extLst>
            </p:cNvPr>
            <p:cNvCxnSpPr>
              <a:stCxn id="8" idx="1"/>
              <a:endCxn id="5" idx="0"/>
            </p:cNvCxnSpPr>
            <p:nvPr/>
          </p:nvCxnSpPr>
          <p:spPr>
            <a:xfrm flipH="1">
              <a:off x="4662377" y="3685309"/>
              <a:ext cx="1357273" cy="323165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5CCBAF1E-BEDE-9B9A-EC8E-B1FC97D38C7F}"/>
              </a:ext>
            </a:extLst>
          </p:cNvPr>
          <p:cNvGrpSpPr/>
          <p:nvPr/>
        </p:nvGrpSpPr>
        <p:grpSpPr>
          <a:xfrm>
            <a:off x="2207535" y="2220437"/>
            <a:ext cx="4211457" cy="973140"/>
            <a:chOff x="2189345" y="4756297"/>
            <a:chExt cx="4211457" cy="973140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DEEB29A1-6073-F50D-538B-E1308D11B3F2}"/>
                </a:ext>
              </a:extLst>
            </p:cNvPr>
            <p:cNvSpPr/>
            <p:nvPr/>
          </p:nvSpPr>
          <p:spPr>
            <a:xfrm>
              <a:off x="2189345" y="4756297"/>
              <a:ext cx="638916" cy="457200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/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試行回数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𝑛</m:t>
                      </m:r>
                    </m:oMath>
                  </a14:m>
                  <a:endPara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チャンスの数</a:t>
                  </a: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3704" t="-7547" r="-3704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834E9053-0676-A955-F47D-FDFDFDE59EF6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 flipV="1">
              <a:off x="2828261" y="5213497"/>
              <a:ext cx="2089443" cy="192775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D19F055-1DDD-A294-D922-C0155F933DBD}"/>
              </a:ext>
            </a:extLst>
          </p:cNvPr>
          <p:cNvGrpSpPr/>
          <p:nvPr/>
        </p:nvGrpSpPr>
        <p:grpSpPr>
          <a:xfrm>
            <a:off x="789392" y="2976643"/>
            <a:ext cx="7374173" cy="1348268"/>
            <a:chOff x="789392" y="5467546"/>
            <a:chExt cx="7374173" cy="1348268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5658168-A733-E104-547B-F4610916FAD5}"/>
                </a:ext>
              </a:extLst>
            </p:cNvPr>
            <p:cNvSpPr/>
            <p:nvPr/>
          </p:nvSpPr>
          <p:spPr>
            <a:xfrm>
              <a:off x="789392" y="5467546"/>
              <a:ext cx="1953808" cy="4572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9E17342C-689F-45C6-CD66-031AB5F92167}"/>
                </a:ext>
              </a:extLst>
            </p:cNvPr>
            <p:cNvGrpSpPr/>
            <p:nvPr/>
          </p:nvGrpSpPr>
          <p:grpSpPr>
            <a:xfrm>
              <a:off x="1766296" y="5861707"/>
              <a:ext cx="6397269" cy="954107"/>
              <a:chOff x="1766296" y="5861707"/>
              <a:chExt cx="6397269" cy="954107"/>
            </a:xfrm>
          </p:grpSpPr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1B26D5B9-AB3F-82AD-DE16-E6E42D9654CE}"/>
                  </a:ext>
                </a:extLst>
              </p:cNvPr>
              <p:cNvCxnSpPr>
                <a:cxnSpLocks/>
                <a:stCxn id="17" idx="1"/>
                <a:endCxn id="7" idx="2"/>
              </p:cNvCxnSpPr>
              <p:nvPr/>
            </p:nvCxnSpPr>
            <p:spPr>
              <a:xfrm flipH="1" flipV="1">
                <a:off x="1766296" y="5924746"/>
                <a:ext cx="430606" cy="414015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5966F12E-1196-AC11-B673-F319E2554993}"/>
                  </a:ext>
                </a:extLst>
              </p:cNvPr>
              <p:cNvGrpSpPr/>
              <p:nvPr/>
            </p:nvGrpSpPr>
            <p:grpSpPr>
              <a:xfrm>
                <a:off x="2196902" y="5861707"/>
                <a:ext cx="5966663" cy="954107"/>
                <a:chOff x="2196902" y="5861707"/>
                <a:chExt cx="5966663" cy="95410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ja-JP" altLang="en-US" dirty="0">
                          <a:solidFill>
                            <a:schemeClr val="accent2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確率変数</a:t>
                      </a:r>
                      <a14:m>
                        <m:oMath xmlns:m="http://schemas.openxmlformats.org/officeDocument/2006/math"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𝑋</m:t>
                          </m:r>
                        </m:oMath>
                      </a14:m>
                      <a:endParaRPr kumimoji="1" lang="en-US" altLang="ja-JP" dirty="0">
                        <a:solidFill>
                          <a:schemeClr val="accent2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3846" t="-13333" b="-2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9A5C527F-38E6-5DDD-DB0C-4DEC5959F417}"/>
                    </a:ext>
                  </a:extLst>
                </p:cNvPr>
                <p:cNvSpPr txBox="1"/>
                <p:nvPr/>
              </p:nvSpPr>
              <p:spPr>
                <a:xfrm>
                  <a:off x="4013070" y="5861707"/>
                  <a:ext cx="4150495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結果は「打つ」「打たない」の二択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打席で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回のヒットはない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回目の打席の結果は，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回目の結果に関係ない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よって，各試行は独立である</a:t>
                  </a:r>
                </a:p>
              </p:txBody>
            </p:sp>
            <p:sp>
              <p:nvSpPr>
                <p:cNvPr id="24" name="左中かっこ 23">
                  <a:extLst>
                    <a:ext uri="{FF2B5EF4-FFF2-40B4-BE49-F238E27FC236}">
                      <a16:creationId xmlns:a16="http://schemas.microsoft.com/office/drawing/2014/main" id="{E00B2E7D-F350-96AF-D8F1-8D364DD8CFCC}"/>
                    </a:ext>
                  </a:extLst>
                </p:cNvPr>
                <p:cNvSpPr/>
                <p:nvPr/>
              </p:nvSpPr>
              <p:spPr>
                <a:xfrm>
                  <a:off x="3400616" y="5924746"/>
                  <a:ext cx="612454" cy="891068"/>
                </a:xfrm>
                <a:prstGeom prst="leftBrac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6612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4122C-9DA9-5505-748F-6D95E1318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41ACB7-D0F2-DD73-5DC2-92635ED8B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2400" dirty="0"/>
              <a:t>①ヒットを打つ確率をさらに細かく考えてみよう</a:t>
            </a:r>
            <a:endParaRPr kumimoji="1" lang="ja-JP" altLang="en-US" sz="24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3AD2C12-8162-1196-8F39-A92AD394E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FFFA3D1-C1D3-B1DF-4B91-11AA766F13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r>
                  <a:rPr lang="ja-JP" altLang="en-US" dirty="0"/>
                  <a:t>第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項から順に計算してみよう：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×4×3×2×1</m:t>
                        </m:r>
                      </m:num>
                      <m:den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5×4×3×</m:t>
                            </m:r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0!=1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4×3×2×1</m:t>
                        </m:r>
                      </m:num>
                      <m:den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4×3×2×1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</m:t>
                        </m:r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3×2×1</m:t>
                        </m:r>
                      </m:num>
                      <m:den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3×2×1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</m:t>
                        </m:r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3×2×1</m:t>
                        </m:r>
                      </m:num>
                      <m:den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×2×</m:t>
                            </m:r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4×3×2×1</m:t>
                        </m:r>
                      </m:num>
                      <m:den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×3×2×</m:t>
                            </m:r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×4×3×2×1</m:t>
                        </m:r>
                      </m:num>
                      <m:den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5×4×3×2×1</m:t>
                            </m:r>
                          </m:e>
                        </m:d>
                        <m:r>
                          <a:rPr lang="en-US" altLang="ja-JP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FFFA3D1-C1D3-B1DF-4B91-11AA766F13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87" t="-18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BEC8314-6252-15C5-054A-A6E4C30E1AF6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2462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BB335-8D32-2A1B-3872-50A57E178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57A904-0578-FD3E-1CBF-EE663DFD3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2400" dirty="0"/>
              <a:t>①ヒットを打つ確率をさらに細かく考えてみよう</a:t>
            </a:r>
            <a:endParaRPr kumimoji="1" lang="ja-JP" altLang="en-US" sz="24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07E2E42-6657-60D7-E7C6-95F8A4DDE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FDD4559-3A43-8D4F-9A60-4A9AD30390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第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2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0.32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0.1024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0.032768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0.01048576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0.003355443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FDD4559-3A43-8D4F-9A60-4A9AD30390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BFB36E6-60B1-5360-96FB-31BF5013964F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338866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0E95D-CD82-A64D-5C02-59E71E7EE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0227D6-513A-36F2-0B59-9459BBE36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2400" dirty="0"/>
              <a:t>①ヒットを打つ確率をさらに細かく考えてみよう</a:t>
            </a:r>
            <a:endParaRPr kumimoji="1" lang="ja-JP" altLang="en-US" sz="24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9E4F42A-633D-B031-A3E7-DFDECE5CA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582AA2E-B207-ACCC-1786-F3BB2850CA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第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3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5−0</m:t>
                        </m:r>
                      </m:sup>
                    </m:sSup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=0.145393357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0.21381376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0.314432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0.4624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0.68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582AA2E-B207-ACCC-1786-F3BB2850CA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B9573E5-8622-884D-693C-3B37B424F7D6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636909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2A880-C7C0-BCBE-13F2-ABAA386AA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06E364-F3A5-3B65-B07F-D22067BA1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2400" dirty="0"/>
              <a:t>①ヒットを打つ確率をさらに細かく考えてみよう</a:t>
            </a:r>
            <a:endParaRPr kumimoji="1" lang="ja-JP" altLang="en-US" sz="24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3538E13-3F38-CF6A-9660-55FFF938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A5F9C35-A351-3305-B5D7-9E78850BEF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第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1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項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×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第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2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項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×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第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3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項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0.145393357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=0.1454=14.54%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0.32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0.21381376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=0.3421=34.21%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=2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0.1024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0.314432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=0.3220=32.20%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=3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0.032768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0.4624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=0.1515=15.15%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=4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0.01048576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×0.68=0.0357=3.57%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=5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0.003355443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×1=0.0034=0.34%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A5F9C35-A351-3305-B5D7-9E78850BEF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C3E405C-F309-B400-7D92-146C45B3B6D7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284256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70A3B0-E95E-0250-9BFD-90257F37B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②ガチャが当たる確率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0A3FD96-24C3-F761-DC03-2D6FA416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013DC6B-4D38-8180-6AAF-0907C2CAC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レア排出率</a:t>
            </a:r>
            <a:r>
              <a:rPr lang="en-US" altLang="ja-JP" dirty="0"/>
              <a:t>0.05%</a:t>
            </a:r>
            <a:r>
              <a:rPr lang="ja-JP" altLang="en-US" dirty="0"/>
              <a:t>のガチャを</a:t>
            </a:r>
            <a:r>
              <a:rPr kumimoji="1" lang="en-US" altLang="ja-JP" dirty="0"/>
              <a:t>100</a:t>
            </a:r>
            <a:r>
              <a:rPr kumimoji="1" lang="ja-JP" altLang="en-US" dirty="0"/>
              <a:t>回引いたときに，</a:t>
            </a:r>
            <a:br>
              <a:rPr kumimoji="1" lang="en-US" altLang="ja-JP" dirty="0"/>
            </a:br>
            <a:r>
              <a:rPr kumimoji="1" lang="ja-JP" altLang="en-US" dirty="0"/>
              <a:t>レアが</a:t>
            </a:r>
            <a:r>
              <a:rPr kumimoji="1" lang="en-US" altLang="ja-JP" dirty="0"/>
              <a:t>1</a:t>
            </a:r>
            <a:r>
              <a:rPr kumimoji="1" lang="ja-JP" altLang="en-US" dirty="0"/>
              <a:t>個以上当たる確率は？</a:t>
            </a:r>
            <a:endParaRPr kumimoji="1" lang="en-US" altLang="ja-JP" dirty="0"/>
          </a:p>
          <a:p>
            <a:pPr lvl="1"/>
            <a:r>
              <a:rPr lang="ja-JP" altLang="en-US" dirty="0"/>
              <a:t>ヒント①：「</a:t>
            </a:r>
            <a:r>
              <a:rPr lang="en-US" altLang="ja-JP" dirty="0"/>
              <a:t>1</a:t>
            </a:r>
            <a:r>
              <a:rPr lang="ja-JP" altLang="en-US" dirty="0"/>
              <a:t>個以上」なので</a:t>
            </a:r>
            <a:r>
              <a:rPr lang="en-US" altLang="ja-JP" dirty="0"/>
              <a:t>2</a:t>
            </a:r>
            <a:r>
              <a:rPr lang="ja-JP" altLang="en-US" dirty="0"/>
              <a:t>個でも</a:t>
            </a:r>
            <a:r>
              <a:rPr lang="en-US" altLang="ja-JP" dirty="0"/>
              <a:t>3</a:t>
            </a:r>
            <a:r>
              <a:rPr lang="ja-JP" altLang="en-US" dirty="0"/>
              <a:t>個でも良い</a:t>
            </a:r>
            <a:endParaRPr lang="en-US" altLang="ja-JP" dirty="0"/>
          </a:p>
          <a:p>
            <a:pPr lvl="1"/>
            <a:r>
              <a:rPr kumimoji="1" lang="ja-JP" altLang="en-US" dirty="0"/>
              <a:t>ヒント②：余事象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66962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66966-5BD9-9BA6-5BEF-A6CA79049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63694A-5003-634E-BE4D-868DB848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②ガチャが当たる確率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FFA90A2-FC9D-B102-C726-70E2115B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EC724AA-4D08-8D9F-DE44-C69B10895A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レア排出率</a:t>
                </a:r>
                <a:r>
                  <a:rPr lang="en-US" altLang="ja-JP" dirty="0"/>
                  <a:t>0.05%</a:t>
                </a:r>
                <a:r>
                  <a:rPr lang="ja-JP" altLang="en-US" dirty="0"/>
                  <a:t>のガチャを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回引いたときに，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レアが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個以上当たる確率は？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ヒント①：「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個以上」なので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個でも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個でも良い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ヒント②：余事象</a:t>
                </a:r>
                <a:endParaRPr kumimoji="1" lang="en-US" altLang="ja-JP" dirty="0"/>
              </a:p>
              <a:p>
                <a:pPr lvl="1"/>
                <a:endParaRPr lang="en-US" altLang="ja-JP" dirty="0"/>
              </a:p>
              <a:p>
                <a:r>
                  <a:rPr kumimoji="1" lang="ja-JP" altLang="en-US" dirty="0"/>
                  <a:t>当たる確率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：排出率</a:t>
                </a:r>
                <a:r>
                  <a:rPr kumimoji="1" lang="en-US" altLang="ja-JP" dirty="0"/>
                  <a:t>0.05%=0.0005</a:t>
                </a:r>
              </a:p>
              <a:p>
                <a:r>
                  <a:rPr lang="ja-JP" altLang="en-US" dirty="0"/>
                  <a:t>試行回数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：ガチャを回す回数＝</a:t>
                </a:r>
                <a:r>
                  <a:rPr kumimoji="1" lang="en-US" altLang="ja-JP" dirty="0"/>
                  <a:t>100</a:t>
                </a:r>
                <a:endParaRPr lang="en-US" altLang="ja-JP" dirty="0"/>
              </a:p>
              <a:p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個以上当たる＝「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個も当たらない」の余事象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つまり</a:t>
                </a:r>
                <a:br>
                  <a:rPr lang="en-US" altLang="ja-JP" dirty="0"/>
                </a:br>
                <a:r>
                  <a:rPr lang="ja-JP" altLang="en-US" dirty="0"/>
                  <a:t>「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個も当たらない確率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dirty="0"/>
                  <a:t>」を計算して，</a:t>
                </a:r>
                <a:br>
                  <a:rPr kumimoji="1" lang="en-US" altLang="ja-JP" dirty="0"/>
                </a:b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から引けば良い．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EC724AA-4D08-8D9F-DE44-C69B10895A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51D0103-8B65-94F2-D90D-54060E8CC631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371577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221DE-33E3-84E2-B826-FAF10F4BA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EC3791-98F9-ADD9-9E51-29506F3FF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②ガチャが当たる確率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DF4D221-3870-7FAD-D653-4964FDD22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37360A3-EB97-50D8-9D80-1469F8A4B5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レア排出率</a:t>
                </a:r>
                <a:r>
                  <a:rPr lang="en-US" altLang="ja-JP" dirty="0"/>
                  <a:t>0.05%</a:t>
                </a:r>
                <a:r>
                  <a:rPr lang="ja-JP" altLang="en-US" dirty="0"/>
                  <a:t>のガチャを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回引いたときに，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レアが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個以上当たる確率は？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ヒント①：「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個以上」なので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個でも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個でも良い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ヒント②：余事象</a:t>
                </a:r>
                <a:endParaRPr kumimoji="1" lang="en-US" altLang="ja-JP" dirty="0"/>
              </a:p>
              <a:p>
                <a:pPr lvl="1"/>
                <a:endParaRPr lang="en-US" altLang="ja-JP" dirty="0"/>
              </a:p>
              <a:p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回も当たらない確率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0.0005</m:t>
                            </m:r>
                          </m:e>
                        </m:d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1−0.0005</m:t>
                            </m:r>
                          </m:e>
                        </m:d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×1×0.95121753=0.95121753</m:t>
                    </m:r>
                  </m:oMath>
                </a14:m>
                <a:endParaRPr kumimoji="1" lang="en-US" altLang="ja-JP" dirty="0"/>
              </a:p>
              <a:p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回も当たらない確率の余事象＝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つ以上当たる確率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1−0.95121753=0.048782=4.89%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回当たる確率～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回当たる確率の合計と比べてみよう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37360A3-EB97-50D8-9D80-1469F8A4B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 b="-1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8BB1137-8B87-714B-8002-F3D69073DC2D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4288381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05D05-BDD9-6BC2-B0F8-7070A9EBD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A5921E-BE9C-7D92-D4A3-43B31ADD4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③ガチャが当たる確率の期待値と分散を求めよう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C5A2FE7-9656-682C-386A-163D9A697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F3B514D-4A1C-1D09-3DB6-93D474625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レア排出率</a:t>
            </a:r>
            <a:r>
              <a:rPr lang="en-US" altLang="ja-JP" dirty="0"/>
              <a:t>0.05%</a:t>
            </a:r>
            <a:r>
              <a:rPr lang="ja-JP" altLang="en-US" dirty="0"/>
              <a:t>のガチャを</a:t>
            </a:r>
            <a:r>
              <a:rPr kumimoji="1" lang="en-US" altLang="ja-JP" dirty="0"/>
              <a:t>100</a:t>
            </a:r>
            <a:r>
              <a:rPr kumimoji="1" lang="ja-JP" altLang="en-US" dirty="0"/>
              <a:t>回引いたときに，</a:t>
            </a:r>
            <a:br>
              <a:rPr kumimoji="1" lang="en-US" altLang="ja-JP" dirty="0"/>
            </a:br>
            <a:r>
              <a:rPr kumimoji="1" lang="ja-JP" altLang="en-US" dirty="0"/>
              <a:t>レアが</a:t>
            </a:r>
            <a:r>
              <a:rPr kumimoji="1" lang="en-US" altLang="ja-JP" dirty="0"/>
              <a:t>1</a:t>
            </a:r>
            <a:r>
              <a:rPr kumimoji="1" lang="ja-JP" altLang="en-US" dirty="0"/>
              <a:t>個以上当たる確率は？</a:t>
            </a:r>
            <a:endParaRPr kumimoji="1" lang="en-US" altLang="ja-JP" dirty="0"/>
          </a:p>
          <a:p>
            <a:r>
              <a:rPr lang="ja-JP" altLang="en-US" dirty="0"/>
              <a:t>期待値と分散を求めよう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35974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ACDEA-FB6C-BC26-15A4-E7284114B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2A1898-60B0-CD65-6F66-59824B9D8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2400" dirty="0"/>
              <a:t>③ガチャが当たる確率の期待値と分散を求めよう</a:t>
            </a:r>
            <a:endParaRPr kumimoji="1" lang="ja-JP" altLang="en-US" sz="24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DA1FDB0-CAB5-445D-4F3B-7E2093E0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BA52DD-CD17-C9AB-A1FF-A41D25316F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レア排出率</a:t>
                </a:r>
                <a:r>
                  <a:rPr lang="en-US" altLang="ja-JP" dirty="0"/>
                  <a:t>0.05%</a:t>
                </a:r>
                <a:r>
                  <a:rPr lang="ja-JP" altLang="en-US" dirty="0"/>
                  <a:t>のガチャを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回引いたときに，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レアが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個以上当たる確率は？</a:t>
                </a:r>
                <a:endParaRPr kumimoji="1" lang="en-US" altLang="ja-JP" dirty="0"/>
              </a:p>
              <a:p>
                <a:r>
                  <a:rPr lang="ja-JP" altLang="en-US" dirty="0"/>
                  <a:t>期待値と分散を求めよう</a:t>
                </a:r>
                <a:endParaRPr lang="en-US" altLang="ja-JP" dirty="0"/>
              </a:p>
              <a:p>
                <a:endParaRPr kumimoji="1" lang="en-US" altLang="ja-JP" dirty="0"/>
              </a:p>
              <a:p>
                <a:r>
                  <a:rPr lang="ja-JP" altLang="en-US" dirty="0"/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=100×0.0005=0.05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lang="en-US" altLang="ja-JP" dirty="0"/>
                  <a:t>100</a:t>
                </a:r>
                <a:r>
                  <a:rPr lang="ja-JP" altLang="en-US" dirty="0"/>
                  <a:t>回引くと，平均的に</a:t>
                </a:r>
                <a:r>
                  <a:rPr lang="en-US" altLang="ja-JP" dirty="0"/>
                  <a:t>0.05</a:t>
                </a:r>
                <a:r>
                  <a:rPr lang="ja-JP" altLang="en-US" dirty="0"/>
                  <a:t>個当たる</a:t>
                </a:r>
                <a:endParaRPr lang="en-US" altLang="ja-JP" dirty="0"/>
              </a:p>
              <a:p>
                <a:pPr lvl="2"/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個に届かないので，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個も当たらないことも多々ある</a:t>
                </a:r>
                <a:endParaRPr kumimoji="1" lang="en-US" altLang="ja-JP" dirty="0"/>
              </a:p>
              <a:p>
                <a:pPr lvl="2"/>
                <a:r>
                  <a:rPr lang="en-US" altLang="ja-JP" dirty="0"/>
                  <a:t>1</a:t>
                </a:r>
                <a:r>
                  <a:rPr lang="ja-JP" altLang="en-US" dirty="0"/>
                  <a:t>個も当たらない確率が</a:t>
                </a:r>
                <a:r>
                  <a:rPr lang="en-US" altLang="ja-JP" dirty="0"/>
                  <a:t>95.12%</a:t>
                </a:r>
                <a:r>
                  <a:rPr lang="ja-JP" altLang="en-US" dirty="0"/>
                  <a:t>なので妥当</a:t>
                </a:r>
                <a:endParaRPr kumimoji="1" lang="en-US" altLang="ja-JP" dirty="0"/>
              </a:p>
              <a:p>
                <a:r>
                  <a:rPr lang="ja-JP" altLang="en-US" dirty="0"/>
                  <a:t>分散：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=100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×0.0005×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1−0.0005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=0.049975</m:t>
                    </m:r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BA52DD-CD17-C9AB-A1FF-A41D25316F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 b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12C8FF9-A258-0214-0F6A-AFCBC75916BA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247894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179D2C-B78A-B93C-ACAF-3B9570B03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④不良品の個数を考えよう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815D379-10AE-67CB-3FE0-D7EEAC7A4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BA9E92B-E7FE-ADDC-01F5-E2F1A78F93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ある工場で，不良品の製品は</a:t>
                </a:r>
                <a:br>
                  <a:rPr kumimoji="1" lang="en-US" altLang="ja-JP" dirty="0"/>
                </a:br>
                <a:r>
                  <a:rPr kumimoji="1" lang="en-US" altLang="ja-JP" dirty="0"/>
                  <a:t>1,000</a:t>
                </a:r>
                <a:r>
                  <a:rPr kumimoji="1" lang="ja-JP" altLang="en-US" dirty="0"/>
                  <a:t>個中</a:t>
                </a: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個あることがわかっている．</a:t>
                </a:r>
              </a:p>
              <a:p>
                <a:r>
                  <a:rPr kumimoji="1" lang="ja-JP" altLang="en-US" dirty="0"/>
                  <a:t>これから出荷する製品</a:t>
                </a:r>
                <a:r>
                  <a:rPr kumimoji="1" lang="en-US" altLang="ja-JP" dirty="0"/>
                  <a:t>3,500</a:t>
                </a:r>
                <a:r>
                  <a:rPr kumimoji="1" lang="ja-JP" altLang="en-US" dirty="0"/>
                  <a:t>個のうち，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不良品の数を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とすると</a:t>
                </a:r>
                <a:r>
                  <a:rPr lang="ja-JP" altLang="en-US" dirty="0"/>
                  <a:t>，</a:t>
                </a:r>
                <a:br>
                  <a:rPr lang="en-US" altLang="ja-JP" dirty="0"/>
                </a:br>
                <a:r>
                  <a:rPr kumimoji="1" lang="ja-JP" altLang="en-US" dirty="0"/>
                  <a:t>その確率分布はポアソン分布で近似できるものとする．</a:t>
                </a:r>
                <a:endParaRPr kumimoji="1" lang="en-US" altLang="ja-JP" dirty="0"/>
              </a:p>
              <a:p>
                <a:r>
                  <a:rPr lang="ja-JP" altLang="en-US" dirty="0"/>
                  <a:t>これから出荷する製品</a:t>
                </a:r>
                <a:r>
                  <a:rPr lang="en-US" altLang="ja-JP" dirty="0"/>
                  <a:t>3,500</a:t>
                </a:r>
                <a:r>
                  <a:rPr lang="ja-JP" altLang="en-US" dirty="0"/>
                  <a:t>個のうち，</a:t>
                </a:r>
                <a:br>
                  <a:rPr lang="en-US" altLang="ja-JP" dirty="0"/>
                </a:br>
                <a:r>
                  <a:rPr lang="ja-JP" altLang="en-US" dirty="0"/>
                  <a:t>予測される不良品の個数</a:t>
                </a:r>
                <a:r>
                  <a:rPr lang="ja-JP" altLang="en-US" sz="2000" dirty="0"/>
                  <a:t>（期待値）</a:t>
                </a:r>
                <a:r>
                  <a:rPr lang="ja-JP" altLang="en-US" dirty="0"/>
                  <a:t>はいくつか．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BA9E92B-E7FE-ADDC-01F5-E2F1A78F93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370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39C4E-07F6-C549-F921-8E8A82808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19CC82-6CA8-0ED3-8020-7CC356B5C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④不良品の個数を考えよう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87BF4D4-40D0-DAE1-CF19-916A9D9B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B2551D3-0357-5344-8A34-EA2E4E7710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ある工場で，不良品の製品は</a:t>
                </a:r>
                <a:br>
                  <a:rPr kumimoji="1" lang="en-US" altLang="ja-JP" dirty="0"/>
                </a:br>
                <a:r>
                  <a:rPr kumimoji="1" lang="en-US" altLang="ja-JP" dirty="0"/>
                  <a:t>1,000</a:t>
                </a:r>
                <a:r>
                  <a:rPr kumimoji="1" lang="ja-JP" altLang="en-US" dirty="0"/>
                  <a:t>個中</a:t>
                </a: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個あることがわかっている．</a:t>
                </a:r>
              </a:p>
              <a:p>
                <a:r>
                  <a:rPr kumimoji="1" lang="ja-JP" altLang="en-US" dirty="0"/>
                  <a:t>これから出荷する製品</a:t>
                </a:r>
                <a:r>
                  <a:rPr kumimoji="1" lang="en-US" altLang="ja-JP" dirty="0"/>
                  <a:t>3,500</a:t>
                </a:r>
                <a:r>
                  <a:rPr kumimoji="1" lang="ja-JP" altLang="en-US" dirty="0"/>
                  <a:t>個のうち，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不良品の数を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とすると</a:t>
                </a:r>
                <a:r>
                  <a:rPr lang="ja-JP" altLang="en-US" dirty="0"/>
                  <a:t>，</a:t>
                </a:r>
                <a:br>
                  <a:rPr lang="en-US" altLang="ja-JP" dirty="0"/>
                </a:br>
                <a:r>
                  <a:rPr kumimoji="1" lang="ja-JP" altLang="en-US" dirty="0"/>
                  <a:t>その確率分布はポアソン分布で近似できるものとする．</a:t>
                </a:r>
                <a:endParaRPr kumimoji="1" lang="en-US" altLang="ja-JP" dirty="0"/>
              </a:p>
              <a:p>
                <a:r>
                  <a:rPr lang="ja-JP" altLang="en-US" dirty="0"/>
                  <a:t>これから出荷する製品</a:t>
                </a:r>
                <a:r>
                  <a:rPr lang="en-US" altLang="ja-JP" dirty="0"/>
                  <a:t>3,500</a:t>
                </a:r>
                <a:r>
                  <a:rPr lang="ja-JP" altLang="en-US" dirty="0"/>
                  <a:t>個のうち，</a:t>
                </a:r>
                <a:br>
                  <a:rPr lang="en-US" altLang="ja-JP" dirty="0"/>
                </a:br>
                <a:r>
                  <a:rPr lang="ja-JP" altLang="en-US" dirty="0"/>
                  <a:t>予測される不良品の個数</a:t>
                </a:r>
                <a:r>
                  <a:rPr lang="ja-JP" altLang="en-US" sz="2000" dirty="0"/>
                  <a:t>（期待値）</a:t>
                </a:r>
                <a:r>
                  <a:rPr lang="ja-JP" altLang="en-US" dirty="0"/>
                  <a:t>はいくつか．</a:t>
                </a:r>
                <a:endParaRPr lang="en-US" altLang="ja-JP" dirty="0"/>
              </a:p>
              <a:p>
                <a:endParaRPr lang="en-US" altLang="ja-JP" dirty="0"/>
              </a:p>
              <a:p>
                <a:r>
                  <a:rPr lang="ja-JP" altLang="en-US" dirty="0"/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=3500×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1000</m:t>
                            </m:r>
                          </m:den>
                        </m:f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</m:t>
                    </m:r>
                  </m:oMath>
                </a14:m>
                <a:endParaRPr lang="en-US" altLang="ja-JP" dirty="0"/>
              </a:p>
              <a:p>
                <a:r>
                  <a:rPr lang="ja-JP" altLang="en-US" dirty="0"/>
                  <a:t>分散：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B2551D3-0357-5344-8A34-EA2E4E7710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30DCB85-4C8A-4181-2E62-E1F5DC1C3C59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999669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91CF-116E-EDFB-1852-B56876915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606AAA-F659-EB7D-9D92-D48CFFD4F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30FF853D-439A-A3D1-96AB-57C2D56119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節　確率分布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確率変数について理解する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確率変数：観測値に確率が対応している変数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ja-JP" altLang="en-US" dirty="0"/>
                  <a:t>の場合もある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期待値について理解する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期待値：確率変数と確率の積和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離散確率分布について学ぶ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二項分布，ポアソン分布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二項分布の確率の計算方法を修得する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分散：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30FF853D-439A-A3D1-96AB-57C2D56119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E0728AE-CFEC-0C7C-BC3A-9E60784D4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4146886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1248</TotalTime>
  <Words>2383</Words>
  <Application>Microsoft Office PowerPoint</Application>
  <PresentationFormat>画面に合わせる (4:3)</PresentationFormat>
  <Paragraphs>219</Paragraphs>
  <Slides>21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30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[AL] 確率分布：離散確率分布</vt:lpstr>
      <vt:lpstr>Summary</vt:lpstr>
      <vt:lpstr>二項分布</vt:lpstr>
      <vt:lpstr>二項分布の確率</vt:lpstr>
      <vt:lpstr>二項分布の確率</vt:lpstr>
      <vt:lpstr>二項分布の期待値と分散</vt:lpstr>
      <vt:lpstr>ポアソン分布の期待値と分散</vt:lpstr>
      <vt:lpstr>PowerPoint プレゼンテーション</vt:lpstr>
      <vt:lpstr>①ヒットを打つ確率をさらに細かく考えてみよう</vt:lpstr>
      <vt:lpstr>①ヒットを打つ確率をさらに細かく考えてみよう</vt:lpstr>
      <vt:lpstr>①ヒットを打つ確率をさらに細かく考えてみよう</vt:lpstr>
      <vt:lpstr>①ヒットを打つ確率をさらに細かく考えてみよう</vt:lpstr>
      <vt:lpstr>①ヒットを打つ確率をさらに細かく考えてみよう</vt:lpstr>
      <vt:lpstr>②ガチャが当たる確率</vt:lpstr>
      <vt:lpstr>②ガチャが当たる確率</vt:lpstr>
      <vt:lpstr>②ガチャが当たる確率</vt:lpstr>
      <vt:lpstr>③ガチャが当たる確率の期待値と分散を求めよう</vt:lpstr>
      <vt:lpstr>③ガチャが当たる確率の期待値と分散を求めよう</vt:lpstr>
      <vt:lpstr>④不良品の個数を考えよう</vt:lpstr>
      <vt:lpstr>④不良品の個数を考えよう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Maria Ikegawa</cp:lastModifiedBy>
  <cp:revision>142</cp:revision>
  <dcterms:created xsi:type="dcterms:W3CDTF">2025-03-03T09:28:12Z</dcterms:created>
  <dcterms:modified xsi:type="dcterms:W3CDTF">2025-09-02T13:15:45Z</dcterms:modified>
</cp:coreProperties>
</file>