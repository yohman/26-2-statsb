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42"/>
  </p:notesMasterIdLst>
  <p:sldIdLst>
    <p:sldId id="256" r:id="rId2"/>
    <p:sldId id="257" r:id="rId3"/>
    <p:sldId id="258" r:id="rId4"/>
    <p:sldId id="283" r:id="rId5"/>
    <p:sldId id="284" r:id="rId6"/>
    <p:sldId id="536" r:id="rId7"/>
    <p:sldId id="537" r:id="rId8"/>
    <p:sldId id="538" r:id="rId9"/>
    <p:sldId id="539" r:id="rId10"/>
    <p:sldId id="541" r:id="rId11"/>
    <p:sldId id="571" r:id="rId12"/>
    <p:sldId id="545" r:id="rId13"/>
    <p:sldId id="549" r:id="rId14"/>
    <p:sldId id="552" r:id="rId15"/>
    <p:sldId id="555" r:id="rId16"/>
    <p:sldId id="556" r:id="rId17"/>
    <p:sldId id="567" r:id="rId18"/>
    <p:sldId id="282" r:id="rId19"/>
    <p:sldId id="572" r:id="rId20"/>
    <p:sldId id="557" r:id="rId21"/>
    <p:sldId id="559" r:id="rId22"/>
    <p:sldId id="560" r:id="rId23"/>
    <p:sldId id="573" r:id="rId24"/>
    <p:sldId id="562" r:id="rId25"/>
    <p:sldId id="587" r:id="rId26"/>
    <p:sldId id="574" r:id="rId27"/>
    <p:sldId id="575" r:id="rId28"/>
    <p:sldId id="583" r:id="rId29"/>
    <p:sldId id="582" r:id="rId30"/>
    <p:sldId id="576" r:id="rId31"/>
    <p:sldId id="584" r:id="rId32"/>
    <p:sldId id="577" r:id="rId33"/>
    <p:sldId id="585" r:id="rId34"/>
    <p:sldId id="578" r:id="rId35"/>
    <p:sldId id="581" r:id="rId36"/>
    <p:sldId id="586" r:id="rId37"/>
    <p:sldId id="579" r:id="rId38"/>
    <p:sldId id="588" r:id="rId39"/>
    <p:sldId id="580" r:id="rId40"/>
    <p:sldId id="262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66781" autoAdjust="0"/>
  </p:normalViewPr>
  <p:slideViewPr>
    <p:cSldViewPr snapToGrid="0">
      <p:cViewPr varScale="1">
        <p:scale>
          <a:sx n="82" d="100"/>
          <a:sy n="82" d="100"/>
        </p:scale>
        <p:origin x="1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much of the variation in </a:t>
            </a:r>
            <a:r>
              <a:rPr kumimoji="1"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explained by </a:t>
            </a:r>
            <a:r>
              <a:rPr kumimoji="1"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this model?”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635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以下は，「重要」スライドのみ説明いただければ</a:t>
            </a:r>
            <a:r>
              <a:rPr kumimoji="1" lang="en-US" altLang="ja-JP" dirty="0"/>
              <a:t>OK</a:t>
            </a:r>
            <a:r>
              <a:rPr kumimoji="1" lang="ja-JP" altLang="en-US" dirty="0"/>
              <a:t>です．時間と理解度を見て適宜調整ください．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679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</a:t>
            </a:r>
            <a:r>
              <a:rPr lang="en-US" b="1" dirty="0"/>
              <a:t>cannot directly compare variability</a:t>
            </a:r>
            <a:r>
              <a:rPr lang="en-US" dirty="0"/>
              <a:t> (variance or standard deviation) between variables with </a:t>
            </a:r>
            <a:r>
              <a:rPr lang="en-US" b="1" dirty="0"/>
              <a:t>different units</a:t>
            </a:r>
            <a:r>
              <a:rPr lang="en-US" dirty="0"/>
              <a:t> (e.g., height vs. weight).</a:t>
            </a:r>
          </a:p>
          <a:p>
            <a:r>
              <a:rPr lang="en-US" dirty="0"/>
              <a:t>Instead, use the </a:t>
            </a:r>
            <a:r>
              <a:rPr lang="en-US" b="1" dirty="0"/>
              <a:t>coefficient of variation (CV)</a:t>
            </a:r>
            <a:r>
              <a:rPr lang="en-US" dirty="0"/>
              <a:t>, which measures variability </a:t>
            </a:r>
            <a:r>
              <a:rPr lang="en-US" b="1" dirty="0"/>
              <a:t>relative to the mean</a:t>
            </a:r>
            <a:r>
              <a:rPr lang="en-US" dirty="0"/>
              <a:t>:</a:t>
            </a:r>
          </a:p>
          <a:p>
            <a:r>
              <a:rPr lang="en-US" dirty="0"/>
              <a:t>\text{CV} = \frac{\text{standard deviation}}{\text{mean}}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 b="1"/>
              <a:t>単位が異なるデータ同士</a:t>
            </a:r>
            <a:r>
              <a:rPr lang="ja-JP" altLang="en-US"/>
              <a:t>では、分散や標準偏差をそのまま比較してはいけない。</a:t>
            </a:r>
          </a:p>
          <a:p>
            <a:r>
              <a:rPr lang="ja-JP" altLang="en-US"/>
              <a:t>この場合は、平均値で割った </a:t>
            </a:r>
            <a:r>
              <a:rPr lang="ja-JP" altLang="en-US" b="1"/>
              <a:t>変動係数（</a:t>
            </a:r>
            <a:r>
              <a:rPr lang="en-US" b="1" dirty="0"/>
              <a:t>CV）</a:t>
            </a:r>
            <a:r>
              <a:rPr lang="en-US" dirty="0"/>
              <a:t> </a:t>
            </a:r>
            <a:r>
              <a:rPr lang="ja-JP" altLang="en-US"/>
              <a:t>を用いて、</a:t>
            </a:r>
            <a:r>
              <a:rPr lang="ja-JP" altLang="en-US" b="1"/>
              <a:t>相対的なばらつき</a:t>
            </a:r>
            <a:r>
              <a:rPr lang="ja-JP" altLang="en-US"/>
              <a:t>を比較する。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60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 estimated coefficient is </a:t>
            </a:r>
            <a:r>
              <a:rPr lang="en-US" b="1" dirty="0"/>
              <a:t>not statistically significant</a:t>
            </a:r>
            <a:r>
              <a:rPr lang="en-US" dirty="0"/>
              <a:t>, it does </a:t>
            </a:r>
            <a:r>
              <a:rPr lang="en-US" b="1" dirty="0"/>
              <a:t>not</a:t>
            </a:r>
            <a:r>
              <a:rPr lang="en-US" dirty="0"/>
              <a:t> mean there is no causal relationship; it only means that </a:t>
            </a:r>
            <a:r>
              <a:rPr lang="en-US" b="1" dirty="0"/>
              <a:t>we cannot determine whether a causal relationship exists</a:t>
            </a:r>
            <a:r>
              <a:rPr lang="en-US" dirty="0"/>
              <a:t> based on the data and model.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/>
              <a:t>推定係数が</a:t>
            </a:r>
            <a:r>
              <a:rPr lang="ja-JP" altLang="en-US" b="1"/>
              <a:t>統計的に有意でない</a:t>
            </a:r>
            <a:r>
              <a:rPr lang="ja-JP" altLang="en-US"/>
              <a:t>場合に言えるのは、</a:t>
            </a:r>
            <a:r>
              <a:rPr lang="ja-JP" altLang="en-US" b="1"/>
              <a:t>因果関係があるかどうか分からない</a:t>
            </a:r>
            <a:r>
              <a:rPr lang="ja-JP" altLang="en-US"/>
              <a:t>ということだけであり、</a:t>
            </a:r>
            <a:r>
              <a:rPr lang="ja-JP" altLang="en-US" b="1"/>
              <a:t>因果関係がない</a:t>
            </a:r>
            <a:r>
              <a:rPr lang="ja-JP" altLang="en-US"/>
              <a:t>とは言えない。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944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 estimated coefficient is </a:t>
            </a:r>
            <a:r>
              <a:rPr lang="en-US" b="1" dirty="0"/>
              <a:t>not statistically significant</a:t>
            </a:r>
            <a:r>
              <a:rPr lang="en-US" dirty="0"/>
              <a:t>, it does </a:t>
            </a:r>
            <a:r>
              <a:rPr lang="en-US" b="1" dirty="0"/>
              <a:t>not</a:t>
            </a:r>
            <a:r>
              <a:rPr lang="en-US" dirty="0"/>
              <a:t> mean there is no causal relationship; it only means that </a:t>
            </a:r>
            <a:r>
              <a:rPr lang="en-US" b="1" dirty="0"/>
              <a:t>we cannot determine whether a causal relationship exists</a:t>
            </a:r>
            <a:r>
              <a:rPr lang="en-US" dirty="0"/>
              <a:t> based on the data and model.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/>
              <a:t>推定係数が</a:t>
            </a:r>
            <a:r>
              <a:rPr lang="ja-JP" altLang="en-US" b="1"/>
              <a:t>統計的に有意でない</a:t>
            </a:r>
            <a:r>
              <a:rPr lang="ja-JP" altLang="en-US"/>
              <a:t>場合に言えるのは、</a:t>
            </a:r>
            <a:r>
              <a:rPr lang="ja-JP" altLang="en-US" b="1"/>
              <a:t>因果関係があるかどうか分からない</a:t>
            </a:r>
            <a:r>
              <a:rPr lang="ja-JP" altLang="en-US"/>
              <a:t>ということだけであり、</a:t>
            </a:r>
            <a:r>
              <a:rPr lang="ja-JP" altLang="en-US" b="1"/>
              <a:t>因果関係がない</a:t>
            </a:r>
            <a:r>
              <a:rPr lang="ja-JP" altLang="en-US"/>
              <a:t>とは言えない。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769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regression analysis, the coefficient b is interpreted </a:t>
            </a:r>
            <a:r>
              <a:rPr lang="en-US" b="1" dirty="0"/>
              <a:t>from the explanatory variable (cause, right-hand side) to the dependent variable (result, left-hand side)</a:t>
            </a:r>
            <a:r>
              <a:rPr lang="en-US" dirty="0"/>
              <a:t>.</a:t>
            </a:r>
          </a:p>
          <a:p>
            <a:r>
              <a:rPr lang="en-US" dirty="0"/>
              <a:t>Here, the correct reading is: </a:t>
            </a:r>
            <a:r>
              <a:rPr lang="en-US" b="1" dirty="0"/>
              <a:t>if CO₂ emissions increase by 1 unit, population increases by 0.35 units</a:t>
            </a:r>
            <a:r>
              <a:rPr lang="en-US" dirty="0"/>
              <a:t>.</a:t>
            </a:r>
          </a:p>
          <a:p>
            <a:r>
              <a:rPr lang="en-US" dirty="0"/>
              <a:t>You must </a:t>
            </a:r>
            <a:r>
              <a:rPr lang="en-US" b="1" dirty="0"/>
              <a:t>not reverse the direction</a:t>
            </a:r>
            <a:r>
              <a:rPr lang="en-US" dirty="0"/>
              <a:t>; causality is one-way (cause → result).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/>
              <a:t>回帰係数 </a:t>
            </a:r>
            <a:r>
              <a:rPr lang="en-US" dirty="0"/>
              <a:t>b </a:t>
            </a:r>
            <a:r>
              <a:rPr lang="ja-JP" altLang="en-US"/>
              <a:t>は、</a:t>
            </a:r>
            <a:r>
              <a:rPr lang="ja-JP" altLang="en-US" b="1"/>
              <a:t>説明変数（原因・右辺）が</a:t>
            </a:r>
            <a:r>
              <a:rPr lang="en-US" altLang="ja-JP" b="1" dirty="0"/>
              <a:t>1</a:t>
            </a:r>
            <a:r>
              <a:rPr lang="ja-JP" altLang="en-US" b="1"/>
              <a:t>単位増加すると、目的変数（結果・左辺）が </a:t>
            </a:r>
            <a:r>
              <a:rPr lang="en-US" dirty="0"/>
              <a:t>b</a:t>
            </a:r>
            <a:r>
              <a:rPr lang="en-US" b="1" dirty="0"/>
              <a:t> </a:t>
            </a:r>
            <a:r>
              <a:rPr lang="ja-JP" altLang="en-US" b="1"/>
              <a:t>単位増加する</a:t>
            </a:r>
            <a:r>
              <a:rPr lang="ja-JP" altLang="en-US"/>
              <a:t>と読む。</a:t>
            </a:r>
          </a:p>
          <a:p>
            <a:r>
              <a:rPr lang="ja-JP" altLang="en-US"/>
              <a:t>この式では、</a:t>
            </a:r>
            <a:r>
              <a:rPr lang="en-US" b="1" dirty="0"/>
              <a:t>CO₂</a:t>
            </a:r>
            <a:r>
              <a:rPr lang="ja-JP" altLang="en-US" b="1"/>
              <a:t>排出量が</a:t>
            </a:r>
            <a:r>
              <a:rPr lang="en-US" altLang="ja-JP" b="1" dirty="0"/>
              <a:t>1</a:t>
            </a:r>
            <a:r>
              <a:rPr lang="ja-JP" altLang="en-US" b="1"/>
              <a:t>単位増えると、人口が</a:t>
            </a:r>
            <a:r>
              <a:rPr lang="en-US" altLang="ja-JP" b="1" dirty="0"/>
              <a:t>0.35</a:t>
            </a:r>
            <a:r>
              <a:rPr lang="ja-JP" altLang="en-US" b="1"/>
              <a:t>単位増える</a:t>
            </a:r>
            <a:r>
              <a:rPr lang="ja-JP" altLang="en-US"/>
              <a:t>が正しい解釈であり、</a:t>
            </a:r>
            <a:r>
              <a:rPr lang="ja-JP" altLang="en-US" b="1"/>
              <a:t>逆に読むのは誤り</a:t>
            </a:r>
            <a:r>
              <a:rPr lang="ja-JP" altLang="en-US"/>
              <a:t>。</a:t>
            </a:r>
          </a:p>
          <a:p>
            <a:r>
              <a:rPr lang="ja-JP" altLang="en-US"/>
              <a:t>因果関係は「原因 → 結果」の一方向のみである。</a:t>
            </a:r>
          </a:p>
          <a:p>
            <a:endParaRPr lang="en-JP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0427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negative adjusted R²</a:t>
            </a:r>
            <a:r>
              <a:rPr lang="en-US" dirty="0"/>
              <a:t> means the model explains the data </a:t>
            </a:r>
            <a:r>
              <a:rPr lang="en-US" b="1" dirty="0"/>
              <a:t>worse than simply using the mean</a:t>
            </a:r>
            <a:r>
              <a:rPr lang="en-US" dirty="0"/>
              <a:t>.</a:t>
            </a:r>
          </a:p>
          <a:p>
            <a:r>
              <a:rPr lang="en-US" dirty="0"/>
              <a:t>This often happens when there are </a:t>
            </a:r>
            <a:r>
              <a:rPr lang="en-US" b="1" dirty="0"/>
              <a:t>too many explanatory variables with weak relationships</a:t>
            </a:r>
            <a:r>
              <a:rPr lang="en-US" dirty="0"/>
              <a:t>, so the issue is not just “bad fit,” but that the </a:t>
            </a:r>
            <a:r>
              <a:rPr lang="en-US" b="1" dirty="0"/>
              <a:t>model or variable selection should be reconsidered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 b="1"/>
              <a:t>自由度修正済み決定係数がマイナス</a:t>
            </a:r>
            <a:r>
              <a:rPr lang="ja-JP" altLang="en-US"/>
              <a:t>になるのは、</a:t>
            </a:r>
            <a:r>
              <a:rPr lang="ja-JP" altLang="en-US" b="1"/>
              <a:t>平均だけで説明するよりも悪いモデル</a:t>
            </a:r>
            <a:r>
              <a:rPr lang="ja-JP" altLang="en-US"/>
              <a:t>であることを意味する。</a:t>
            </a:r>
          </a:p>
          <a:p>
            <a:r>
              <a:rPr lang="ja-JP" altLang="en-US"/>
              <a:t>「当てはまりが悪い」と言ってよいが、重要なのは</a:t>
            </a:r>
            <a:r>
              <a:rPr lang="ja-JP" altLang="en-US" b="1"/>
              <a:t>モデル設定・変数選択・データの特徴を見直すべき</a:t>
            </a:r>
            <a:r>
              <a:rPr lang="ja-JP" altLang="en-US"/>
              <a:t>という点である。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087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b="1" dirty="0"/>
              <a:t>OLS (least squares)</a:t>
            </a:r>
            <a:r>
              <a:rPr lang="en-US" dirty="0"/>
              <a:t> when the dependent variable is </a:t>
            </a:r>
            <a:r>
              <a:rPr lang="en-US" b="1" dirty="0"/>
              <a:t>binary (0/1)</a:t>
            </a:r>
            <a:r>
              <a:rPr lang="en-US" dirty="0"/>
              <a:t> violates its assumptions, so the analysis is inappropriate.</a:t>
            </a:r>
          </a:p>
          <a:p>
            <a:r>
              <a:rPr lang="en-US" dirty="0"/>
              <a:t>In such cases, </a:t>
            </a:r>
            <a:r>
              <a:rPr lang="en-US" b="1" dirty="0"/>
              <a:t>logit or probit models</a:t>
            </a:r>
            <a:r>
              <a:rPr lang="en-US" dirty="0"/>
              <a:t> should be used, and the analysis method must match the research question and data.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/>
              <a:t>目的変数が**ダミー変数（</a:t>
            </a:r>
            <a:r>
              <a:rPr lang="en-US" altLang="ja-JP" dirty="0"/>
              <a:t>0/1</a:t>
            </a:r>
            <a:r>
              <a:rPr lang="ja-JP" altLang="en-US"/>
              <a:t>）**の場合、</a:t>
            </a:r>
            <a:r>
              <a:rPr lang="ja-JP" altLang="en-US" b="1"/>
              <a:t>最小二乗法は前提条件を満たさないため不適切</a:t>
            </a:r>
            <a:r>
              <a:rPr lang="ja-JP" altLang="en-US"/>
              <a:t>である。</a:t>
            </a:r>
          </a:p>
          <a:p>
            <a:r>
              <a:rPr lang="ja-JP" altLang="en-US"/>
              <a:t>この場合は、</a:t>
            </a:r>
            <a:r>
              <a:rPr lang="ja-JP" altLang="en-US" b="1"/>
              <a:t>ロジットやプロビットなどの手法</a:t>
            </a:r>
            <a:r>
              <a:rPr lang="ja-JP" altLang="en-US"/>
              <a:t>を用い、</a:t>
            </a:r>
            <a:r>
              <a:rPr lang="ja-JP" altLang="en-US" b="1"/>
              <a:t>分析目的とデータに適した分析手法を選ぶ必要がある</a:t>
            </a:r>
            <a:r>
              <a:rPr lang="ja-JP" altLang="en-US"/>
              <a:t>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3660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Spurious correlation</a:t>
            </a:r>
            <a:r>
              <a:rPr lang="en-US" dirty="0"/>
              <a:t> means two variables move together, but </a:t>
            </a:r>
            <a:r>
              <a:rPr lang="en-US" b="1" dirty="0"/>
              <a:t>one does not cause the other</a:t>
            </a:r>
            <a:r>
              <a:rPr lang="en-US" dirty="0"/>
              <a:t>.</a:t>
            </a:r>
          </a:p>
          <a:p>
            <a:r>
              <a:rPr lang="en-US" dirty="0"/>
              <a:t>A strong correlation coefficient does </a:t>
            </a:r>
            <a:r>
              <a:rPr lang="en-US" b="1" dirty="0"/>
              <a:t>not</a:t>
            </a:r>
            <a:r>
              <a:rPr lang="en-US" dirty="0"/>
              <a:t> imply causation; correlation only shows an association, while causation means a true cause–effect relationship, often driven by a third factor.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 b="1"/>
              <a:t>疑似相関</a:t>
            </a:r>
            <a:r>
              <a:rPr lang="ja-JP" altLang="en-US"/>
              <a:t>とは、</a:t>
            </a:r>
            <a:r>
              <a:rPr lang="en-US" altLang="ja-JP" dirty="0"/>
              <a:t>2</a:t>
            </a:r>
            <a:r>
              <a:rPr lang="ja-JP" altLang="en-US"/>
              <a:t>つの変数に相関が見られても、</a:t>
            </a:r>
            <a:r>
              <a:rPr lang="ja-JP" altLang="en-US" b="1"/>
              <a:t>因果関係がない</a:t>
            </a:r>
            <a:r>
              <a:rPr lang="ja-JP" altLang="en-US"/>
              <a:t>場合を指す。</a:t>
            </a:r>
          </a:p>
          <a:p>
            <a:r>
              <a:rPr lang="ja-JP" altLang="en-US"/>
              <a:t>相関係数の絶対値が大きくても、</a:t>
            </a:r>
            <a:r>
              <a:rPr lang="ja-JP" altLang="en-US" b="1"/>
              <a:t>因果関係があるとは限らない</a:t>
            </a:r>
            <a:r>
              <a:rPr lang="ja-JP" altLang="en-US"/>
              <a:t>。</a:t>
            </a:r>
          </a:p>
          <a:p>
            <a:r>
              <a:rPr lang="ja-JP" altLang="en-US"/>
              <a:t>相関関係は「関係性」、因果関係は「原因→結果」であり、</a:t>
            </a:r>
            <a:r>
              <a:rPr lang="ja-JP" altLang="en-US" b="1"/>
              <a:t>両者は別物</a:t>
            </a:r>
            <a:r>
              <a:rPr lang="ja-JP" altLang="en-US"/>
              <a:t>である。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900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data for the </a:t>
            </a:r>
            <a:r>
              <a:rPr lang="en-US" b="1" dirty="0"/>
              <a:t>entire population</a:t>
            </a:r>
            <a:r>
              <a:rPr lang="en-US" dirty="0"/>
              <a:t>, </a:t>
            </a:r>
            <a:r>
              <a:rPr lang="en-US" b="1" dirty="0"/>
              <a:t>estimation is unnecessary</a:t>
            </a:r>
            <a:r>
              <a:rPr lang="en-US" dirty="0"/>
              <a:t> because population parameters are already known.</a:t>
            </a:r>
          </a:p>
          <a:p>
            <a:r>
              <a:rPr lang="en-US" dirty="0"/>
              <a:t>Estimation is only needed when population characteristics are </a:t>
            </a:r>
            <a:r>
              <a:rPr lang="en-US" b="1" dirty="0"/>
              <a:t>unknown</a:t>
            </a:r>
            <a:r>
              <a:rPr lang="en-US" dirty="0"/>
              <a:t> and must be inferred from a </a:t>
            </a:r>
            <a:r>
              <a:rPr lang="en-US" b="1" dirty="0"/>
              <a:t>sample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 b="1"/>
              <a:t>母集団のデータがすべて手元にある場合</a:t>
            </a:r>
            <a:r>
              <a:rPr lang="en-US" altLang="ja-JP" dirty="0"/>
              <a:t>, </a:t>
            </a:r>
            <a:r>
              <a:rPr lang="ja-JP" altLang="en-US"/>
              <a:t>推定を行う必要はない。</a:t>
            </a:r>
          </a:p>
          <a:p>
            <a:r>
              <a:rPr lang="ja-JP" altLang="en-US" b="1"/>
              <a:t>推定</a:t>
            </a:r>
            <a:r>
              <a:rPr lang="ja-JP" altLang="en-US"/>
              <a:t>とは、母集団の特徴が未知のときに、</a:t>
            </a:r>
            <a:r>
              <a:rPr lang="ja-JP" altLang="en-US" b="1"/>
              <a:t>標本データから母集団を推測する</a:t>
            </a:r>
            <a:r>
              <a:rPr lang="ja-JP" altLang="en-US"/>
              <a:t>方法である。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622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lervigen.com/spurious-correlation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#12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回帰分析の結果の解釈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節　回帰分析とその他の代表的な分析手法</a:t>
            </a:r>
            <a:endParaRPr kumimoji="1" lang="en-US" altLang="ja-JP" dirty="0"/>
          </a:p>
          <a:p>
            <a:pPr lvl="1"/>
            <a:r>
              <a:rPr lang="en-US" altLang="ja-JP" dirty="0"/>
              <a:t>Excel</a:t>
            </a:r>
            <a:r>
              <a:rPr lang="ja-JP" altLang="en-US" dirty="0"/>
              <a:t>での回帰分析を復習する</a:t>
            </a:r>
            <a:endParaRPr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仮説検定の手順を復習する</a:t>
            </a:r>
            <a:endParaRPr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章　第</a:t>
            </a:r>
            <a:r>
              <a:rPr lang="en-US" altLang="ja-JP" dirty="0"/>
              <a:t>5</a:t>
            </a:r>
            <a:r>
              <a:rPr lang="ja-JP" altLang="en-US" dirty="0"/>
              <a:t>節　分析結果の誤った解釈</a:t>
            </a:r>
            <a:endParaRPr lang="en-US" altLang="ja-JP" dirty="0"/>
          </a:p>
          <a:p>
            <a:pPr lvl="1"/>
            <a:r>
              <a:rPr lang="ja-JP" altLang="en-US" dirty="0"/>
              <a:t>分析結果の誤った解釈の事例を理解する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（復習）</a:t>
            </a:r>
            <a:r>
              <a:rPr kumimoji="1" lang="ja-JP" altLang="en-US" dirty="0"/>
              <a:t>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66B624-22A4-4380-2054-8EC38A2ED6A8}"/>
              </a:ext>
            </a:extLst>
          </p:cNvPr>
          <p:cNvSpPr txBox="1"/>
          <p:nvPr/>
        </p:nvSpPr>
        <p:spPr>
          <a:xfrm>
            <a:off x="2694799" y="3729278"/>
            <a:ext cx="6449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思い出しながら</a:t>
            </a:r>
            <a:r>
              <a:rPr kumimoji="1" lang="en-US" altLang="ja-JP" dirty="0">
                <a:solidFill>
                  <a:schemeClr val="tx2">
                    <a:lumMod val="40000"/>
                    <a:lumOff val="6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Excel</a:t>
            </a:r>
            <a:r>
              <a:rPr kumimoji="1" lang="ja-JP" alt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の分析ツールで改めて分析をしてみよう</a:t>
            </a:r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BD80E-D156-0E80-73BA-590A19B4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2B7498-9159-6942-328C-169E3528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8B9A80-48DD-E1FC-CB98-D8AA6F571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回帰分析　</a:t>
            </a:r>
            <a:r>
              <a:rPr kumimoji="1" lang="en-US" altLang="ja-JP" dirty="0">
                <a:solidFill>
                  <a:schemeClr val="accent2"/>
                </a:solidFill>
              </a:rPr>
              <a:t>regression analysis</a:t>
            </a:r>
          </a:p>
          <a:p>
            <a:pPr lvl="1"/>
            <a:r>
              <a:rPr lang="ja-JP" altLang="en-US" dirty="0"/>
              <a:t>原因と結果</a:t>
            </a:r>
            <a:r>
              <a:rPr lang="ja-JP" altLang="en-US" sz="1800" dirty="0"/>
              <a:t>（予測を行いたい変数）</a:t>
            </a:r>
            <a:r>
              <a:rPr lang="ja-JP" altLang="en-US" dirty="0"/>
              <a:t>を分析者が設定し，</a:t>
            </a:r>
            <a:br>
              <a:rPr lang="en-US" altLang="ja-JP" dirty="0"/>
            </a:br>
            <a:r>
              <a:rPr lang="ja-JP" altLang="en-US" dirty="0"/>
              <a:t>その変数間の関係性を明らかにする</a:t>
            </a:r>
            <a:br>
              <a:rPr lang="en-US" altLang="ja-JP" dirty="0"/>
            </a:br>
            <a:r>
              <a:rPr lang="ja-JP" altLang="en-US" dirty="0"/>
              <a:t>統計的な分析手法</a:t>
            </a:r>
            <a:endParaRPr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目的変数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：結果（</a:t>
            </a:r>
            <a:r>
              <a:rPr kumimoji="1" lang="en-US" altLang="ja-JP" dirty="0"/>
              <a:t>y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予測を行いたい変数</a:t>
            </a:r>
            <a:endParaRPr kumimoji="1" lang="en-US" altLang="ja-JP" dirty="0"/>
          </a:p>
          <a:p>
            <a:pPr lvl="1"/>
            <a:r>
              <a:rPr lang="ja-JP" altLang="en-US" dirty="0"/>
              <a:t>分析の目的</a:t>
            </a:r>
            <a:endParaRPr lang="en-US" altLang="ja-JP" dirty="0"/>
          </a:p>
          <a:p>
            <a:pPr lvl="1"/>
            <a:r>
              <a:rPr kumimoji="1" lang="ja-JP" altLang="en-US" dirty="0"/>
              <a:t>被説明変数</a:t>
            </a:r>
            <a:endParaRPr kumimoji="1"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説明変数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：原因（</a:t>
            </a:r>
            <a:r>
              <a:rPr kumimoji="1" lang="en-US" altLang="ja-JP" dirty="0"/>
              <a:t>x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lang="ja-JP" altLang="en-US" dirty="0"/>
              <a:t>原因となり得る変数</a:t>
            </a:r>
            <a:endParaRPr lang="en-US" altLang="ja-JP" dirty="0"/>
          </a:p>
          <a:p>
            <a:pPr lvl="1"/>
            <a:r>
              <a:rPr kumimoji="1" lang="ja-JP" altLang="en-US" dirty="0"/>
              <a:t>独立変数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E795C04-446A-786E-AC55-0020E103F805}"/>
              </a:ext>
            </a:extLst>
          </p:cNvPr>
          <p:cNvGrpSpPr/>
          <p:nvPr/>
        </p:nvGrpSpPr>
        <p:grpSpPr>
          <a:xfrm>
            <a:off x="5543056" y="2382376"/>
            <a:ext cx="3018616" cy="3222954"/>
            <a:chOff x="5523133" y="2292004"/>
            <a:chExt cx="3018616" cy="3222954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5487666B-829A-A057-8065-D90CF0DF1FCE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DB718FD2-A13D-EEC9-9C80-CCEF286CA46B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矢印コネクタ 6">
                <a:extLst>
                  <a:ext uri="{FF2B5EF4-FFF2-40B4-BE49-F238E27FC236}">
                    <a16:creationId xmlns:a16="http://schemas.microsoft.com/office/drawing/2014/main" id="{4B4B2820-4CD8-18EA-F38F-E94DCD9FFCB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92627DA-F43D-583E-E23E-70DA82DBF565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D0E2DF4-3531-F936-31B9-EB2C43F5686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6077FAD-4C49-9787-6D07-1A8B73486D92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13" name="フローチャート: 代替処理 12">
            <a:extLst>
              <a:ext uri="{FF2B5EF4-FFF2-40B4-BE49-F238E27FC236}">
                <a16:creationId xmlns:a16="http://schemas.microsoft.com/office/drawing/2014/main" id="{5872115F-1F10-D6DA-7A84-45FE42749909}"/>
              </a:ext>
            </a:extLst>
          </p:cNvPr>
          <p:cNvSpPr/>
          <p:nvPr/>
        </p:nvSpPr>
        <p:spPr>
          <a:xfrm>
            <a:off x="5230259" y="5595136"/>
            <a:ext cx="3644210" cy="86122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縦軸に結果，横軸に原因をとり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散布図を描いていくイメージ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CCE7F4-93E5-0097-BEF2-60CB1752D67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32328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CEBD9-D9A2-D3A8-9740-3AACA19C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3990451-74AE-3149-9AD7-2E88BD10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仮説を立てる：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目的変数</a:t>
                </a:r>
                <a:r>
                  <a:rPr kumimoji="1" lang="ja-JP" altLang="en-US" sz="1800" dirty="0"/>
                  <a:t>（結果）</a:t>
                </a:r>
                <a:r>
                  <a:rPr kumimoji="1" lang="ja-JP" altLang="en-US" dirty="0"/>
                  <a:t>は，説明変数</a:t>
                </a:r>
                <a:r>
                  <a:rPr kumimoji="1" lang="ja-JP" altLang="en-US" sz="1800" dirty="0"/>
                  <a:t>（原因）</a:t>
                </a:r>
                <a:r>
                  <a:rPr kumimoji="1" lang="ja-JP" altLang="en-US" dirty="0"/>
                  <a:t>によって決まるのでは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アイスクリームへの消費額は，気温によって決まるのではないか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気温は，アイスクリームへの消費額によって決まるのではないか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（原因と結果が逆）は成り立たないことに注意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式を立てる：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目的変数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説明変数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直線の関係式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1</a:t>
                </a:r>
                <a:r>
                  <a:rPr lang="ja-JP" altLang="en-US" sz="1800" dirty="0"/>
                  <a:t>次関数）</a:t>
                </a:r>
                <a:r>
                  <a:rPr lang="ja-JP" altLang="en-US" dirty="0"/>
                  <a:t>を立てて，</a:t>
                </a:r>
                <a:br>
                  <a:rPr lang="en-US" altLang="ja-JP" dirty="0"/>
                </a:br>
                <a:r>
                  <a:rPr lang="ja-JP" altLang="en-US" dirty="0"/>
                  <a:t>切片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と傾き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を見つけることで，</a:t>
                </a:r>
                <a:br>
                  <a:rPr kumimoji="1" lang="en-US" altLang="ja-JP" dirty="0"/>
                </a:br>
                <a:r>
                  <a:rPr kumimoji="1" lang="en-US" altLang="ja-JP" b="1" dirty="0">
                    <a:solidFill>
                      <a:schemeClr val="accent5"/>
                    </a:solidFill>
                  </a:rPr>
                  <a:t>2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つの関係性を</a:t>
                </a:r>
                <a:r>
                  <a:rPr kumimoji="1" lang="en-US" altLang="ja-JP" b="1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次関数で</a:t>
                </a:r>
                <a:r>
                  <a:rPr kumimoji="1" lang="ja-JP" altLang="en-US" dirty="0"/>
                  <a:t>表す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の求め方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：最小二乗法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：誤差項（余り</a:t>
                </a:r>
                <a:r>
                  <a:rPr kumimoji="1" lang="ja-JP" altLang="en-US" sz="1600" dirty="0"/>
                  <a:t>（誤差）</a:t>
                </a:r>
                <a:r>
                  <a:rPr kumimoji="1" lang="ja-JP" altLang="en-US" dirty="0"/>
                  <a:t>．今回は無視．）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33D8886-1E73-0FE9-20D1-3BB616D083C2}"/>
              </a:ext>
            </a:extLst>
          </p:cNvPr>
          <p:cNvGrpSpPr/>
          <p:nvPr/>
        </p:nvGrpSpPr>
        <p:grpSpPr>
          <a:xfrm>
            <a:off x="5993408" y="3105390"/>
            <a:ext cx="3018616" cy="3222954"/>
            <a:chOff x="5523133" y="2292004"/>
            <a:chExt cx="3018616" cy="3222954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A1A3886-0BA5-0F71-3ACC-E37A54346F4B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D476C695-CE12-79D5-811F-4DCB942202AD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1F10EB8C-55B3-D578-C8C7-29D00E10875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3D76FA0-3DD2-D98E-8370-D7E8B07CF48B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CAA8B3E-7B51-2563-CB42-88EC6C113A2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2FE23ED5-5352-B81A-A95B-924A94208C08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FF4D92F-B0B2-114E-FE82-2EC7AEFAA0EF}"/>
              </a:ext>
            </a:extLst>
          </p:cNvPr>
          <p:cNvGrpSpPr/>
          <p:nvPr/>
        </p:nvGrpSpPr>
        <p:grpSpPr>
          <a:xfrm>
            <a:off x="6766697" y="3797473"/>
            <a:ext cx="1731179" cy="1686389"/>
            <a:chOff x="6929142" y="3624130"/>
            <a:chExt cx="1731179" cy="1686389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A4C61E3-8883-8E40-23FB-ECF2366942F8}"/>
                </a:ext>
              </a:extLst>
            </p:cNvPr>
            <p:cNvSpPr/>
            <p:nvPr/>
          </p:nvSpPr>
          <p:spPr>
            <a:xfrm>
              <a:off x="7123814" y="4449281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86C99D7-6271-859F-9D8F-0F20A5BF7EEE}"/>
                </a:ext>
              </a:extLst>
            </p:cNvPr>
            <p:cNvSpPr/>
            <p:nvPr/>
          </p:nvSpPr>
          <p:spPr>
            <a:xfrm>
              <a:off x="7733414" y="4513076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0B96F56-8D42-0F5A-CC59-CFF07CE51453}"/>
                </a:ext>
              </a:extLst>
            </p:cNvPr>
            <p:cNvSpPr/>
            <p:nvPr/>
          </p:nvSpPr>
          <p:spPr>
            <a:xfrm>
              <a:off x="8045303" y="3827282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BFEF693C-682C-BDEA-9E7C-B9632B8B9B4B}"/>
                </a:ext>
              </a:extLst>
            </p:cNvPr>
            <p:cNvSpPr/>
            <p:nvPr/>
          </p:nvSpPr>
          <p:spPr>
            <a:xfrm>
              <a:off x="8206409" y="418170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7A57BD9F-199E-6286-6BFC-4BCBC46FAF8F}"/>
                </a:ext>
              </a:extLst>
            </p:cNvPr>
            <p:cNvSpPr/>
            <p:nvPr/>
          </p:nvSpPr>
          <p:spPr>
            <a:xfrm>
              <a:off x="6929142" y="5182928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7A3A7F65-D8FC-9D6B-2F6A-C13359C4C94D}"/>
                </a:ext>
              </a:extLst>
            </p:cNvPr>
            <p:cNvSpPr/>
            <p:nvPr/>
          </p:nvSpPr>
          <p:spPr>
            <a:xfrm>
              <a:off x="8532730" y="362413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E96F9D7-B24F-858E-B411-6172BC651887}"/>
              </a:ext>
            </a:extLst>
          </p:cNvPr>
          <p:cNvCxnSpPr/>
          <p:nvPr/>
        </p:nvCxnSpPr>
        <p:spPr>
          <a:xfrm flipV="1">
            <a:off x="6380052" y="3925064"/>
            <a:ext cx="2216474" cy="1558798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644812E-FD1B-6D9B-3B0E-E30E14ED3E10}"/>
              </a:ext>
            </a:extLst>
          </p:cNvPr>
          <p:cNvGrpSpPr/>
          <p:nvPr/>
        </p:nvGrpSpPr>
        <p:grpSpPr>
          <a:xfrm>
            <a:off x="5908897" y="5136869"/>
            <a:ext cx="2425103" cy="584775"/>
            <a:chOff x="5908897" y="5136869"/>
            <a:chExt cx="2425103" cy="584775"/>
          </a:xfrm>
        </p:grpSpPr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267F3A74-EF8F-BFB9-B02A-F52EE1CC400B}"/>
                </a:ext>
              </a:extLst>
            </p:cNvPr>
            <p:cNvCxnSpPr>
              <a:cxnSpLocks/>
            </p:cNvCxnSpPr>
            <p:nvPr/>
          </p:nvCxnSpPr>
          <p:spPr>
            <a:xfrm>
              <a:off x="6336447" y="5483862"/>
              <a:ext cx="1997553" cy="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/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787D258-8364-91F2-CF61-E10CC537B44B}"/>
              </a:ext>
            </a:extLst>
          </p:cNvPr>
          <p:cNvGrpSpPr/>
          <p:nvPr/>
        </p:nvGrpSpPr>
        <p:grpSpPr>
          <a:xfrm>
            <a:off x="6297410" y="4844481"/>
            <a:ext cx="1383122" cy="1023322"/>
            <a:chOff x="6297410" y="4844481"/>
            <a:chExt cx="1383122" cy="1023322"/>
          </a:xfrm>
        </p:grpSpPr>
        <p:sp>
          <p:nvSpPr>
            <p:cNvPr id="27" name="円弧 26">
              <a:extLst>
                <a:ext uri="{FF2B5EF4-FFF2-40B4-BE49-F238E27FC236}">
                  <a16:creationId xmlns:a16="http://schemas.microsoft.com/office/drawing/2014/main" id="{8B272879-AD99-5ADB-9066-F5974D3D68DE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/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360B8C6-8C31-65DC-05EB-0A2201CD2EA2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48902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C29184-2D09-32FC-A96A-F87E5386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3CC9DF-D877-6BC6-7A5C-343CEB8E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A6D1447-1851-CE3A-4AD5-395FB5025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D48F46B-92BA-526A-8D24-E7994870797E}"/>
              </a:ext>
            </a:extLst>
          </p:cNvPr>
          <p:cNvSpPr/>
          <p:nvPr/>
        </p:nvSpPr>
        <p:spPr>
          <a:xfrm>
            <a:off x="170122" y="3242930"/>
            <a:ext cx="3051544" cy="4678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標本数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𝑛</m:t>
                    </m:r>
                  </m:oMath>
                </a14:m>
                <a:r>
                  <a:rPr kumimoji="1" lang="ja-JP" altLang="en-US" sz="20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（データの数）</a:t>
                </a:r>
                <a:endParaRPr kumimoji="1" lang="en-US" altLang="ja-JP" sz="28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まずはここを確認．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12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か月のデータなので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[12]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ここが合わない場合は，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ラベル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の☑を忘れているか，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データの選択範囲が間違っているので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確認してみよう．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A06B194-A082-9084-B3D0-B16BD0A970E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18193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EC45-D2D0-EB50-3094-5278476E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A1AD9-2B9F-2669-F2DC-C41342F1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D682C34-BE1D-513C-C7E6-CC4790EF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239F8F0-8A97-CFDF-595D-ED96A635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B7F41B-C2A3-8E9E-FE4C-D0310542BE7F}"/>
              </a:ext>
            </a:extLst>
          </p:cNvPr>
          <p:cNvSpPr/>
          <p:nvPr/>
        </p:nvSpPr>
        <p:spPr>
          <a:xfrm>
            <a:off x="170122" y="2424224"/>
            <a:ext cx="3051544" cy="5847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決定係数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𝑅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自由度修正済み決定係数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Adj</m:t>
                    </m:r>
                    <m: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.</m:t>
                    </m:r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R</m:t>
                        </m:r>
                      </m:e>
                      <m:sup>
                        <m: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仮定した直線の関係式で，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どの程度データの関係性を説明できているか．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kumimoji="1"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R</m:t>
                          </m:r>
                        </m:e>
                        <m:sup>
                          <m: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に近いほど説明力が高い．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blipFill>
                <a:blip r:embed="rId3"/>
                <a:stretch>
                  <a:fillRect r="-1454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9244DFA-9CFF-169F-8718-FA966E8D28D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429204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2C7D-D178-3EC1-EF2B-0F266F45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52DF1-EC7B-376B-67A2-3730F739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9EAAB9-AA86-B2F6-AC6D-428A6590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8353630-FC2F-17DD-69C7-3E257FF9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4CF49F-ACA9-395E-F012-D1E413975F9A}"/>
              </a:ext>
            </a:extLst>
          </p:cNvPr>
          <p:cNvSpPr/>
          <p:nvPr/>
        </p:nvSpPr>
        <p:spPr>
          <a:xfrm>
            <a:off x="116959" y="5486401"/>
            <a:ext cx="3030278" cy="6911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/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定数項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（切片）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これが切片の値．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=129.7238</m:t>
                    </m:r>
                  </m:oMath>
                </a14:m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2120DCCA-89B4-B5D5-86EC-E1147C485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6CD9EC2-9445-0498-A89A-A487827CE89A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39B63C57-9647-D688-3F28-27AE1C35D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E94B082-2E5D-45BC-66BB-BFBC982948AF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EF0E848-D759-CFBC-D50D-4E59E6DDA50C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59001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4F18-87DD-E6E2-1552-FCBC1D8B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3ABD4-067B-4066-A900-E7149B7C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F1C30A-10E1-E87A-13FA-87CEFF7B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48DD08D-37CC-B830-1BC0-F81734BA3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FD9366-AA2A-7842-326C-3D98F5E7D6D9}"/>
              </a:ext>
            </a:extLst>
          </p:cNvPr>
          <p:cNvSpPr/>
          <p:nvPr/>
        </p:nvSpPr>
        <p:spPr>
          <a:xfrm>
            <a:off x="116959" y="6177516"/>
            <a:ext cx="3030278" cy="32960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/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（傾き）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次関数の傾き．今回は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=47.33734</m:t>
                    </m:r>
                  </m:oMath>
                </a14:m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原因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（説明変数）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単位増えたとき，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結果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（目的変数）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が何単位増えるか，を表す．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＋なのか－なのかで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意味が真逆になるので注意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（符号条件）</a:t>
                </a:r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A17DD047-DF86-56D0-3F94-59FE17797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ED83A69-EAD1-A224-23B2-6730911BF9D0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58BFE326-447F-6AE8-3490-BB1497512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5B511A0-6992-AEDC-E556-52D51766B7F3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9561774-FD9C-4B3A-EC5C-83434563E34D}"/>
              </a:ext>
            </a:extLst>
          </p:cNvPr>
          <p:cNvGrpSpPr/>
          <p:nvPr/>
        </p:nvGrpSpPr>
        <p:grpSpPr>
          <a:xfrm>
            <a:off x="5201704" y="2642718"/>
            <a:ext cx="2118905" cy="958377"/>
            <a:chOff x="6297410" y="4909426"/>
            <a:chExt cx="2118905" cy="958377"/>
          </a:xfrm>
        </p:grpSpPr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C28D0C37-401A-1B3E-29E5-14E36AD68F42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/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1"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=47.34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61D154-0D81-5080-97C9-058F3F7A23D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85422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00D4-71B5-CCF4-4D19-B05E3E05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01BC5-10C9-FA09-1C41-86998602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01A3EB7-4023-C006-3732-3E11576C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1222C5F-8BC0-4B68-121A-8EAB969D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23FE9E-B19B-D5EC-4B30-F378592645AF}"/>
              </a:ext>
            </a:extLst>
          </p:cNvPr>
          <p:cNvSpPr/>
          <p:nvPr/>
        </p:nvSpPr>
        <p:spPr>
          <a:xfrm>
            <a:off x="116959" y="6177516"/>
            <a:ext cx="2169041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/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推定した係数の有意性を示す指標．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現時点では，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0.05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よりも小さい値であれば，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=47.34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）に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意味がある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（有意）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と考えればよい．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切片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についても同様に見る．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とする仮説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（帰無仮説）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のもとで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検定統計量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を計算した場合，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その絶対値以上の極端な値が出る確率．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（詳細は授業の後半回でやります）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2DBA4C-9D8B-827F-204A-B7687A5252DE}"/>
              </a:ext>
            </a:extLst>
          </p:cNvPr>
          <p:cNvSpPr/>
          <p:nvPr/>
        </p:nvSpPr>
        <p:spPr>
          <a:xfrm>
            <a:off x="4788197" y="6177516"/>
            <a:ext cx="804530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/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Excel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上での表記</a:t>
                </a:r>
                <a:endParaRPr kumimoji="1" lang="en-US" altLang="ja-JP" sz="16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8.02E-06=0.00000802…</a:t>
                </a:r>
              </a:p>
              <a:p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※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指数表示：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8.02</m:t>
                    </m:r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blipFill>
                <a:blip r:embed="rId4"/>
                <a:stretch>
                  <a:fillRect l="-1176" t="-2190" b="-6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EA82156-76EE-9997-2A00-289B2F50239C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C610248-43FB-CACE-F176-19588A3EDD2F}"/>
              </a:ext>
            </a:extLst>
          </p:cNvPr>
          <p:cNvSpPr/>
          <p:nvPr/>
        </p:nvSpPr>
        <p:spPr>
          <a:xfrm>
            <a:off x="5100084" y="4114800"/>
            <a:ext cx="2821171" cy="3615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006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64F1-C0EF-2CC7-3CF7-E7DDC3C4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6D294B1-596E-87E9-9624-FE4528570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（復習）</a:t>
            </a:r>
            <a:r>
              <a:rPr kumimoji="1" lang="ja-JP" altLang="en-US" dirty="0"/>
              <a:t>統計的仮説検定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72A5B50-5862-4743-92E8-31D76C94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4479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55F9B-D51C-0410-C48A-15AE8AA4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BC96D7-1EF5-42ED-C7DC-5B39F8D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1B9A8B-FC32-2E40-E0F2-F8503688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  <a:endParaRPr kumimoji="1" lang="en-US" altLang="ja-JP" dirty="0"/>
          </a:p>
          <a:p>
            <a:pPr lvl="1"/>
            <a:r>
              <a:rPr lang="ja-JP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①　検定方式の決定</a:t>
            </a:r>
            <a:endParaRPr lang="en-US" altLang="ja-JP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lvl="1"/>
            <a:r>
              <a:rPr kumimoji="1" lang="ja-JP" altLang="en-US" dirty="0"/>
              <a:t>②　仮説の設定</a:t>
            </a:r>
            <a:endParaRPr kumimoji="1" lang="en-US" altLang="ja-JP" dirty="0"/>
          </a:p>
          <a:p>
            <a:pPr lvl="1"/>
            <a:r>
              <a:rPr lang="ja-JP" altLang="en-US" dirty="0"/>
              <a:t>③　有意水準</a:t>
            </a:r>
            <a:r>
              <a:rPr lang="ja-JP" altLang="en-US" sz="1800" dirty="0"/>
              <a:t>（棄却域）</a:t>
            </a:r>
            <a:r>
              <a:rPr lang="ja-JP" altLang="en-US" dirty="0"/>
              <a:t>の決定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④　データの収集</a:t>
            </a:r>
            <a:endParaRPr kumimoji="1" lang="en-US" altLang="ja-JP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lvl="1"/>
            <a:r>
              <a:rPr lang="ja-JP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⑤　棄却域の臨界値の計算</a:t>
            </a:r>
            <a:endParaRPr lang="en-US" altLang="ja-JP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lvl="1"/>
            <a:r>
              <a:rPr kumimoji="1" lang="ja-JP" altLang="en-US" dirty="0"/>
              <a:t>⑥　検定統計量の計算</a:t>
            </a:r>
            <a:endParaRPr kumimoji="1" lang="en-US" altLang="ja-JP" dirty="0"/>
          </a:p>
          <a:p>
            <a:pPr lvl="1"/>
            <a:r>
              <a:rPr lang="ja-JP" altLang="en-US" dirty="0"/>
              <a:t>⑦　判断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079A8A9-8440-B3DD-4863-6B1A8742ED1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132925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F3390-A5FE-125A-D372-F2C59BA6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A605F23-B3DC-1146-0A27-CC2005B0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帰無仮説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null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否定したい仮説</a:t>
                </a:r>
                <a:r>
                  <a:rPr lang="ja-JP" altLang="en-US" sz="1800" dirty="0"/>
                  <a:t>（無に帰す）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例：男性の平均身長と女性の平均身長に差はない</a:t>
                </a:r>
                <a:endParaRPr kumimoji="1"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対立仮説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alternative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分析者が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立証したい仮説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/>
                  <a:t>例：男性の平均身長と女性の平均身長に差はない</a:t>
                </a:r>
                <a:endParaRPr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6B245C9-E739-62D6-FBD9-1B7569183D6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568738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8918B-BA02-F376-83CF-BA23F0CA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③有意水準の設定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CF4A1C8-531B-5465-5E49-D109F61C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35674D-8B38-A454-9021-418A217D9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有意水準　</a:t>
            </a:r>
            <a:r>
              <a:rPr kumimoji="1" lang="en-US" altLang="ja-JP" dirty="0">
                <a:solidFill>
                  <a:schemeClr val="accent2"/>
                </a:solidFill>
              </a:rPr>
              <a:t>significance level</a:t>
            </a:r>
          </a:p>
          <a:p>
            <a:pPr lvl="1"/>
            <a:r>
              <a:rPr lang="ja-JP" altLang="en-US" dirty="0"/>
              <a:t>確率的に偶然とは考えにくく，意味があると考えられる水準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帰無仮説を棄却する基準</a:t>
            </a:r>
            <a:r>
              <a:rPr kumimoji="1" lang="ja-JP" altLang="en-US" dirty="0"/>
              <a:t>となる確率</a:t>
            </a:r>
            <a:endParaRPr kumimoji="1"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分析者が設定</a:t>
            </a:r>
            <a:r>
              <a:rPr lang="ja-JP" altLang="en-US" dirty="0"/>
              <a:t>する</a:t>
            </a:r>
            <a:endParaRPr kumimoji="1" lang="en-US" altLang="ja-JP" dirty="0"/>
          </a:p>
          <a:p>
            <a:pPr lvl="1"/>
            <a:r>
              <a:rPr lang="en-US" altLang="ja-JP" dirty="0"/>
              <a:t>1%, 5%, 10%</a:t>
            </a:r>
            <a:r>
              <a:rPr lang="ja-JP" altLang="en-US" dirty="0"/>
              <a:t>が一般的に使われることが多い</a:t>
            </a:r>
            <a:endParaRPr lang="en-US" altLang="ja-JP" dirty="0"/>
          </a:p>
          <a:p>
            <a:pPr lvl="2"/>
            <a:r>
              <a:rPr kumimoji="1" lang="ja-JP" altLang="en-US" dirty="0"/>
              <a:t>学問分野による</a:t>
            </a:r>
            <a:endParaRPr kumimoji="1" lang="en-US" altLang="ja-JP" dirty="0"/>
          </a:p>
          <a:p>
            <a:r>
              <a:rPr lang="ja-JP" altLang="en-US" dirty="0"/>
              <a:t>有意水準</a:t>
            </a:r>
            <a:r>
              <a:rPr lang="en-US" altLang="ja-JP" dirty="0"/>
              <a:t>5%</a:t>
            </a:r>
          </a:p>
          <a:p>
            <a:pPr lvl="1"/>
            <a:r>
              <a:rPr kumimoji="1" lang="en-US" altLang="ja-JP" dirty="0"/>
              <a:t>5%</a:t>
            </a:r>
            <a:r>
              <a:rPr kumimoji="1" lang="ja-JP" altLang="en-US" dirty="0"/>
              <a:t>以下の確率で起こる事象は</a:t>
            </a:r>
            <a:br>
              <a:rPr kumimoji="1" lang="en-US" altLang="ja-JP" dirty="0"/>
            </a:br>
            <a:r>
              <a:rPr kumimoji="1" lang="en-US" altLang="ja-JP" dirty="0"/>
              <a:t>100</a:t>
            </a:r>
            <a:r>
              <a:rPr kumimoji="1" lang="ja-JP" altLang="en-US" dirty="0"/>
              <a:t>回中</a:t>
            </a:r>
            <a:r>
              <a:rPr kumimoji="1" lang="ja-JP" altLang="en-US" sz="1800" dirty="0"/>
              <a:t>（平均的に）</a:t>
            </a:r>
            <a:r>
              <a:rPr kumimoji="1" lang="en-US" altLang="ja-JP" dirty="0"/>
              <a:t>5</a:t>
            </a:r>
            <a:r>
              <a:rPr kumimoji="1" lang="ja-JP" altLang="en-US" dirty="0"/>
              <a:t>回しか起こらない事象．</a:t>
            </a:r>
            <a:br>
              <a:rPr kumimoji="1" lang="en-US" altLang="ja-JP" dirty="0"/>
            </a:br>
            <a:r>
              <a:rPr kumimoji="1" lang="ja-JP" altLang="en-US" dirty="0"/>
              <a:t>極めて珍しいことが起こった，</a:t>
            </a:r>
            <a:br>
              <a:rPr kumimoji="1" lang="en-US" altLang="ja-JP" dirty="0"/>
            </a:br>
            <a:r>
              <a:rPr kumimoji="1" lang="ja-JP" altLang="en-US" dirty="0"/>
              <a:t>意味がある（＝有意である）とみなす．</a:t>
            </a:r>
            <a:endParaRPr kumimoji="1" lang="en-US" altLang="ja-JP" dirty="0"/>
          </a:p>
          <a:p>
            <a:pPr lvl="1"/>
            <a:r>
              <a:rPr lang="ja-JP" altLang="en-US" dirty="0"/>
              <a:t>棄却域の面積</a:t>
            </a:r>
            <a:r>
              <a:rPr lang="en-US" altLang="ja-JP" dirty="0"/>
              <a:t>5%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BA1EFF8-F337-F8AC-E924-F16BD93B42E8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5376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206DF-0B9E-BECE-FFB9-BF73EA22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⑥検定統計量の計算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AE84A58-D370-FECE-4926-B6C4DB74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検定統計量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test statistics</a:t>
                </a:r>
              </a:p>
              <a:p>
                <a:pPr lvl="1"/>
                <a:r>
                  <a:rPr lang="ja-JP" altLang="en-US" dirty="0"/>
                  <a:t>標本データから計算される統計量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この値と，⑤の臨界値を比較して，</a:t>
                </a:r>
                <a:br>
                  <a:rPr kumimoji="1" lang="en-US" altLang="ja-JP" dirty="0"/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検定統計量の方が絶対値が大きければ，</a:t>
                </a:r>
                <a:br>
                  <a:rPr lang="en-US" altLang="ja-JP" dirty="0">
                    <a:solidFill>
                      <a:schemeClr val="accent5"/>
                    </a:solidFill>
                  </a:rPr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帰無仮説を棄却</a:t>
                </a:r>
                <a:r>
                  <a:rPr lang="ja-JP" altLang="en-US" dirty="0"/>
                  <a:t>する．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「データに想定する分布」と「検定統計量のしたがう分布」を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区別する必要があるため注意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t</a:t>
                </a:r>
                <a:r>
                  <a:rPr lang="ja-JP" altLang="en-US" sz="1800" dirty="0"/>
                  <a:t>分布の検定統計量）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dirty="0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1D45EC-BD34-CE48-C685-CA94A5A3DBF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610216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DFB646-AA2E-0856-24A7-62966014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⑦判断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99E2E5-07D3-951A-BDB0-627E3D2F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BEB1D5-D9B2-B93E-61D0-D357EF1BC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検定統計量が棄却域に含まれる</a:t>
            </a:r>
            <a:endParaRPr kumimoji="1" lang="en-US" altLang="ja-JP" dirty="0"/>
          </a:p>
          <a:p>
            <a:pPr lvl="1"/>
            <a:r>
              <a:rPr lang="ja-JP" altLang="en-US" dirty="0"/>
              <a:t>帰無仮説のもとでは，検定統計量の結果となることはほとんどない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帰無仮説を棄却して，</a:t>
            </a:r>
            <a:r>
              <a:rPr kumimoji="1" lang="ja-JP" altLang="en-US" b="1" dirty="0">
                <a:solidFill>
                  <a:schemeClr val="accent5"/>
                </a:solidFill>
              </a:rPr>
              <a:t>対立仮説を採用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検定統計量が棄却域に含まれない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帰無仮説と対立仮説の</a:t>
            </a:r>
            <a:r>
              <a:rPr kumimoji="1" lang="ja-JP" altLang="en-US" b="1" dirty="0">
                <a:solidFill>
                  <a:schemeClr val="accent5"/>
                </a:solidFill>
              </a:rPr>
              <a:t>どちらが正しいかは不明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帰無仮説が正しいかはわからないが，</a:t>
            </a:r>
            <a:br>
              <a:rPr lang="en-US" altLang="ja-JP" dirty="0"/>
            </a:br>
            <a:r>
              <a:rPr lang="ja-JP" altLang="en-US" dirty="0"/>
              <a:t>対立仮説が正しいとは言えない</a:t>
            </a:r>
            <a:endParaRPr kumimoji="1" lang="ja-JP" altLang="en-US" dirty="0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A769050C-2479-121D-AFF0-5B889CAE164B}"/>
              </a:ext>
            </a:extLst>
          </p:cNvPr>
          <p:cNvSpPr/>
          <p:nvPr/>
        </p:nvSpPr>
        <p:spPr>
          <a:xfrm>
            <a:off x="5305647" y="2636874"/>
            <a:ext cx="3125972" cy="978196"/>
          </a:xfrm>
          <a:prstGeom prst="wedgeRoundRectCallout">
            <a:avLst>
              <a:gd name="adj1" fmla="val -61309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立証したい仮説が</a:t>
            </a:r>
            <a:br>
              <a:rPr kumimoji="1" lang="en-US" altLang="ja-JP" dirty="0">
                <a:solidFill>
                  <a:schemeClr val="accent2"/>
                </a:solidFill>
              </a:rPr>
            </a:br>
            <a:r>
              <a:rPr kumimoji="1" lang="ja-JP" altLang="en-US" dirty="0">
                <a:solidFill>
                  <a:schemeClr val="accent2"/>
                </a:solidFill>
              </a:rPr>
              <a:t>統計的に立証された！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68F7E6B4-0575-9A8C-1887-9DBAEA8EB6CD}"/>
              </a:ext>
            </a:extLst>
          </p:cNvPr>
          <p:cNvSpPr/>
          <p:nvPr/>
        </p:nvSpPr>
        <p:spPr>
          <a:xfrm>
            <a:off x="5305647" y="5538430"/>
            <a:ext cx="3125972" cy="978196"/>
          </a:xfrm>
          <a:prstGeom prst="wedgeRoundRectCallout">
            <a:avLst>
              <a:gd name="adj1" fmla="val -70153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間違っているとも言えない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F47BA7-CF63-D6A3-6093-20BCF023527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92470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3431-0ADD-DE62-1031-AB2CB5BF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41705-FB1F-5602-AB3C-C9B62E9C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仮説検定と</a:t>
            </a:r>
            <a:r>
              <a:rPr lang="en-US" altLang="ja-JP" dirty="0"/>
              <a:t>p</a:t>
            </a:r>
            <a:r>
              <a:rPr lang="ja-JP" altLang="en-US" dirty="0"/>
              <a:t>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F40F3D-BA1E-48A9-5373-9E0A9008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327452"/>
                <a:ext cx="8880049" cy="23938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ja-JP" dirty="0"/>
                  <a:t>p</a:t>
                </a:r>
                <a:r>
                  <a:rPr lang="ja-JP" altLang="en-US" dirty="0"/>
                  <a:t>値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p-value</a:t>
                </a:r>
              </a:p>
              <a:p>
                <a:pPr lvl="1"/>
                <a:r>
                  <a:rPr lang="ja-JP" altLang="en-US" dirty="0"/>
                  <a:t>検定統計量に対応する確率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帰無仮説を棄却できるか否かを示す値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差の大きさなどを示すものではないことに注意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=0.035&lt;0.05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有意水準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で帰無仮説を棄却できる　（有意水準</a:t>
                </a:r>
                <a:r>
                  <a:rPr lang="en-US" altLang="ja-JP" dirty="0"/>
                  <a:t>1%</a:t>
                </a:r>
                <a:r>
                  <a:rPr lang="ja-JP" altLang="en-US" dirty="0"/>
                  <a:t>ではできない）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327452"/>
                <a:ext cx="8880049" cy="2393860"/>
              </a:xfrm>
              <a:blipFill>
                <a:blip r:embed="rId2"/>
                <a:stretch>
                  <a:fillRect l="-962" t="-5598" b="-35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91C82AC8-AC58-3327-2CC6-622430ABE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8B5F096-D5C1-C4E5-4353-D424E8125D3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9B726AD8-4127-8AF0-CBCB-04A406557E5D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EC4EE05-E299-3908-81E1-8E42F795F5AA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7E03B6CD-A4EF-C93E-80C9-D6E807964072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566C751-041F-0B5F-1F07-4C5E48F24EC0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5A172DEF-D4ED-6C5B-7BED-47602AC4BA6C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2859728E-2420-8E89-1104-7DF4394E277F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E4D63483-C8D3-4B4A-6E2E-7EA46EA1355D}"/>
              </a:ext>
            </a:extLst>
          </p:cNvPr>
          <p:cNvGrpSpPr/>
          <p:nvPr/>
        </p:nvGrpSpPr>
        <p:grpSpPr>
          <a:xfrm>
            <a:off x="4206427" y="4132487"/>
            <a:ext cx="3523881" cy="904615"/>
            <a:chOff x="4206427" y="4132487"/>
            <a:chExt cx="3523881" cy="904615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AAE285CC-AB3E-F65D-ADB6-31A718A2AF66}"/>
                </a:ext>
              </a:extLst>
            </p:cNvPr>
            <p:cNvGrpSpPr/>
            <p:nvPr/>
          </p:nvGrpSpPr>
          <p:grpSpPr>
            <a:xfrm>
              <a:off x="4206427" y="4132487"/>
              <a:ext cx="487278" cy="695017"/>
              <a:chOff x="4303289" y="4113394"/>
              <a:chExt cx="487278" cy="695017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1B65134-B9B6-0F9F-D68B-DE7E57B1D4BA}"/>
                  </a:ext>
                </a:extLst>
              </p:cNvPr>
              <p:cNvSpPr txBox="1"/>
              <p:nvPr/>
            </p:nvSpPr>
            <p:spPr>
              <a:xfrm>
                <a:off x="4386289" y="4439079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68B6FA5B-6410-6AB7-E89D-43AA4E1964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CAAE3972-3643-7937-AF9C-53E9DD6545F3}"/>
                </a:ext>
              </a:extLst>
            </p:cNvPr>
            <p:cNvGrpSpPr/>
            <p:nvPr/>
          </p:nvGrpSpPr>
          <p:grpSpPr>
            <a:xfrm>
              <a:off x="6992098" y="4146250"/>
              <a:ext cx="738210" cy="705863"/>
              <a:chOff x="6559195" y="4122069"/>
              <a:chExt cx="738210" cy="705863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0DACFF2-5B21-6DB7-3FA0-E7C655BC6470}"/>
                  </a:ext>
                </a:extLst>
              </p:cNvPr>
              <p:cNvSpPr txBox="1"/>
              <p:nvPr/>
            </p:nvSpPr>
            <p:spPr>
              <a:xfrm>
                <a:off x="6559195" y="44586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BC49E01C-2B45-10C6-F504-20E92D7ED7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7EC69BB9-22FB-0E76-F160-18EA7B6E3E4C}"/>
                </a:ext>
              </a:extLst>
            </p:cNvPr>
            <p:cNvSpPr txBox="1"/>
            <p:nvPr/>
          </p:nvSpPr>
          <p:spPr>
            <a:xfrm>
              <a:off x="5153548" y="466777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（検定統計量）</a:t>
              </a:r>
            </a:p>
          </p:txBody>
        </p: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9A41E20A-C0F1-B90E-6C19-95CB654DD20D}"/>
              </a:ext>
            </a:extLst>
          </p:cNvPr>
          <p:cNvSpPr/>
          <p:nvPr/>
        </p:nvSpPr>
        <p:spPr>
          <a:xfrm>
            <a:off x="1084526" y="3200400"/>
            <a:ext cx="2583703" cy="574158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</a:rPr>
              <a:t>値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12330D9-A5C2-F57B-8DAE-1C9ED476BA9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97067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Excel</a:t>
            </a:r>
            <a:r>
              <a:rPr kumimoji="1" lang="ja-JP" altLang="en-US" dirty="0"/>
              <a:t>の分析結果の読み方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3F9B-51B4-E6C6-F0A7-8A0575C3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58EE18-6F07-A94A-C212-41300417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ja-JP" altLang="en-US" dirty="0"/>
              <a:t>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983BFD-D636-7713-FB32-D97A7CC2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11891C5-C716-9775-6C00-88B19DF15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F2D43B87-56B2-B043-82CF-AFD4044E8D9E}"/>
              </a:ext>
            </a:extLst>
          </p:cNvPr>
          <p:cNvSpPr/>
          <p:nvPr/>
        </p:nvSpPr>
        <p:spPr>
          <a:xfrm>
            <a:off x="5411972" y="3115339"/>
            <a:ext cx="3478800" cy="1648046"/>
          </a:xfrm>
          <a:prstGeom prst="wedgeRectCallout">
            <a:avLst>
              <a:gd name="adj1" fmla="val -53029"/>
              <a:gd name="adj2" fmla="val 10051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値／</a:t>
            </a:r>
            <a:r>
              <a:rPr kumimoji="1" lang="en-US" altLang="ja-JP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</a:t>
            </a:r>
            <a:endParaRPr kumimoji="1" lang="en-US" altLang="ja-JP" sz="2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統計的仮説検定で学んだ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母平均の検定（＝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群の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検定）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をここで行っている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7D5D9C-4578-84B1-970A-A3AA1ABD4A8B}"/>
              </a:ext>
            </a:extLst>
          </p:cNvPr>
          <p:cNvSpPr/>
          <p:nvPr/>
        </p:nvSpPr>
        <p:spPr>
          <a:xfrm>
            <a:off x="3934047" y="5582093"/>
            <a:ext cx="1658680" cy="9250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02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828E8-DCB1-7B81-16D9-FE11874F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単回帰分析における</a:t>
            </a:r>
            <a:r>
              <a:rPr kumimoji="1" lang="en-US" altLang="ja-JP" dirty="0"/>
              <a:t>t</a:t>
            </a:r>
            <a:r>
              <a:rPr kumimoji="1" lang="ja-JP" altLang="en-US" dirty="0"/>
              <a:t>検定①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CB71DCE-7EDD-7CAD-F0CB-1412B96A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母平均の検定（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群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母平均（定数項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／回帰係数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）が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ではないことを検証するため</a:t>
                </a:r>
                <a:endParaRPr kumimoji="1" lang="en-US" altLang="ja-JP" dirty="0"/>
              </a:p>
              <a:p>
                <a:pPr lvl="3"/>
                <a:r>
                  <a:rPr lang="ja-JP" altLang="en-US" dirty="0"/>
                  <a:t>以下，回帰係数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に対する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検定を例とする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である</a:t>
                </a:r>
                <a:endParaRPr lang="en-US" altLang="ja-JP" dirty="0"/>
              </a:p>
              <a:p>
                <a:pPr lvl="3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次関数の傾きが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であるということは，水平線になる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原因（</a:t>
                </a:r>
                <a:r>
                  <a:rPr kumimoji="1" lang="en-US" altLang="ja-JP" dirty="0"/>
                  <a:t>x</a:t>
                </a:r>
                <a:r>
                  <a:rPr kumimoji="1" lang="ja-JP" altLang="en-US" dirty="0"/>
                  <a:t>方向）が増えても，結果（</a:t>
                </a:r>
                <a:r>
                  <a:rPr kumimoji="1" lang="en-US" altLang="ja-JP" dirty="0"/>
                  <a:t>y</a:t>
                </a:r>
                <a:r>
                  <a:rPr kumimoji="1" lang="ja-JP" altLang="en-US" dirty="0"/>
                  <a:t>方向）が何も変わらない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因果関係がない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ではない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96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0D2E-0058-DC47-52D3-B745DC77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9C70A-1730-F90E-ADB0-F53C175E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3DDE1F-23E7-09AA-5871-DA043826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9FC6E8-DBB8-110A-EC11-E5BD3014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③有意水準の設定</a:t>
            </a:r>
          </a:p>
          <a:p>
            <a:pPr lvl="1"/>
            <a:r>
              <a:rPr lang="ja-JP" altLang="en-US" dirty="0"/>
              <a:t>省略</a:t>
            </a:r>
          </a:p>
          <a:p>
            <a:r>
              <a:rPr kumimoji="1" lang="ja-JP" altLang="en-US" dirty="0"/>
              <a:t>④データの収集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省略</a:t>
            </a:r>
          </a:p>
          <a:p>
            <a:r>
              <a:rPr kumimoji="1" lang="ja-JP" altLang="en-US" dirty="0"/>
              <a:t>⑤棄却域の臨界値の計算</a:t>
            </a:r>
            <a:endParaRPr kumimoji="1" lang="en-US" altLang="ja-JP" dirty="0"/>
          </a:p>
          <a:p>
            <a:pPr lvl="1"/>
            <a:r>
              <a:rPr lang="ja-JP" altLang="en-US" dirty="0"/>
              <a:t>省略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25169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AFC6-6797-6706-9D3A-1063E7F9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CF15C-1A78-F243-475B-8FAAD419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06C196-8608-6ECF-9DEA-32FE716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t-value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</m:t>
                                    </m:r>
                                    <m:r>
                                      <a:rPr lang="ja-JP" altLang="en-US" sz="2400" i="1" smtClean="0">
                                        <a:latin typeface="Cambria Math" panose="02040503050406030204" pitchFamily="18" charset="0"/>
                                      </a:rPr>
                                      <m:t>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199525BA-52D2-CAA4-47A1-F5DB492DF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97" b="12128"/>
          <a:stretch>
            <a:fillRect/>
          </a:stretch>
        </p:blipFill>
        <p:spPr>
          <a:xfrm>
            <a:off x="178718" y="3675962"/>
            <a:ext cx="8786565" cy="1225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吹き出し: 四角形 6">
                <a:extLst>
                  <a:ext uri="{FF2B5EF4-FFF2-40B4-BE49-F238E27FC236}">
                    <a16:creationId xmlns:a16="http://schemas.microsoft.com/office/drawing/2014/main" id="{99477D53-19D5-EAC3-6168-72188FBC01DB}"/>
                  </a:ext>
                </a:extLst>
              </p:cNvPr>
              <p:cNvSpPr/>
              <p:nvPr/>
            </p:nvSpPr>
            <p:spPr>
              <a:xfrm>
                <a:off x="1084521" y="5156085"/>
                <a:ext cx="2881424" cy="1078927"/>
              </a:xfrm>
              <a:prstGeom prst="wedgeRectCallout">
                <a:avLst>
                  <a:gd name="adj1" fmla="val 52523"/>
                  <a:gd name="adj2" fmla="val -830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に関する</a:t>
                </a:r>
                <a: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検定の</a:t>
                </a:r>
                <a:b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ja-JP" altLang="en-US" sz="1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7" name="吹き出し: 四角形 6">
                <a:extLst>
                  <a:ext uri="{FF2B5EF4-FFF2-40B4-BE49-F238E27FC236}">
                    <a16:creationId xmlns:a16="http://schemas.microsoft.com/office/drawing/2014/main" id="{99477D53-19D5-EAC3-6168-72188FBC0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5156085"/>
                <a:ext cx="2881424" cy="1078927"/>
              </a:xfrm>
              <a:prstGeom prst="wedgeRectCallout">
                <a:avLst>
                  <a:gd name="adj1" fmla="val 52523"/>
                  <a:gd name="adj2" fmla="val -83084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D4CA275-309A-AE96-3CB3-8EE8B1E91D6F}"/>
              </a:ext>
            </a:extLst>
          </p:cNvPr>
          <p:cNvSpPr/>
          <p:nvPr/>
        </p:nvSpPr>
        <p:spPr>
          <a:xfrm>
            <a:off x="3965945" y="4446821"/>
            <a:ext cx="808074" cy="3484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1F071CF-BA2D-1DF3-EA2D-BAE33EC48D57}"/>
              </a:ext>
            </a:extLst>
          </p:cNvPr>
          <p:cNvSpPr/>
          <p:nvPr/>
        </p:nvSpPr>
        <p:spPr>
          <a:xfrm>
            <a:off x="4820761" y="4442361"/>
            <a:ext cx="808074" cy="3484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吹き出し: 四角形 9">
                <a:extLst>
                  <a:ext uri="{FF2B5EF4-FFF2-40B4-BE49-F238E27FC236}">
                    <a16:creationId xmlns:a16="http://schemas.microsoft.com/office/drawing/2014/main" id="{B3392660-9606-855F-CE4D-B4EF33694447}"/>
                  </a:ext>
                </a:extLst>
              </p:cNvPr>
              <p:cNvSpPr/>
              <p:nvPr/>
            </p:nvSpPr>
            <p:spPr>
              <a:xfrm>
                <a:off x="5452576" y="5156085"/>
                <a:ext cx="2881424" cy="1078927"/>
              </a:xfrm>
              <a:prstGeom prst="wedgeRectCallout">
                <a:avLst>
                  <a:gd name="adj1" fmla="val -46370"/>
                  <a:gd name="adj2" fmla="val -8604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に関する</a:t>
                </a:r>
                <a: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検定の</a:t>
                </a:r>
                <a:b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ja-JP" altLang="en-US" sz="1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10" name="吹き出し: 四角形 9">
                <a:extLst>
                  <a:ext uri="{FF2B5EF4-FFF2-40B4-BE49-F238E27FC236}">
                    <a16:creationId xmlns:a16="http://schemas.microsoft.com/office/drawing/2014/main" id="{B3392660-9606-855F-CE4D-B4EF336944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576" y="5156085"/>
                <a:ext cx="2881424" cy="1078927"/>
              </a:xfrm>
              <a:prstGeom prst="wedgeRectCallout">
                <a:avLst>
                  <a:gd name="adj1" fmla="val -46370"/>
                  <a:gd name="adj2" fmla="val -86040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33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87FB-FE4C-BB45-39D7-A604CA63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7E180-BF57-DDE9-F7A9-2B5F2C1F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FDA8AD0-9B81-A240-AB09-F4CC052F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B27F57-4F74-F619-7CC3-9AC25BBD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C838FC9-6047-6C3A-1F79-9B0F6619326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C29652B2-E090-E422-56C9-F33E02BE8563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90A0C765-3020-054B-E2F3-7AC7BFEB8582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85F76BB5-4513-940D-9F83-B3BC19A1AD2C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(1%)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14FCB976-35B6-DE0B-ECD2-4A3F480777AC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3CA6C8D7-7F6F-E5EF-9A85-F1391AA06D86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DDFCF0A1-7AA1-7F70-ADEE-525F36A88BE6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(1%)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66506735-3DB2-352E-3C53-26697F4CD09A}"/>
              </a:ext>
            </a:extLst>
          </p:cNvPr>
          <p:cNvGrpSpPr/>
          <p:nvPr/>
        </p:nvGrpSpPr>
        <p:grpSpPr>
          <a:xfrm>
            <a:off x="3644751" y="4132487"/>
            <a:ext cx="4194629" cy="863399"/>
            <a:chOff x="3644751" y="4132487"/>
            <a:chExt cx="4194629" cy="863399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C475A833-3E68-196F-4C15-FFAB00F8FB58}"/>
                </a:ext>
              </a:extLst>
            </p:cNvPr>
            <p:cNvGrpSpPr/>
            <p:nvPr/>
          </p:nvGrpSpPr>
          <p:grpSpPr>
            <a:xfrm>
              <a:off x="3644751" y="4132487"/>
              <a:ext cx="1305165" cy="863399"/>
              <a:chOff x="3741613" y="4113394"/>
              <a:chExt cx="1305165" cy="863399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13E8D05-FF67-D3F8-C9C4-C6E7AA193790}"/>
                  </a:ext>
                </a:extLst>
              </p:cNvPr>
              <p:cNvSpPr txBox="1"/>
              <p:nvPr/>
            </p:nvSpPr>
            <p:spPr>
              <a:xfrm>
                <a:off x="3741613" y="4607461"/>
                <a:ext cx="1305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-t=-8.35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1F0721B6-E4CD-31F4-53BB-E92B44B12C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90D9D371-7CFF-63A6-B121-25714618C500}"/>
                </a:ext>
              </a:extLst>
            </p:cNvPr>
            <p:cNvGrpSpPr/>
            <p:nvPr/>
          </p:nvGrpSpPr>
          <p:grpSpPr>
            <a:xfrm>
              <a:off x="6755429" y="4146250"/>
              <a:ext cx="1083951" cy="843775"/>
              <a:chOff x="6322526" y="4122069"/>
              <a:chExt cx="1083951" cy="843775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BCAF744-310A-E0CF-2308-5DDA62FD475E}"/>
                  </a:ext>
                </a:extLst>
              </p:cNvPr>
              <p:cNvSpPr txBox="1"/>
              <p:nvPr/>
            </p:nvSpPr>
            <p:spPr>
              <a:xfrm>
                <a:off x="6322526" y="4596512"/>
                <a:ext cx="1083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t=8.35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F9846CCC-B29D-FAD6-21A3-CDD8903583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5714CDE5-7E78-BAF0-B594-9C9CD16DE93E}"/>
              </a:ext>
            </a:extLst>
          </p:cNvPr>
          <p:cNvSpPr/>
          <p:nvPr/>
        </p:nvSpPr>
        <p:spPr>
          <a:xfrm>
            <a:off x="893139" y="2626242"/>
            <a:ext cx="2775090" cy="925032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=0.00000802</a:t>
            </a:r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89E3B88-C376-F8DD-59A6-0D43FD4D4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97" b="12128"/>
          <a:stretch>
            <a:fillRect/>
          </a:stretch>
        </p:blipFill>
        <p:spPr>
          <a:xfrm>
            <a:off x="178718" y="5409510"/>
            <a:ext cx="8786565" cy="1225650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5A2AA6D-9197-DFC1-73D1-41B882ADC5B4}"/>
              </a:ext>
            </a:extLst>
          </p:cNvPr>
          <p:cNvSpPr/>
          <p:nvPr/>
        </p:nvSpPr>
        <p:spPr>
          <a:xfrm>
            <a:off x="3962939" y="6154424"/>
            <a:ext cx="808074" cy="3484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BDEE6C1-B009-BC3D-2EC5-4204D408A48F}"/>
              </a:ext>
            </a:extLst>
          </p:cNvPr>
          <p:cNvSpPr/>
          <p:nvPr/>
        </p:nvSpPr>
        <p:spPr>
          <a:xfrm>
            <a:off x="4817755" y="6149964"/>
            <a:ext cx="808074" cy="3484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BA344C-97EC-72A7-BB36-1C49BFB906E0}"/>
                  </a:ext>
                </a:extLst>
              </p:cNvPr>
              <p:cNvSpPr txBox="1"/>
              <p:nvPr/>
            </p:nvSpPr>
            <p:spPr>
              <a:xfrm>
                <a:off x="724504" y="5114049"/>
                <a:ext cx="7694992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有意水準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1%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で統計的に有意　→　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≠0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→　傾きには意味がある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BA344C-97EC-72A7-BB36-1C49BFB90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04" y="5114049"/>
                <a:ext cx="7694992" cy="369332"/>
              </a:xfrm>
              <a:prstGeom prst="rect">
                <a:avLst/>
              </a:prstGeom>
              <a:blipFill>
                <a:blip r:embed="rId4"/>
                <a:stretch>
                  <a:fillRect l="-713" t="-13115" b="-213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6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3" grpId="0" animBg="1"/>
      <p:bldP spid="14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D1D6-2CBD-D503-08B3-CC82E00F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6C000B8-FE4A-CA4D-1EE8-548F8B04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ch3-5</a:t>
            </a:r>
            <a:r>
              <a:rPr kumimoji="1" lang="ja-JP" altLang="en-US" dirty="0"/>
              <a:t>：分析結果の誤った解釈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04953E-7383-0EC1-1C5D-89515F35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3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5BC38-9840-BD0B-4F90-DEFF2A15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①分散・標準偏差の解釈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93000CD-6984-9960-E682-C5C2A15D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91BDA4-82AB-F33D-60F6-D8FD77592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189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CEB15-8CFE-B2B3-5246-BC862B280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48" y="2228741"/>
            <a:ext cx="5824103" cy="273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25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5BC38-9840-BD0B-4F90-DEFF2A15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①分散・標準偏差の解釈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93000CD-6984-9960-E682-C5C2A15D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391BDA4-82AB-F33D-60F6-D8FD77592B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pp. 189</a:t>
                </a:r>
                <a:r>
                  <a:rPr kumimoji="1" lang="ja-JP" altLang="en-US" dirty="0"/>
                  <a:t>）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記述統計量は表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の通りである．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表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より，体重のほうが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分散の値が小さく</a:t>
                </a:r>
                <a:r>
                  <a:rPr kumimoji="1" lang="ja-JP" altLang="en-US" dirty="0"/>
                  <a:t>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身長に比べてデータの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ばらつきは小さい</a:t>
                </a:r>
                <a:r>
                  <a:rPr kumimoji="1" lang="ja-JP" altLang="en-US" dirty="0"/>
                  <a:t>ことがわかる．</a:t>
                </a:r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単位の違うデータ同士で，ばらつきを比較したい場合は，</a:t>
                </a:r>
                <a:br>
                  <a:rPr kumimoji="1" lang="en-US" altLang="ja-JP" dirty="0"/>
                </a:br>
                <a:r>
                  <a:rPr kumimoji="1" lang="ja-JP" altLang="en-US" b="1" dirty="0"/>
                  <a:t>変動係数</a:t>
                </a:r>
                <a:r>
                  <a:rPr kumimoji="1" lang="en-US" altLang="ja-JP" sz="2000" dirty="0">
                    <a:solidFill>
                      <a:schemeClr val="accent2"/>
                    </a:solidFill>
                  </a:rPr>
                  <a:t>coefficient of variation</a:t>
                </a:r>
                <a:r>
                  <a:rPr kumimoji="1" lang="ja-JP" altLang="en-US" dirty="0"/>
                  <a:t>を利用する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標準偏差</m:t>
                          </m:r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平均値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391BDA4-82AB-F33D-60F6-D8FD77592B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736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99A3D-6430-92C5-B42F-13589B5F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②推定係数が有意ではない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8BDD09-E45A-0AE2-E5D9-91A971E2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812F83-2446-3DFD-E166-E3983DC38C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A25B4CE9-CAE6-2686-DE65-A451387E8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0" y="1952637"/>
            <a:ext cx="6921500" cy="124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B0F94-DFCC-A9CD-7389-C226C0BCA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40" y="3169357"/>
            <a:ext cx="6921500" cy="1993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4D0B2C-BB75-A627-64AC-4114DEFA4780}"/>
              </a:ext>
            </a:extLst>
          </p:cNvPr>
          <p:cNvSpPr txBox="1"/>
          <p:nvPr/>
        </p:nvSpPr>
        <p:spPr>
          <a:xfrm>
            <a:off x="1456841" y="5371223"/>
            <a:ext cx="4587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/>
              <a:t>（</a:t>
            </a:r>
            <a:r>
              <a:rPr kumimoji="1" lang="en-US" altLang="ja-JP" sz="1800" dirty="0"/>
              <a:t>pp. 190</a:t>
            </a:r>
            <a:r>
              <a:rPr kumimoji="1" lang="ja-JP" altLang="en-US" sz="1800"/>
              <a:t>）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359888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99A3D-6430-92C5-B42F-13589B5F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②推定係数が有意ではない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8BDD09-E45A-0AE2-E5D9-91A971E2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F4C307-CDBB-478B-1F82-8A07E08C4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439" y="2371241"/>
            <a:ext cx="7904585" cy="4249709"/>
          </a:xfrm>
        </p:spPr>
        <p:txBody>
          <a:bodyPr>
            <a:normAutofit/>
          </a:bodyPr>
          <a:lstStyle/>
          <a:p>
            <a:pPr lvl="1"/>
            <a:r>
              <a:rPr kumimoji="1" lang="ja-JP" altLang="en-US" sz="1800" dirty="0"/>
              <a:t>（</a:t>
            </a:r>
            <a:r>
              <a:rPr kumimoji="1" lang="en-US" altLang="ja-JP" sz="1800" dirty="0"/>
              <a:t>pp. 190</a:t>
            </a:r>
            <a:r>
              <a:rPr kumimoji="1" lang="ja-JP" altLang="en-US" sz="1800" dirty="0"/>
              <a:t>）</a:t>
            </a:r>
            <a:br>
              <a:rPr kumimoji="1" lang="en-US" altLang="ja-JP" sz="1800" dirty="0"/>
            </a:br>
            <a:r>
              <a:rPr kumimoji="1" lang="ja-JP" altLang="en-US" sz="1800" dirty="0"/>
              <a:t>説明変数として使用した人口の推定係数は</a:t>
            </a:r>
            <a:br>
              <a:rPr kumimoji="1" lang="en-US" altLang="ja-JP" sz="1800" dirty="0"/>
            </a:br>
            <a:r>
              <a:rPr kumimoji="1" lang="ja-JP" altLang="en-US" sz="1800" dirty="0"/>
              <a:t>統計的に有意とはならず，</a:t>
            </a:r>
            <a:br>
              <a:rPr kumimoji="1" lang="en-US" altLang="ja-JP" sz="1800" dirty="0"/>
            </a:br>
            <a:r>
              <a:rPr kumimoji="1" lang="ja-JP" altLang="en-US" sz="1800" dirty="0"/>
              <a:t>目的変数である</a:t>
            </a:r>
            <a:r>
              <a:rPr kumimoji="1" lang="en-US" altLang="ja-JP" sz="1800" dirty="0"/>
              <a:t>GDP</a:t>
            </a:r>
            <a:r>
              <a:rPr kumimoji="1" lang="ja-JP" altLang="en-US" sz="1800" dirty="0"/>
              <a:t>と説明変数である人口は，</a:t>
            </a:r>
            <a:br>
              <a:rPr kumimoji="1" lang="en-US" altLang="ja-JP" sz="1800" dirty="0"/>
            </a:br>
            <a:r>
              <a:rPr kumimoji="1" lang="ja-JP" altLang="en-US" sz="1800" dirty="0">
                <a:solidFill>
                  <a:schemeClr val="accent5"/>
                </a:solidFill>
              </a:rPr>
              <a:t>因果関係がない</a:t>
            </a:r>
            <a:r>
              <a:rPr kumimoji="1" lang="ja-JP" altLang="en-US" sz="1800" dirty="0"/>
              <a:t>ことが明らかになった．</a:t>
            </a:r>
            <a:endParaRPr kumimoji="1" lang="en-US" altLang="ja-JP" sz="1800" dirty="0"/>
          </a:p>
          <a:p>
            <a:endParaRPr lang="en-US" altLang="ja-JP" sz="2000" dirty="0"/>
          </a:p>
          <a:p>
            <a:r>
              <a:rPr kumimoji="1" lang="ja-JP" altLang="en-US" sz="2000" dirty="0"/>
              <a:t>推定係数</a:t>
            </a:r>
            <a:r>
              <a:rPr kumimoji="1" lang="ja-JP" altLang="en-US" sz="1600" dirty="0"/>
              <a:t>（推定した回帰係数）</a:t>
            </a:r>
            <a:r>
              <a:rPr kumimoji="1" lang="ja-JP" altLang="en-US" sz="2000" dirty="0"/>
              <a:t>が有意でない場合，</a:t>
            </a:r>
            <a:br>
              <a:rPr kumimoji="1" lang="en-US" altLang="ja-JP" sz="2000" dirty="0"/>
            </a:br>
            <a:r>
              <a:rPr kumimoji="1" lang="ja-JP" altLang="en-US" sz="2000" dirty="0"/>
              <a:t>「統計的に因果関係があるかどうか</a:t>
            </a:r>
            <a:r>
              <a:rPr kumimoji="1" lang="ja-JP" altLang="en-US" sz="2000" b="1" dirty="0"/>
              <a:t>わからない</a:t>
            </a:r>
            <a:r>
              <a:rPr kumimoji="1" lang="ja-JP" altLang="en-US" sz="2000" dirty="0"/>
              <a:t>」だけで，</a:t>
            </a:r>
            <a:br>
              <a:rPr kumimoji="1" lang="en-US" altLang="ja-JP" sz="2000" dirty="0"/>
            </a:br>
            <a:r>
              <a:rPr kumimoji="1" lang="ja-JP" altLang="en-US" sz="2000" b="1" dirty="0"/>
              <a:t>「因果関係がない」とはいえない</a:t>
            </a:r>
            <a:r>
              <a:rPr kumimoji="1" lang="ja-JP" altLang="en-US" sz="2000" dirty="0"/>
              <a:t>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812F83-2446-3DFD-E166-E3983DC38C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729675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3877-5CF2-D3F1-C849-C1528215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③説明変数と目的変数の解釈</a:t>
            </a:r>
            <a:endParaRPr lang="en-JP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5226A1-0477-8809-C285-6B27A4D64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CE17D4-E24D-376C-DC84-48DC81D70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060" y="2278252"/>
            <a:ext cx="7231879" cy="1648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1EBC5F-D879-DCFD-3B9E-E1CE1859F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61" y="3503269"/>
            <a:ext cx="7231878" cy="8773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FEE843-5D1A-5D88-DBB5-FBFDE3044DEC}"/>
              </a:ext>
            </a:extLst>
          </p:cNvPr>
          <p:cNvSpPr txBox="1"/>
          <p:nvPr/>
        </p:nvSpPr>
        <p:spPr>
          <a:xfrm>
            <a:off x="1873251" y="4782380"/>
            <a:ext cx="4587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/>
              <a:t>（</a:t>
            </a:r>
            <a:r>
              <a:rPr kumimoji="1" lang="en-US" altLang="ja-JP" dirty="0"/>
              <a:t>pp. 191</a:t>
            </a:r>
            <a:r>
              <a:rPr kumimoji="1" lang="ja-JP" altLang="en-US"/>
              <a:t>）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697952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25DCBF-F07C-26DD-E8F7-54013C72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③説明変数と目的変数の解釈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C9BD12B-CA47-791F-3788-214658C0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0F01C46-D37B-9B42-90B1-839696E3B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/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pp. 191</a:t>
                </a:r>
                <a:r>
                  <a:rPr kumimoji="1" lang="ja-JP" altLang="en-US" dirty="0"/>
                  <a:t>）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人口の増加が</a:t>
                </a:r>
                <a:r>
                  <a:rPr kumimoji="1" lang="en-US" altLang="ja-JP" dirty="0"/>
                  <a:t>CO</a:t>
                </a:r>
                <a:r>
                  <a:rPr kumimoji="1" lang="en-US" altLang="ja-JP" baseline="-25000" dirty="0"/>
                  <a:t>2</a:t>
                </a:r>
                <a:r>
                  <a:rPr kumimoji="1" lang="ja-JP" altLang="en-US" dirty="0"/>
                  <a:t>排出量に与える影響を見るために，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以下の式を用いて回帰分析を行った．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人</m:t>
                        </m:r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口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𝐶𝑂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推定結果より，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=0.35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となり</m:t>
                    </m:r>
                  </m:oMath>
                </a14:m>
                <a:r>
                  <a:rPr kumimoji="1" lang="ja-JP" altLang="en-US" dirty="0"/>
                  <a:t>，有意水準</a:t>
                </a:r>
                <a:r>
                  <a:rPr kumimoji="1" lang="en-US" altLang="ja-JP" dirty="0"/>
                  <a:t>5%</a:t>
                </a:r>
                <a:r>
                  <a:rPr kumimoji="1" lang="ja-JP" altLang="en-US" dirty="0"/>
                  <a:t>で統計的に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有意な結果を得た．ここから，人口が</a:t>
                </a:r>
                <a:r>
                  <a:rPr kumimoji="1" lang="en-US" altLang="ja-JP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単位増加すると，</a:t>
                </a:r>
                <a:br>
                  <a:rPr kumimoji="1" lang="en-US" altLang="ja-JP" dirty="0">
                    <a:solidFill>
                      <a:schemeClr val="accent5"/>
                    </a:solidFill>
                  </a:rPr>
                </a:br>
                <a:r>
                  <a:rPr kumimoji="1" lang="en-US" altLang="ja-JP" dirty="0">
                    <a:solidFill>
                      <a:schemeClr val="accent5"/>
                    </a:solidFill>
                  </a:rPr>
                  <a:t>CO2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排出量が</a:t>
                </a:r>
                <a:r>
                  <a:rPr kumimoji="1" lang="en-US" altLang="ja-JP" dirty="0">
                    <a:solidFill>
                      <a:schemeClr val="accent5"/>
                    </a:solidFill>
                  </a:rPr>
                  <a:t>0.35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単位増加する</a:t>
                </a:r>
                <a:r>
                  <a:rPr kumimoji="1" lang="ja-JP" altLang="en-US" dirty="0"/>
                  <a:t>ことが明らかになった．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r>
                  <a:rPr kumimoji="1" lang="ja-JP" altLang="en-US"/>
                  <a:t>説明変数</a:t>
                </a:r>
                <a:r>
                  <a:rPr kumimoji="1" lang="en-US" altLang="ja-JP" dirty="0"/>
                  <a:t>x</a:t>
                </a:r>
                <a:r>
                  <a:rPr kumimoji="1" lang="ja-JP" altLang="en-US" sz="2000"/>
                  <a:t>（</a:t>
                </a:r>
                <a:r>
                  <a:rPr kumimoji="1" lang="ja-JP" altLang="en-US" sz="2000" dirty="0"/>
                  <a:t>原因，右辺）</a:t>
                </a:r>
                <a:r>
                  <a:rPr kumimoji="1" lang="ja-JP" altLang="en-US" dirty="0"/>
                  <a:t>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単位増加すると，</a:t>
                </a:r>
                <a:br>
                  <a:rPr kumimoji="1" lang="en-US" altLang="ja-JP" dirty="0"/>
                </a:br>
                <a:r>
                  <a:rPr kumimoji="1" lang="ja-JP" altLang="en-US"/>
                  <a:t>目的変数</a:t>
                </a:r>
                <a:r>
                  <a:rPr lang="en-US" altLang="ja-JP" dirty="0"/>
                  <a:t>y</a:t>
                </a:r>
                <a:r>
                  <a:rPr kumimoji="1" lang="ja-JP" altLang="en-US" sz="2000"/>
                  <a:t>（</a:t>
                </a:r>
                <a:r>
                  <a:rPr kumimoji="1" lang="ja-JP" altLang="en-US" sz="2000" dirty="0"/>
                  <a:t>結果，左辺）</a:t>
                </a:r>
                <a:r>
                  <a:rPr kumimoji="1" lang="ja-JP" altLang="en-US" dirty="0"/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単位増加する，と読む．</a:t>
                </a:r>
                <a:endParaRPr kumimoji="1" lang="en-US" altLang="ja-JP" dirty="0"/>
              </a:p>
              <a:p>
                <a:r>
                  <a:rPr lang="ja-JP" altLang="en-US" dirty="0"/>
                  <a:t>因果関係は「原因→結果」の一方通行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例文の推定式から読めることは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「</a:t>
                </a:r>
                <a:r>
                  <a:rPr kumimoji="1" lang="en-US" altLang="ja-JP" dirty="0"/>
                  <a:t>CO</a:t>
                </a:r>
                <a:r>
                  <a:rPr kumimoji="1" lang="en-US" altLang="ja-JP" baseline="-25000" dirty="0"/>
                  <a:t>2</a:t>
                </a:r>
                <a:r>
                  <a:rPr kumimoji="1" lang="ja-JP" altLang="en-US" dirty="0"/>
                  <a:t>排出量が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単位増えると，人口が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単位増える」</a:t>
                </a:r>
                <a:r>
                  <a:rPr kumimoji="1" lang="en-US" altLang="ja-JP" dirty="0"/>
                  <a:t>…</a:t>
                </a:r>
                <a:r>
                  <a:rPr kumimoji="1" lang="ja-JP" altLang="en-US" dirty="0"/>
                  <a:t>？</a:t>
                </a: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0F01C46-D37B-9B42-90B1-839696E3B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43" t="-153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3A3235-0224-CA1F-48C2-2D56A59E62C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046088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B7D9-78DD-AAA6-5944-66B4B273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④自由度修正済み決定係数がマイナス値</a:t>
            </a:r>
            <a:endParaRPr lang="en-JP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1A7494-54E9-8660-91BF-C358888F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DA1750-AE35-FF54-4F4A-26DE5C72F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019" y="2851083"/>
            <a:ext cx="7391962" cy="11558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1A62EE-E9E2-F15E-4E9F-76076E16986E}"/>
              </a:ext>
            </a:extLst>
          </p:cNvPr>
          <p:cNvSpPr txBox="1"/>
          <p:nvPr/>
        </p:nvSpPr>
        <p:spPr>
          <a:xfrm>
            <a:off x="1869377" y="4488073"/>
            <a:ext cx="459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（</a:t>
            </a:r>
            <a:r>
              <a:rPr lang="en-US" altLang="ja-JP" dirty="0"/>
              <a:t>pp. 192</a:t>
            </a:r>
            <a:r>
              <a:rPr lang="ja-JP" altLang="en-US"/>
              <a:t>）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040467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48076-F7F8-62C4-BAF4-B09ECC38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④自由度修正済み決定係数がマイナス値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5EC67A-A4BD-84DA-A532-A8AB28391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BED827-9854-1BDF-356D-DD74D2E4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ja-JP" altLang="en-US" dirty="0"/>
              <a:t>（</a:t>
            </a:r>
            <a:r>
              <a:rPr lang="en-US" altLang="ja-JP" dirty="0"/>
              <a:t>pp. 192</a:t>
            </a:r>
            <a:r>
              <a:rPr lang="ja-JP" altLang="en-US" dirty="0"/>
              <a:t>）</a:t>
            </a:r>
            <a:br>
              <a:rPr lang="en-US" altLang="ja-JP" dirty="0"/>
            </a:br>
            <a:r>
              <a:rPr lang="ja-JP" altLang="en-US" dirty="0"/>
              <a:t>自由度修正済み決定係数の値は－</a:t>
            </a:r>
            <a:r>
              <a:rPr lang="en-US" altLang="ja-JP" dirty="0"/>
              <a:t>0.0012</a:t>
            </a:r>
            <a:r>
              <a:rPr lang="ja-JP" altLang="en-US" dirty="0"/>
              <a:t>であり，</a:t>
            </a:r>
            <a:br>
              <a:rPr lang="en-US" altLang="ja-JP" dirty="0"/>
            </a:br>
            <a:r>
              <a:rPr lang="ja-JP" altLang="en-US" dirty="0">
                <a:solidFill>
                  <a:schemeClr val="accent5"/>
                </a:solidFill>
              </a:rPr>
              <a:t>モデルの当てはまりは非常に悪い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説明変数の個数が多い</a:t>
            </a:r>
            <a:r>
              <a:rPr lang="ja-JP" altLang="en-US" sz="2000" dirty="0"/>
              <a:t>（自由度が小さい）</a:t>
            </a:r>
            <a:r>
              <a:rPr lang="ja-JP" altLang="en-US" dirty="0"/>
              <a:t>が，</a:t>
            </a:r>
            <a:br>
              <a:rPr lang="en-US" altLang="ja-JP" dirty="0"/>
            </a:br>
            <a:r>
              <a:rPr lang="ja-JP" altLang="en-US" dirty="0"/>
              <a:t>説明力</a:t>
            </a:r>
            <a:r>
              <a:rPr lang="ja-JP" altLang="en-US" sz="2000" dirty="0"/>
              <a:t>（目的変数との関係性が薄い）</a:t>
            </a:r>
            <a:r>
              <a:rPr lang="ja-JP" altLang="en-US" dirty="0"/>
              <a:t>場合．</a:t>
            </a:r>
            <a:endParaRPr lang="en-US" altLang="ja-JP" dirty="0"/>
          </a:p>
          <a:p>
            <a:r>
              <a:rPr lang="ja-JP" altLang="en-US" dirty="0"/>
              <a:t>「モデルの当てはまりは悪い」とする読み方は</a:t>
            </a:r>
            <a:r>
              <a:rPr lang="ja-JP" altLang="en-US" b="1" dirty="0"/>
              <a:t>誤りではない</a:t>
            </a:r>
            <a:r>
              <a:rPr lang="ja-JP" altLang="en-US" dirty="0"/>
              <a:t>が，</a:t>
            </a:r>
            <a:br>
              <a:rPr lang="en-US" altLang="ja-JP" dirty="0"/>
            </a:br>
            <a:r>
              <a:rPr lang="ja-JP" altLang="en-US" dirty="0"/>
              <a:t>分析モデルや変数選択，</a:t>
            </a:r>
            <a:br>
              <a:rPr lang="en-US" altLang="ja-JP" dirty="0"/>
            </a:br>
            <a:r>
              <a:rPr lang="ja-JP" altLang="en-US" dirty="0"/>
              <a:t>データの特徴を</a:t>
            </a:r>
            <a:r>
              <a:rPr lang="ja-JP" altLang="en-US" b="1" dirty="0"/>
              <a:t>見直した方が良い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4341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D889-5E58-8E37-92D0-9F0A87EB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⑤分析手法の選択の誤り</a:t>
            </a:r>
            <a:endParaRPr lang="en-JP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7883A8-2BC0-8DAD-E149-F701BF41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7DD193-6743-1355-0D34-101318CD5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327" y="2677332"/>
            <a:ext cx="7489346" cy="15033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20C5FF-1A32-22E6-925C-C99EE8D46F20}"/>
              </a:ext>
            </a:extLst>
          </p:cNvPr>
          <p:cNvSpPr txBox="1"/>
          <p:nvPr/>
        </p:nvSpPr>
        <p:spPr>
          <a:xfrm>
            <a:off x="1658318" y="4488073"/>
            <a:ext cx="4587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/>
              <a:t>（</a:t>
            </a:r>
            <a:r>
              <a:rPr kumimoji="1" lang="en-US" altLang="ja-JP" dirty="0"/>
              <a:t>pp. 193</a:t>
            </a:r>
            <a:r>
              <a:rPr kumimoji="1" lang="ja-JP" altLang="en-US"/>
              <a:t>）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616128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BE301-48E5-3DBB-5C50-D0D4BF9B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⑤分析手法の選択の誤り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1A1AEBA-1990-F816-B312-6D9837FC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600107-9BA7-9056-5217-37C6481E8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193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サッカーの試合の勝敗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（勝ち＝</a:t>
            </a:r>
            <a:r>
              <a:rPr kumimoji="1" lang="en-US" altLang="ja-JP" sz="1800" dirty="0">
                <a:solidFill>
                  <a:schemeClr val="accent5"/>
                </a:solidFill>
              </a:rPr>
              <a:t>1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，それ以外＝</a:t>
            </a:r>
            <a:r>
              <a:rPr kumimoji="1" lang="en-US" altLang="ja-JP" sz="1800" dirty="0">
                <a:solidFill>
                  <a:schemeClr val="accent5"/>
                </a:solidFill>
              </a:rPr>
              <a:t>0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）</a:t>
            </a:r>
            <a:r>
              <a:rPr kumimoji="1" lang="ja-JP" altLang="en-US" dirty="0"/>
              <a:t>に</a:t>
            </a:r>
            <a:br>
              <a:rPr kumimoji="1" lang="en-US" altLang="ja-JP" dirty="0"/>
            </a:br>
            <a:r>
              <a:rPr kumimoji="1" lang="ja-JP" altLang="en-US" dirty="0"/>
              <a:t>影響を与える要因を明らかにするため，</a:t>
            </a:r>
            <a:br>
              <a:rPr kumimoji="1" lang="en-US" altLang="ja-JP" dirty="0"/>
            </a:br>
            <a:r>
              <a:rPr kumimoji="1" lang="ja-JP" altLang="en-US">
                <a:solidFill>
                  <a:schemeClr val="accent5"/>
                </a:solidFill>
              </a:rPr>
              <a:t>最小二乗法</a:t>
            </a:r>
            <a:r>
              <a:rPr kumimoji="1" lang="en-US" altLang="ja-JP" dirty="0">
                <a:solidFill>
                  <a:schemeClr val="accent5"/>
                </a:solidFill>
              </a:rPr>
              <a:t>(OLS)</a:t>
            </a:r>
            <a:r>
              <a:rPr kumimoji="1" lang="ja-JP" altLang="en-US"/>
              <a:t>を</a:t>
            </a:r>
            <a:r>
              <a:rPr kumimoji="1" lang="ja-JP" altLang="en-US" dirty="0"/>
              <a:t>用いて分析を行う．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目的変数がダミー変数である場合は，</a:t>
            </a:r>
            <a:br>
              <a:rPr kumimoji="1" lang="en-US" altLang="ja-JP" dirty="0"/>
            </a:br>
            <a:r>
              <a:rPr kumimoji="1" lang="ja-JP" altLang="en-US" dirty="0"/>
              <a:t>最小二乗法の前提条件を満たさないため，</a:t>
            </a:r>
            <a:br>
              <a:rPr kumimoji="1" lang="en-US" altLang="ja-JP" dirty="0"/>
            </a:br>
            <a:r>
              <a:rPr kumimoji="1" lang="ja-JP" altLang="en-US" dirty="0"/>
              <a:t>他の方法</a:t>
            </a:r>
            <a:r>
              <a:rPr kumimoji="1" lang="ja-JP" altLang="en-US" sz="2000" dirty="0"/>
              <a:t>（ロジット，プロビットなど）</a:t>
            </a:r>
            <a:r>
              <a:rPr kumimoji="1" lang="ja-JP" altLang="en-US" dirty="0"/>
              <a:t>を用いることを検討する．</a:t>
            </a:r>
            <a:endParaRPr kumimoji="1" lang="en-US" altLang="ja-JP" dirty="0"/>
          </a:p>
          <a:p>
            <a:r>
              <a:rPr lang="ja-JP" altLang="en-US" dirty="0"/>
              <a:t>分析目的や使用データに</a:t>
            </a:r>
            <a:r>
              <a:rPr lang="ja-JP" altLang="en-US" b="1" dirty="0"/>
              <a:t>適した分析方法</a:t>
            </a:r>
            <a:r>
              <a:rPr lang="ja-JP" altLang="en-US" dirty="0"/>
              <a:t>を選択する．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3990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B80FCF-61C5-5611-2ED0-4111E1F8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 </a:t>
            </a:r>
            <a:r>
              <a:rPr lang="ja-JP" altLang="en-US" dirty="0"/>
              <a:t>最小二乗法の条件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B4F3378-C32B-A6A2-6500-1B36284D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3940A2-12D6-2828-73C0-96334176A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最小二乗法の推定量が不偏性をもつ条件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①説明変数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dirty="0"/>
                  <a:t>が確率変数ではない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②標本数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が大きくなるとき，偏差平方和は無限大になる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③誤差項の期待値は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である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④誤差項の分散は一定である（均一分散性）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⑤誤差項は互いに無相関である（独立性）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これらの条件を満たすモデルを古典的回帰モデルという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古典的回帰モデルで推定された推定量は最良である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ガウス・マルコフ定理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3940A2-12D6-2828-73C0-96334176A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159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50F19F-4BB6-B55B-5446-4BC228E95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36</a:t>
            </a:fld>
            <a:endParaRPr kumimoji="1" lang="ja-JP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5FF907-0983-E1EF-FC72-978FD762E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951" y="2796085"/>
            <a:ext cx="6544097" cy="12658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E490DD-EFBE-375C-1C81-FE057D58EC19}"/>
              </a:ext>
            </a:extLst>
          </p:cNvPr>
          <p:cNvSpPr txBox="1"/>
          <p:nvPr/>
        </p:nvSpPr>
        <p:spPr>
          <a:xfrm>
            <a:off x="809786" y="4348588"/>
            <a:ext cx="459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ja-JP" altLang="en-US"/>
              <a:t>（</a:t>
            </a:r>
            <a:r>
              <a:rPr kumimoji="1" lang="en-US" altLang="ja-JP" dirty="0"/>
              <a:t>pp. 195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AC4D6701-270D-CA88-A3BF-F0019A23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⑥疑似相関</a:t>
            </a:r>
          </a:p>
        </p:txBody>
      </p:sp>
    </p:spTree>
    <p:extLst>
      <p:ext uri="{BB962C8B-B14F-4D97-AF65-F5344CB8AC3E}">
        <p14:creationId xmlns:p14="http://schemas.microsoft.com/office/powerpoint/2010/main" val="2967512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91336-F9A6-A907-B325-B65F4F34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⑥疑似相関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907248-6EEE-EF0C-45F4-8BCC4BA8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DC1996-CEAD-4CC7-CAC5-6EB1965F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195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高血圧の人ほど年収が高い．</a:t>
            </a:r>
            <a:endParaRPr kumimoji="1" lang="en-US" altLang="ja-JP" dirty="0"/>
          </a:p>
          <a:p>
            <a:pPr lvl="1"/>
            <a:r>
              <a:rPr lang="ja-JP" altLang="en-US" dirty="0"/>
              <a:t>アイスの売上が上がるほど，熱中症患者が増える．</a:t>
            </a:r>
            <a:endParaRPr lang="en-US" altLang="ja-JP" dirty="0"/>
          </a:p>
          <a:p>
            <a:pPr lvl="1"/>
            <a:r>
              <a:rPr kumimoji="1" lang="ja-JP" altLang="en-US" dirty="0"/>
              <a:t>少子化が進むと，温暖化が進む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相関係数の絶対値が大きいからといって，</a:t>
            </a:r>
            <a:br>
              <a:rPr kumimoji="1" lang="en-US" altLang="ja-JP" dirty="0"/>
            </a:br>
            <a:r>
              <a:rPr kumimoji="1" lang="ja-JP" altLang="en-US" dirty="0"/>
              <a:t>因果関係があるとはいえない．</a:t>
            </a:r>
            <a:endParaRPr lang="en-US" altLang="ja-JP" dirty="0"/>
          </a:p>
          <a:p>
            <a:r>
              <a:rPr kumimoji="1" lang="ja-JP" altLang="en-US" b="1" dirty="0"/>
              <a:t>相関関係と因果関係は別物</a:t>
            </a:r>
            <a:r>
              <a:rPr kumimoji="1" lang="ja-JP" altLang="en-US" dirty="0"/>
              <a:t>であることに注意．</a:t>
            </a:r>
            <a:endParaRPr kumimoji="1" lang="en-US" altLang="ja-JP" dirty="0"/>
          </a:p>
          <a:p>
            <a:pPr lvl="1"/>
            <a:r>
              <a:rPr lang="ja-JP" altLang="en-US" dirty="0"/>
              <a:t>相関関係：関係性がある</a:t>
            </a:r>
            <a:endParaRPr lang="en-US" altLang="ja-JP" dirty="0"/>
          </a:p>
          <a:p>
            <a:pPr lvl="1"/>
            <a:r>
              <a:rPr kumimoji="1" lang="ja-JP" altLang="en-US" dirty="0"/>
              <a:t>因果関係：原因と結果</a:t>
            </a:r>
            <a:r>
              <a:rPr kumimoji="1" lang="ja-JP" altLang="en-US"/>
              <a:t>の関係</a:t>
            </a:r>
            <a:endParaRPr kumimoji="1" lang="en-US" altLang="ja-JP" dirty="0"/>
          </a:p>
          <a:p>
            <a:r>
              <a:rPr lang="en-US" altLang="ja-JP" dirty="0">
                <a:hlinkClick r:id="rId3"/>
              </a:rPr>
              <a:t>https://www.tylervigen.com/spurious-correlations</a:t>
            </a:r>
            <a:r>
              <a:rPr lang="en-US" altLang="ja-JP" dirty="0"/>
              <a:t> </a:t>
            </a:r>
            <a:endParaRPr kumimoji="1"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7EA7F63-5C71-8F0D-4A32-95A7AB900A1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6590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4BD59-EF89-63AB-35B3-3ED5F555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⑦全数調査における推定の必要性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2D8B07-1E33-B17D-DA10-01DE0EE6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9EFFA6-337D-875D-CD84-D76A7050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196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ECDFF9-50BD-9FE8-7BDB-645421244A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67B907-A0EC-68F3-ADE8-74682758A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43" y="2634550"/>
            <a:ext cx="6286513" cy="158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71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4BD59-EF89-63AB-35B3-3ED5F555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⑦全数調査における推定の必要性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2D8B07-1E33-B17D-DA10-01DE0EE6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9EFFA6-337D-875D-CD84-D76A7050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196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集落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には</a:t>
            </a:r>
            <a:r>
              <a:rPr kumimoji="1" lang="en-US" altLang="ja-JP" dirty="0"/>
              <a:t>30</a:t>
            </a:r>
            <a:r>
              <a:rPr lang="ja-JP" altLang="en-US" dirty="0"/>
              <a:t>戸の農家がある．</a:t>
            </a:r>
            <a:br>
              <a:rPr lang="en-US" altLang="ja-JP" dirty="0"/>
            </a:br>
            <a:r>
              <a:rPr lang="ja-JP" altLang="en-US" dirty="0">
                <a:solidFill>
                  <a:schemeClr val="accent5"/>
                </a:solidFill>
              </a:rPr>
              <a:t>集落</a:t>
            </a:r>
            <a:r>
              <a:rPr lang="en-US" altLang="ja-JP" dirty="0">
                <a:solidFill>
                  <a:schemeClr val="accent5"/>
                </a:solidFill>
              </a:rPr>
              <a:t>A</a:t>
            </a:r>
            <a:r>
              <a:rPr lang="ja-JP" altLang="en-US" dirty="0">
                <a:solidFill>
                  <a:schemeClr val="accent5"/>
                </a:solidFill>
              </a:rPr>
              <a:t>にある農家の年収</a:t>
            </a:r>
            <a:r>
              <a:rPr lang="ja-JP" altLang="en-US" dirty="0"/>
              <a:t>について調査を行うため，</a:t>
            </a:r>
            <a:br>
              <a:rPr lang="en-US" altLang="ja-JP" dirty="0"/>
            </a:br>
            <a:r>
              <a:rPr lang="en-US" altLang="ja-JP" dirty="0">
                <a:solidFill>
                  <a:schemeClr val="accent5"/>
                </a:solidFill>
              </a:rPr>
              <a:t>30</a:t>
            </a:r>
            <a:r>
              <a:rPr lang="ja-JP" altLang="en-US" dirty="0">
                <a:solidFill>
                  <a:schemeClr val="accent5"/>
                </a:solidFill>
              </a:rPr>
              <a:t>戸すべて</a:t>
            </a:r>
            <a:r>
              <a:rPr lang="ja-JP" altLang="en-US" dirty="0"/>
              <a:t>の農家に年収に関する調査を行って</a:t>
            </a:r>
            <a:r>
              <a:rPr lang="ja-JP" altLang="en-US" dirty="0">
                <a:solidFill>
                  <a:schemeClr val="accent5"/>
                </a:solidFill>
              </a:rPr>
              <a:t>回答を得た</a:t>
            </a:r>
            <a:r>
              <a:rPr lang="ja-JP" altLang="en-US" dirty="0"/>
              <a:t>．</a:t>
            </a:r>
            <a:br>
              <a:rPr lang="en-US" altLang="ja-JP" dirty="0"/>
            </a:br>
            <a:r>
              <a:rPr lang="ja-JP" altLang="en-US" dirty="0"/>
              <a:t>このサンプルサイズ</a:t>
            </a:r>
            <a:r>
              <a:rPr lang="en-US" altLang="ja-JP" dirty="0"/>
              <a:t>30</a:t>
            </a:r>
            <a:r>
              <a:rPr lang="ja-JP" altLang="en-US" dirty="0"/>
              <a:t>のデータを用いて，</a:t>
            </a:r>
            <a:br>
              <a:rPr lang="en-US" altLang="ja-JP" dirty="0"/>
            </a:br>
            <a:r>
              <a:rPr lang="ja-JP" altLang="en-US" dirty="0"/>
              <a:t>年収の平均値に関する</a:t>
            </a:r>
            <a:r>
              <a:rPr lang="ja-JP" altLang="en-US" dirty="0">
                <a:solidFill>
                  <a:schemeClr val="accent5"/>
                </a:solidFill>
              </a:rPr>
              <a:t>区間推定を行う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母集団のデータが手元にあるならば，</a:t>
            </a:r>
            <a:br>
              <a:rPr lang="en-US" altLang="ja-JP" dirty="0"/>
            </a:br>
            <a:r>
              <a:rPr lang="ja-JP" altLang="en-US" dirty="0"/>
              <a:t>そもそも</a:t>
            </a:r>
            <a:r>
              <a:rPr lang="ja-JP" altLang="en-US" b="1" dirty="0"/>
              <a:t>推定作業は不要</a:t>
            </a:r>
            <a:r>
              <a:rPr lang="ja-JP" altLang="en-US" dirty="0"/>
              <a:t>．</a:t>
            </a:r>
            <a:endParaRPr lang="en-US" altLang="ja-JP" dirty="0"/>
          </a:p>
          <a:p>
            <a:pPr lvl="1"/>
            <a:r>
              <a:rPr kumimoji="1" lang="ja-JP" altLang="en-US" dirty="0"/>
              <a:t>推定：母集団の特徴が</a:t>
            </a:r>
            <a:r>
              <a:rPr kumimoji="1" lang="ja-JP" altLang="en-US" b="1" dirty="0"/>
              <a:t>未知のとき</a:t>
            </a:r>
            <a:r>
              <a:rPr kumimoji="1" lang="ja-JP" altLang="en-US" dirty="0"/>
              <a:t>，</a:t>
            </a:r>
            <a:br>
              <a:rPr kumimoji="1" lang="en-US" altLang="ja-JP" dirty="0"/>
            </a:br>
            <a:r>
              <a:rPr kumimoji="1" lang="ja-JP" altLang="en-US" dirty="0"/>
              <a:t>標本のデータから母集団を推測していく方法．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ECDFF9-50BD-9FE8-7BDB-645421244A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6254756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1</a:t>
            </a:r>
            <a:r>
              <a:rPr lang="ja-JP" altLang="en-US" dirty="0"/>
              <a:t>章　第</a:t>
            </a:r>
            <a:r>
              <a:rPr lang="en-US" altLang="ja-JP" dirty="0"/>
              <a:t>7</a:t>
            </a:r>
            <a:r>
              <a:rPr lang="ja-JP" altLang="en-US" dirty="0"/>
              <a:t>節　回帰分析とその他の代表的な分析手法</a:t>
            </a:r>
            <a:endParaRPr lang="en-US" altLang="ja-JP" dirty="0"/>
          </a:p>
          <a:p>
            <a:pPr lvl="1"/>
            <a:r>
              <a:rPr lang="en-US" altLang="ja-JP" dirty="0"/>
              <a:t>Excel</a:t>
            </a:r>
            <a:r>
              <a:rPr lang="ja-JP" altLang="en-US" dirty="0"/>
              <a:t>での回帰分析を復習する</a:t>
            </a:r>
            <a:endParaRPr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仮説検定の手順を復習する</a:t>
            </a:r>
            <a:endParaRPr lang="en-US" altLang="ja-JP" dirty="0"/>
          </a:p>
          <a:p>
            <a:pPr lvl="2"/>
            <a:r>
              <a:rPr lang="en-US" altLang="ja-JP" dirty="0"/>
              <a:t>Excel</a:t>
            </a:r>
            <a:r>
              <a:rPr lang="ja-JP" altLang="en-US" dirty="0"/>
              <a:t>の分析結果における</a:t>
            </a:r>
            <a:r>
              <a:rPr lang="en-US" altLang="ja-JP" dirty="0"/>
              <a:t>t</a:t>
            </a:r>
            <a:r>
              <a:rPr lang="ja-JP" altLang="en-US" dirty="0"/>
              <a:t>値／</a:t>
            </a:r>
            <a:r>
              <a:rPr lang="en-US" altLang="ja-JP" dirty="0"/>
              <a:t>p</a:t>
            </a:r>
            <a:r>
              <a:rPr lang="ja-JP" altLang="en-US" dirty="0"/>
              <a:t>値の読み方</a:t>
            </a:r>
            <a:endParaRPr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章　第</a:t>
            </a:r>
            <a:r>
              <a:rPr lang="en-US" altLang="ja-JP" dirty="0"/>
              <a:t>5</a:t>
            </a:r>
            <a:r>
              <a:rPr lang="ja-JP" altLang="en-US" dirty="0"/>
              <a:t>節　分析結果の誤った解釈</a:t>
            </a:r>
            <a:endParaRPr lang="en-US" altLang="ja-JP" dirty="0"/>
          </a:p>
          <a:p>
            <a:pPr lvl="1"/>
            <a:r>
              <a:rPr lang="ja-JP" altLang="en-US" dirty="0"/>
              <a:t>分析結果の誤った解釈の事例を理解する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3922</TotalTime>
  <Words>3384</Words>
  <Application>Microsoft Macintosh PowerPoint</Application>
  <PresentationFormat>On-screen Show (4:3)</PresentationFormat>
  <Paragraphs>373</Paragraphs>
  <Slides>40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回帰分析の結果の解釈</vt:lpstr>
      <vt:lpstr>今日の目標</vt:lpstr>
      <vt:lpstr>PowerPoint Presentation</vt:lpstr>
      <vt:lpstr>回帰分析とは</vt:lpstr>
      <vt:lpstr>回帰分析</vt:lpstr>
      <vt:lpstr>結果の読み方①</vt:lpstr>
      <vt:lpstr>結果の読み方②</vt:lpstr>
      <vt:lpstr>結果の読み方③</vt:lpstr>
      <vt:lpstr>結果の読み方④</vt:lpstr>
      <vt:lpstr>結果の読み方⑤</vt:lpstr>
      <vt:lpstr>PowerPoint Presentation</vt:lpstr>
      <vt:lpstr>仮説検定の手順</vt:lpstr>
      <vt:lpstr>②帰無仮説と対立仮説の設定</vt:lpstr>
      <vt:lpstr>③有意水準の設定</vt:lpstr>
      <vt:lpstr>⑥検定統計量の計算</vt:lpstr>
      <vt:lpstr>⑦判断</vt:lpstr>
      <vt:lpstr>仮説検定とp値</vt:lpstr>
      <vt:lpstr>PowerPoint Presentation</vt:lpstr>
      <vt:lpstr>t検定</vt:lpstr>
      <vt:lpstr>単回帰分析におけるt検定①</vt:lpstr>
      <vt:lpstr>単回帰分析におけるt検定②</vt:lpstr>
      <vt:lpstr>単回帰分析におけるt検定③</vt:lpstr>
      <vt:lpstr>単回帰分析におけるt検定④</vt:lpstr>
      <vt:lpstr>PowerPoint Presentation</vt:lpstr>
      <vt:lpstr>①分散・標準偏差の解釈</vt:lpstr>
      <vt:lpstr>①分散・標準偏差の解釈</vt:lpstr>
      <vt:lpstr>②推定係数が有意ではない</vt:lpstr>
      <vt:lpstr>②推定係数が有意ではない</vt:lpstr>
      <vt:lpstr>③説明変数と目的変数の解釈</vt:lpstr>
      <vt:lpstr>③説明変数と目的変数の解釈</vt:lpstr>
      <vt:lpstr>④自由度修正済み決定係数がマイナス値</vt:lpstr>
      <vt:lpstr>④自由度修正済み決定係数がマイナス値</vt:lpstr>
      <vt:lpstr>⑤分析手法の選択の誤り</vt:lpstr>
      <vt:lpstr>⑤分析手法の選択の誤り</vt:lpstr>
      <vt:lpstr>(Advanced) 最小二乗法の条件</vt:lpstr>
      <vt:lpstr>⑥疑似相関</vt:lpstr>
      <vt:lpstr>⑥疑似相関</vt:lpstr>
      <vt:lpstr>⑦全数調査における推定の必要性</vt:lpstr>
      <vt:lpstr>⑦全数調査における推定の必要性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河野　洋</cp:lastModifiedBy>
  <cp:revision>99</cp:revision>
  <dcterms:created xsi:type="dcterms:W3CDTF">2025-03-03T09:28:12Z</dcterms:created>
  <dcterms:modified xsi:type="dcterms:W3CDTF">2025-12-17T00:59:35Z</dcterms:modified>
</cp:coreProperties>
</file>