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49"/>
  </p:notesMasterIdLst>
  <p:sldIdLst>
    <p:sldId id="256" r:id="rId2"/>
    <p:sldId id="257" r:id="rId3"/>
    <p:sldId id="258" r:id="rId4"/>
    <p:sldId id="562" r:id="rId5"/>
    <p:sldId id="589" r:id="rId6"/>
    <p:sldId id="590" r:id="rId7"/>
    <p:sldId id="563" r:id="rId8"/>
    <p:sldId id="564" r:id="rId9"/>
    <p:sldId id="592" r:id="rId10"/>
    <p:sldId id="593" r:id="rId11"/>
    <p:sldId id="594" r:id="rId12"/>
    <p:sldId id="591" r:id="rId13"/>
    <p:sldId id="595" r:id="rId14"/>
    <p:sldId id="596" r:id="rId15"/>
    <p:sldId id="597" r:id="rId16"/>
    <p:sldId id="575" r:id="rId17"/>
    <p:sldId id="271" r:id="rId18"/>
    <p:sldId id="598" r:id="rId19"/>
    <p:sldId id="599" r:id="rId20"/>
    <p:sldId id="600" r:id="rId21"/>
    <p:sldId id="601" r:id="rId22"/>
    <p:sldId id="603" r:id="rId23"/>
    <p:sldId id="602" r:id="rId24"/>
    <p:sldId id="604" r:id="rId25"/>
    <p:sldId id="605" r:id="rId26"/>
    <p:sldId id="606" r:id="rId27"/>
    <p:sldId id="607" r:id="rId28"/>
    <p:sldId id="608" r:id="rId29"/>
    <p:sldId id="609" r:id="rId30"/>
    <p:sldId id="610" r:id="rId31"/>
    <p:sldId id="615" r:id="rId32"/>
    <p:sldId id="616" r:id="rId33"/>
    <p:sldId id="617" r:id="rId34"/>
    <p:sldId id="619" r:id="rId35"/>
    <p:sldId id="584" r:id="rId36"/>
    <p:sldId id="624" r:id="rId37"/>
    <p:sldId id="623" r:id="rId38"/>
    <p:sldId id="620" r:id="rId39"/>
    <p:sldId id="621" r:id="rId40"/>
    <p:sldId id="622" r:id="rId41"/>
    <p:sldId id="625" r:id="rId42"/>
    <p:sldId id="586" r:id="rId43"/>
    <p:sldId id="626" r:id="rId44"/>
    <p:sldId id="628" r:id="rId45"/>
    <p:sldId id="585" r:id="rId46"/>
    <p:sldId id="629" r:id="rId47"/>
    <p:sldId id="262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60" d="100"/>
          <a:sy n="60" d="100"/>
        </p:scale>
        <p:origin x="1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非常にコンテンツが多いので，様子を見ながら適宜</a:t>
            </a:r>
            <a:r>
              <a:rPr kumimoji="1" lang="en-US" altLang="ja-JP" dirty="0"/>
              <a:t>2</a:t>
            </a:r>
            <a:r>
              <a:rPr kumimoji="1" lang="ja-JP" altLang="en-US" dirty="0"/>
              <a:t>コマに分けてください．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以下，確率密度関数等については，初学者には難易度が高いため，説明は不要かと思います．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280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0.emf"/><Relationship Id="rId7" Type="http://schemas.openxmlformats.org/officeDocument/2006/relationships/image" Target="../media/image21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3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7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5" Type="http://schemas.openxmlformats.org/officeDocument/2006/relationships/image" Target="../media/image53.png"/><Relationship Id="rId4" Type="http://schemas.openxmlformats.org/officeDocument/2006/relationships/image" Target="../media/image3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#07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確率分布：連続確率分布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積分の概念を学ぶ</a:t>
            </a:r>
            <a:endParaRPr kumimoji="1" lang="en-US" altLang="ja-JP" dirty="0"/>
          </a:p>
          <a:p>
            <a:pPr lvl="1"/>
            <a:r>
              <a:rPr lang="ja-JP" altLang="en-US" dirty="0"/>
              <a:t>標準正規分布とその特徴について理解する</a:t>
            </a:r>
            <a:endParaRPr kumimoji="1" lang="en-US" altLang="ja-JP" dirty="0"/>
          </a:p>
          <a:p>
            <a:pPr lvl="1"/>
            <a:r>
              <a:rPr lang="en-US" altLang="ja-JP" dirty="0"/>
              <a:t>t</a:t>
            </a:r>
            <a:r>
              <a:rPr lang="ja-JP" altLang="en-US" dirty="0"/>
              <a:t>分布とその特徴について理解する</a:t>
            </a:r>
            <a:endParaRPr lang="en-US" altLang="ja-JP" dirty="0"/>
          </a:p>
          <a:p>
            <a:pPr lvl="1"/>
            <a:r>
              <a:rPr kumimoji="1" lang="ja-JP" altLang="en-US" dirty="0"/>
              <a:t>カイ二乗分布とその特徴について理解する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確率分布の期待値と分散について学ぶ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５：連続確率分布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C0DD-EA13-4DFB-A6B9-0DE72911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895FA8-0113-78D2-87B4-F834290C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連続確率分布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BD79CA6-F10C-B8BC-1B03-AA59D788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4E1D21-A962-F0B2-83BD-487B6A359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>
                <a:solidFill>
                  <a:schemeClr val="accent5"/>
                </a:solidFill>
              </a:rPr>
              <a:t>連続確率分布</a:t>
            </a:r>
            <a:r>
              <a:rPr lang="ja-JP" altLang="en-US" dirty="0"/>
              <a:t>　</a:t>
            </a:r>
            <a:r>
              <a:rPr lang="en-US" altLang="ja-JP" dirty="0">
                <a:solidFill>
                  <a:schemeClr val="accent2"/>
                </a:solidFill>
              </a:rPr>
              <a:t>continuous probability distribution</a:t>
            </a:r>
          </a:p>
          <a:p>
            <a:pPr lvl="1"/>
            <a:r>
              <a:rPr lang="ja-JP" altLang="en-US" dirty="0"/>
              <a:t>累積確率分布関数が連続な確率分布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確率変数が連続変数</a:t>
            </a:r>
            <a:r>
              <a:rPr lang="ja-JP" altLang="en-US" dirty="0"/>
              <a:t>である場合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連続変数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連続的で，</a:t>
            </a:r>
            <a:br>
              <a:rPr kumimoji="1" lang="en-US" altLang="ja-JP" dirty="0"/>
            </a:br>
            <a:r>
              <a:rPr kumimoji="1" lang="ja-JP" altLang="en-US" dirty="0"/>
              <a:t>無限に中間の値が存在する変数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重さ，温度，距離，など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3C2569-9907-54D0-C8C4-2009EB528F1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C68BB6-B94A-FE81-75F0-67DE1E781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688" y="2152334"/>
            <a:ext cx="3823336" cy="229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76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4044-E8F7-DE27-C244-1AC4EE78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C3397-ABA6-943F-807E-EE49C486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連続</a:t>
            </a:r>
            <a:r>
              <a:rPr kumimoji="1" lang="ja-JP" altLang="en-US" dirty="0"/>
              <a:t>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BCBA58-EA17-7642-5D61-7387851D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17E5F9F-2A4F-C1E0-73CA-42001CF972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連続確率分布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continuous probability distribution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確率変数が連続変数</a:t>
                </a:r>
                <a:r>
                  <a:rPr lang="ja-JP" altLang="en-US" dirty="0"/>
                  <a:t>である場合</a:t>
                </a:r>
              </a:p>
              <a:p>
                <a:endParaRPr kumimoji="1" lang="en-US" altLang="ja-JP" dirty="0"/>
              </a:p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確率密度関数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probability density function</a:t>
                </a:r>
              </a:p>
              <a:p>
                <a:pPr lvl="1"/>
                <a:r>
                  <a:rPr kumimoji="1" lang="ja-JP" altLang="en-US" dirty="0"/>
                  <a:t>連続確率変数が，ある値をとるという事象の確率密度を表す関数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離散確率分布における確率質量関数に該当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一定の範囲にわたって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積分</a:t>
                </a:r>
                <a:r>
                  <a:rPr kumimoji="1" lang="ja-JP" altLang="en-US" dirty="0"/>
                  <a:t>することで，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確率変数がその範囲の値をとる確率を求めることができる</a:t>
                </a:r>
                <a:endParaRPr kumimoji="1" lang="en-US" altLang="ja-JP" dirty="0"/>
              </a:p>
              <a:p>
                <a:pPr lvl="1"/>
                <a:r>
                  <a:rPr lang="ja-JP" altLang="en-US" b="1" dirty="0">
                    <a:solidFill>
                      <a:schemeClr val="accent5"/>
                    </a:solidFill>
                  </a:rPr>
                  <a:t>定義域全体を積分すると</a:t>
                </a:r>
                <a:r>
                  <a:rPr lang="en-US" altLang="ja-JP" b="1" dirty="0">
                    <a:solidFill>
                      <a:schemeClr val="accent5"/>
                    </a:solidFill>
                  </a:rPr>
                  <a:t>1</a:t>
                </a:r>
              </a:p>
              <a:p>
                <a:pPr lvl="2"/>
                <a:r>
                  <a:rPr kumimoji="1" lang="ja-JP" altLang="en-US" dirty="0"/>
                  <a:t>確率の公理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ja-JP" altLang="en-US" dirty="0"/>
                  <a:t> より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17E5F9F-2A4F-C1E0-73CA-42001CF972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E13AFA-ED95-91FF-2913-DC84E9924B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DB36460-B6D2-F7B0-A9C1-7396A736F1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14"/>
          <a:stretch>
            <a:fillRect/>
          </a:stretch>
        </p:blipFill>
        <p:spPr>
          <a:xfrm>
            <a:off x="5742133" y="5039834"/>
            <a:ext cx="3269891" cy="1681478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F3303EB6-44D0-2181-6A73-C59ABC3AE461}"/>
              </a:ext>
            </a:extLst>
          </p:cNvPr>
          <p:cNvGrpSpPr/>
          <p:nvPr/>
        </p:nvGrpSpPr>
        <p:grpSpPr>
          <a:xfrm>
            <a:off x="7549170" y="5039834"/>
            <a:ext cx="1569660" cy="616687"/>
            <a:chOff x="7549170" y="5039834"/>
            <a:chExt cx="1569660" cy="616687"/>
          </a:xfrm>
        </p:grpSpPr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8A921942-E503-93FF-997A-5A4AAAF137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9237" y="5409166"/>
              <a:ext cx="233916" cy="24735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1048D248-DA29-6789-D2DB-E2C2EB2DE177}"/>
                </a:ext>
              </a:extLst>
            </p:cNvPr>
            <p:cNvSpPr txBox="1"/>
            <p:nvPr/>
          </p:nvSpPr>
          <p:spPr>
            <a:xfrm>
              <a:off x="7549170" y="5039834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確率密度関数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31521B3B-1C8D-7E15-B9EE-1F35D272FF71}"/>
              </a:ext>
            </a:extLst>
          </p:cNvPr>
          <p:cNvGrpSpPr/>
          <p:nvPr/>
        </p:nvGrpSpPr>
        <p:grpSpPr>
          <a:xfrm>
            <a:off x="4348715" y="5316279"/>
            <a:ext cx="2679406" cy="937276"/>
            <a:chOff x="4348715" y="5316279"/>
            <a:chExt cx="2679406" cy="937276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BB92AEC3-F26C-4472-541E-28672569FFAA}"/>
                </a:ext>
              </a:extLst>
            </p:cNvPr>
            <p:cNvCxnSpPr>
              <a:cxnSpLocks/>
            </p:cNvCxnSpPr>
            <p:nvPr/>
          </p:nvCxnSpPr>
          <p:spPr>
            <a:xfrm>
              <a:off x="4348716" y="5316279"/>
              <a:ext cx="2679405" cy="808074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5FDFD39-4019-50B2-FA68-E90893FE393D}"/>
                </a:ext>
              </a:extLst>
            </p:cNvPr>
            <p:cNvSpPr txBox="1"/>
            <p:nvPr/>
          </p:nvSpPr>
          <p:spPr>
            <a:xfrm>
              <a:off x="4348715" y="5915001"/>
              <a:ext cx="211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ここの内側の面積は</a:t>
              </a:r>
              <a:r>
                <a:rPr kumimoji="1" lang="en-US" altLang="ja-JP" sz="16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endParaRPr kumimoji="1" lang="ja-JP" altLang="en-US" sz="1600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52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1D79E-9B6E-C17B-4544-981F134A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DBC501-537D-7004-B271-EAEC6C50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連続</a:t>
            </a:r>
            <a:r>
              <a:rPr kumimoji="1" lang="ja-JP" altLang="en-US" dirty="0"/>
              <a:t>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88573DA-5B49-74E4-63F0-FCE46F58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E63D7F3-F661-E8A7-D47D-6AB420D581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連続確率分布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continuous probability distribution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確率変数が連続変数</a:t>
                </a:r>
                <a:r>
                  <a:rPr lang="ja-JP" altLang="en-US" dirty="0"/>
                  <a:t>である場合</a:t>
                </a:r>
              </a:p>
              <a:p>
                <a:endParaRPr kumimoji="1" lang="en-US" altLang="ja-JP" dirty="0"/>
              </a:p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累積分布関数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cumulative distribution function</a:t>
                </a:r>
              </a:p>
              <a:p>
                <a:pPr lvl="1"/>
                <a:r>
                  <a:rPr kumimoji="1"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の実現値が，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以下になる確率の関数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連続確率分布では，</a:t>
                </a:r>
                <a:br>
                  <a:rPr lang="en-US" altLang="ja-JP" dirty="0"/>
                </a:br>
                <a:r>
                  <a:rPr lang="ja-JP" altLang="en-US" dirty="0"/>
                  <a:t>確率密度関数を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まで定積分したもの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E63D7F3-F661-E8A7-D47D-6AB420D581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666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84388-0A7B-B766-92A3-AD5CE529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E2BE8A5-5FF8-F89E-4FE2-2D8BFBC03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4A92F3-BEFE-3151-A1AD-B371138D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06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CE7E-2364-819F-D9B6-6C58475A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2A833-BD82-6571-D990-597AA159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正規分布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BE2AF6-5911-A0A5-F11B-6A118A53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>
                    <a:solidFill>
                      <a:schemeClr val="tx2"/>
                    </a:solidFill>
                  </a:rPr>
                  <a:t>正規分布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normal distribution</a:t>
                </a:r>
              </a:p>
              <a:p>
                <a:pPr lvl="1"/>
                <a:r>
                  <a:rPr lang="ja-JP" altLang="en-US" sz="2000" dirty="0"/>
                  <a:t>データが平均付近に集積するような分布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/>
                  <a:t>平均値を中心に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左右対称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endParaRPr kumimoji="1" lang="en-US" altLang="ja-JP" sz="2400" dirty="0"/>
              </a:p>
              <a:p>
                <a:r>
                  <a:rPr kumimoji="1" lang="ja-JP" altLang="en-US" sz="2400" dirty="0"/>
                  <a:t>確率密度関数</a:t>
                </a:r>
                <a:endParaRPr kumimoji="1"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  <a:p>
                <a:r>
                  <a:rPr kumimoji="1" lang="ja-JP" altLang="en-US" sz="2400" dirty="0"/>
                  <a:t>期待値</a:t>
                </a:r>
                <a:endParaRPr kumimoji="1"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kumimoji="1" lang="en-US" altLang="ja-JP" sz="2000" dirty="0"/>
              </a:p>
              <a:p>
                <a:r>
                  <a:rPr lang="ja-JP" altLang="en-US" sz="2400" dirty="0"/>
                  <a:t>分散</a:t>
                </a:r>
                <a:endParaRPr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24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53ACFB0-6B75-9037-C964-2F5F6B9F1778}"/>
                  </a:ext>
                </a:extLst>
              </p:cNvPr>
              <p:cNvSpPr txBox="1"/>
              <p:nvPr/>
            </p:nvSpPr>
            <p:spPr>
              <a:xfrm>
                <a:off x="4446928" y="2722396"/>
                <a:ext cx="4565096" cy="14132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累積分布関数</a:t>
                </a:r>
                <a:endParaRPr lang="en-US" altLang="ja-JP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2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i="1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ja-JP" i="1">
                              <a:solidFill>
                                <a:schemeClr val="tx2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2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altLang="ja-JP" i="1">
                                  <a:solidFill>
                                    <a:schemeClr val="tx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tx2">
                                      <a:lumMod val="40000"/>
                                      <a:lumOff val="6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erf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tx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i="1">
                                      <a:solidFill>
                                        <a:schemeClr val="tx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ja-JP" i="1">
                                      <a:solidFill>
                                        <a:schemeClr val="tx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i="1">
                                      <a:solidFill>
                                        <a:schemeClr val="tx2">
                                          <a:lumMod val="40000"/>
                                          <a:lumOff val="6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ja-JP" i="1">
                                          <a:solidFill>
                                            <a:schemeClr val="tx2">
                                              <a:lumMod val="40000"/>
                                              <a:lumOff val="6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2">
                                              <a:lumMod val="40000"/>
                                              <a:lumOff val="6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altLang="ja-JP" i="1">
                                              <a:solidFill>
                                                <a:schemeClr val="tx2">
                                                  <a:lumMod val="40000"/>
                                                  <a:lumOff val="6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tx2">
                                                  <a:lumMod val="40000"/>
                                                  <a:lumOff val="6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ja-JP" i="1">
                                              <a:solidFill>
                                                <a:schemeClr val="tx2">
                                                  <a:lumMod val="40000"/>
                                                  <a:lumOff val="6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altLang="ja-JP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tx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erf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en-US" altLang="ja-JP" i="1">
                            <a:solidFill>
                              <a:schemeClr val="tx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i="1">
                            <a:solidFill>
                              <a:schemeClr val="tx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i="1">
                            <a:solidFill>
                              <a:schemeClr val="tx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tx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tx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2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2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2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nary>
                    <m:r>
                      <a:rPr lang="en-US" altLang="ja-JP" i="1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ⅆ</m:t>
                    </m:r>
                    <m:r>
                      <a:rPr lang="en-US" altLang="ja-JP" i="1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dirty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（誤差関数）</a:t>
                </a:r>
                <a:endParaRPr lang="en-US" altLang="ja-JP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53ACFB0-6B75-9037-C964-2F5F6B9F1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928" y="2722396"/>
                <a:ext cx="4565096" cy="1413207"/>
              </a:xfrm>
              <a:prstGeom prst="rect">
                <a:avLst/>
              </a:prstGeom>
              <a:blipFill>
                <a:blip r:embed="rId4"/>
                <a:stretch>
                  <a:fillRect l="-1068" t="-2165" r="-534" b="-528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CC0957D4-1401-77D3-E06B-DB71C65CF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314"/>
          <a:stretch>
            <a:fillRect/>
          </a:stretch>
        </p:blipFill>
        <p:spPr>
          <a:xfrm>
            <a:off x="4745424" y="4667690"/>
            <a:ext cx="3993576" cy="205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20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E0365-685E-93F5-0D41-2A906769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7C3806-4910-9B7C-6EAE-7633E618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B692CE-6B5C-C5A6-373F-53227B1A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A4EFB94-5D9D-1916-D721-A669BB418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sz="2400" dirty="0">
                    <a:solidFill>
                      <a:schemeClr val="tx2"/>
                    </a:solidFill>
                  </a:rPr>
                  <a:t>t</a:t>
                </a:r>
                <a:r>
                  <a:rPr lang="ja-JP" altLang="en-US" sz="2400" dirty="0">
                    <a:solidFill>
                      <a:schemeClr val="tx2"/>
                    </a:solidFill>
                  </a:rPr>
                  <a:t>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Student’s t-distribution</a:t>
                </a:r>
              </a:p>
              <a:p>
                <a:pPr lvl="1"/>
                <a:r>
                  <a:rPr lang="ja-JP" altLang="en-US" sz="2000" dirty="0"/>
                  <a:t>母分散が未知の場合の，母平均に対する標本平均の，</a:t>
                </a:r>
                <a:br>
                  <a:rPr lang="en-US" altLang="ja-JP" sz="2000" dirty="0"/>
                </a:br>
                <a:r>
                  <a:rPr lang="ja-JP" altLang="en-US" sz="2000" dirty="0"/>
                  <a:t>標準化された距離を表す分布</a:t>
                </a:r>
                <a:endParaRPr lang="en-US" altLang="ja-JP" sz="2000" dirty="0"/>
              </a:p>
              <a:p>
                <a:pPr lvl="2"/>
                <a:r>
                  <a:rPr lang="ja-JP" altLang="en-US" sz="1600" dirty="0"/>
                  <a:t>標準化された距離：母分散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600" dirty="0"/>
                  <a:t>の代わりに，標本不偏分散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sz="1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sz="16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6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16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ja-JP" altLang="en-US" sz="1600" dirty="0"/>
                  <a:t>を利用して標準化する</a:t>
                </a:r>
                <a:endParaRPr lang="en-US" altLang="ja-JP" sz="1600" dirty="0"/>
              </a:p>
              <a:p>
                <a:pPr lvl="1"/>
                <a:r>
                  <a:rPr lang="ja-JP" altLang="en-US" sz="2000" dirty="0"/>
                  <a:t>自由度によって形状が変わる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自由度が大きくなるほど，標準正規分布に近似</a:t>
                </a:r>
                <a:r>
                  <a:rPr lang="ja-JP" altLang="en-US" sz="2000" dirty="0"/>
                  <a:t>する</a:t>
                </a:r>
                <a:endParaRPr kumimoji="1" lang="en-US" altLang="ja-JP" sz="2000" dirty="0"/>
              </a:p>
              <a:p>
                <a:endParaRPr kumimoji="1" lang="en-US" altLang="ja-JP" sz="1600" dirty="0"/>
              </a:p>
              <a:p>
                <a:r>
                  <a:rPr kumimoji="1" lang="ja-JP" altLang="en-US" sz="1600" dirty="0"/>
                  <a:t>確率密度関数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𝜈𝜋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d>
                      <m:d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den>
                        </m:f>
                      </m:e>
                    </m:d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sz="14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sz="1400" dirty="0"/>
              </a:p>
              <a:p>
                <a:r>
                  <a:rPr kumimoji="1" lang="ja-JP" altLang="en-US" sz="1600" dirty="0"/>
                  <a:t>期待値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sz="1400" dirty="0"/>
              </a:p>
              <a:p>
                <a:r>
                  <a:rPr lang="ja-JP" altLang="en-US" sz="1600" dirty="0"/>
                  <a:t>分散</a:t>
                </a:r>
                <a:endParaRPr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kumimoji="1" lang="en-US" altLang="ja-JP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400" b="0" i="1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 1&lt;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ja-JP" sz="1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ja-JP" sz="1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A4EFB94-5D9D-1916-D721-A669BB418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図 11">
            <a:extLst>
              <a:ext uri="{FF2B5EF4-FFF2-40B4-BE49-F238E27FC236}">
                <a16:creationId xmlns:a16="http://schemas.microsoft.com/office/drawing/2014/main" id="{C1116F43-DFDD-4919-CC03-B49F76EAD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861" y="3689499"/>
            <a:ext cx="5279664" cy="316850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C6BBF2A-23FB-B84D-4F90-E28ED7E9E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861" y="3689499"/>
            <a:ext cx="5281200" cy="316942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E7256504-74C2-8D97-E910-09A46EBB8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5861" y="3674436"/>
            <a:ext cx="5281200" cy="316942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4B6EA1C-5641-97BF-211F-D483E693D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2800" y="3689038"/>
            <a:ext cx="5281200" cy="316942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DA36580-B7B7-9C71-0A2A-A05F4154A2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800" y="3689038"/>
            <a:ext cx="5281200" cy="316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3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20A6-6069-C914-D08C-7B12F82D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C9D5D-B6D9-B89C-162A-9B3FE12F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カイ二乗分布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EA171F1-4607-1F69-4FB3-B0AE7CC1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1C0D880-B3CF-FF83-2C4A-9A0F84A67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>
                    <a:solidFill>
                      <a:schemeClr val="tx2"/>
                    </a:solidFill>
                  </a:rPr>
                  <a:t>カイ二乗分布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chi-squared distribution</a:t>
                </a:r>
              </a:p>
              <a:p>
                <a:pPr lvl="1"/>
                <a:r>
                  <a:rPr lang="ja-JP" altLang="en-US" sz="2000" dirty="0"/>
                  <a:t>独立に標準正規分布に従う確率変数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の平方和を表す分布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Sup>
                          <m:sSub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600" dirty="0"/>
                  <a:t>は自由度</a:t>
                </a:r>
                <a:endParaRPr lang="en-US" altLang="ja-JP" sz="1600" dirty="0"/>
              </a:p>
              <a:p>
                <a:pPr lvl="1"/>
                <a:r>
                  <a:rPr lang="ja-JP" altLang="en-US" sz="2000" dirty="0"/>
                  <a:t>自由度で除して比をとると，</a:t>
                </a:r>
                <a:r>
                  <a:rPr lang="en-US" altLang="ja-JP" sz="2000" dirty="0"/>
                  <a:t>F</a:t>
                </a:r>
                <a:r>
                  <a:rPr lang="ja-JP" altLang="en-US" sz="2000" dirty="0"/>
                  <a:t>分布に従う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左右非対称</a:t>
                </a:r>
                <a:r>
                  <a:rPr lang="ja-JP" altLang="en-US" sz="2000" dirty="0"/>
                  <a:t>．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自由度が大きくなるほど，左右対称になっていく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endParaRPr kumimoji="1" lang="en-US" altLang="ja-JP" sz="1600" dirty="0"/>
              </a:p>
              <a:p>
                <a:r>
                  <a:rPr kumimoji="1" lang="ja-JP" altLang="en-US" sz="1600" dirty="0"/>
                  <a:t>確率密度関数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kumimoji="1" lang="en-US" altLang="ja-JP" sz="1400" dirty="0"/>
              </a:p>
              <a:p>
                <a:r>
                  <a:rPr kumimoji="1" lang="ja-JP" altLang="en-US" sz="1600" dirty="0"/>
                  <a:t>期待値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kumimoji="1" lang="en-US" altLang="ja-JP" sz="1400" dirty="0"/>
              </a:p>
              <a:p>
                <a:r>
                  <a:rPr lang="ja-JP" altLang="en-US" sz="1600" dirty="0"/>
                  <a:t>分散</a:t>
                </a:r>
                <a:endParaRPr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1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1C0D880-B3CF-FF83-2C4A-9A0F84A67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297718D0-4E25-0499-3DAF-D61DA6DAE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800" y="3688575"/>
            <a:ext cx="5281200" cy="316942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E3E4C15-8D4B-B8BE-7E60-9467EEE8F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800" y="3688576"/>
            <a:ext cx="5281200" cy="316942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2750B1A-C7FB-164A-4A12-93BE9ECC4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800" y="3688574"/>
            <a:ext cx="5281200" cy="316942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EBD9384-7250-3961-F6D7-942D52417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2800" y="3688576"/>
            <a:ext cx="5281200" cy="316942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668E704-4AED-5BFF-8EFF-D9CF91F03A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800" y="3688576"/>
            <a:ext cx="5281200" cy="316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0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C37B6-DC73-C82D-72DA-B2E7D3979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05EE32-B016-8207-C2D3-3C4910A5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</a:t>
            </a:r>
            <a:r>
              <a:rPr lang="ja-JP" altLang="en-US" dirty="0"/>
              <a:t>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D3ACB61-6329-B123-6AD4-A9275E88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48F8A6B-7CC3-8CFB-A8C9-34D28509F7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sz="2400" dirty="0">
                    <a:solidFill>
                      <a:schemeClr val="tx2"/>
                    </a:solidFill>
                  </a:rPr>
                  <a:t>F</a:t>
                </a:r>
                <a:r>
                  <a:rPr lang="ja-JP" altLang="en-US" sz="2400" dirty="0">
                    <a:solidFill>
                      <a:schemeClr val="tx2"/>
                    </a:solidFill>
                  </a:rPr>
                  <a:t>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F-distribution</a:t>
                </a:r>
              </a:p>
              <a:p>
                <a:pPr lvl="1"/>
                <a:r>
                  <a:rPr lang="ja-JP" altLang="en-US" sz="2000" dirty="0"/>
                  <a:t>カイ二乗分布に従う</a:t>
                </a:r>
                <a:r>
                  <a:rPr lang="en-US" altLang="ja-JP" sz="2000" dirty="0"/>
                  <a:t>2</a:t>
                </a:r>
                <a:r>
                  <a:rPr lang="ja-JP" altLang="en-US" sz="2000" dirty="0"/>
                  <a:t>つの変数の比の分布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~</m:t>
                    </m:r>
                    <m:sSubSup>
                      <m:sSub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~</m:t>
                    </m:r>
                    <m:sSubSup>
                      <m:sSub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左右非対称</a:t>
                </a:r>
                <a:endParaRPr lang="en-US" altLang="ja-JP" sz="2000" dirty="0"/>
              </a:p>
              <a:p>
                <a:endParaRPr kumimoji="1" lang="en-US" altLang="ja-JP" sz="1600" dirty="0"/>
              </a:p>
              <a:p>
                <a:r>
                  <a:rPr kumimoji="1" lang="ja-JP" altLang="en-US" sz="1600" dirty="0"/>
                  <a:t>確率密度関数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sSup>
                      <m:sSup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ja-JP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ja-JP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400" i="1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kumimoji="1" lang="en-US" altLang="ja-JP" sz="1400" dirty="0"/>
              </a:p>
              <a:p>
                <a:r>
                  <a:rPr kumimoji="1" lang="ja-JP" altLang="en-US" sz="1600" dirty="0"/>
                  <a:t>期待値</a:t>
                </a:r>
                <a:endParaRPr kumimoji="1"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kumimoji="1" lang="en-US" altLang="ja-JP" sz="1400" dirty="0"/>
              </a:p>
              <a:p>
                <a:r>
                  <a:rPr lang="ja-JP" altLang="en-US" sz="1600" dirty="0"/>
                  <a:t>分散</a:t>
                </a:r>
                <a:endParaRPr lang="en-US" altLang="ja-JP" sz="16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</m:e>
                        </m:d>
                      </m:den>
                    </m:f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&gt;4</m:t>
                    </m:r>
                  </m:oMath>
                </a14:m>
                <a:endParaRPr kumimoji="1" lang="en-US" altLang="ja-JP" sz="1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48F8A6B-7CC3-8CFB-A8C9-34D28509F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図 12">
            <a:extLst>
              <a:ext uri="{FF2B5EF4-FFF2-40B4-BE49-F238E27FC236}">
                <a16:creationId xmlns:a16="http://schemas.microsoft.com/office/drawing/2014/main" id="{8B4C1FA4-4FB1-80B3-DD42-F6316D523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13276"/>
            <a:ext cx="4573524" cy="274472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497037AF-73AC-111D-E1D6-90BCCF9D2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476" y="4113276"/>
            <a:ext cx="4573524" cy="274472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9697169-F088-3174-E94A-1BF9A0922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476" y="4113276"/>
            <a:ext cx="4573524" cy="274472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AB7CF64-6CFC-E4EA-FD3A-552C8FBBA4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0476" y="4113276"/>
            <a:ext cx="4573524" cy="274472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8E1EA7D2-B248-B841-6729-357BC0876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476" y="4113275"/>
            <a:ext cx="4573524" cy="274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236DFB-021C-421C-131E-7E438C4B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確率密度関数の積分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280C53A-77D0-751B-E787-48F15244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1C06887-6779-CE81-E7F5-BE8B49D185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確率密度関数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sz="2400" dirty="0"/>
                  <a:t>の積分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横軸</a:t>
                </a:r>
                <a:r>
                  <a:rPr lang="ja-JP" altLang="en-US" sz="1600" dirty="0"/>
                  <a:t>（確率変数のとりうる値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600" dirty="0"/>
                  <a:t>）</a:t>
                </a:r>
                <a:r>
                  <a:rPr lang="ja-JP" altLang="en-US" sz="2000" dirty="0"/>
                  <a:t>と，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横軸上の任意の点</a:t>
                </a:r>
                <a:r>
                  <a:rPr lang="ja-JP" altLang="en-US" sz="1600" dirty="0"/>
                  <a:t>（確率変数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600" dirty="0"/>
                  <a:t>の実現値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1600" dirty="0"/>
                  <a:t>）</a:t>
                </a:r>
                <a:r>
                  <a:rPr lang="ja-JP" altLang="en-US" sz="2000" dirty="0"/>
                  <a:t>，</a:t>
                </a:r>
                <a:br>
                  <a:rPr lang="en-US" altLang="ja-JP" sz="2000" dirty="0"/>
                </a:br>
                <a:r>
                  <a:rPr lang="ja-JP" altLang="en-US" sz="2000" dirty="0">
                    <a:solidFill>
                      <a:schemeClr val="accent5"/>
                    </a:solidFill>
                  </a:rPr>
                  <a:t>確率密度関数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sz="2000" dirty="0"/>
                  <a:t>で囲まれる範囲の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面積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確率変数が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000" dirty="0"/>
                  <a:t>となる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000" dirty="0"/>
                  <a:t>を表す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b="1" dirty="0"/>
                  <a:t>下側確率</a:t>
                </a:r>
                <a:r>
                  <a:rPr lang="ja-JP" altLang="en-US" sz="2000" dirty="0"/>
                  <a:t>　</a:t>
                </a:r>
                <a:r>
                  <a:rPr lang="en-US" altLang="ja-JP" sz="2000" dirty="0">
                    <a:solidFill>
                      <a:schemeClr val="accent2"/>
                    </a:solidFill>
                  </a:rPr>
                  <a:t>lower-tail probability</a:t>
                </a:r>
              </a:p>
              <a:p>
                <a:pPr lvl="1"/>
                <a:r>
                  <a:rPr lang="ja-JP" altLang="en-US" sz="2000" dirty="0"/>
                  <a:t>累積分布関数</a:t>
                </a:r>
                <a:br>
                  <a:rPr lang="en-US" altLang="ja-JP" sz="2000" dirty="0"/>
                </a:br>
                <a:r>
                  <a:rPr lang="ja-JP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1C06887-6779-CE81-E7F5-BE8B49D18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34EBEBF6-39D1-59CB-2625-1672C0694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058" y="3110013"/>
            <a:ext cx="5485966" cy="329231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14AC75D-D672-7E41-91E3-F2CA95F6357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474C9CF-BB6A-4BD7-75E0-FCC7188AE1AC}"/>
              </a:ext>
            </a:extLst>
          </p:cNvPr>
          <p:cNvGrpSpPr/>
          <p:nvPr/>
        </p:nvGrpSpPr>
        <p:grpSpPr>
          <a:xfrm>
            <a:off x="7293936" y="6039293"/>
            <a:ext cx="1238416" cy="732363"/>
            <a:chOff x="7293936" y="6039293"/>
            <a:chExt cx="1238416" cy="732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CC3C624-3CCF-C2B0-FD8C-683F27DE5BF4}"/>
                    </a:ext>
                  </a:extLst>
                </p:cNvPr>
                <p:cNvSpPr txBox="1"/>
                <p:nvPr/>
              </p:nvSpPr>
              <p:spPr>
                <a:xfrm>
                  <a:off x="7293936" y="6402324"/>
                  <a:ext cx="12384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任意の点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CC3C624-3CCF-C2B0-FD8C-683F27DE5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936" y="6402324"/>
                  <a:ext cx="123841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433" t="-11475" b="-213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AEDCF17B-8ED9-C477-988B-33C224A9CBFB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V="1">
              <a:off x="7293936" y="6039293"/>
              <a:ext cx="0" cy="54769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8CFCDB8-F9B8-7836-F4E5-8E874BD66FD7}"/>
                  </a:ext>
                </a:extLst>
              </p:cNvPr>
              <p:cNvSpPr txBox="1"/>
              <p:nvPr/>
            </p:nvSpPr>
            <p:spPr>
              <a:xfrm>
                <a:off x="5641785" y="5114261"/>
                <a:ext cx="125451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8CFCDB8-F9B8-7836-F4E5-8E874BD66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785" y="5114261"/>
                <a:ext cx="125451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23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A52B1-37A0-61E8-C01C-9F566851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例①　すべての範囲の場合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AB92C3-C5E3-90F7-80FD-0DE3D779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B0E72122-B373-DAE9-6493-76AB66A7885E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238002" y="810704"/>
            <a:ext cx="6667200" cy="40012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641FD47-4E75-9A4E-30C2-8F3A91767B41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−∞&lt;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　←確率の公理より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kumimoji="1"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641FD47-4E75-9A4E-30C2-8F3A91767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824" t="-3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754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F58CA-B566-A079-3DCF-EA9AA200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B0A39-2F5F-A5A6-E93E-904E07E1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例②　下側確率の場合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65B18AF-A11C-5E1B-84CE-63B93D01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EB22D450-7ACE-C6AA-0812-099505F126B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238002" y="810704"/>
            <a:ext cx="6667200" cy="40012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1DD0EB2A-749E-6F00-7BD7-464C3C1C8490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　←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よりも小さい値をとる確率　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1DD0EB2A-749E-6F00-7BD7-464C3C1C8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824" t="-30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DB1737A-F77D-902F-9B42-7AFF46CEFBD7}"/>
                  </a:ext>
                </a:extLst>
              </p:cNvPr>
              <p:cNvSpPr txBox="1"/>
              <p:nvPr/>
            </p:nvSpPr>
            <p:spPr>
              <a:xfrm>
                <a:off x="5592726" y="4350248"/>
                <a:ext cx="4424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DB1737A-F77D-902F-9B42-7AFF46CEF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726" y="4350248"/>
                <a:ext cx="44242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185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53D1-1074-D4EB-1FBC-530DAD27C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CA93020-893C-D82B-D1AF-31F206CD40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例</a:t>
                </a:r>
                <a:r>
                  <a:rPr lang="ja-JP" altLang="en-US" dirty="0"/>
                  <a:t>③</a:t>
                </a:r>
                <a:r>
                  <a:rPr kumimoji="1" lang="ja-JP" altLang="en-US" dirty="0"/>
                  <a:t>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までの範囲の場合</a:t>
                </a:r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CA93020-893C-D82B-D1AF-31F206CD4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90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9125B1C-9C80-10D9-658D-072970FB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52674661-7C67-48C7-9F24-9F249328A62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1238295" y="810704"/>
            <a:ext cx="6666614" cy="400085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F999441D-D821-8F8B-2AFB-8B5FBE9C369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←確率変数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の間の値をとる確率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F999441D-D821-8F8B-2AFB-8B5FBE9C3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4"/>
                <a:stretch>
                  <a:fillRect l="-824" t="-30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F94C233-6684-534B-453D-FD632193A6D9}"/>
                  </a:ext>
                </a:extLst>
              </p:cNvPr>
              <p:cNvSpPr txBox="1"/>
              <p:nvPr/>
            </p:nvSpPr>
            <p:spPr>
              <a:xfrm>
                <a:off x="5603359" y="4349896"/>
                <a:ext cx="4430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F94C233-6684-534B-453D-FD632193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59" y="4349896"/>
                <a:ext cx="44307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225D8E4-85CB-C70B-B666-D43623D10744}"/>
                  </a:ext>
                </a:extLst>
              </p:cNvPr>
              <p:cNvSpPr txBox="1"/>
              <p:nvPr/>
            </p:nvSpPr>
            <p:spPr>
              <a:xfrm>
                <a:off x="3091994" y="4349895"/>
                <a:ext cx="4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225D8E4-85CB-C70B-B666-D43623D10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994" y="4349895"/>
                <a:ext cx="44864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ADE95F5-4CA0-2E1F-1611-FCBAE09571EF}"/>
              </a:ext>
            </a:extLst>
          </p:cNvPr>
          <p:cNvGrpSpPr/>
          <p:nvPr/>
        </p:nvGrpSpPr>
        <p:grpSpPr>
          <a:xfrm>
            <a:off x="6200514" y="834729"/>
            <a:ext cx="2942690" cy="1524570"/>
            <a:chOff x="6200514" y="834729"/>
            <a:chExt cx="2942690" cy="1524570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173E96B-3F5A-B318-78E8-CE8E65236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02819" y="834729"/>
              <a:ext cx="2540385" cy="15245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4F073AC-326F-8CAF-F07D-412C88623A08}"/>
                    </a:ext>
                  </a:extLst>
                </p:cNvPr>
                <p:cNvSpPr txBox="1"/>
                <p:nvPr/>
              </p:nvSpPr>
              <p:spPr>
                <a:xfrm>
                  <a:off x="6200514" y="1292556"/>
                  <a:ext cx="1346074" cy="7191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kumimoji="1"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4F073AC-326F-8CAF-F07D-412C88623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0514" y="1292556"/>
                  <a:ext cx="1346074" cy="7191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0CC220E-B123-B32C-21B1-E3990BFE4CC1}"/>
              </a:ext>
            </a:extLst>
          </p:cNvPr>
          <p:cNvGrpSpPr/>
          <p:nvPr/>
        </p:nvGrpSpPr>
        <p:grpSpPr>
          <a:xfrm>
            <a:off x="6200514" y="2383325"/>
            <a:ext cx="2943905" cy="1525299"/>
            <a:chOff x="6200514" y="2383325"/>
            <a:chExt cx="2943905" cy="152529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1D7B2822-CC63-9D9D-36E6-655191574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02819" y="2383325"/>
              <a:ext cx="2541600" cy="152529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70FE6854-DE4A-A3F6-3B6F-33FFCC4DDCEF}"/>
                    </a:ext>
                  </a:extLst>
                </p:cNvPr>
                <p:cNvSpPr txBox="1"/>
                <p:nvPr/>
              </p:nvSpPr>
              <p:spPr>
                <a:xfrm>
                  <a:off x="6200514" y="2883033"/>
                  <a:ext cx="1346073" cy="690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kumimoji="1"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70FE6854-DE4A-A3F6-3B6F-33FFCC4DD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0514" y="2883033"/>
                  <a:ext cx="1346073" cy="69083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9C21F2F-4AD5-B321-CB0D-1D2909EE2DD7}"/>
              </a:ext>
            </a:extLst>
          </p:cNvPr>
          <p:cNvSpPr txBox="1"/>
          <p:nvPr/>
        </p:nvSpPr>
        <p:spPr>
          <a:xfrm>
            <a:off x="6618369" y="23956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2BF1984-ADDB-41D4-37BD-6BB41E6F321E}"/>
              </a:ext>
            </a:extLst>
          </p:cNvPr>
          <p:cNvSpPr txBox="1"/>
          <p:nvPr/>
        </p:nvSpPr>
        <p:spPr>
          <a:xfrm>
            <a:off x="6602819" y="384202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を引く</a:t>
            </a:r>
          </a:p>
        </p:txBody>
      </p:sp>
    </p:spTree>
    <p:extLst>
      <p:ext uri="{BB962C8B-B14F-4D97-AF65-F5344CB8AC3E}">
        <p14:creationId xmlns:p14="http://schemas.microsoft.com/office/powerpoint/2010/main" val="141297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0194-9996-ED0C-B99C-5942546F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704AFC-17B0-9834-5117-153039D60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５：</a:t>
            </a:r>
            <a:r>
              <a:rPr lang="ja-JP" altLang="en-US" dirty="0"/>
              <a:t>連続確率分布</a:t>
            </a:r>
            <a:endParaRPr lang="en-US" altLang="ja-JP" dirty="0"/>
          </a:p>
          <a:p>
            <a:r>
              <a:rPr lang="ja-JP" altLang="en-US" dirty="0"/>
              <a:t>　　　正規分布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AE30B9-0289-453F-783F-322E9518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42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9FDDF-8B90-5D13-76AE-6FF798BD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正規分布の特徴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B64645C-565D-D3AF-8D30-1083365D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A13A8A-2D94-3F2E-6015-F9107386D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中心が平均値</a:t>
            </a:r>
            <a:endParaRPr kumimoji="1" lang="en-US" altLang="ja-JP" dirty="0"/>
          </a:p>
          <a:p>
            <a:r>
              <a:rPr lang="ja-JP" altLang="en-US" dirty="0"/>
              <a:t>左右対称</a:t>
            </a:r>
            <a:endParaRPr lang="en-US" altLang="ja-JP" dirty="0"/>
          </a:p>
          <a:p>
            <a:r>
              <a:rPr kumimoji="1" lang="ja-JP" altLang="en-US" dirty="0"/>
              <a:t>単峰型</a:t>
            </a:r>
            <a:endParaRPr kumimoji="1" lang="en-US" altLang="ja-JP" dirty="0"/>
          </a:p>
          <a:p>
            <a:r>
              <a:rPr kumimoji="1" lang="ja-JP" altLang="en-US" dirty="0"/>
              <a:t>横軸が漸近線</a:t>
            </a:r>
            <a:endParaRPr kumimoji="1" lang="en-US" altLang="ja-JP" dirty="0"/>
          </a:p>
          <a:p>
            <a:r>
              <a:rPr lang="ja-JP" altLang="en-US" dirty="0"/>
              <a:t>分散・標準偏差によって形状が変わる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84AF8ED-4638-C548-BF0F-E286C747190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409177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647201-CB53-0246-046D-FFC75DE94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中心極限定理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70D95D-3B39-4DFC-C5C4-C03368A2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8450E2-F418-F01C-D7CD-24267D9C0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中心極限定理　</a:t>
            </a:r>
            <a:r>
              <a:rPr kumimoji="1" lang="en-US" altLang="ja-JP" dirty="0">
                <a:solidFill>
                  <a:schemeClr val="accent2"/>
                </a:solidFill>
              </a:rPr>
              <a:t>central limit theorem</a:t>
            </a:r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標本平均と母平均の誤差</a:t>
            </a:r>
            <a:r>
              <a:rPr lang="ja-JP" altLang="en-US" dirty="0"/>
              <a:t>の確率分布が，</a:t>
            </a:r>
            <a:br>
              <a:rPr lang="en-US" altLang="ja-JP" dirty="0"/>
            </a:br>
            <a:r>
              <a:rPr lang="ja-JP" altLang="en-US" dirty="0"/>
              <a:t>標本の大きさを大きくすると，正規分布に近似する</a:t>
            </a:r>
            <a:endParaRPr lang="en-US" altLang="ja-JP" dirty="0"/>
          </a:p>
          <a:p>
            <a:pPr lvl="1"/>
            <a:r>
              <a:rPr lang="ja-JP" altLang="en-US" dirty="0"/>
              <a:t>標本平均のばらつき</a:t>
            </a:r>
            <a:r>
              <a:rPr lang="ja-JP" altLang="en-US" sz="1800" dirty="0"/>
              <a:t>（誤差）</a:t>
            </a:r>
            <a:r>
              <a:rPr lang="ja-JP" altLang="en-US" dirty="0"/>
              <a:t>が正規分布に従うことを示す</a:t>
            </a:r>
            <a:endParaRPr lang="en-US" altLang="ja-JP" dirty="0"/>
          </a:p>
          <a:p>
            <a:pPr lvl="2"/>
            <a:r>
              <a:rPr lang="ja-JP" altLang="en-US" dirty="0"/>
              <a:t>大数の法則が「値の収束」を表すのに対して，</a:t>
            </a:r>
            <a:br>
              <a:rPr lang="en-US" altLang="ja-JP" dirty="0"/>
            </a:br>
            <a:r>
              <a:rPr lang="ja-JP" altLang="en-US" dirty="0"/>
              <a:t>中心極限定理は「その収束の仕方の分布</a:t>
            </a:r>
            <a:r>
              <a:rPr lang="ja-JP" altLang="en-US" sz="1400" dirty="0"/>
              <a:t>（正規分布）</a:t>
            </a:r>
            <a:r>
              <a:rPr lang="ja-JP" altLang="en-US" dirty="0"/>
              <a:t>」を表す</a:t>
            </a:r>
            <a:endParaRPr lang="en-US" altLang="ja-JP" dirty="0"/>
          </a:p>
          <a:p>
            <a:pPr lvl="1"/>
            <a:r>
              <a:rPr lang="ja-JP" altLang="en-US" dirty="0"/>
              <a:t>標本平均と母平均の誤差が，どの程度の確率で</a:t>
            </a:r>
            <a:br>
              <a:rPr lang="en-US" altLang="ja-JP" dirty="0"/>
            </a:br>
            <a:r>
              <a:rPr lang="ja-JP" altLang="en-US" dirty="0"/>
              <a:t>どの範囲に収まるかを示し，推定の精度を評価する基準になる</a:t>
            </a:r>
            <a:endParaRPr lang="en-US" altLang="ja-JP" dirty="0"/>
          </a:p>
          <a:p>
            <a:endParaRPr lang="en-US" altLang="ja-JP" sz="2000" dirty="0">
              <a:solidFill>
                <a:schemeClr val="accent2"/>
              </a:solidFill>
            </a:endParaRPr>
          </a:p>
          <a:p>
            <a:r>
              <a:rPr lang="ja-JP" altLang="en-US" sz="2000" dirty="0">
                <a:solidFill>
                  <a:schemeClr val="accent2"/>
                </a:solidFill>
              </a:rPr>
              <a:t>（参考）大数の法則</a:t>
            </a:r>
            <a:endParaRPr lang="en-US" altLang="ja-JP" sz="2000" dirty="0">
              <a:solidFill>
                <a:schemeClr val="accent2"/>
              </a:solidFill>
            </a:endParaRPr>
          </a:p>
          <a:p>
            <a:pPr lvl="1"/>
            <a:r>
              <a:rPr lang="ja-JP" altLang="en-US" sz="1800" dirty="0">
                <a:solidFill>
                  <a:schemeClr val="accent2"/>
                </a:solidFill>
              </a:rPr>
              <a:t>試行回数を増やすほど，標本平均が母平均に近づく</a:t>
            </a:r>
            <a:endParaRPr lang="en-US" altLang="ja-JP" sz="1800" dirty="0">
              <a:solidFill>
                <a:schemeClr val="accent2"/>
              </a:solidFill>
            </a:endParaRPr>
          </a:p>
          <a:p>
            <a:pPr lvl="1"/>
            <a:r>
              <a:rPr lang="ja-JP" altLang="en-US" sz="1800" dirty="0">
                <a:solidFill>
                  <a:schemeClr val="accent2"/>
                </a:solidFill>
              </a:rPr>
              <a:t>標本平均が母平均に収束することを示す</a:t>
            </a:r>
            <a:endParaRPr lang="en-US" altLang="ja-JP" sz="1800" dirty="0">
              <a:solidFill>
                <a:schemeClr val="accent2"/>
              </a:solidFill>
            </a:endParaRPr>
          </a:p>
          <a:p>
            <a:pPr lvl="1"/>
            <a:r>
              <a:rPr lang="ja-JP" altLang="en-US" sz="1800" dirty="0">
                <a:solidFill>
                  <a:schemeClr val="accent2"/>
                </a:solidFill>
              </a:rPr>
              <a:t>標本平均が，母平均の良い推定量であることを保証する</a:t>
            </a:r>
            <a:endParaRPr lang="en-US" altLang="ja-JP" sz="1800" dirty="0">
              <a:solidFill>
                <a:schemeClr val="accent2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2DE740-1D6A-9BF0-2A0D-1F8F61B1544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198030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9172-226C-B771-3BD9-6AA051CE2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A56227-8360-16A2-A20B-C4A2C6B1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中心極限定理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94EB63-1D01-534B-B948-E700EFC3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89AB069-1864-3E78-894D-D3836CC7C5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中心極限定理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central limit theorem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標本平均と母平均の誤差</a:t>
                </a:r>
                <a:r>
                  <a:rPr lang="ja-JP" altLang="en-US" dirty="0"/>
                  <a:t>の確率分布が，</a:t>
                </a:r>
                <a:br>
                  <a:rPr lang="en-US" altLang="ja-JP" dirty="0"/>
                </a:br>
                <a:r>
                  <a:rPr lang="ja-JP" altLang="en-US" dirty="0"/>
                  <a:t>標本の大きさを大きくすると，正規分布に近似する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標本平均のばらつき</a:t>
                </a:r>
                <a:r>
                  <a:rPr lang="ja-JP" altLang="en-US" sz="1800" dirty="0"/>
                  <a:t>（誤差）</a:t>
                </a:r>
                <a:r>
                  <a:rPr lang="ja-JP" altLang="en-US" dirty="0"/>
                  <a:t>が正規分布に従うことを示す</a:t>
                </a:r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lvl="1"/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無作為抽出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回目　→　標本平均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ja-JP" altLang="en-US" dirty="0"/>
              </a:p>
              <a:p>
                <a:pPr lvl="2"/>
                <a:r>
                  <a:rPr lang="ja-JP" altLang="en-US" dirty="0"/>
                  <a:t>無作為抽出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回目　→　標本平均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・・・</a:t>
                </a:r>
              </a:p>
              <a:p>
                <a:pPr lvl="2"/>
                <a:r>
                  <a:rPr lang="ja-JP" altLang="en-US" dirty="0"/>
                  <a:t>無作為抽出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回目　→　標本平均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89AB069-1864-3E78-894D-D3836CC7C5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59ED7996-237B-CDCE-2DA5-FD46D8FC251B}"/>
              </a:ext>
            </a:extLst>
          </p:cNvPr>
          <p:cNvGrpSpPr/>
          <p:nvPr/>
        </p:nvGrpSpPr>
        <p:grpSpPr>
          <a:xfrm>
            <a:off x="4933507" y="3803694"/>
            <a:ext cx="3062760" cy="1988288"/>
            <a:chOff x="5050465" y="4210493"/>
            <a:chExt cx="3062760" cy="1988288"/>
          </a:xfrm>
        </p:grpSpPr>
        <p:sp>
          <p:nvSpPr>
            <p:cNvPr id="6" name="右中かっこ 5">
              <a:extLst>
                <a:ext uri="{FF2B5EF4-FFF2-40B4-BE49-F238E27FC236}">
                  <a16:creationId xmlns:a16="http://schemas.microsoft.com/office/drawing/2014/main" id="{35C306FF-6643-3DA2-71AF-1B9D650AF5E1}"/>
                </a:ext>
              </a:extLst>
            </p:cNvPr>
            <p:cNvSpPr/>
            <p:nvPr/>
          </p:nvSpPr>
          <p:spPr>
            <a:xfrm>
              <a:off x="5050465" y="4210493"/>
              <a:ext cx="1020726" cy="1988288"/>
            </a:xfrm>
            <a:prstGeom prst="rightBrac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B4DA8230-635A-FF39-56DD-EF19BBCBA225}"/>
                    </a:ext>
                  </a:extLst>
                </p:cNvPr>
                <p:cNvSpPr txBox="1"/>
                <p:nvPr/>
              </p:nvSpPr>
              <p:spPr>
                <a:xfrm>
                  <a:off x="6071191" y="4739798"/>
                  <a:ext cx="2042034" cy="9296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en-US" altLang="ja-JP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kumimoji="1" lang="en-US" altLang="ja-JP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kumimoji="1" lang="en-US" altLang="ja-JP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kumimoji="1" lang="en-US" altLang="ja-JP" sz="24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B4DA8230-635A-FF39-56DD-EF19BBCBA2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1191" y="4739798"/>
                  <a:ext cx="2042034" cy="9296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7490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636D1-7657-BAF1-5DF1-701A4665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正規分布の確率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84A3F93-EEDB-0318-54B6-457088F8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FF39CC-B023-6B3C-1842-BA245FEDFD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正規分布の確率密度関数の積分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kumimoji="1"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kumimoji="1"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と母分散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が既知</a:t>
                </a:r>
                <a:r>
                  <a:rPr kumimoji="1" lang="ja-JP" altLang="en-US" dirty="0"/>
                  <a:t>である必要がある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や母分散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が変わるたびに，積分計算が必要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FF39CC-B023-6B3C-1842-BA245FEDF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143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BFFFD6-C427-1046-E779-160CA628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88157A-33A8-22D2-90E5-BF40C4F0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5D6FA95-E06B-A0A0-5214-F4E3F06A39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standard normal distribution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正規分布に標準化を適用した分布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母平均：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母分散：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一度計算してしまえば，母平均や母分散が変わっても再計算の必要がない</a:t>
                </a:r>
                <a:endParaRPr lang="en-US" altLang="ja-JP" dirty="0"/>
              </a:p>
              <a:p>
                <a:pPr lvl="2"/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標準化した確率変数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i="1" dirty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 dirty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母分散</m:t>
                                  </m:r>
                                </m:num>
                                <m:den>
                                  <m:r>
                                    <a:rPr lang="ja-JP" altLang="en-US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標準化した確率変数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は，標準正規分布に従う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5D6FA95-E06B-A0A0-5214-F4E3F06A39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2316" b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076210-8BC0-A219-8336-BDEA233BC25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70021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95905-0CF2-E49A-B8F7-5C7231EA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CB8D92F-43F5-A0C3-C40C-FE753CD5C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５：</a:t>
            </a:r>
            <a:r>
              <a:rPr lang="ja-JP" altLang="en-US" dirty="0"/>
              <a:t>連続確率分布</a:t>
            </a:r>
            <a:endParaRPr lang="en-US" altLang="ja-JP" dirty="0"/>
          </a:p>
          <a:p>
            <a:r>
              <a:rPr lang="ja-JP" altLang="en-US" dirty="0"/>
              <a:t>　　　標準正規分布表の読み方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7672E63-A8AC-13AA-07A4-7BF9D6D5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7109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6FCA90-8CFE-C7E4-EF32-61F38674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ED2088D-1DCA-68A6-E281-7BC5991D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74DAB2C-3715-28C6-4D64-82457D8E2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kumimoji="1" lang="ja-JP" altLang="en-US" dirty="0"/>
                  <a:t>が，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値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ja-JP" altLang="en-US" dirty="0"/>
                  <a:t>をとる（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ja-JP" altLang="en-US" dirty="0"/>
                  <a:t>）ときの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dirty="0"/>
                  <a:t>をまとめた表．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pp.202</a:t>
                </a:r>
                <a:r>
                  <a:rPr lang="ja-JP" altLang="en-US" dirty="0"/>
                  <a:t>参照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74DAB2C-3715-28C6-4D64-82457D8E2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CE982125-D577-4265-AF1B-A49E44981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507" y="2524471"/>
            <a:ext cx="5962940" cy="35785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11E014D-03F2-E7AB-19E9-8CCE041850D1}"/>
                  </a:ext>
                </a:extLst>
              </p:cNvPr>
              <p:cNvSpPr txBox="1"/>
              <p:nvPr/>
            </p:nvSpPr>
            <p:spPr>
              <a:xfrm>
                <a:off x="8334000" y="5463081"/>
                <a:ext cx="4598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11E014D-03F2-E7AB-19E9-8CCE04185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000" y="5463081"/>
                <a:ext cx="45986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4E5CC7F-A3B0-B96B-6BCE-FFBCBEE09E48}"/>
                  </a:ext>
                </a:extLst>
              </p:cNvPr>
              <p:cNvSpPr txBox="1"/>
              <p:nvPr/>
            </p:nvSpPr>
            <p:spPr>
              <a:xfrm>
                <a:off x="6531304" y="5598835"/>
                <a:ext cx="4239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4E5CC7F-A3B0-B96B-6BCE-FFBCBEE09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304" y="5598835"/>
                <a:ext cx="4239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19F5F7-EFA1-FDCE-E721-10BC6B5ED9B2}"/>
                  </a:ext>
                </a:extLst>
              </p:cNvPr>
              <p:cNvSpPr txBox="1"/>
              <p:nvPr/>
            </p:nvSpPr>
            <p:spPr>
              <a:xfrm>
                <a:off x="6853610" y="4572394"/>
                <a:ext cx="157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19F5F7-EFA1-FDCE-E721-10BC6B5ED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610" y="4572394"/>
                <a:ext cx="157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0D57A82-E2D6-EBAE-35FA-737FA3F72B59}"/>
              </a:ext>
            </a:extLst>
          </p:cNvPr>
          <p:cNvCxnSpPr/>
          <p:nvPr/>
        </p:nvCxnSpPr>
        <p:spPr>
          <a:xfrm flipH="1">
            <a:off x="6955266" y="5050465"/>
            <a:ext cx="657646" cy="54837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000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3C33D-A501-E9F2-A8B5-8C4ED9FD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43C69B3-5687-32B9-7D77-249859C7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49F618-2FC5-7153-10D6-C46EF8DC3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</a:t>
                </a:r>
                <a:r>
                  <a:rPr lang="en-US" altLang="ja-JP" sz="2000" dirty="0"/>
                  <a:t>1.9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/>
                  <a:t>手順②　表頭から</a:t>
                </a:r>
                <a:r>
                  <a:rPr kumimoji="1" lang="en-US" altLang="ja-JP" sz="2000" dirty="0"/>
                  <a:t>0.06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49F618-2FC5-7153-10D6-C46EF8DC3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7399A8D2-D121-39E4-BC72-8FA07FA9F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96" y="2814937"/>
            <a:ext cx="5842007" cy="3505983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3036034-F508-A57E-D0F4-B9DA6F8873D0}"/>
              </a:ext>
            </a:extLst>
          </p:cNvPr>
          <p:cNvGrpSpPr/>
          <p:nvPr/>
        </p:nvGrpSpPr>
        <p:grpSpPr>
          <a:xfrm>
            <a:off x="5826642" y="5917910"/>
            <a:ext cx="2192964" cy="756391"/>
            <a:chOff x="5826642" y="5917910"/>
            <a:chExt cx="2192964" cy="7563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F4A78ED4-5AA1-3071-B879-37FE297FE9FE}"/>
                    </a:ext>
                  </a:extLst>
                </p:cNvPr>
                <p:cNvSpPr txBox="1"/>
                <p:nvPr/>
              </p:nvSpPr>
              <p:spPr>
                <a:xfrm>
                  <a:off x="6623198" y="6212636"/>
                  <a:ext cx="139640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ja-JP" sz="24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=1.96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F4A78ED4-5AA1-3071-B879-37FE297FE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198" y="6212636"/>
                  <a:ext cx="139640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90C92E2F-3FCD-3547-7FFA-6703171DEA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6642" y="5917910"/>
              <a:ext cx="863364" cy="525559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6F84367-CBD5-310D-10B1-088E29F04C74}"/>
              </a:ext>
            </a:extLst>
          </p:cNvPr>
          <p:cNvGrpSpPr/>
          <p:nvPr/>
        </p:nvGrpSpPr>
        <p:grpSpPr>
          <a:xfrm>
            <a:off x="5920200" y="4795662"/>
            <a:ext cx="3133102" cy="1026441"/>
            <a:chOff x="5920200" y="4795662"/>
            <a:chExt cx="3133102" cy="10264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EFF46C8-C8FA-00A3-8BFE-99A550F7688E}"/>
                    </a:ext>
                  </a:extLst>
                </p:cNvPr>
                <p:cNvSpPr txBox="1"/>
                <p:nvPr/>
              </p:nvSpPr>
              <p:spPr>
                <a:xfrm>
                  <a:off x="5920200" y="4795662"/>
                  <a:ext cx="313310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ja-JP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&gt;1.96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=0.025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EFF46C8-C8FA-00A3-8BFE-99A550F76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200" y="4795662"/>
                  <a:ext cx="3133102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5F8A9446-9498-3AC1-2152-ABBEF54E310F}"/>
                </a:ext>
              </a:extLst>
            </p:cNvPr>
            <p:cNvCxnSpPr/>
            <p:nvPr/>
          </p:nvCxnSpPr>
          <p:spPr>
            <a:xfrm flipH="1">
              <a:off x="6021856" y="5273733"/>
              <a:ext cx="657646" cy="54837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6E54F8E9-9AF4-4EE9-1BD3-0C60AEA7E338}"/>
                </a:ext>
              </a:extLst>
            </p:cNvPr>
            <p:cNvSpPr txBox="1"/>
            <p:nvPr/>
          </p:nvSpPr>
          <p:spPr>
            <a:xfrm>
              <a:off x="6809527" y="5223152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斜線部の面積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770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EA216-ED1B-1D84-182F-C193EC57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E529D-38FA-7FBE-D230-E3A4C06D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（補足１）</a:t>
            </a:r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09FF19-1A99-3C91-91B3-940B747F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FF314D-6E6B-5E16-BE03-E8B0547DD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手順①　表側から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1.9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kumimoji="1" lang="ja-JP" altLang="en-US" sz="2000" dirty="0"/>
                  <a:t>手順②　表頭から</a:t>
                </a:r>
                <a:r>
                  <a:rPr kumimoji="1" lang="en-US" altLang="ja-JP" sz="2000" dirty="0"/>
                  <a:t>0.06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FF314D-6E6B-5E16-BE03-E8B0547DD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1F79829F-B5A9-0DA8-1E19-2AEDE7F13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84" y="3054155"/>
            <a:ext cx="54930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50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B675-C7D2-166C-FC1C-E3A86504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71F2D-1A7B-4388-4819-9E30B242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（補足２）</a:t>
            </a:r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3BF85A6-6264-F231-602E-58AA3F43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2D95986-2FA7-F7AB-74EE-08BAD5274F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</a:t>
                </a:r>
                <a:r>
                  <a:rPr lang="en-US" altLang="ja-JP" sz="2000" dirty="0"/>
                  <a:t>1.9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手順②　表頭から</a:t>
                </a:r>
                <a:r>
                  <a:rPr kumimoji="1" lang="en-US" altLang="ja-JP" sz="2000" dirty="0">
                    <a:solidFill>
                      <a:schemeClr val="accent5"/>
                    </a:solidFill>
                  </a:rPr>
                  <a:t>0.06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2D95986-2FA7-F7AB-74EE-08BAD5274F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C31AE6C1-268D-41DB-EBF5-E5FB4A685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84" y="3054155"/>
            <a:ext cx="5493032" cy="3803845"/>
          </a:xfrm>
          <a:prstGeom prst="rect">
            <a:avLst/>
          </a:prstGeom>
        </p:spPr>
      </p:pic>
      <p:sp>
        <p:nvSpPr>
          <p:cNvPr id="7" name="右中かっこ 6">
            <a:extLst>
              <a:ext uri="{FF2B5EF4-FFF2-40B4-BE49-F238E27FC236}">
                <a16:creationId xmlns:a16="http://schemas.microsoft.com/office/drawing/2014/main" id="{F2EF3E6E-9E4F-12BA-12F9-04B925A49923}"/>
              </a:ext>
            </a:extLst>
          </p:cNvPr>
          <p:cNvSpPr/>
          <p:nvPr/>
        </p:nvSpPr>
        <p:spPr>
          <a:xfrm>
            <a:off x="4093533" y="1488558"/>
            <a:ext cx="308344" cy="744279"/>
          </a:xfrm>
          <a:prstGeom prst="rightBrac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3DAC213-B3CD-D8A1-DFE9-A709A5560756}"/>
              </a:ext>
            </a:extLst>
          </p:cNvPr>
          <p:cNvSpPr txBox="1"/>
          <p:nvPr/>
        </p:nvSpPr>
        <p:spPr>
          <a:xfrm>
            <a:off x="4401877" y="1676031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合計で</a:t>
            </a:r>
            <a:r>
              <a:rPr kumimoji="1" lang="en-US" altLang="ja-JP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1.96</a:t>
            </a:r>
            <a:endParaRPr kumimoji="1" lang="ja-JP" altLang="en-US" dirty="0">
              <a:solidFill>
                <a:schemeClr val="accent5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6516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71A1-00DC-97AE-93EA-F22EA39B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371BFC-DF13-54E6-B6C8-41C58621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3D3D25C-3787-C5E6-99AA-2D0CCDF2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210ADD-F75D-7D62-C381-70AB73467D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2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=−1.96</m:t>
                    </m:r>
                  </m:oMath>
                </a14:m>
                <a:r>
                  <a:rPr kumimoji="1" lang="ja-JP" altLang="en-US" sz="2400" dirty="0"/>
                  <a:t>に対応する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下側</a:t>
                </a:r>
                <a:r>
                  <a:rPr kumimoji="1" lang="ja-JP" altLang="en-US" sz="2400" dirty="0"/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&lt;−1.96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正規分布が</a:t>
                </a:r>
                <a:r>
                  <a:rPr lang="ja-JP" altLang="en-US" sz="2000" b="1" dirty="0">
                    <a:solidFill>
                      <a:schemeClr val="accent5"/>
                    </a:solidFill>
                  </a:rPr>
                  <a:t>左右対称</a:t>
                </a:r>
                <a:r>
                  <a:rPr lang="ja-JP" altLang="en-US" sz="2000" dirty="0"/>
                  <a:t>である特徴を利用する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&lt;−1.96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210ADD-F75D-7D62-C381-70AB73467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B8B0A16B-5A7E-8FC5-5826-7A2FA6FD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" y="3429000"/>
            <a:ext cx="4573524" cy="274472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F87D9CD-04C8-1783-350D-526FF1717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429000"/>
            <a:ext cx="4573524" cy="2744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C4AF27-A624-AAD0-1CAE-0165E722D02C}"/>
                  </a:ext>
                </a:extLst>
              </p:cNvPr>
              <p:cNvSpPr txBox="1"/>
              <p:nvPr/>
            </p:nvSpPr>
            <p:spPr>
              <a:xfrm>
                <a:off x="3107498" y="4595504"/>
                <a:ext cx="15312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C4AF27-A624-AAD0-1CAE-0165E722D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498" y="4595504"/>
                <a:ext cx="1531252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5CA99A0-4199-2379-ABFE-0BA9A041A744}"/>
              </a:ext>
            </a:extLst>
          </p:cNvPr>
          <p:cNvCxnSpPr>
            <a:cxnSpLocks/>
          </p:cNvCxnSpPr>
          <p:nvPr/>
        </p:nvCxnSpPr>
        <p:spPr>
          <a:xfrm flipH="1">
            <a:off x="3384982" y="5241444"/>
            <a:ext cx="272618" cy="5487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1BBF731-1B25-4BD4-0AE7-400CEBA9AC05}"/>
              </a:ext>
            </a:extLst>
          </p:cNvPr>
          <p:cNvCxnSpPr>
            <a:cxnSpLocks/>
          </p:cNvCxnSpPr>
          <p:nvPr/>
        </p:nvCxnSpPr>
        <p:spPr>
          <a:xfrm>
            <a:off x="5287879" y="5241248"/>
            <a:ext cx="482261" cy="54895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B61EDE-B2B0-5E41-AF01-97CB772CD84F}"/>
                  </a:ext>
                </a:extLst>
              </p:cNvPr>
              <p:cNvSpPr txBox="1"/>
              <p:nvPr/>
            </p:nvSpPr>
            <p:spPr>
              <a:xfrm>
                <a:off x="4638750" y="4595504"/>
                <a:ext cx="17043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&lt;−1.96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B61EDE-B2B0-5E41-AF01-97CB772CD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750" y="4595504"/>
                <a:ext cx="170437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191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305D-6282-ADFB-A44B-28464EB5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D2EDD-2F74-CD0B-1B56-B4B83D42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A2C0901-FCEA-A900-3ACF-782D8F52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FB86A3-6208-EC1D-D50D-1CC66DB22D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3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下側</a:t>
                </a:r>
                <a:r>
                  <a:rPr kumimoji="1" lang="ja-JP" altLang="en-US" sz="2400" dirty="0"/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確率の公理を利用する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&lt;1.96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FB86A3-6208-EC1D-D50D-1CC66DB22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28337236-33F6-A01D-77EE-D42D232AF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96" y="2814937"/>
            <a:ext cx="5842007" cy="350598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3B30CE3-9D2E-5828-375E-909DB7AB8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996" y="2814937"/>
            <a:ext cx="5842800" cy="35064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41B141E-2129-EC28-6E20-230E68F23D68}"/>
                  </a:ext>
                </a:extLst>
              </p:cNvPr>
              <p:cNvSpPr txBox="1"/>
              <p:nvPr/>
            </p:nvSpPr>
            <p:spPr>
              <a:xfrm>
                <a:off x="6623198" y="6212636"/>
                <a:ext cx="13964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ja-JP" sz="24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41B141E-2129-EC28-6E20-230E68F23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98" y="6212636"/>
                <a:ext cx="139640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C1B1D4DB-77F2-C3E7-DC96-F23EAD143886}"/>
              </a:ext>
            </a:extLst>
          </p:cNvPr>
          <p:cNvCxnSpPr>
            <a:cxnSpLocks/>
          </p:cNvCxnSpPr>
          <p:nvPr/>
        </p:nvCxnSpPr>
        <p:spPr>
          <a:xfrm flipH="1" flipV="1">
            <a:off x="5826642" y="5917910"/>
            <a:ext cx="863364" cy="52555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4C702F6-2856-9E58-89C3-F61E0B5B1AD0}"/>
                  </a:ext>
                </a:extLst>
              </p:cNvPr>
              <p:cNvSpPr txBox="1"/>
              <p:nvPr/>
            </p:nvSpPr>
            <p:spPr>
              <a:xfrm>
                <a:off x="726525" y="3354372"/>
                <a:ext cx="28237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&lt;1.96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kumimoji="1" lang="en-US" altLang="ja-JP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sz="2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=1−0.025</m:t>
                      </m:r>
                    </m:oMath>
                    <m:oMath xmlns:m="http://schemas.openxmlformats.org/officeDocument/2006/math">
                      <m:r>
                        <a:rPr kumimoji="1" lang="en-US" altLang="ja-JP" sz="2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=0.975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4C702F6-2856-9E58-89C3-F61E0B5B1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25" y="3354372"/>
                <a:ext cx="2823786" cy="1569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7B35A70-E358-0711-15AE-FD43DFD6DD24}"/>
              </a:ext>
            </a:extLst>
          </p:cNvPr>
          <p:cNvCxnSpPr>
            <a:cxnSpLocks/>
          </p:cNvCxnSpPr>
          <p:nvPr/>
        </p:nvCxnSpPr>
        <p:spPr>
          <a:xfrm>
            <a:off x="2138418" y="4730366"/>
            <a:ext cx="1721201" cy="73310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5F3EF76-F043-A307-8B2D-8BE5F444F09E}"/>
              </a:ext>
            </a:extLst>
          </p:cNvPr>
          <p:cNvSpPr txBox="1"/>
          <p:nvPr/>
        </p:nvSpPr>
        <p:spPr>
          <a:xfrm>
            <a:off x="865373" y="500908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斜線部の面積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261DD75-37A0-6E2A-8EF9-1B2CD7E22632}"/>
                  </a:ext>
                </a:extLst>
              </p:cNvPr>
              <p:cNvSpPr txBox="1"/>
              <p:nvPr/>
            </p:nvSpPr>
            <p:spPr>
              <a:xfrm>
                <a:off x="5920200" y="4795662"/>
                <a:ext cx="31331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261DD75-37A0-6E2A-8EF9-1B2CD7E22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200" y="4795662"/>
                <a:ext cx="313310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A1E16D0-3764-6B28-E080-38568BCBCC67}"/>
              </a:ext>
            </a:extLst>
          </p:cNvPr>
          <p:cNvCxnSpPr/>
          <p:nvPr/>
        </p:nvCxnSpPr>
        <p:spPr>
          <a:xfrm flipH="1">
            <a:off x="6021856" y="5273733"/>
            <a:ext cx="657646" cy="54837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2D33F6-6227-B210-E0C8-8F0F3B5CA4D1}"/>
              </a:ext>
            </a:extLst>
          </p:cNvPr>
          <p:cNvSpPr txBox="1"/>
          <p:nvPr/>
        </p:nvSpPr>
        <p:spPr>
          <a:xfrm>
            <a:off x="6809527" y="5223152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白抜け部分の面積</a:t>
            </a:r>
          </a:p>
        </p:txBody>
      </p:sp>
    </p:spTree>
    <p:extLst>
      <p:ext uri="{BB962C8B-B14F-4D97-AF65-F5344CB8AC3E}">
        <p14:creationId xmlns:p14="http://schemas.microsoft.com/office/powerpoint/2010/main" val="1649546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CB04-B9FA-120E-5797-B3BC0902F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F9522-09AD-0506-80BB-49F4CEA6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2F09F7-DC8A-EF3B-055E-6E773DBB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AD076E7-E12A-5B48-D834-C25999A27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4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kumimoji="1" lang="ja-JP" altLang="en-US" sz="2400" dirty="0"/>
                  <a:t>に対応する確率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−1&lt;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=1.00</m:t>
                    </m:r>
                  </m:oMath>
                </a14:m>
                <a:r>
                  <a:rPr lang="ja-JP" altLang="en-US" sz="2000" dirty="0"/>
                  <a:t>のときの上側確率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&gt;1.00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2000" dirty="0"/>
                  <a:t>を求める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&gt;1.00</m:t>
                            </m:r>
                          </m:e>
                        </m:d>
                      </m:e>
                    </m:func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=0.1586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手順②　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=−1.00</m:t>
                    </m:r>
                  </m:oMath>
                </a14:m>
                <a:r>
                  <a:rPr lang="ja-JP" altLang="en-US" sz="2000" dirty="0"/>
                  <a:t>のときの下側確率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2000" dirty="0"/>
                  <a:t>を求める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1.00</m:t>
                            </m:r>
                          </m:e>
                        </m:d>
                      </m:e>
                    </m:func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=0.1586</m:t>
                    </m:r>
                  </m:oMath>
                </a14:m>
                <a:r>
                  <a:rPr lang="ja-JP" altLang="en-US" sz="1600" dirty="0"/>
                  <a:t>　→　左右対称なので，①と同じ値</a:t>
                </a:r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手順③　確率の合計</a:t>
                </a:r>
                <a:r>
                  <a:rPr lang="en-US" altLang="ja-JP" sz="2000" dirty="0"/>
                  <a:t>1</a:t>
                </a:r>
                <a:r>
                  <a:rPr lang="ja-JP" altLang="en-US" sz="2000" dirty="0"/>
                  <a:t>から，①と②を引く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−1&lt;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d>
                      </m:e>
                    </m:func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&gt;1.00</m:t>
                                </m:r>
                              </m:e>
                            </m:d>
                          </m:e>
                        </m:func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&lt;−1.00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ja-JP" sz="16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0.1586+0.1586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=0.6828</m:t>
                    </m:r>
                  </m:oMath>
                </a14:m>
                <a:endParaRPr lang="en-US" altLang="ja-JP" sz="1600" dirty="0"/>
              </a:p>
              <a:p>
                <a:pPr lvl="1"/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AD076E7-E12A-5B48-D834-C25999A27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F974A85F-6EA6-7AEE-16EB-8686A76E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500" y="3976587"/>
            <a:ext cx="4573524" cy="2744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B0AE35-CA38-64AF-5558-CC6917C3A564}"/>
                  </a:ext>
                </a:extLst>
              </p:cNvPr>
              <p:cNvSpPr txBox="1"/>
              <p:nvPr/>
            </p:nvSpPr>
            <p:spPr>
              <a:xfrm>
                <a:off x="6950193" y="3864262"/>
                <a:ext cx="182941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−1&lt;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=0.6828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B0AE35-CA38-64AF-5558-CC6917C3A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193" y="3864262"/>
                <a:ext cx="182941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7B0F280-5FE9-AB32-A45D-899F4DE6D28C}"/>
              </a:ext>
            </a:extLst>
          </p:cNvPr>
          <p:cNvCxnSpPr>
            <a:cxnSpLocks/>
          </p:cNvCxnSpPr>
          <p:nvPr/>
        </p:nvCxnSpPr>
        <p:spPr>
          <a:xfrm flipH="1">
            <a:off x="6950193" y="4510593"/>
            <a:ext cx="386272" cy="67131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4E3318-ACFD-C1A5-B2F1-3AF902ACC5C5}"/>
                  </a:ext>
                </a:extLst>
              </p:cNvPr>
              <p:cNvSpPr txBox="1"/>
              <p:nvPr/>
            </p:nvSpPr>
            <p:spPr>
              <a:xfrm>
                <a:off x="7815137" y="5227427"/>
                <a:ext cx="8794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&gt;1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=0.1586</m:t>
                      </m:r>
                    </m:oMath>
                  </m:oMathPara>
                </a14:m>
                <a:endParaRPr kumimoji="1" lang="ja-JP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4E3318-ACFD-C1A5-B2F1-3AF902ACC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137" y="5227427"/>
                <a:ext cx="87940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80C6068-5E06-56D5-37FC-C8670C7EF56F}"/>
              </a:ext>
            </a:extLst>
          </p:cNvPr>
          <p:cNvCxnSpPr>
            <a:cxnSpLocks/>
          </p:cNvCxnSpPr>
          <p:nvPr/>
        </p:nvCxnSpPr>
        <p:spPr>
          <a:xfrm flipH="1">
            <a:off x="7497657" y="5689092"/>
            <a:ext cx="510615" cy="562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C56024-E72A-2656-46E0-862F7659A50D}"/>
                  </a:ext>
                </a:extLst>
              </p:cNvPr>
              <p:cNvSpPr txBox="1"/>
              <p:nvPr/>
            </p:nvSpPr>
            <p:spPr>
              <a:xfrm>
                <a:off x="4658638" y="5227427"/>
                <a:ext cx="994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&lt;−1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=0.1586</m:t>
                      </m:r>
                    </m:oMath>
                  </m:oMathPara>
                </a14:m>
                <a:endParaRPr kumimoji="1" lang="ja-JP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C56024-E72A-2656-46E0-862F7659A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638" y="5227427"/>
                <a:ext cx="99482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E8AE0C8-EA72-B3E3-5F0F-6A20F970FBA7}"/>
              </a:ext>
            </a:extLst>
          </p:cNvPr>
          <p:cNvCxnSpPr>
            <a:cxnSpLocks/>
          </p:cNvCxnSpPr>
          <p:nvPr/>
        </p:nvCxnSpPr>
        <p:spPr>
          <a:xfrm>
            <a:off x="5301289" y="5689092"/>
            <a:ext cx="572311" cy="562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79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141-1F95-86EB-6EDC-A9BA164F5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7AAA85C-BF64-0B9F-CCD4-022D3D893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５：</a:t>
            </a:r>
            <a:r>
              <a:rPr lang="ja-JP" altLang="en-US" dirty="0"/>
              <a:t>連続確率分布</a:t>
            </a:r>
            <a:endParaRPr lang="en-US" altLang="ja-JP" dirty="0"/>
          </a:p>
          <a:p>
            <a:r>
              <a:rPr lang="ja-JP" altLang="en-US" dirty="0"/>
              <a:t>　　　</a:t>
            </a:r>
            <a:r>
              <a:rPr lang="en-US" altLang="ja-JP" dirty="0"/>
              <a:t>t</a:t>
            </a:r>
            <a:r>
              <a:rPr lang="ja-JP" altLang="en-US" dirty="0"/>
              <a:t>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C3A95E3-3424-6EF6-D0CE-1FD08D39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3731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3C77-A569-994C-68E1-8AFD666A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EDE42A-C665-8E3B-A638-8A4751C9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EBAA2B-945B-837C-C23B-255381D2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標準正規分布に従う確率変数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60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sz="2600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母分散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と母分散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が既知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が未知の場合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の代わりに，標本不偏分散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を使って標準化する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sz="26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6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26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6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sz="26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lang="en-US" altLang="ja-JP" sz="2600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2600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2600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acc>
                                </m:num>
                                <m:den>
                                  <m: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en-US" altLang="ja-JP" sz="26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sz="26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母平均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sz="260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</m:t>
                                  </m:r>
                                  <m:r>
                                    <a:rPr lang="ja-JP" altLang="en-US" sz="2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不偏分散</m:t>
                                  </m:r>
                                </m:num>
                                <m:den>
                                  <m:r>
                                    <a:rPr lang="ja-JP" alt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標本数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sz="2600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は標準正規分布ではなく，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分布に従う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8C0BD0-ADC2-6702-D00C-74F79CE2A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053" b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AFFB51-1BB7-A388-0C18-F44A761F12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610029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E72E04-1D50-D919-AE8C-B54DA68E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自由度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6147C0C-1E8D-43DC-890E-A7E1F3609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8344D26-CC64-6439-E75F-03D641AECD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自由度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degree of freedom</a:t>
                </a:r>
              </a:p>
              <a:p>
                <a:pPr lvl="1"/>
                <a:r>
                  <a:rPr lang="ja-JP" altLang="en-US" dirty="0"/>
                  <a:t>自由に動くことができる変数の数</a:t>
                </a:r>
                <a:endParaRPr lang="en-US" altLang="ja-JP" dirty="0"/>
              </a:p>
              <a:p>
                <a:pPr lvl="1"/>
                <a:r>
                  <a:rPr lang="ja-JP" altLang="en-US" b="0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つのデータ：</a:t>
                </a:r>
                <a:r>
                  <a:rPr kumimoji="1" lang="en-US" altLang="ja-JP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5, 1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未知のデータ：</a:t>
                </a:r>
                <a:r>
                  <a:rPr lang="en-US" altLang="ja-JP" dirty="0"/>
                  <a:t>	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ja-JP" altLang="en-US" b="0" i="1" dirty="0">
                        <a:latin typeface="Cambria Math" panose="02040503050406030204" pitchFamily="18" charset="0"/>
                      </a:rPr>
                      <m:t>平均値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kumimoji="1" lang="ja-JP" altLang="en-US" dirty="0"/>
                  <a:t> という条件を課す</a:t>
                </a:r>
                <a:r>
                  <a:rPr lang="ja-JP" altLang="en-US" dirty="0"/>
                  <a:t>と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個のデータにおいて，等式</a:t>
                </a:r>
                <a:r>
                  <a:rPr kumimoji="1" lang="ja-JP" altLang="en-US" sz="1600" dirty="0"/>
                  <a:t>（条件式）</a:t>
                </a:r>
                <a:r>
                  <a:rPr kumimoji="1" lang="ja-JP" altLang="en-US" dirty="0"/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ja-JP" altLang="en-US" dirty="0"/>
                  <a:t>個与えられたとき，</a:t>
                </a:r>
                <a:br>
                  <a:rPr kumimoji="1" lang="en-US" altLang="ja-JP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kumimoji="1" lang="ja-JP" altLang="en-US" dirty="0"/>
                  <a:t>個の値がわかれば，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個すべての値がわかる．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8344D26-CC64-6439-E75F-03D641AEC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514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EDEA-300D-EADF-390C-31302575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915DE-2E96-2A2A-0AEF-E25B2B49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3EF744-DA7F-BA53-555F-88B6B972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からの偏差二乗和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を，</a:t>
                </a:r>
                <a:br>
                  <a:rPr lang="en-US" altLang="ja-JP" dirty="0"/>
                </a:br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</a:t>
                </a:r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kumimoji="1" lang="en-US" altLang="ja-JP" b="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b="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b="0" i="1" dirty="0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kumimoji="1"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  <m:t>元のデータ</m:t>
                                  </m:r>
                                  <m:r>
                                    <a:rPr lang="en-US" altLang="ja-JP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  <m:t>標本平均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自由度</m:t>
                          </m:r>
                        </m:den>
                      </m:f>
                      <m:r>
                        <a:rPr lang="en-US" altLang="ja-JP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ja-JP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標本平均</m:t>
                          </m:r>
                          <m:r>
                            <a:rPr lang="ja-JP" altLang="en-US" i="1" dirty="0" smtClean="0">
                              <a:latin typeface="Cambria Math" panose="02040503050406030204" pitchFamily="18" charset="0"/>
                            </a:rPr>
                            <m:t>からの</m:t>
                          </m:r>
                          <m:r>
                            <a:rPr lang="ja-JP" altLang="en-US" i="1" dirty="0">
                              <a:latin typeface="Cambria Math" panose="02040503050406030204" pitchFamily="18" charset="0"/>
                            </a:rPr>
                            <m:t>偏差二乗和</m:t>
                          </m:r>
                        </m:e>
                      </m:d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61A7E8B-7B3A-7588-690F-8D469F11E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A610BE-9103-E6B3-F6F2-ECB69AF25A0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628878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4E92-4B3E-00DA-CC1F-4F34E86C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96FF7-4982-3E5E-5667-B1CCBF6E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分布の形状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AF410D-52F0-1AD5-DCDE-179A9515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4D8B51-52E2-F992-1F7B-BDD30EDD7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sz="2400" dirty="0">
                    <a:solidFill>
                      <a:schemeClr val="tx2"/>
                    </a:solidFill>
                  </a:rPr>
                  <a:t>t</a:t>
                </a:r>
                <a:r>
                  <a:rPr lang="ja-JP" altLang="en-US" sz="2400" dirty="0">
                    <a:solidFill>
                      <a:schemeClr val="tx2"/>
                    </a:solidFill>
                  </a:rPr>
                  <a:t>分布の形状</a:t>
                </a:r>
                <a:endParaRPr lang="en-US" altLang="ja-JP" sz="2400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左右対称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によって形状が変わる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自由度が大きくなるほど，標準正規分布に近似</a:t>
                </a:r>
                <a:r>
                  <a:rPr lang="ja-JP" altLang="en-US" sz="2000" dirty="0"/>
                  <a:t>する</a:t>
                </a:r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4D8B51-52E2-F992-1F7B-BDD30EDD7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図 11">
            <a:extLst>
              <a:ext uri="{FF2B5EF4-FFF2-40B4-BE49-F238E27FC236}">
                <a16:creationId xmlns:a16="http://schemas.microsoft.com/office/drawing/2014/main" id="{FD5AD3B5-ED57-8208-358D-48FA3A096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000" y="2958332"/>
            <a:ext cx="6498000" cy="3899666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8D084A7-C24B-81D7-AF8E-2C7FC187E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000" y="2958334"/>
            <a:ext cx="6498000" cy="389966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2E36B58-4ED6-0AFD-22CE-7B4B4E47B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000" y="2958334"/>
            <a:ext cx="6498000" cy="389966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953AD96-4C61-DF60-9C89-871FB6F3F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000" y="2958333"/>
            <a:ext cx="6498000" cy="389966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C52D9B1-2272-4A2D-BE08-5F38463D3D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754" y="2959700"/>
            <a:ext cx="6496493" cy="389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D20C-B7CB-B4DB-46BB-CE77AB9C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584221E-2CC3-28A5-ABA0-AD80ECFEB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５：</a:t>
            </a:r>
            <a:r>
              <a:rPr lang="ja-JP" altLang="en-US" dirty="0"/>
              <a:t>連続確率分布</a:t>
            </a:r>
            <a:endParaRPr lang="en-US" altLang="ja-JP" dirty="0"/>
          </a:p>
          <a:p>
            <a:r>
              <a:rPr lang="ja-JP" altLang="en-US" dirty="0"/>
              <a:t>　　　</a:t>
            </a:r>
            <a:r>
              <a:rPr lang="en-US" altLang="ja-JP" dirty="0"/>
              <a:t>t</a:t>
            </a:r>
            <a:r>
              <a:rPr lang="ja-JP" altLang="en-US" dirty="0"/>
              <a:t>分布表の読み方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1D85B6-775D-D499-0CEE-FD2804A6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6240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ED54A-F250-BC97-CE75-497DD5D3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5FD8A4-269E-B9AE-0553-6CEA5EAC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分布表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38AA20-817C-D3D8-4C40-500158FC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D156C40-C6D5-7E1A-6A41-EB9158711C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dirty="0"/>
                  <a:t>t</a:t>
                </a:r>
                <a:r>
                  <a:rPr lang="ja-JP" altLang="en-US" dirty="0"/>
                  <a:t>分布表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の，上側確率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に対応する</a:t>
                </a:r>
                <a:br>
                  <a:rPr lang="en-US" altLang="ja-JP" dirty="0"/>
                </a:br>
                <a:r>
                  <a:rPr lang="ja-JP" altLang="en-US" dirty="0">
                    <a:solidFill>
                      <a:schemeClr val="tx2"/>
                    </a:solidFill>
                  </a:rPr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ja-JP" altLang="en-US" sz="1800" dirty="0">
                    <a:solidFill>
                      <a:schemeClr val="tx2"/>
                    </a:solidFill>
                  </a:rPr>
                  <a:t>（横軸の値）</a:t>
                </a:r>
                <a:r>
                  <a:rPr lang="ja-JP" altLang="en-US" dirty="0"/>
                  <a:t>を表にしたもの</a:t>
                </a:r>
              </a:p>
              <a:p>
                <a:pPr lvl="1"/>
                <a:r>
                  <a:rPr lang="en-US" altLang="ja-JP" dirty="0"/>
                  <a:t>pp.203</a:t>
                </a:r>
                <a:r>
                  <a:rPr lang="ja-JP" altLang="en-US" dirty="0"/>
                  <a:t>参照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D156C40-C6D5-7E1A-6A41-EB9158711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2D9F17EE-D66A-4905-AD50-5001FF2F6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335" y="2397679"/>
            <a:ext cx="5961600" cy="35777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B045855-3B45-E785-0192-64160A3D82C8}"/>
                  </a:ext>
                </a:extLst>
              </p:cNvPr>
              <p:cNvSpPr txBox="1"/>
              <p:nvPr/>
            </p:nvSpPr>
            <p:spPr>
              <a:xfrm>
                <a:off x="8431880" y="5598835"/>
                <a:ext cx="4591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B045855-3B45-E785-0192-64160A3D8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880" y="5598835"/>
                <a:ext cx="4591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0A46ACBA-A17C-9B8D-8209-E86AD42FFE4E}"/>
                  </a:ext>
                </a:extLst>
              </p:cNvPr>
              <p:cNvSpPr txBox="1"/>
              <p:nvPr/>
            </p:nvSpPr>
            <p:spPr>
              <a:xfrm>
                <a:off x="6151090" y="6179936"/>
                <a:ext cx="198823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b="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（表中）</a:t>
                </a: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0A46ACBA-A17C-9B8D-8209-E86AD42FF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090" y="6179936"/>
                <a:ext cx="1988237" cy="646331"/>
              </a:xfrm>
              <a:prstGeom prst="rect">
                <a:avLst/>
              </a:prstGeom>
              <a:blipFill>
                <a:blip r:embed="rId5"/>
                <a:stretch>
                  <a:fillRect l="-2454" t="-7547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45A1FEA-FFD1-6345-CF7A-2805F5768541}"/>
                  </a:ext>
                </a:extLst>
              </p:cNvPr>
              <p:cNvSpPr txBox="1"/>
              <p:nvPr/>
            </p:nvSpPr>
            <p:spPr>
              <a:xfrm>
                <a:off x="7713061" y="3965642"/>
                <a:ext cx="12418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b="0" dirty="0">
                    <a:solidFill>
                      <a:schemeClr val="tx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上側確率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（表頭）</a:t>
                </a: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45A1FEA-FFD1-6345-CF7A-2805F5768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061" y="3965642"/>
                <a:ext cx="1241878" cy="646331"/>
              </a:xfrm>
              <a:prstGeom prst="rect">
                <a:avLst/>
              </a:prstGeom>
              <a:blipFill>
                <a:blip r:embed="rId6"/>
                <a:stretch>
                  <a:fillRect l="-3922" t="-7547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BD518D5-192B-1591-F41D-BF3E0131D33B}"/>
              </a:ext>
            </a:extLst>
          </p:cNvPr>
          <p:cNvCxnSpPr>
            <a:cxnSpLocks/>
          </p:cNvCxnSpPr>
          <p:nvPr/>
        </p:nvCxnSpPr>
        <p:spPr>
          <a:xfrm flipH="1">
            <a:off x="7357731" y="4625272"/>
            <a:ext cx="781596" cy="8878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AB52337-37B2-F64C-D036-06A72858FFA7}"/>
              </a:ext>
            </a:extLst>
          </p:cNvPr>
          <p:cNvCxnSpPr>
            <a:cxnSpLocks/>
          </p:cNvCxnSpPr>
          <p:nvPr/>
        </p:nvCxnSpPr>
        <p:spPr>
          <a:xfrm flipV="1">
            <a:off x="7219638" y="5588202"/>
            <a:ext cx="0" cy="581101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B7BA39FD-D81F-8985-0FB8-D7270CEDA8B4}"/>
              </a:ext>
            </a:extLst>
          </p:cNvPr>
          <p:cNvGrpSpPr/>
          <p:nvPr/>
        </p:nvGrpSpPr>
        <p:grpSpPr>
          <a:xfrm>
            <a:off x="2171904" y="3827282"/>
            <a:ext cx="2697996" cy="923330"/>
            <a:chOff x="2171904" y="3827282"/>
            <a:chExt cx="2697996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FABFA0A-0168-0B1F-9879-602487D3335B}"/>
                    </a:ext>
                  </a:extLst>
                </p:cNvPr>
                <p:cNvSpPr txBox="1"/>
                <p:nvPr/>
              </p:nvSpPr>
              <p:spPr>
                <a:xfrm>
                  <a:off x="2171904" y="3827282"/>
                  <a:ext cx="1879361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b="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自由度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</m:oMath>
                  </a14:m>
                  <a:r>
                    <a:rPr kumimoji="1" lang="ja-JP" altLang="en-US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によって</a:t>
                  </a:r>
                  <a:endParaRPr kumimoji="1" lang="en-US" altLang="ja-JP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形が変わる</a:t>
                  </a:r>
                  <a:endParaRPr kumimoji="1" lang="en-US" altLang="ja-JP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（表側）</a:t>
                  </a:r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AFABFA0A-0168-0B1F-9879-602487D33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1904" y="3827282"/>
                  <a:ext cx="1879361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2589" t="-5298" r="-2589" b="-1059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BE44B2F1-B208-5CB7-FB10-B5356F4076F4}"/>
                </a:ext>
              </a:extLst>
            </p:cNvPr>
            <p:cNvCxnSpPr>
              <a:cxnSpLocks/>
            </p:cNvCxnSpPr>
            <p:nvPr/>
          </p:nvCxnSpPr>
          <p:spPr>
            <a:xfrm>
              <a:off x="3842445" y="4354697"/>
              <a:ext cx="1027455" cy="15502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9928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8C0B07-BEBC-80AD-DA39-46C5E65C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標準正規分布表との違い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8DD895C-26B8-6625-1968-E63F22F7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F1880B8E-BACC-ED60-4F0B-6DD684DFF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6834797"/>
                  </p:ext>
                </p:extLst>
              </p:nvPr>
            </p:nvGraphicFramePr>
            <p:xfrm>
              <a:off x="490305" y="2349000"/>
              <a:ext cx="8163390" cy="216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390">
                      <a:extLst>
                        <a:ext uri="{9D8B030D-6E8A-4147-A177-3AD203B41FA5}">
                          <a16:colId xmlns:a16="http://schemas.microsoft.com/office/drawing/2014/main" val="2581201769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070593642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85845420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標準正規分布表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88548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自由度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𝜈</m:t>
                              </m:r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6158078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上側確率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632705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上側確率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パーセント点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𝜈</m:t>
                                  </m:r>
                                </m:e>
                              </m:d>
                            </m:oMath>
                          </a14:m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07083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コンテンツ プレースホルダー 7">
                <a:extLst>
                  <a:ext uri="{FF2B5EF4-FFF2-40B4-BE49-F238E27FC236}">
                    <a16:creationId xmlns:a16="http://schemas.microsoft.com/office/drawing/2014/main" id="{F1880B8E-BACC-ED60-4F0B-6DD684DFF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6834797"/>
                  </p:ext>
                </p:extLst>
              </p:nvPr>
            </p:nvGraphicFramePr>
            <p:xfrm>
              <a:off x="490305" y="2349000"/>
              <a:ext cx="8163390" cy="216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390">
                      <a:extLst>
                        <a:ext uri="{9D8B030D-6E8A-4147-A177-3AD203B41FA5}">
                          <a16:colId xmlns:a16="http://schemas.microsoft.com/office/drawing/2014/main" val="2581201769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070593642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858454209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標準正規分布表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885487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904" t="-101124" r="-677" b="-2168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1580788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0.00</a:t>
                          </a:r>
                          <a:endParaRPr kumimoji="1" lang="ja-JP" altLang="en-US" sz="240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904" t="-203409" r="-677" b="-1193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632705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2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904" t="-300000" r="-100677" b="-17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904" t="-300000" r="-677" b="-17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07083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759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5512-AC21-3CC4-C5B4-83F89992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B1EEB-3180-2A4B-2627-E1CFF0CA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kumimoji="1" lang="ja-JP" altLang="en-US" dirty="0"/>
              <a:t>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081344-3926-EE0E-CF28-3DCB54DF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8526B53-41C3-5705-F67B-A89E7170C2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）自由度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kumimoji="1" lang="ja-JP" altLang="en-US" sz="2400" dirty="0"/>
                  <a:t>，上側確率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kumimoji="1" lang="ja-JP" altLang="en-US" sz="2400" dirty="0"/>
                  <a:t>のときの</a:t>
                </a:r>
                <a:br>
                  <a:rPr kumimoji="1" lang="en-US" altLang="ja-JP" sz="2400" dirty="0"/>
                </a:br>
                <a:r>
                  <a:rPr kumimoji="1" lang="ja-JP" altLang="en-US" sz="24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表側から，自由度</a:t>
                </a:r>
                <a:r>
                  <a:rPr lang="en-US" altLang="ja-JP" sz="2000" dirty="0"/>
                  <a:t>20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/>
                  <a:t>手順②　表頭から，上側確率</a:t>
                </a:r>
                <a:r>
                  <a:rPr kumimoji="1" lang="en-US" altLang="ja-JP" sz="2000" dirty="0"/>
                  <a:t>0.025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0" smtClean="0">
                        <a:latin typeface="Cambria Math" panose="02040503050406030204" pitchFamily="18" charset="0"/>
                      </a:rPr>
                      <m:t>2.0860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8526B53-41C3-5705-F67B-A89E7170C2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EADCBE17-C86A-5E35-018E-05F92319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697" y="3119890"/>
            <a:ext cx="5422606" cy="3254287"/>
          </a:xfrm>
          <a:prstGeom prst="rect">
            <a:avLst/>
          </a:prstGeom>
        </p:spPr>
      </p:pic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94D2C2F-D545-2EB9-0C9B-7BB240DD35F4}"/>
              </a:ext>
            </a:extLst>
          </p:cNvPr>
          <p:cNvGrpSpPr/>
          <p:nvPr/>
        </p:nvGrpSpPr>
        <p:grpSpPr>
          <a:xfrm>
            <a:off x="5986132" y="4519602"/>
            <a:ext cx="2750131" cy="1405144"/>
            <a:chOff x="5986132" y="4519602"/>
            <a:chExt cx="2750131" cy="1405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E98F927B-BB89-C00A-9B1C-95F363CA05BC}"/>
                    </a:ext>
                  </a:extLst>
                </p:cNvPr>
                <p:cNvSpPr txBox="1"/>
                <p:nvPr/>
              </p:nvSpPr>
              <p:spPr>
                <a:xfrm>
                  <a:off x="6631969" y="4519602"/>
                  <a:ext cx="210429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b="0" dirty="0">
                      <a:solidFill>
                        <a:schemeClr val="tx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上側確率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a14:m>
                  <a:endParaRPr kumimoji="1" lang="en-US" altLang="ja-JP" dirty="0">
                    <a:solidFill>
                      <a:schemeClr val="tx2"/>
                    </a:solidFill>
                  </a:endParaRPr>
                </a:p>
                <a:p>
                  <a:pPr algn="ctr"/>
                  <a:r>
                    <a:rPr kumimoji="1" lang="ja-JP" altLang="en-US" dirty="0">
                      <a:solidFill>
                        <a:schemeClr val="tx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（表頭，手順②）</a:t>
                  </a: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E98F927B-BB89-C00A-9B1C-95F363CA0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69" y="4519602"/>
                  <a:ext cx="2104294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609" t="-66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C0730F5C-1EF1-96EA-3D4C-63A39D4D44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242E6A1-AD22-953C-2DED-435E94BF3C37}"/>
              </a:ext>
            </a:extLst>
          </p:cNvPr>
          <p:cNvGrpSpPr/>
          <p:nvPr/>
        </p:nvGrpSpPr>
        <p:grpSpPr>
          <a:xfrm>
            <a:off x="5890437" y="5996295"/>
            <a:ext cx="3178995" cy="768880"/>
            <a:chOff x="5890437" y="5996295"/>
            <a:chExt cx="3178995" cy="7688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221750A-863B-AA02-9D68-D88DF2012D0B}"/>
                    </a:ext>
                  </a:extLst>
                </p:cNvPr>
                <p:cNvSpPr txBox="1"/>
                <p:nvPr/>
              </p:nvSpPr>
              <p:spPr>
                <a:xfrm>
                  <a:off x="6631969" y="6118844"/>
                  <a:ext cx="243746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b="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パーセント点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（表中）</a:t>
                  </a: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221750A-863B-AA02-9D68-D88DF2012D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69" y="6118844"/>
                  <a:ext cx="2437463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2250" t="-7547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114C9BF-57C5-61E8-F65E-FA6B18CC5A80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5890437" y="5996295"/>
              <a:ext cx="741532" cy="445715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F03D656-BF0F-1F9C-DE71-493D43C2AC61}"/>
              </a:ext>
            </a:extLst>
          </p:cNvPr>
          <p:cNvGrpSpPr/>
          <p:nvPr/>
        </p:nvGrpSpPr>
        <p:grpSpPr>
          <a:xfrm>
            <a:off x="1293299" y="3773951"/>
            <a:ext cx="2768527" cy="767503"/>
            <a:chOff x="1293299" y="3773951"/>
            <a:chExt cx="2768527" cy="7675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76EF39-D81D-411B-976A-592BDBD224E7}"/>
                    </a:ext>
                  </a:extLst>
                </p:cNvPr>
                <p:cNvSpPr txBox="1"/>
                <p:nvPr/>
              </p:nvSpPr>
              <p:spPr>
                <a:xfrm>
                  <a:off x="1293299" y="3773951"/>
                  <a:ext cx="202042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b="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自由度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</m:oMath>
                  </a14:m>
                  <a:r>
                    <a:rPr kumimoji="1" lang="ja-JP" altLang="en-US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の形</a:t>
                  </a:r>
                  <a:endParaRPr kumimoji="1" lang="en-US" altLang="ja-JP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（表側，手順①）</a:t>
                  </a: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76EF39-D81D-411B-976A-592BDBD224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99" y="3773951"/>
                  <a:ext cx="2020425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2410" t="-6604" r="-241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F7F3A1B7-BEF7-E4DF-3BC3-BDC5842395FA}"/>
                </a:ext>
              </a:extLst>
            </p:cNvPr>
            <p:cNvCxnSpPr>
              <a:cxnSpLocks/>
            </p:cNvCxnSpPr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910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2FEB-956F-F1C1-38DF-311CD6D1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C5C48-DB68-424A-581F-0A61A567A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（補足１）</a:t>
            </a:r>
            <a:r>
              <a:rPr lang="en-US" altLang="ja-JP" dirty="0"/>
              <a:t>t</a:t>
            </a:r>
            <a:r>
              <a:rPr kumimoji="1" lang="ja-JP" altLang="en-US" dirty="0"/>
              <a:t>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B233102-C39C-3BDA-A7E6-2E74B886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96E7D4-25B7-AA6D-9F5C-912B04A8C6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/>
                  <a:t>例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）自由度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ja-JP" altLang="en-US" sz="2400" dirty="0"/>
                  <a:t>，上側確率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ja-JP" altLang="en-US" sz="2400" dirty="0"/>
                  <a:t>のときの</a:t>
                </a:r>
                <a:br>
                  <a:rPr lang="en-US" altLang="ja-JP" sz="2400" dirty="0"/>
                </a:br>
                <a:r>
                  <a:rPr lang="ja-JP" altLang="en-US" sz="24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lang="ja-JP" altLang="en-US" sz="2400" dirty="0"/>
                  <a:t>を求めたい</a:t>
                </a:r>
                <a:endParaRPr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手順①　表側から，自由度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20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手順②　表頭から，上側確率</a:t>
                </a:r>
                <a:r>
                  <a:rPr lang="en-US" altLang="ja-JP" sz="2000" dirty="0"/>
                  <a:t>0.025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>
                        <a:latin typeface="Cambria Math" panose="02040503050406030204" pitchFamily="18" charset="0"/>
                      </a:rPr>
                      <m:t>2.0860</m:t>
                    </m:r>
                  </m:oMath>
                </a14:m>
                <a:r>
                  <a:rPr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196E7D4-25B7-AA6D-9F5C-912B04A8C6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A99E19FC-DBC0-F9EE-DF88-B8371CF91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284" y="3054155"/>
            <a:ext cx="45214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33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2E386-845C-F411-4F6E-30223B2B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EA7BA8-7349-46FB-6C0B-17790B08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（補足２）</a:t>
            </a:r>
            <a:r>
              <a:rPr lang="en-US" altLang="ja-JP" dirty="0"/>
              <a:t>t</a:t>
            </a:r>
            <a:r>
              <a:rPr kumimoji="1" lang="ja-JP" altLang="en-US" dirty="0"/>
              <a:t>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B18146F-5B52-FC32-5F08-0A78879C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57B2D-5D64-5AA0-E607-9CAFADD96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/>
                  <a:t>例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）自由度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ja-JP" altLang="en-US" sz="2400" dirty="0"/>
                  <a:t>，上側確率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ja-JP" altLang="en-US" sz="2400" dirty="0"/>
                  <a:t>のときの</a:t>
                </a:r>
                <a:br>
                  <a:rPr lang="en-US" altLang="ja-JP" sz="2400" dirty="0"/>
                </a:br>
                <a:r>
                  <a:rPr lang="ja-JP" altLang="en-US" sz="24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lang="ja-JP" altLang="en-US" sz="2400" dirty="0"/>
                  <a:t>を求めたい</a:t>
                </a:r>
                <a:endParaRPr lang="en-US" altLang="ja-JP" sz="2400" dirty="0"/>
              </a:p>
              <a:p>
                <a:pPr lvl="1"/>
                <a:r>
                  <a:rPr lang="ja-JP" altLang="en-US" sz="2000" dirty="0"/>
                  <a:t>手順①　表側から，自由度</a:t>
                </a:r>
                <a:r>
                  <a:rPr lang="en-US" altLang="ja-JP" sz="2000" dirty="0"/>
                  <a:t>20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手順②　表頭から，上側確率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0.025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>
                        <a:latin typeface="Cambria Math" panose="02040503050406030204" pitchFamily="18" charset="0"/>
                      </a:rPr>
                      <m:t>2.0860</m:t>
                    </m:r>
                  </m:oMath>
                </a14:m>
                <a:r>
                  <a:rPr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57B2D-5D64-5AA0-E607-9CAFADD96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FA1574D9-02E0-D494-0767-50570C350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284" y="3054155"/>
            <a:ext cx="45214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42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F565-D014-2D3B-9BD9-62D4147C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248DD-F22F-5F38-6CB5-F944A83E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</a:t>
            </a:r>
            <a:r>
              <a:rPr kumimoji="1" lang="ja-JP" altLang="en-US" dirty="0"/>
              <a:t>分布表の読み方④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FDC970-C4F6-748A-DE59-6B000E94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30869F7-ED0F-1230-A1E5-17C69CECB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000" dirty="0"/>
                  <a:t>例</a:t>
                </a:r>
                <a:r>
                  <a:rPr kumimoji="1" lang="en-US" altLang="ja-JP" sz="2000" dirty="0"/>
                  <a:t>2</a:t>
                </a:r>
                <a:r>
                  <a:rPr kumimoji="1" lang="ja-JP" altLang="en-US" sz="2000" dirty="0"/>
                  <a:t>）</a:t>
                </a:r>
                <a:r>
                  <a:rPr lang="ja-JP" altLang="en-US" sz="2000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ja-JP" altLang="en-US" sz="2000" dirty="0"/>
                  <a:t>のとき，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ja-JP" altLang="en-US" sz="2000" dirty="0"/>
                  <a:t>となる</a:t>
                </a:r>
                <a:br>
                  <a:rPr lang="en-US" altLang="ja-JP" sz="2000" dirty="0"/>
                </a:br>
                <a:r>
                  <a:rPr lang="ja-JP" altLang="en-US" sz="2000" dirty="0"/>
                  <a:t>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ja-JP" altLang="en-US" sz="2000" dirty="0"/>
                  <a:t>を求めたい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手順①　確率の合計は</a:t>
                </a:r>
                <a:r>
                  <a:rPr lang="en-US" altLang="ja-JP" sz="2000" dirty="0"/>
                  <a:t>1</a:t>
                </a:r>
                <a:r>
                  <a:rPr lang="ja-JP" altLang="en-US" sz="2000" dirty="0"/>
                  <a:t>なので，両端の確率の合計は</a:t>
                </a:r>
                <a:r>
                  <a:rPr lang="en-US" altLang="ja-JP" sz="2000" dirty="0"/>
                  <a:t>0.1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1−0.90=0.10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手順②　</a:t>
                </a:r>
                <a:r>
                  <a:rPr lang="en-US" altLang="ja-JP" sz="2000" dirty="0"/>
                  <a:t>t</a:t>
                </a:r>
                <a:r>
                  <a:rPr lang="ja-JP" altLang="en-US" sz="2000" dirty="0"/>
                  <a:t>分布は左右対称なので，左端と右端の面積は等しい</a:t>
                </a:r>
                <a:endParaRPr lang="en-US" altLang="ja-JP" sz="2000" dirty="0"/>
              </a:p>
              <a:p>
                <a:pPr lvl="2"/>
                <a:r>
                  <a:rPr lang="ja-JP" altLang="en-US" sz="1600" b="0" dirty="0"/>
                  <a:t>上側確率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×0.1=0.05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手順③　パーセント点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ja-JP" altLang="en-US" sz="2000" dirty="0"/>
                  <a:t>を表から読み取る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30869F7-ED0F-1230-A1E5-17C69CECB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 t="-4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28507B03-68D2-4A99-A2FA-3F218073A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238" y="3827282"/>
            <a:ext cx="4573524" cy="2744724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B8CD6AD-C63D-125E-7F91-794CCA832D0E}"/>
              </a:ext>
            </a:extLst>
          </p:cNvPr>
          <p:cNvGrpSpPr/>
          <p:nvPr/>
        </p:nvGrpSpPr>
        <p:grpSpPr>
          <a:xfrm>
            <a:off x="5497033" y="6118844"/>
            <a:ext cx="3523506" cy="646331"/>
            <a:chOff x="5497033" y="6118844"/>
            <a:chExt cx="352350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5AF2064-CF99-2BDB-CB7B-786C8308DD20}"/>
                    </a:ext>
                  </a:extLst>
                </p:cNvPr>
                <p:cNvSpPr txBox="1"/>
                <p:nvPr/>
              </p:nvSpPr>
              <p:spPr>
                <a:xfrm>
                  <a:off x="6680860" y="6118844"/>
                  <a:ext cx="233967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b="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パーセント点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（表中）</a:t>
                  </a: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D5AF2064-CF99-2BDB-CB7B-786C8308D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0860" y="6118844"/>
                  <a:ext cx="2339679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083" t="-7547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F2517951-3333-46FE-4A12-2AB56E77D5F9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5497033" y="6262577"/>
              <a:ext cx="1183827" cy="179433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491A7A9-C559-811B-28CD-FEC3E912CBE0}"/>
              </a:ext>
            </a:extLst>
          </p:cNvPr>
          <p:cNvGrpSpPr/>
          <p:nvPr/>
        </p:nvGrpSpPr>
        <p:grpSpPr>
          <a:xfrm>
            <a:off x="5654154" y="4750820"/>
            <a:ext cx="2567325" cy="1405144"/>
            <a:chOff x="5986132" y="4519602"/>
            <a:chExt cx="2567325" cy="1405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14FCF82-1800-EAB9-B87B-3695B539FD17}"/>
                    </a:ext>
                  </a:extLst>
                </p:cNvPr>
                <p:cNvSpPr txBox="1"/>
                <p:nvPr/>
              </p:nvSpPr>
              <p:spPr>
                <a:xfrm>
                  <a:off x="6631969" y="4519602"/>
                  <a:ext cx="192148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b="0" dirty="0">
                      <a:solidFill>
                        <a:schemeClr val="tx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両端の合計は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</m:oMath>
                  </a14:m>
                  <a:endParaRPr kumimoji="1" lang="en-US" altLang="ja-JP" dirty="0">
                    <a:solidFill>
                      <a:schemeClr val="tx2"/>
                    </a:solidFill>
                  </a:endParaRPr>
                </a:p>
                <a:p>
                  <a:pPr algn="ctr"/>
                  <a:r>
                    <a:rPr kumimoji="1" lang="ja-JP" altLang="en-US" dirty="0">
                      <a:solidFill>
                        <a:schemeClr val="tx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（手順①）</a:t>
                  </a: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14FCF82-1800-EAB9-B87B-3695B539FD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69" y="4519602"/>
                  <a:ext cx="1921488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2532" t="-66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01894C4-89F6-6431-04DE-BD6499CA9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6132" y="5036866"/>
              <a:ext cx="781596" cy="88788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0C0D2BCA-7006-2D4D-EDE7-5821308740FA}"/>
              </a:ext>
            </a:extLst>
          </p:cNvPr>
          <p:cNvGrpSpPr/>
          <p:nvPr/>
        </p:nvGrpSpPr>
        <p:grpSpPr>
          <a:xfrm>
            <a:off x="1240136" y="4421211"/>
            <a:ext cx="2768527" cy="767503"/>
            <a:chOff x="1293299" y="3773951"/>
            <a:chExt cx="2768527" cy="7675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97D490E-A92E-3655-BEA7-5EDFCF84375C}"/>
                    </a:ext>
                  </a:extLst>
                </p:cNvPr>
                <p:cNvSpPr txBox="1"/>
                <p:nvPr/>
              </p:nvSpPr>
              <p:spPr>
                <a:xfrm>
                  <a:off x="1293299" y="3773951"/>
                  <a:ext cx="202042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ja-JP" altLang="en-US" b="0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自由度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kumimoji="1" lang="en-US" altLang="ja-JP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a14:m>
                  <a:r>
                    <a:rPr kumimoji="1" lang="ja-JP" altLang="en-US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の形</a:t>
                  </a:r>
                  <a:endParaRPr kumimoji="1" lang="en-US" altLang="ja-JP" dirty="0">
                    <a:solidFill>
                      <a:schemeClr val="accent6">
                        <a:lumMod val="75000"/>
                      </a:schemeClr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pPr algn="ctr"/>
                  <a:r>
                    <a:rPr kumimoji="1" lang="ja-JP" altLang="en-US" dirty="0">
                      <a:solidFill>
                        <a:schemeClr val="accent6">
                          <a:lumMod val="75000"/>
                        </a:schemeClr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（表側）</a:t>
                  </a:r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97D490E-A92E-3655-BEA7-5EDFCF8437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99" y="3773951"/>
                  <a:ext cx="2020426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2410" t="-6604" r="-241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1B47330F-3B23-3ED3-2A01-38726CC3AF4F}"/>
                </a:ext>
              </a:extLst>
            </p:cNvPr>
            <p:cNvCxnSpPr>
              <a:cxnSpLocks/>
            </p:cNvCxnSpPr>
            <p:nvPr/>
          </p:nvCxnSpPr>
          <p:spPr>
            <a:xfrm>
              <a:off x="3034371" y="4386430"/>
              <a:ext cx="1027455" cy="15502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D4007E65-5E3A-704F-5E0B-C6E9DFDA4CCF}"/>
              </a:ext>
            </a:extLst>
          </p:cNvPr>
          <p:cNvGrpSpPr/>
          <p:nvPr/>
        </p:nvGrpSpPr>
        <p:grpSpPr>
          <a:xfrm>
            <a:off x="276675" y="5420684"/>
            <a:ext cx="3218260" cy="735280"/>
            <a:chOff x="5530910" y="4655987"/>
            <a:chExt cx="3218260" cy="735280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FD428E9-4A48-1216-919F-C904BC7998ED}"/>
                </a:ext>
              </a:extLst>
            </p:cNvPr>
            <p:cNvSpPr txBox="1"/>
            <p:nvPr/>
          </p:nvSpPr>
          <p:spPr>
            <a:xfrm>
              <a:off x="5530910" y="4655987"/>
              <a:ext cx="21483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0" dirty="0">
                  <a:solidFill>
                    <a:schemeClr val="tx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左右で同じ面積</a:t>
              </a:r>
              <a:endParaRPr kumimoji="1" lang="en-US" altLang="ja-JP" dirty="0">
                <a:solidFill>
                  <a:schemeClr val="tx2"/>
                </a:solidFill>
              </a:endParaRPr>
            </a:p>
            <a:p>
              <a:pPr algn="ctr"/>
              <a:r>
                <a:rPr kumimoji="1" lang="ja-JP" altLang="en-US" dirty="0">
                  <a:solidFill>
                    <a:schemeClr val="tx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（手順②）</a:t>
              </a:r>
            </a:p>
          </p:txBody>
        </p: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E39185A8-2F6F-F3B0-A0BC-17EBD7887188}"/>
                </a:ext>
              </a:extLst>
            </p:cNvPr>
            <p:cNvCxnSpPr>
              <a:cxnSpLocks/>
            </p:cNvCxnSpPr>
            <p:nvPr/>
          </p:nvCxnSpPr>
          <p:spPr>
            <a:xfrm>
              <a:off x="7125565" y="5147050"/>
              <a:ext cx="1623605" cy="24421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0ADD9DF-6FE3-6485-2D8E-E8498162E119}"/>
              </a:ext>
            </a:extLst>
          </p:cNvPr>
          <p:cNvSpPr txBox="1"/>
          <p:nvPr/>
        </p:nvSpPr>
        <p:spPr>
          <a:xfrm>
            <a:off x="4181075" y="5559183"/>
            <a:ext cx="7809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0.90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090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1EAB-0FF0-794B-4D74-C837856E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FB78C0-FA39-EDA3-234F-27E77C55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５：</a:t>
            </a:r>
            <a:r>
              <a:rPr lang="ja-JP" altLang="en-US" dirty="0"/>
              <a:t>連続確率分布</a:t>
            </a:r>
            <a:endParaRPr lang="en-US" altLang="ja-JP" dirty="0"/>
          </a:p>
          <a:p>
            <a:r>
              <a:rPr lang="ja-JP" altLang="en-US" dirty="0"/>
              <a:t>　　　カイ二乗分布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5D2F96-7179-6C3E-BEEA-520AB25C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30380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E26A-539F-9D5C-CED8-CBBA6B7C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D9DB48-93BC-5D23-A597-F5A4C0FA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カイ二乗分布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D789CA7-CEFE-986E-19C9-E3A466C3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FED9AC-6A5C-EC22-C360-7C0D56A0A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>
                    <a:solidFill>
                      <a:schemeClr val="tx2"/>
                    </a:solidFill>
                  </a:rPr>
                  <a:t>カイ二乗分布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chi-squared distribution</a:t>
                </a:r>
              </a:p>
              <a:p>
                <a:pPr lvl="1"/>
                <a:r>
                  <a:rPr lang="ja-JP" altLang="en-US" sz="2000" dirty="0"/>
                  <a:t>独立に標準正規分布に従う確率変数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2000" dirty="0"/>
                  <a:t>の平方和を表す分布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0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sz="2400" b="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b="0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ja-JP" sz="20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左右非対称</a:t>
                </a:r>
                <a:r>
                  <a:rPr lang="ja-JP" altLang="en-US" sz="2000" dirty="0"/>
                  <a:t>．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自由度が大きくなるほど，左右対称になっていく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FED9AC-6A5C-EC22-C360-7C0D56A0A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図 9">
            <a:extLst>
              <a:ext uri="{FF2B5EF4-FFF2-40B4-BE49-F238E27FC236}">
                <a16:creationId xmlns:a16="http://schemas.microsoft.com/office/drawing/2014/main" id="{8E96D235-B428-D5FD-D9DC-464935969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800" y="3688576"/>
            <a:ext cx="5281200" cy="316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35DC-1712-846E-8EF1-1305ADE9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D3D1EE-ED1A-6595-22D7-932DA5C6C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６：確率分布の期待値と分散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F0DEB4-0CF7-00F0-3F81-FB178FC5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33969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確率分布の期待値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確率分布の期待値</a:t>
                </a:r>
                <a:r>
                  <a:rPr kumimoji="1" lang="ja-JP" altLang="en-US" sz="2000" dirty="0"/>
                  <a:t>（確率変数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sz="2000" dirty="0"/>
                  <a:t>の分布 </a:t>
                </a:r>
                <a:r>
                  <a:rPr lang="ja-JP" altLang="en-US" sz="2000" dirty="0"/>
                  <a:t>の期待値</a:t>
                </a:r>
                <a:r>
                  <a:rPr kumimoji="1" lang="ja-JP" altLang="en-US" sz="2000" dirty="0"/>
                  <a:t>）</a:t>
                </a:r>
                <a:endParaRPr kumimoji="1" lang="en-US" altLang="ja-JP" sz="2000" dirty="0"/>
              </a:p>
              <a:p>
                <a:endParaRPr lang="en-US" altLang="ja-JP" dirty="0"/>
              </a:p>
              <a:p>
                <a:r>
                  <a:rPr lang="ja-JP" altLang="en-US" dirty="0"/>
                  <a:t>離散確率分布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ja-JP" dirty="0"/>
              </a:p>
              <a:p>
                <a:r>
                  <a:rPr lang="ja-JP" altLang="en-US" dirty="0"/>
                  <a:t>連続確率分布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pPr lvl="1"/>
                <a:r>
                  <a:rPr lang="ja-JP" altLang="en-US" dirty="0"/>
                  <a:t>確率分布の期待値＝母平均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離散確率分布の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ja-JP" altLang="en-US" b="0" dirty="0"/>
                  <a:t>，連続確率分布の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∫</m:t>
                    </m:r>
                  </m:oMath>
                </a14:m>
                <a:r>
                  <a:rPr lang="ja-JP" altLang="en-US" b="0" dirty="0"/>
                  <a:t>は，いずれも「合計」</a:t>
                </a:r>
                <a:endParaRPr lang="en-US" altLang="ja-JP" b="0" dirty="0"/>
              </a:p>
              <a:p>
                <a:pPr lvl="1"/>
                <a:r>
                  <a:rPr lang="ja-JP" altLang="en-US" b="0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b="0" dirty="0">
                    <a:solidFill>
                      <a:schemeClr val="accent2"/>
                    </a:solidFill>
                  </a:rPr>
                  <a:t>が取り</a:t>
                </a:r>
                <a:r>
                  <a:rPr lang="ja-JP" altLang="en-US" dirty="0">
                    <a:solidFill>
                      <a:schemeClr val="accent2"/>
                    </a:solidFill>
                  </a:rPr>
                  <a:t>う</a:t>
                </a:r>
                <a:r>
                  <a:rPr lang="ja-JP" altLang="en-US" b="0" dirty="0">
                    <a:solidFill>
                      <a:schemeClr val="accent2"/>
                    </a:solidFill>
                  </a:rPr>
                  <a:t>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と，</a:t>
                </a:r>
                <a:br>
                  <a:rPr lang="en-US" altLang="ja-JP" b="0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になるときの</a:t>
                </a:r>
                <a:r>
                  <a:rPr lang="ja-JP" altLang="en-US" b="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b="0" dirty="0"/>
                  <a:t>または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b="0" dirty="0"/>
                  <a:t>の</a:t>
                </a:r>
                <a:r>
                  <a:rPr lang="ja-JP" altLang="en-US" b="1" u="sng" dirty="0"/>
                  <a:t>積和</a:t>
                </a:r>
                <a:endParaRPr kumimoji="1" lang="en-US" altLang="ja-JP" b="1" u="sng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D7DFA-1325-05DF-FD1A-F8DD7DDE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01DF7-9C2B-E0FC-866C-D3A24700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確率分布の分散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D76362A-A50C-DFBB-A0FE-0AED6532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8FE5A90-9CA6-B844-EE91-7C5F9D97E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確率分布の分散</a:t>
                </a:r>
                <a:endParaRPr kumimoji="1" lang="en-US" altLang="ja-JP" sz="2000" dirty="0"/>
              </a:p>
              <a:p>
                <a:endParaRPr lang="en-US" altLang="ja-JP" dirty="0"/>
              </a:p>
              <a:p>
                <a:r>
                  <a:rPr lang="ja-JP" altLang="en-US" dirty="0"/>
                  <a:t>離散確率分布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ja-JP" dirty="0"/>
              </a:p>
              <a:p>
                <a:r>
                  <a:rPr lang="ja-JP" altLang="en-US" dirty="0"/>
                  <a:t>連続確率分布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pPr lvl="1"/>
                <a:r>
                  <a:rPr lang="ja-JP" altLang="en-US" b="0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b="0" dirty="0">
                    <a:solidFill>
                      <a:schemeClr val="tx2"/>
                    </a:solidFill>
                  </a:rPr>
                  <a:t>が取り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う</a:t>
                </a:r>
                <a:r>
                  <a:rPr lang="ja-JP" altLang="en-US" b="0" dirty="0">
                    <a:solidFill>
                      <a:schemeClr val="tx2"/>
                    </a:solidFill>
                  </a:rPr>
                  <a:t>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の</a:t>
                </a:r>
                <a:br>
                  <a:rPr lang="en-US" altLang="ja-JP" b="0" dirty="0"/>
                </a:br>
                <a:r>
                  <a:rPr lang="ja-JP" altLang="en-US" b="0" dirty="0">
                    <a:solidFill>
                      <a:schemeClr val="accent2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b="0" dirty="0">
                    <a:solidFill>
                      <a:schemeClr val="accent2"/>
                    </a:solidFill>
                  </a:rPr>
                  <a:t>からの偏差の二乗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b="0" dirty="0"/>
                  <a:t>と，</a:t>
                </a:r>
                <a:br>
                  <a:rPr lang="en-US" altLang="ja-JP" b="0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になるときの</a:t>
                </a:r>
                <a:r>
                  <a:rPr lang="ja-JP" altLang="en-US" b="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b="0" dirty="0"/>
                  <a:t>または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b="0" dirty="0"/>
                  <a:t>の</a:t>
                </a:r>
                <a:r>
                  <a:rPr lang="ja-JP" altLang="en-US" b="1" u="sng" dirty="0"/>
                  <a:t>積和</a:t>
                </a:r>
                <a:endParaRPr kumimoji="1" lang="en-US" altLang="ja-JP" b="1" u="sng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8FE5A90-9CA6-B844-EE91-7C5F9D97E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4219D3-A27B-7584-57B7-94C690739D3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4537308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積分の概念を学ぶ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積分：①横軸と②横軸上の点，③グラフで囲まれた部分の面積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標準正規分布とその特徴について理解する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中心極限定理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標準正規分布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en-US" altLang="ja-JP" dirty="0"/>
                  <a:t>t</a:t>
                </a:r>
                <a:r>
                  <a:rPr lang="ja-JP" altLang="en-US" dirty="0"/>
                  <a:t>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自由度が大きくなると，標準正規分布に近似する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カイ二乗分布とその特徴について理解する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左右非対称，自由度が大きくなると左右対称に近づく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確率分布の期待値と分散について学ぶ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期待値＝母平均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dirty="0"/>
                  <a:t>=</a:t>
                </a:r>
                <a:r>
                  <a:rPr lang="ja-JP" altLang="en-US" dirty="0"/>
                  <a:t>取りうる値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と確率の積和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分散＝母平均からの偏差の二乗と確率の積和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1765</TotalTime>
  <Words>4103</Words>
  <Application>Microsoft Office PowerPoint</Application>
  <PresentationFormat>画面に合わせる (4:3)</PresentationFormat>
  <Paragraphs>418</Paragraphs>
  <Slides>47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47</vt:i4>
      </vt:variant>
    </vt:vector>
  </HeadingPairs>
  <TitlesOfParts>
    <vt:vector size="56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確率分布：連続確率分布</vt:lpstr>
      <vt:lpstr>今日の目標</vt:lpstr>
      <vt:lpstr>PowerPoint プレゼンテーション</vt:lpstr>
      <vt:lpstr>連続確率分布</vt:lpstr>
      <vt:lpstr>連続確率分布</vt:lpstr>
      <vt:lpstr>連続確率分布</vt:lpstr>
      <vt:lpstr>PowerPoint プレゼンテーション</vt:lpstr>
      <vt:lpstr>正規分布</vt:lpstr>
      <vt:lpstr>t分布</vt:lpstr>
      <vt:lpstr>カイ二乗分布</vt:lpstr>
      <vt:lpstr>F分布</vt:lpstr>
      <vt:lpstr>確率密度関数の積分</vt:lpstr>
      <vt:lpstr>例①　すべての範囲の場合</vt:lpstr>
      <vt:lpstr>例②　下側確率の場合</vt:lpstr>
      <vt:lpstr>例③　aからbまでの範囲の場合</vt:lpstr>
      <vt:lpstr>PowerPoint プレゼンテーション</vt:lpstr>
      <vt:lpstr>正規分布の特徴</vt:lpstr>
      <vt:lpstr>中心極限定理</vt:lpstr>
      <vt:lpstr>中心極限定理</vt:lpstr>
      <vt:lpstr>正規分布の確率</vt:lpstr>
      <vt:lpstr>標準正規分布</vt:lpstr>
      <vt:lpstr>PowerPoint プレゼンテーション</vt:lpstr>
      <vt:lpstr>標準正規分布表</vt:lpstr>
      <vt:lpstr>標準正規分布表の読み方①</vt:lpstr>
      <vt:lpstr>（補足１）標準正規分布表の読み方①</vt:lpstr>
      <vt:lpstr>（補足２）標準正規分布表の読み方①</vt:lpstr>
      <vt:lpstr>標準正規分布表の読み方②</vt:lpstr>
      <vt:lpstr>標準正規分布表の読み方③</vt:lpstr>
      <vt:lpstr>標準正規分布表の読み方④</vt:lpstr>
      <vt:lpstr>PowerPoint プレゼンテーション</vt:lpstr>
      <vt:lpstr>t分布</vt:lpstr>
      <vt:lpstr>自由度</vt:lpstr>
      <vt:lpstr>標本不偏分散</vt:lpstr>
      <vt:lpstr>t分布の形状</vt:lpstr>
      <vt:lpstr>PowerPoint プレゼンテーション</vt:lpstr>
      <vt:lpstr>t分布表</vt:lpstr>
      <vt:lpstr>標準正規分布表との違い</vt:lpstr>
      <vt:lpstr>t分布表の読み方①</vt:lpstr>
      <vt:lpstr>（補足１）t分布表の読み方①</vt:lpstr>
      <vt:lpstr>（補足２）t分布表の読み方①</vt:lpstr>
      <vt:lpstr>t分布表の読み方④</vt:lpstr>
      <vt:lpstr>PowerPoint プレゼンテーション</vt:lpstr>
      <vt:lpstr>カイ二乗分布</vt:lpstr>
      <vt:lpstr>PowerPoint プレゼンテーション</vt:lpstr>
      <vt:lpstr>確率分布の期待値</vt:lpstr>
      <vt:lpstr>確率分布の分散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Maria Ikegawa</cp:lastModifiedBy>
  <cp:revision>196</cp:revision>
  <dcterms:created xsi:type="dcterms:W3CDTF">2025-03-03T09:28:12Z</dcterms:created>
  <dcterms:modified xsi:type="dcterms:W3CDTF">2025-09-04T03:30:14Z</dcterms:modified>
</cp:coreProperties>
</file>